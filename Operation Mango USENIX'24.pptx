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5143500" cx="9144000"/>
  <p:notesSz cx="6858000" cy="9144000"/>
  <p:embeddedFontLst>
    <p:embeddedFont>
      <p:font typeface="Source Code Pro"/>
      <p:regular r:id="rId65"/>
      <p:bold r:id="rId66"/>
      <p:italic r:id="rId67"/>
      <p:boldItalic r:id="rId68"/>
    </p:embeddedFont>
    <p:embeddedFont>
      <p:font typeface="Helvetica Neue"/>
      <p:regular r:id="rId69"/>
      <p:bold r:id="rId70"/>
      <p:italic r:id="rId71"/>
      <p:boldItalic r:id="rId7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FD1F42-8013-40E3-9FAD-B954037B0DF7}">
  <a:tblStyle styleId="{1EFD1F42-8013-40E3-9FAD-B954037B0D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F777EB9-358C-4593-B871-E85EA283B92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2" Type="http://schemas.openxmlformats.org/officeDocument/2006/relationships/font" Target="fonts/HelveticaNeue-bold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HelveticaNeue-italic.fntdata"/><Relationship Id="rId70" Type="http://schemas.openxmlformats.org/officeDocument/2006/relationships/font" Target="fonts/HelveticaNeue-bold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SourceCodePro-bold.fntdata"/><Relationship Id="rId21" Type="http://schemas.openxmlformats.org/officeDocument/2006/relationships/slide" Target="slides/slide15.xml"/><Relationship Id="rId65" Type="http://schemas.openxmlformats.org/officeDocument/2006/relationships/font" Target="fonts/SourceCodePro-regular.fntdata"/><Relationship Id="rId24" Type="http://schemas.openxmlformats.org/officeDocument/2006/relationships/slide" Target="slides/slide18.xml"/><Relationship Id="rId68" Type="http://schemas.openxmlformats.org/officeDocument/2006/relationships/font" Target="fonts/SourceCodePro-boldItalic.fntdata"/><Relationship Id="rId23" Type="http://schemas.openxmlformats.org/officeDocument/2006/relationships/slide" Target="slides/slide17.xml"/><Relationship Id="rId67" Type="http://schemas.openxmlformats.org/officeDocument/2006/relationships/font" Target="fonts/SourceCodePro-italic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HelveticaNeue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 everyone, my name is Wil Gibbs.</a:t>
            </a:r>
            <a:br>
              <a:rPr lang="en"/>
            </a:br>
            <a:r>
              <a:rPr lang="en"/>
              <a:t>Thank you for coming to my talk about Operation Mango!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get started, I just wanted to say that problems like these are difficult. </a:t>
            </a:r>
            <a:br>
              <a:rPr lang="en"/>
            </a:br>
            <a:r>
              <a:rPr lang="en"/>
              <a:t>And difficult problems require scalable solutions.</a:t>
            </a:r>
            <a:br>
              <a:rPr lang="en"/>
            </a:br>
            <a:r>
              <a:rPr lang="en"/>
              <a:t>So as you can see our author list also scaled to the usenix security approved 15.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0746d6de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0746d6de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Firmware lives in devices that you all use every day.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Routers, NAS’s, Cameras.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All of these devices are run on firmware.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16db9df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f16db9df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in 2024 alone more than 300 CVEs, with CVSS scores greater than 8, in just 4 major vendors have been published.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a1103f50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7a1103f50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auditing these devices is not straight forward.</a:t>
            </a:r>
            <a:br>
              <a:rPr lang="en"/>
            </a:br>
            <a:r>
              <a:rPr lang="en"/>
              <a:t>Source code is not generally available and physical devices are expensive and difficult to test at scale, so binary analysis is necessary to find these vulnerabilities faster and more efficiently.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2aee75cc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2aee75cc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first we must understand how these devices operate.</a:t>
            </a:r>
            <a:br>
              <a:rPr lang="en"/>
            </a:br>
            <a:r>
              <a:rPr lang="en"/>
              <a:t>Firmware can be separated into two COMMON categories.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2aee75cc5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f2aee75cc5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Blob-based firmware, which is just that. </a:t>
            </a:r>
            <a:br>
              <a:rPr lang="en"/>
            </a:br>
            <a:r>
              <a:rPr lang="en"/>
              <a:t>A single blob constructed of many disparate utilities or binaries stuck together into a single cohesive unit.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2aee75cc5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2aee75cc5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Linux Based Firmware.</a:t>
            </a:r>
            <a:br>
              <a:rPr lang="en"/>
            </a:br>
            <a:r>
              <a:rPr lang="en"/>
              <a:t>These firmware run tiny linux distributions, such as alpine, and implement functionality as individual binaries.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direct our </a:t>
            </a:r>
            <a:r>
              <a:rPr lang="en"/>
              <a:t>focus</a:t>
            </a:r>
            <a:r>
              <a:rPr lang="en"/>
              <a:t> to linux-based firmware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2ea340107_3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2ea340107_3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can’t analyze these firmware binaries </a:t>
            </a:r>
            <a:r>
              <a:rPr lang="en">
                <a:solidFill>
                  <a:schemeClr val="dk1"/>
                </a:solidFill>
              </a:rPr>
              <a:t>independently, you need knowledge of how data flows between them in these multi-binary systems.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One of the popular methods for multi-binary interactions is to use `nvram`..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Here, `httpd` sets a value into `nvram`, a key method in which binaries communicate, which is then retrieved in a second binary.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In this case, the binary `dlnad` retrieves the value and does some operation.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2ea340107_3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2ea340107_3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handle this multi-binary interaction, p</a:t>
            </a:r>
            <a:r>
              <a:rPr lang="en"/>
              <a:t>rior work KARONTE used under</a:t>
            </a:r>
            <a:r>
              <a:rPr lang="en"/>
              <a:t>-constrained</a:t>
            </a:r>
            <a:r>
              <a:rPr lang="en"/>
              <a:t> symbolic execution-based taint analysis </a:t>
            </a:r>
            <a:br>
              <a:rPr lang="en"/>
            </a:br>
            <a:r>
              <a:rPr lang="en"/>
              <a:t>to find constraints on inputs and propagate them across the nvram boundary.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34ef17fe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f34ef17fe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However, I’m sure some of you have used symbolic execution know from experience that symbolic execution does not scale.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2ea340107_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f2ea340107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slow, in-fact, that we cannot process all of the input and communications that these binaries are doing.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handle this, they needed to limit the scope of the analysis.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2ea340107_3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f2ea340107_3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created the concept of Border Binaries.</a:t>
            </a:r>
            <a:br>
              <a:rPr lang="en"/>
            </a:br>
            <a:r>
              <a:rPr lang="en"/>
              <a:t>Binaries that receive input from external sources, parse said input, and </a:t>
            </a:r>
            <a:r>
              <a:rPr lang="en"/>
              <a:t>propagate</a:t>
            </a:r>
            <a:r>
              <a:rPr lang="en"/>
              <a:t> the information.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then select a subset of these binaries and </a:t>
            </a:r>
            <a:r>
              <a:rPr lang="en"/>
              <a:t>focus</a:t>
            </a:r>
            <a:r>
              <a:rPr lang="en"/>
              <a:t> </a:t>
            </a:r>
            <a:r>
              <a:rPr lang="en"/>
              <a:t>their</a:t>
            </a:r>
            <a:r>
              <a:rPr lang="en"/>
              <a:t> analysis on them.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f2ea340107_3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f2ea340107_3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SaTC, a follow up work, sped up the analysis and found many more bugs through narrowing the scope further.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They identified a specific input-source, front-end interfaces like management panels, configuration UI’s, etc…</a:t>
            </a:r>
            <a:br>
              <a:rPr lang="en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f2ea340107_3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f2ea340107_3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we think that there are more bugs hiding inside of these binaries that they are missing because of the narrow scope.</a:t>
            </a:r>
            <a:br>
              <a:rPr lang="en"/>
            </a:br>
            <a:r>
              <a:rPr lang="en"/>
              <a:t>With a better static analysis engine,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f2ea340107_3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f2ea340107_3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would be able to analyze all of the binaries instead.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2ea340107_3_7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2f2ea340107_3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created Operation Mango, an improved static analysis for Linux-Based Firmware with 4 key improvements in mind.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tool works on all architectures supported by angr.</a:t>
            </a:r>
            <a:br>
              <a:rPr lang="en"/>
            </a:br>
            <a:r>
              <a:rPr lang="en"/>
              <a:t>However, my examples will be shown on source code.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f2ea340107_3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f2ea340107_3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MangoDFA is our static analysis value dependency engine, that we created and implemented in angr, the binary analysis platform, as it’s Reaching Definition Analysis.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7a1103f509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7a1103f509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track the value of “name” as it flows through this example snippet with the `system` function acting as our sink.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7a1103f509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7a1103f509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is received through fgets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f17088603e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f17088603e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name is used in a function call as an argument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f17088603e_4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2f17088603e_4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ultimately flows into a parameter of snprintf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f17088603e_4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f17088603e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after the call will reside in the `cmd` variable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f17088603e_4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f17088603e_4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Ultimately we track the variable into system, our sink function.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f2ea340107_3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2f2ea340107_3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values tracked in the </a:t>
            </a:r>
            <a:r>
              <a:rPr lang="en"/>
              <a:t>value dependency analysis are what we call </a:t>
            </a:r>
            <a:r>
              <a:rPr lang="en"/>
              <a:t>Rich Expressions, these allow us to express a values history at any location.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f2ea340107_3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f2ea340107_3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Going back to our code snippet, let’s follow name again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7a1103f509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7a1103f509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retains the history of being a destination in fgets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7a1103f509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7a1103f509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history is then also included in the string that results from the snprintf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7a1103f509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7a1103f509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is ultimately seen and used to determine our input source when the sink is reached.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f2ea340107_49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f2ea340107_49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back up for a moment and I’ll modify the format string used to be unexploitable.</a:t>
            </a:r>
            <a:br>
              <a:rPr lang="en"/>
            </a:br>
            <a:r>
              <a:rPr lang="en"/>
              <a:t>Under both standard taint tracking and symbolic execution-based taint tracking, you have an over-tainting issue when strings are transformed into unexploitable format.</a:t>
            </a:r>
            <a:br>
              <a:rPr lang="en"/>
            </a:br>
            <a:r>
              <a:rPr lang="en"/>
              <a:t>This is represented here with the `%d` modifier, but can also take the form of atoi, scanf %d, etc…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f2ea340107_49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1" name="Google Shape;701;g2f2ea340107_49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function handling during analysis allows us to understand that the value being resolved is unexploitable or “uninjectable” </a:t>
            </a:r>
            <a:br>
              <a:rPr lang="en"/>
            </a:br>
            <a:r>
              <a:rPr lang="en"/>
              <a:t>as you can see here where the string becomes fully concrete rather than a Rich expression containing a dependency on fgets.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f2ea340107_3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f2ea340107_3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next two improvements were created with the intuition of how human reverse-engineers actually reverse binaries.</a:t>
            </a:r>
            <a:br>
              <a:rPr lang="en"/>
            </a:br>
            <a:r>
              <a:rPr lang="en"/>
              <a:t>Assumed Nonimpact helps determine which functions are important to analyze and which are not during our taint analysis.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7a1103f509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7a1103f509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Let’s start again with our </a:t>
            </a:r>
            <a:r>
              <a:rPr lang="en">
                <a:solidFill>
                  <a:schemeClr val="dk1"/>
                </a:solidFill>
              </a:rPr>
              <a:t>code snippet, but pay attention to the two extra lines that were added.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f2ea340107_3_9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f2ea340107_3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“start_background_task” would be skipped during our analysis as the value we’re interested in, “name”, is not dependent on it in either arguments or return value.</a:t>
            </a:r>
            <a:br>
              <a:rPr lang="en"/>
            </a:br>
            <a:r>
              <a:rPr lang="en"/>
              <a:t>However, in binaries we implemented the necessary architecture specific Calling Convention analysis needed to </a:t>
            </a:r>
            <a:r>
              <a:rPr lang="en"/>
              <a:t>determine</a:t>
            </a:r>
            <a:r>
              <a:rPr lang="en"/>
              <a:t> which arguments go to which functions.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27a1103f509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27a1103f509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we continue as we had previously.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7a1103f509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7a1103f509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Where we decide that “Validate_name” does get analyzed as there would be a dependency between its first argument and “name”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f2ea340107_3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f2ea340107_3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Sink-to-Source Coarse Grain Analysis which allows us to limit the scope of our overall analysis.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f2ea340107_3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f2ea340107_3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As a reverse engineer you’re likely to start from where you think the vulnerability exists and work your way backwards to prove if it’s true.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Here we start with system where `cmd` is used.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f2ea340107_3_1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f2ea340107_3_1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From system we flow through snprintf and validate_name, until it is used as an an argument in sub_401080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f2ea340107_3_1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2f2ea340107_3_1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Which then flows into the fgets function, the last and only source of input.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f2ea340107_3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f2ea340107_3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Now that we’ve determined all possible sources of input, we can run our more detailed analysis.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f2ea340107_49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f2ea340107_49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take a look at how our last two optimizations improved our analysis.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f2ea340107_49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f2ea340107_49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bar on our left shows the initial MangoDFA with neither optimization taking 1500 seconds per binary.</a:t>
            </a:r>
            <a:br>
              <a:rPr lang="en"/>
            </a:br>
            <a:r>
              <a:rPr lang="en"/>
              <a:t>Where after applying both optimizations we lower our time to less than 300 seconds, a 5x increase in speed!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f3512a0ce7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f3512a0ce7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increase in speed also comes with more True Positives found.</a:t>
            </a:r>
            <a:br>
              <a:rPr lang="en"/>
            </a:br>
            <a:r>
              <a:rPr lang="en"/>
              <a:t>After applying both optimizations, we find 8 more true positives than through our original method.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further see that Source-to-Sink ultimately reduces the amount of False Positives found on the far right from it’s decrease in scope.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f2ea340107_49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f2ea340107_49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Mango was evaluated on the same dataset that prior works used, the KARONTE dataset of 49 firmware.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f2ea340107_49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f2ea340107_49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generated 2310 Alerts over all of the firmware tested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f2ea340107_49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f2ea340107_49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randomly sampled and analyzed 100 command injections, resulting in 57 True positives 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f2ea340107_49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f2ea340107_49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randomly sampled and analyzed 230 buffer overflows, and found 109 True Positives in those samples 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f2ea340107_49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f2ea340107_49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Overall, this gives our tool a 52% True Positive rate, or 1 in 2 alerts being vulnerabilities 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27a1103f509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27a1103f509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let’s compare Operation Mango against the Prior Work SaTC.</a:t>
            </a:r>
            <a:br>
              <a:rPr lang="en"/>
            </a:br>
            <a:r>
              <a:rPr lang="en"/>
              <a:t>This was done using the KARONTE </a:t>
            </a:r>
            <a:r>
              <a:rPr lang="en"/>
              <a:t>dataset of 49 different firmware from 4 different vendors.</a:t>
            </a:r>
            <a:br>
              <a:rPr lang="en"/>
            </a:br>
            <a:r>
              <a:rPr lang="en"/>
              <a:t>We completed the experiments using a single core for each run.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7a1103f509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7a1103f509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Analyzed 27.5x more binaries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7a1103f509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27a1103f509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generated 16x more alerts than prior work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7a1103f509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7a1103f509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found vulnerabilities in 3x more programs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7a1103f509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7a1103f509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only a 9% increase in time spent analyzing overall.</a:t>
            </a:r>
            <a:br>
              <a:rPr lang="en"/>
            </a:br>
            <a:r>
              <a:rPr lang="en"/>
              <a:t>But a 22x </a:t>
            </a:r>
            <a:r>
              <a:rPr lang="en"/>
              <a:t>decrease</a:t>
            </a:r>
            <a:r>
              <a:rPr lang="en"/>
              <a:t> in the average analysis time spent per binary.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7a1103f509_0_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7a1103f509_0_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found bugs in 3x more binaries at 22x the speed per binary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f37cf720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f37cf720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manually verified 166 exploitable vulnerabilities.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f37cf720f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f37cf720f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Operation Mango is open source on github and available.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2f37cf720f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2f37cf720f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is and will continue to be maintained on the angr platform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f2ea340107_3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f2ea340107_3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for coming to my talk!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" name="Google Shape;22;p4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hyperlink" Target="mailto:wfgibbs@asu.edu" TargetMode="External"/><Relationship Id="rId4" Type="http://schemas.openxmlformats.org/officeDocument/2006/relationships/hyperlink" Target="http://x.com/cl4sm" TargetMode="External"/><Relationship Id="rId9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Relationship Id="rId8" Type="http://schemas.openxmlformats.org/officeDocument/2006/relationships/hyperlink" Target="https://github.com/sefcom/operation-mango-public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5598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Helvetica Neue"/>
                <a:ea typeface="Helvetica Neue"/>
                <a:cs typeface="Helvetica Neue"/>
                <a:sym typeface="Helvetica Neue"/>
              </a:rPr>
              <a:t>🥭Operation Mango</a:t>
            </a:r>
            <a:r>
              <a:rPr lang="en" sz="2400">
                <a:latin typeface="Helvetica Neue"/>
                <a:ea typeface="Helvetica Neue"/>
                <a:cs typeface="Helvetica Neue"/>
                <a:sym typeface="Helvetica Neue"/>
              </a:rPr>
              <a:t>: Scalable Discovery of </a:t>
            </a:r>
            <a:br>
              <a:rPr lang="en" sz="240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2400">
                <a:latin typeface="Helvetica Neue"/>
                <a:ea typeface="Helvetica Neue"/>
                <a:cs typeface="Helvetica Neue"/>
                <a:sym typeface="Helvetica Neue"/>
              </a:rPr>
              <a:t>Taint-Style Vulnerabilities in Binary Firmware Services</a:t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 Gibbs</a:t>
            </a: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Arvind S Raj, Jayakrishna Menon Vadayath, Hui Jun Tay, Justin Miller, </a:t>
            </a:r>
            <a:b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Akshay Ajayan, Zion Leonahenahe Basque, Audrey Dutcher, Fangzhou Dong, Xavier Maso, </a:t>
            </a:r>
            <a:b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Giovanni Vigna, Christopher Kruegel, Adam Doupé, Yan Shoshitaishvili, Ruoyu Wang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4629025"/>
            <a:ext cx="9144000" cy="5145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88850" y="3848425"/>
            <a:ext cx="1736853" cy="48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6600" y="262275"/>
            <a:ext cx="482300" cy="4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0000" y="262275"/>
            <a:ext cx="482300" cy="4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63300" y="262275"/>
            <a:ext cx="482300" cy="4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3412" y="3798882"/>
            <a:ext cx="1201750" cy="58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13"/>
          <p:cNvCxnSpPr/>
          <p:nvPr/>
        </p:nvCxnSpPr>
        <p:spPr>
          <a:xfrm>
            <a:off x="1663800" y="2690600"/>
            <a:ext cx="5780400" cy="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4" title="Wifi Router Images | Free Photos, PNG Stickers, Wallpapers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150" y="2236625"/>
            <a:ext cx="1653226" cy="1653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Server Rack Vector Clipart image - Free stock photo - Public ..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804" y="1716075"/>
            <a:ext cx="852924" cy="1991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 title="CCTV camera clipart. Free public | Free Photo - rawpixel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2250" y="1994161"/>
            <a:ext cx="1895674" cy="18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1309063" y="3707875"/>
            <a:ext cx="13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Router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4009863" y="3707875"/>
            <a:ext cx="106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6809088" y="3707875"/>
            <a:ext cx="112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Camera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14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Firmware in Embedded Devices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Recent IoT CVEs</a:t>
            </a:r>
            <a:endParaRPr/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" name="Google Shape;88;p1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425" y="928000"/>
            <a:ext cx="6215625" cy="384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" name="Google Shape;94;p16" title="Wifi Router Images | Free Photos, PNG Stickers, Wallpapers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425" y="1588263"/>
            <a:ext cx="2126426" cy="212642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/>
          <p:nvPr/>
        </p:nvSpPr>
        <p:spPr>
          <a:xfrm>
            <a:off x="3506643" y="2148525"/>
            <a:ext cx="1350000" cy="1667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6" title="File:Source code oaicons.png - Wikimedia Common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051" y="1919162"/>
            <a:ext cx="2031300" cy="2126423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680005" y="2148525"/>
            <a:ext cx="1350000" cy="16677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8837" y="1905075"/>
            <a:ext cx="1911150" cy="19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6921275" y="1969775"/>
            <a:ext cx="18825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A2FCA2"/>
                </a:solidFill>
              </a:rPr>
              <a:t>✔</a:t>
            </a:r>
            <a:endParaRPr sz="9600">
              <a:solidFill>
                <a:srgbClr val="A2FCA2"/>
              </a:solidFill>
            </a:endParaRPr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Analysis is Necessary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firmware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18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Blob-Based Firmware</a:t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11300"/>
            <a:ext cx="4557174" cy="3759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0" y="0"/>
            <a:ext cx="9144000" cy="8589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151925" y="747975"/>
            <a:ext cx="8835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Linux-Based Firmware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4838" y="3064050"/>
            <a:ext cx="615175" cy="6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2925" y="2804712"/>
            <a:ext cx="615175" cy="61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19"/>
          <p:cNvCxnSpPr>
            <a:stCxn id="129" idx="1"/>
            <a:endCxn id="130" idx="3"/>
          </p:cNvCxnSpPr>
          <p:nvPr/>
        </p:nvCxnSpPr>
        <p:spPr>
          <a:xfrm rot="10800000">
            <a:off x="6008038" y="3112437"/>
            <a:ext cx="346800" cy="2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5875" y="3221537"/>
            <a:ext cx="615175" cy="61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9"/>
          <p:cNvCxnSpPr>
            <a:stCxn id="129" idx="3"/>
            <a:endCxn id="132" idx="1"/>
          </p:cNvCxnSpPr>
          <p:nvPr/>
        </p:nvCxnSpPr>
        <p:spPr>
          <a:xfrm>
            <a:off x="6970013" y="3371637"/>
            <a:ext cx="465900" cy="15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975" y="1653062"/>
            <a:ext cx="615175" cy="6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4850" y="1511212"/>
            <a:ext cx="615175" cy="61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9"/>
          <p:cNvCxnSpPr>
            <a:endCxn id="134" idx="3"/>
          </p:cNvCxnSpPr>
          <p:nvPr/>
        </p:nvCxnSpPr>
        <p:spPr>
          <a:xfrm rot="10800000">
            <a:off x="5477150" y="1960650"/>
            <a:ext cx="954000" cy="110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9"/>
          <p:cNvCxnSpPr>
            <a:stCxn id="129" idx="0"/>
            <a:endCxn id="135" idx="2"/>
          </p:cNvCxnSpPr>
          <p:nvPr/>
        </p:nvCxnSpPr>
        <p:spPr>
          <a:xfrm rot="10800000">
            <a:off x="6662425" y="2126250"/>
            <a:ext cx="0" cy="9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8" name="Google Shape;13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2350" y="3589587"/>
            <a:ext cx="615175" cy="6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075" y="1588062"/>
            <a:ext cx="615175" cy="61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19"/>
          <p:cNvCxnSpPr>
            <a:stCxn id="138" idx="0"/>
            <a:endCxn id="141" idx="2"/>
          </p:cNvCxnSpPr>
          <p:nvPr/>
        </p:nvCxnSpPr>
        <p:spPr>
          <a:xfrm rot="10800000">
            <a:off x="7326638" y="2536887"/>
            <a:ext cx="1353300" cy="105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9"/>
          <p:cNvCxnSpPr>
            <a:stCxn id="135" idx="3"/>
            <a:endCxn id="139" idx="1"/>
          </p:cNvCxnSpPr>
          <p:nvPr/>
        </p:nvCxnSpPr>
        <p:spPr>
          <a:xfrm>
            <a:off x="6970025" y="1818800"/>
            <a:ext cx="713100" cy="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9"/>
          <p:cNvCxnSpPr>
            <a:stCxn id="130" idx="0"/>
            <a:endCxn id="135" idx="1"/>
          </p:cNvCxnSpPr>
          <p:nvPr/>
        </p:nvCxnSpPr>
        <p:spPr>
          <a:xfrm flipH="1" rot="10800000">
            <a:off x="5700513" y="1818912"/>
            <a:ext cx="654300" cy="9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4" name="Google Shape;14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2913" y="3764712"/>
            <a:ext cx="615175" cy="61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975" y="1921762"/>
            <a:ext cx="615175" cy="61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5" name="Google Shape;145;p19"/>
          <p:cNvCxnSpPr>
            <a:stCxn id="144" idx="3"/>
            <a:endCxn id="129" idx="2"/>
          </p:cNvCxnSpPr>
          <p:nvPr/>
        </p:nvCxnSpPr>
        <p:spPr>
          <a:xfrm flipH="1" rot="10800000">
            <a:off x="6008088" y="3679300"/>
            <a:ext cx="654300" cy="39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9"/>
          <p:cNvCxnSpPr>
            <a:stCxn id="139" idx="2"/>
            <a:endCxn id="132" idx="0"/>
          </p:cNvCxnSpPr>
          <p:nvPr/>
        </p:nvCxnSpPr>
        <p:spPr>
          <a:xfrm flipH="1">
            <a:off x="7743463" y="2203237"/>
            <a:ext cx="247200" cy="10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7" name="Google Shape;14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011300"/>
            <a:ext cx="4557174" cy="3759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3546" y="3836690"/>
            <a:ext cx="713101" cy="838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NVRAM: Non-Volatile Random Access Memory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55" name="Google Shape;155;p20"/>
          <p:cNvGraphicFramePr/>
          <p:nvPr/>
        </p:nvGraphicFramePr>
        <p:xfrm>
          <a:off x="119850" y="221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52928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change_passcode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request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passcode = get_http_param(request,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"iserver_passcode"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nvram_set(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"iserver_remote_passcode"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passcode);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"dlnad"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20"/>
          <p:cNvSpPr txBox="1"/>
          <p:nvPr/>
        </p:nvSpPr>
        <p:spPr>
          <a:xfrm>
            <a:off x="1920550" y="1792500"/>
            <a:ext cx="16914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httpd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157" name="Google Shape;157;p20"/>
          <p:cNvGraphicFramePr/>
          <p:nvPr/>
        </p:nvGraphicFramePr>
        <p:xfrm>
          <a:off x="119850" y="373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5292800"/>
              </a:tblGrid>
              <a:tr h="993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passcode =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nvram_get(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"iserver_remote_passcode"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sprintf(v11,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"set_password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passcode);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system(v11);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grpSp>
        <p:nvGrpSpPr>
          <p:cNvPr id="158" name="Google Shape;158;p20"/>
          <p:cNvGrpSpPr/>
          <p:nvPr/>
        </p:nvGrpSpPr>
        <p:grpSpPr>
          <a:xfrm>
            <a:off x="6036237" y="2395575"/>
            <a:ext cx="1911150" cy="1911150"/>
            <a:chOff x="6036237" y="2219700"/>
            <a:chExt cx="1911150" cy="1911150"/>
          </a:xfrm>
        </p:grpSpPr>
        <p:grpSp>
          <p:nvGrpSpPr>
            <p:cNvPr id="159" name="Google Shape;159;p20"/>
            <p:cNvGrpSpPr/>
            <p:nvPr/>
          </p:nvGrpSpPr>
          <p:grpSpPr>
            <a:xfrm>
              <a:off x="6036237" y="2219700"/>
              <a:ext cx="1911150" cy="1911150"/>
              <a:chOff x="6036237" y="2219700"/>
              <a:chExt cx="1911150" cy="1911150"/>
            </a:xfrm>
          </p:grpSpPr>
          <p:pic>
            <p:nvPicPr>
              <p:cNvPr id="160" name="Google Shape;160;p20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036237" y="2219700"/>
                <a:ext cx="1911150" cy="1911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" name="Google Shape;161;p20"/>
              <p:cNvSpPr/>
              <p:nvPr/>
            </p:nvSpPr>
            <p:spPr>
              <a:xfrm>
                <a:off x="6378875" y="2794000"/>
                <a:ext cx="1235400" cy="1137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" name="Google Shape;162;p20"/>
            <p:cNvSpPr txBox="1"/>
            <p:nvPr/>
          </p:nvSpPr>
          <p:spPr>
            <a:xfrm>
              <a:off x="6261275" y="2944725"/>
              <a:ext cx="1470600" cy="55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chemeClr val="dk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NVRAM</a:t>
              </a:r>
              <a:endParaRPr b="1" sz="3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sp>
        <p:nvSpPr>
          <p:cNvPr id="163" name="Google Shape;163;p20"/>
          <p:cNvSpPr txBox="1"/>
          <p:nvPr/>
        </p:nvSpPr>
        <p:spPr>
          <a:xfrm>
            <a:off x="1920550" y="3366838"/>
            <a:ext cx="16914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dlnad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>
            <a:off x="4173750" y="2759450"/>
            <a:ext cx="2083800" cy="0"/>
          </a:xfrm>
          <a:prstGeom prst="straightConnector1">
            <a:avLst/>
          </a:prstGeom>
          <a:noFill/>
          <a:ln cap="flat" cmpd="sng" w="19050">
            <a:solidFill>
              <a:srgbClr val="FCC28C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cxnSp>
        <p:nvCxnSpPr>
          <p:cNvPr id="165" name="Google Shape;165;p20"/>
          <p:cNvCxnSpPr/>
          <p:nvPr/>
        </p:nvCxnSpPr>
        <p:spPr>
          <a:xfrm flipH="1">
            <a:off x="4245025" y="4083475"/>
            <a:ext cx="2034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CC28C"/>
            </a:solidFill>
            <a:prstDash val="solid"/>
            <a:round/>
            <a:headEnd len="med" w="med" type="none"/>
            <a:tailEnd len="med" w="med" type="triangl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  <p:sp>
        <p:nvSpPr>
          <p:cNvPr id="166" name="Google Shape;166;p20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Multi-Binary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/>
              <a:t>Dataflow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1920550" y="4783525"/>
            <a:ext cx="48393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NETGEAR R6400 Router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1"/>
          <p:cNvGrpSpPr/>
          <p:nvPr/>
        </p:nvGrpSpPr>
        <p:grpSpPr>
          <a:xfrm>
            <a:off x="1699778" y="3423331"/>
            <a:ext cx="893664" cy="893664"/>
            <a:chOff x="1735400" y="1678625"/>
            <a:chExt cx="870000" cy="870000"/>
          </a:xfrm>
        </p:grpSpPr>
        <p:sp>
          <p:nvSpPr>
            <p:cNvPr id="173" name="Google Shape;173;p21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n</a:t>
              </a:r>
              <a:r>
                <a:rPr baseline="-25000" lang="en">
                  <a:solidFill>
                    <a:schemeClr val="dk1"/>
                  </a:solidFill>
                </a:rPr>
                <a:t>5</a:t>
              </a:r>
              <a:endParaRPr baseline="-25000">
                <a:solidFill>
                  <a:schemeClr val="dk1"/>
                </a:solidFill>
              </a:endParaRPr>
            </a:p>
          </p:txBody>
        </p:sp>
      </p:grpSp>
      <p:sp>
        <p:nvSpPr>
          <p:cNvPr id="175" name="Google Shape;175;p21"/>
          <p:cNvSpPr txBox="1"/>
          <p:nvPr/>
        </p:nvSpPr>
        <p:spPr>
          <a:xfrm>
            <a:off x="599375" y="4640717"/>
            <a:ext cx="50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⋀(∑n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⋁e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21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Symbolic Execution</a:t>
            </a:r>
            <a:endParaRPr/>
          </a:p>
        </p:txBody>
      </p:sp>
      <p:sp>
        <p:nvSpPr>
          <p:cNvPr id="177" name="Google Shape;17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7775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1699763" y="1206900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1</a:t>
            </a:r>
            <a:endParaRPr baseline="-25000"/>
          </a:p>
        </p:txBody>
      </p:sp>
      <p:grpSp>
        <p:nvGrpSpPr>
          <p:cNvPr id="180" name="Google Shape;180;p21"/>
          <p:cNvGrpSpPr/>
          <p:nvPr/>
        </p:nvGrpSpPr>
        <p:grpSpPr>
          <a:xfrm>
            <a:off x="1699778" y="1959081"/>
            <a:ext cx="893664" cy="893664"/>
            <a:chOff x="1735400" y="1678625"/>
            <a:chExt cx="870000" cy="870000"/>
          </a:xfrm>
        </p:grpSpPr>
        <p:sp>
          <p:nvSpPr>
            <p:cNvPr id="181" name="Google Shape;181;p21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182" name="Google Shape;182;p21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83" name="Google Shape;183;p21"/>
          <p:cNvSpPr/>
          <p:nvPr/>
        </p:nvSpPr>
        <p:spPr>
          <a:xfrm>
            <a:off x="25934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21"/>
          <p:cNvCxnSpPr>
            <a:stCxn id="179" idx="2"/>
            <a:endCxn id="181" idx="0"/>
          </p:cNvCxnSpPr>
          <p:nvPr/>
        </p:nvCxnSpPr>
        <p:spPr>
          <a:xfrm>
            <a:off x="2146613" y="1558800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1"/>
          <p:cNvCxnSpPr/>
          <p:nvPr/>
        </p:nvCxnSpPr>
        <p:spPr>
          <a:xfrm>
            <a:off x="2369625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1"/>
          <p:cNvSpPr txBox="1"/>
          <p:nvPr/>
        </p:nvSpPr>
        <p:spPr>
          <a:xfrm>
            <a:off x="599375" y="4292475"/>
            <a:ext cx="46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)⋁(e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7" name="Google Shape;187;p21"/>
          <p:cNvCxnSpPr/>
          <p:nvPr/>
        </p:nvCxnSpPr>
        <p:spPr>
          <a:xfrm flipH="1">
            <a:off x="1645050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1"/>
          <p:cNvCxnSpPr/>
          <p:nvPr/>
        </p:nvCxnSpPr>
        <p:spPr>
          <a:xfrm>
            <a:off x="1671250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1"/>
          <p:cNvCxnSpPr/>
          <p:nvPr/>
        </p:nvCxnSpPr>
        <p:spPr>
          <a:xfrm flipH="1">
            <a:off x="2336675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1"/>
          <p:cNvSpPr txBox="1"/>
          <p:nvPr/>
        </p:nvSpPr>
        <p:spPr>
          <a:xfrm>
            <a:off x="2082125" y="15112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1421650" y="24504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1671250" y="30974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4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2369625" y="24331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132350" y="3097413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5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931250" y="39405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6</a:t>
            </a:r>
            <a:endParaRPr baseline="-25000"/>
          </a:p>
        </p:txBody>
      </p:sp>
      <p:cxnSp>
        <p:nvCxnSpPr>
          <p:cNvPr id="196" name="Google Shape;196;p21"/>
          <p:cNvCxnSpPr>
            <a:endCxn id="195" idx="1"/>
          </p:cNvCxnSpPr>
          <p:nvPr/>
        </p:nvCxnSpPr>
        <p:spPr>
          <a:xfrm>
            <a:off x="2386450" y="4116525"/>
            <a:ext cx="54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1"/>
          <p:cNvCxnSpPr>
            <a:endCxn id="182" idx="1"/>
          </p:cNvCxnSpPr>
          <p:nvPr/>
        </p:nvCxnSpPr>
        <p:spPr>
          <a:xfrm flipH="1" rot="5400000">
            <a:off x="956231" y="3166563"/>
            <a:ext cx="1691700" cy="170400"/>
          </a:xfrm>
          <a:prstGeom prst="bentConnector4">
            <a:avLst>
              <a:gd fmla="val -4" name="adj1"/>
              <a:gd fmla="val 75047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1"/>
          <p:cNvSpPr txBox="1"/>
          <p:nvPr/>
        </p:nvSpPr>
        <p:spPr>
          <a:xfrm>
            <a:off x="972725" y="19948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7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2491750" y="3965375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6</a:t>
            </a:r>
            <a:endParaRPr baseline="-25000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2"/>
          <p:cNvGrpSpPr/>
          <p:nvPr/>
        </p:nvGrpSpPr>
        <p:grpSpPr>
          <a:xfrm>
            <a:off x="1699778" y="3423331"/>
            <a:ext cx="893664" cy="893664"/>
            <a:chOff x="1735400" y="1678625"/>
            <a:chExt cx="870000" cy="870000"/>
          </a:xfrm>
        </p:grpSpPr>
        <p:sp>
          <p:nvSpPr>
            <p:cNvPr id="205" name="Google Shape;205;p22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n</a:t>
              </a:r>
              <a:r>
                <a:rPr baseline="-25000" lang="en">
                  <a:solidFill>
                    <a:schemeClr val="dk1"/>
                  </a:solidFill>
                </a:rPr>
                <a:t>5</a:t>
              </a:r>
              <a:endParaRPr baseline="-25000">
                <a:solidFill>
                  <a:schemeClr val="dk1"/>
                </a:solidFill>
              </a:endParaRPr>
            </a:p>
          </p:txBody>
        </p:sp>
      </p:grpSp>
      <p:sp>
        <p:nvSpPr>
          <p:cNvPr id="207" name="Google Shape;207;p22"/>
          <p:cNvSpPr txBox="1"/>
          <p:nvPr/>
        </p:nvSpPr>
        <p:spPr>
          <a:xfrm>
            <a:off x="599375" y="4640717"/>
            <a:ext cx="50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⋀(∑n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⋁e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22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Symbolic Execution Does Not Scale</a:t>
            </a:r>
            <a:endParaRPr/>
          </a:p>
        </p:txBody>
      </p:sp>
      <p:sp>
        <p:nvSpPr>
          <p:cNvPr id="209" name="Google Shape;20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7775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1699763" y="1206900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1</a:t>
            </a:r>
            <a:endParaRPr baseline="-25000"/>
          </a:p>
        </p:txBody>
      </p:sp>
      <p:grpSp>
        <p:nvGrpSpPr>
          <p:cNvPr id="212" name="Google Shape;212;p22"/>
          <p:cNvGrpSpPr/>
          <p:nvPr/>
        </p:nvGrpSpPr>
        <p:grpSpPr>
          <a:xfrm>
            <a:off x="1699778" y="1959081"/>
            <a:ext cx="893664" cy="893664"/>
            <a:chOff x="1735400" y="1678625"/>
            <a:chExt cx="870000" cy="870000"/>
          </a:xfrm>
        </p:grpSpPr>
        <p:sp>
          <p:nvSpPr>
            <p:cNvPr id="213" name="Google Shape;213;p22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5" name="Google Shape;215;p22"/>
          <p:cNvSpPr/>
          <p:nvPr/>
        </p:nvSpPr>
        <p:spPr>
          <a:xfrm>
            <a:off x="25934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2"/>
          <p:cNvCxnSpPr>
            <a:stCxn id="211" idx="2"/>
            <a:endCxn id="213" idx="0"/>
          </p:cNvCxnSpPr>
          <p:nvPr/>
        </p:nvCxnSpPr>
        <p:spPr>
          <a:xfrm>
            <a:off x="2146613" y="1558800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2"/>
          <p:cNvCxnSpPr/>
          <p:nvPr/>
        </p:nvCxnSpPr>
        <p:spPr>
          <a:xfrm>
            <a:off x="2369625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22"/>
          <p:cNvSpPr txBox="1"/>
          <p:nvPr/>
        </p:nvSpPr>
        <p:spPr>
          <a:xfrm>
            <a:off x="599375" y="4292475"/>
            <a:ext cx="46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)⋁(e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9" name="Google Shape;219;p22"/>
          <p:cNvCxnSpPr/>
          <p:nvPr/>
        </p:nvCxnSpPr>
        <p:spPr>
          <a:xfrm flipH="1">
            <a:off x="1645050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2"/>
          <p:cNvCxnSpPr/>
          <p:nvPr/>
        </p:nvCxnSpPr>
        <p:spPr>
          <a:xfrm>
            <a:off x="1671250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2"/>
          <p:cNvCxnSpPr/>
          <p:nvPr/>
        </p:nvCxnSpPr>
        <p:spPr>
          <a:xfrm flipH="1">
            <a:off x="2336675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2"/>
          <p:cNvSpPr txBox="1"/>
          <p:nvPr/>
        </p:nvSpPr>
        <p:spPr>
          <a:xfrm>
            <a:off x="2082125" y="15112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1421650" y="24504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1671250" y="30974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4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2369625" y="24331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2132350" y="3097413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5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2931250" y="39405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6</a:t>
            </a:r>
            <a:endParaRPr baseline="-25000"/>
          </a:p>
        </p:txBody>
      </p:sp>
      <p:cxnSp>
        <p:nvCxnSpPr>
          <p:cNvPr id="228" name="Google Shape;228;p22"/>
          <p:cNvCxnSpPr>
            <a:endCxn id="227" idx="1"/>
          </p:cNvCxnSpPr>
          <p:nvPr/>
        </p:nvCxnSpPr>
        <p:spPr>
          <a:xfrm>
            <a:off x="2386450" y="4116525"/>
            <a:ext cx="54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2"/>
          <p:cNvCxnSpPr>
            <a:endCxn id="214" idx="1"/>
          </p:cNvCxnSpPr>
          <p:nvPr/>
        </p:nvCxnSpPr>
        <p:spPr>
          <a:xfrm flipH="1" rot="5400000">
            <a:off x="956231" y="3166563"/>
            <a:ext cx="1691700" cy="170400"/>
          </a:xfrm>
          <a:prstGeom prst="bentConnector4">
            <a:avLst>
              <a:gd fmla="val -4" name="adj1"/>
              <a:gd fmla="val 75047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0" name="Google Shape;230;p22"/>
          <p:cNvSpPr txBox="1"/>
          <p:nvPr/>
        </p:nvSpPr>
        <p:spPr>
          <a:xfrm>
            <a:off x="972725" y="19948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7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2491750" y="3965375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6</a:t>
            </a:r>
            <a:endParaRPr baseline="-25000" sz="1800">
              <a:solidFill>
                <a:schemeClr val="dk2"/>
              </a:solidFill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925" y="1021325"/>
            <a:ext cx="3529292" cy="352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23"/>
          <p:cNvGrpSpPr/>
          <p:nvPr/>
        </p:nvGrpSpPr>
        <p:grpSpPr>
          <a:xfrm>
            <a:off x="1699778" y="3423331"/>
            <a:ext cx="893664" cy="893664"/>
            <a:chOff x="1735400" y="1678625"/>
            <a:chExt cx="870000" cy="870000"/>
          </a:xfrm>
        </p:grpSpPr>
        <p:sp>
          <p:nvSpPr>
            <p:cNvPr id="238" name="Google Shape;238;p23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n</a:t>
              </a:r>
              <a:r>
                <a:rPr baseline="-25000" lang="en">
                  <a:solidFill>
                    <a:schemeClr val="dk1"/>
                  </a:solidFill>
                </a:rPr>
                <a:t>5</a:t>
              </a:r>
              <a:endParaRPr baseline="-25000">
                <a:solidFill>
                  <a:schemeClr val="dk1"/>
                </a:solidFill>
              </a:endParaRPr>
            </a:p>
          </p:txBody>
        </p:sp>
      </p:grpSp>
      <p:sp>
        <p:nvSpPr>
          <p:cNvPr id="240" name="Google Shape;240;p23"/>
          <p:cNvSpPr txBox="1"/>
          <p:nvPr/>
        </p:nvSpPr>
        <p:spPr>
          <a:xfrm>
            <a:off x="599375" y="4640717"/>
            <a:ext cx="50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⋀(∑n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⋁e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" name="Google Shape;241;p23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Symbolic Execution Does Not Scale</a:t>
            </a:r>
            <a:endParaRPr/>
          </a:p>
        </p:txBody>
      </p:sp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7775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1699763" y="1206900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1</a:t>
            </a:r>
            <a:endParaRPr baseline="-25000"/>
          </a:p>
        </p:txBody>
      </p:sp>
      <p:grpSp>
        <p:nvGrpSpPr>
          <p:cNvPr id="245" name="Google Shape;245;p23"/>
          <p:cNvGrpSpPr/>
          <p:nvPr/>
        </p:nvGrpSpPr>
        <p:grpSpPr>
          <a:xfrm>
            <a:off x="1699778" y="1959081"/>
            <a:ext cx="893664" cy="893664"/>
            <a:chOff x="1735400" y="1678625"/>
            <a:chExt cx="870000" cy="870000"/>
          </a:xfrm>
        </p:grpSpPr>
        <p:sp>
          <p:nvSpPr>
            <p:cNvPr id="246" name="Google Shape;246;p23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48" name="Google Shape;248;p23"/>
          <p:cNvSpPr/>
          <p:nvPr/>
        </p:nvSpPr>
        <p:spPr>
          <a:xfrm>
            <a:off x="25934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p23"/>
          <p:cNvCxnSpPr>
            <a:stCxn id="244" idx="2"/>
            <a:endCxn id="246" idx="0"/>
          </p:cNvCxnSpPr>
          <p:nvPr/>
        </p:nvCxnSpPr>
        <p:spPr>
          <a:xfrm>
            <a:off x="2146613" y="1558800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3"/>
          <p:cNvCxnSpPr/>
          <p:nvPr/>
        </p:nvCxnSpPr>
        <p:spPr>
          <a:xfrm>
            <a:off x="2369625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3"/>
          <p:cNvSpPr txBox="1"/>
          <p:nvPr/>
        </p:nvSpPr>
        <p:spPr>
          <a:xfrm>
            <a:off x="599375" y="4292475"/>
            <a:ext cx="46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)⋁(e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52" name="Google Shape;252;p23"/>
          <p:cNvCxnSpPr/>
          <p:nvPr/>
        </p:nvCxnSpPr>
        <p:spPr>
          <a:xfrm flipH="1">
            <a:off x="1645050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3"/>
          <p:cNvCxnSpPr/>
          <p:nvPr/>
        </p:nvCxnSpPr>
        <p:spPr>
          <a:xfrm>
            <a:off x="1671250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23"/>
          <p:cNvCxnSpPr/>
          <p:nvPr/>
        </p:nvCxnSpPr>
        <p:spPr>
          <a:xfrm flipH="1">
            <a:off x="2336675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3"/>
          <p:cNvSpPr txBox="1"/>
          <p:nvPr/>
        </p:nvSpPr>
        <p:spPr>
          <a:xfrm>
            <a:off x="2082125" y="15112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1421650" y="24504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1671250" y="30974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4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2369625" y="24331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2132350" y="3097413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5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931250" y="39405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6</a:t>
            </a:r>
            <a:endParaRPr baseline="-25000"/>
          </a:p>
        </p:txBody>
      </p:sp>
      <p:cxnSp>
        <p:nvCxnSpPr>
          <p:cNvPr id="261" name="Google Shape;261;p23"/>
          <p:cNvCxnSpPr>
            <a:endCxn id="260" idx="1"/>
          </p:cNvCxnSpPr>
          <p:nvPr/>
        </p:nvCxnSpPr>
        <p:spPr>
          <a:xfrm>
            <a:off x="2386450" y="4116525"/>
            <a:ext cx="54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3"/>
          <p:cNvCxnSpPr>
            <a:endCxn id="247" idx="1"/>
          </p:cNvCxnSpPr>
          <p:nvPr/>
        </p:nvCxnSpPr>
        <p:spPr>
          <a:xfrm flipH="1" rot="5400000">
            <a:off x="956231" y="3166563"/>
            <a:ext cx="1691700" cy="170400"/>
          </a:xfrm>
          <a:prstGeom prst="bentConnector4">
            <a:avLst>
              <a:gd fmla="val -4" name="adj1"/>
              <a:gd fmla="val 75047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p23"/>
          <p:cNvSpPr txBox="1"/>
          <p:nvPr/>
        </p:nvSpPr>
        <p:spPr>
          <a:xfrm>
            <a:off x="972725" y="19948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7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2491750" y="3965375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6</a:t>
            </a:r>
            <a:endParaRPr baseline="-25000" sz="1800">
              <a:solidFill>
                <a:schemeClr val="dk2"/>
              </a:solidFill>
            </a:endParaRPr>
          </a:p>
        </p:txBody>
      </p:sp>
      <p:grpSp>
        <p:nvGrpSpPr>
          <p:cNvPr id="265" name="Google Shape;265;p23"/>
          <p:cNvGrpSpPr/>
          <p:nvPr/>
        </p:nvGrpSpPr>
        <p:grpSpPr>
          <a:xfrm>
            <a:off x="6354838" y="3064050"/>
            <a:ext cx="615175" cy="784650"/>
            <a:chOff x="5994675" y="3507825"/>
            <a:chExt cx="615175" cy="784650"/>
          </a:xfrm>
        </p:grpSpPr>
        <p:pic>
          <p:nvPicPr>
            <p:cNvPr id="266" name="Google Shape;26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94675" y="3507825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3"/>
            <p:cNvSpPr txBox="1"/>
            <p:nvPr/>
          </p:nvSpPr>
          <p:spPr>
            <a:xfrm>
              <a:off x="6062263" y="4044975"/>
              <a:ext cx="4800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httpd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sp>
        <p:nvSpPr>
          <p:cNvPr id="268" name="Google Shape;268;p23"/>
          <p:cNvSpPr txBox="1"/>
          <p:nvPr/>
        </p:nvSpPr>
        <p:spPr>
          <a:xfrm>
            <a:off x="5771275" y="4292475"/>
            <a:ext cx="178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user_input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9" name="Google Shape;269;p23"/>
          <p:cNvCxnSpPr>
            <a:stCxn id="268" idx="0"/>
            <a:endCxn id="267" idx="2"/>
          </p:cNvCxnSpPr>
          <p:nvPr/>
        </p:nvCxnSpPr>
        <p:spPr>
          <a:xfrm rot="10800000">
            <a:off x="6662425" y="3848775"/>
            <a:ext cx="0" cy="4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0" name="Google Shape;270;p23"/>
          <p:cNvGrpSpPr/>
          <p:nvPr/>
        </p:nvGrpSpPr>
        <p:grpSpPr>
          <a:xfrm>
            <a:off x="5253662" y="2804712"/>
            <a:ext cx="893700" cy="775413"/>
            <a:chOff x="5334487" y="2624587"/>
            <a:chExt cx="893700" cy="775413"/>
          </a:xfrm>
        </p:grpSpPr>
        <p:pic>
          <p:nvPicPr>
            <p:cNvPr id="271" name="Google Shape;271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23"/>
            <p:cNvSpPr txBox="1"/>
            <p:nvPr/>
          </p:nvSpPr>
          <p:spPr>
            <a:xfrm>
              <a:off x="5334487" y="3152500"/>
              <a:ext cx="893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password.cgi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273" name="Google Shape;273;p23"/>
          <p:cNvCxnSpPr>
            <a:stCxn id="266" idx="1"/>
            <a:endCxn id="271" idx="3"/>
          </p:cNvCxnSpPr>
          <p:nvPr/>
        </p:nvCxnSpPr>
        <p:spPr>
          <a:xfrm rot="10800000">
            <a:off x="6008038" y="3112437"/>
            <a:ext cx="346800" cy="2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4" name="Google Shape;274;p23"/>
          <p:cNvGrpSpPr/>
          <p:nvPr/>
        </p:nvGrpSpPr>
        <p:grpSpPr>
          <a:xfrm>
            <a:off x="7316775" y="2804712"/>
            <a:ext cx="615175" cy="780088"/>
            <a:chOff x="5473750" y="2624587"/>
            <a:chExt cx="615175" cy="780088"/>
          </a:xfrm>
        </p:grpSpPr>
        <p:pic>
          <p:nvPicPr>
            <p:cNvPr id="275" name="Google Shape;275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23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dlnad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277" name="Google Shape;277;p23"/>
          <p:cNvCxnSpPr>
            <a:stCxn id="266" idx="3"/>
            <a:endCxn id="275" idx="1"/>
          </p:cNvCxnSpPr>
          <p:nvPr/>
        </p:nvCxnSpPr>
        <p:spPr>
          <a:xfrm flipH="1" rot="10800000">
            <a:off x="6970013" y="3112437"/>
            <a:ext cx="346800" cy="2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78" name="Google Shape;278;p23"/>
          <p:cNvGrpSpPr/>
          <p:nvPr/>
        </p:nvGrpSpPr>
        <p:grpSpPr>
          <a:xfrm>
            <a:off x="4861975" y="1653062"/>
            <a:ext cx="615175" cy="780088"/>
            <a:chOff x="5473750" y="2624587"/>
            <a:chExt cx="615175" cy="780088"/>
          </a:xfrm>
        </p:grpSpPr>
        <p:pic>
          <p:nvPicPr>
            <p:cNvPr id="279" name="Google Shape;279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3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pptp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281" name="Google Shape;281;p23"/>
          <p:cNvGrpSpPr/>
          <p:nvPr/>
        </p:nvGrpSpPr>
        <p:grpSpPr>
          <a:xfrm>
            <a:off x="6294787" y="1511212"/>
            <a:ext cx="735300" cy="780088"/>
            <a:chOff x="5577037" y="1569487"/>
            <a:chExt cx="735300" cy="780088"/>
          </a:xfrm>
        </p:grpSpPr>
        <p:pic>
          <p:nvPicPr>
            <p:cNvPr id="282" name="Google Shape;28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37100" y="15694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3"/>
            <p:cNvSpPr txBox="1"/>
            <p:nvPr/>
          </p:nvSpPr>
          <p:spPr>
            <a:xfrm>
              <a:off x="5577037" y="2102075"/>
              <a:ext cx="73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wandetect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284" name="Google Shape;284;p23"/>
          <p:cNvCxnSpPr>
            <a:endCxn id="279" idx="3"/>
          </p:cNvCxnSpPr>
          <p:nvPr/>
        </p:nvCxnSpPr>
        <p:spPr>
          <a:xfrm rot="10800000">
            <a:off x="5477150" y="1960650"/>
            <a:ext cx="954000" cy="110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23"/>
          <p:cNvCxnSpPr>
            <a:stCxn id="266" idx="0"/>
            <a:endCxn id="283" idx="2"/>
          </p:cNvCxnSpPr>
          <p:nvPr/>
        </p:nvCxnSpPr>
        <p:spPr>
          <a:xfrm rot="10800000">
            <a:off x="6662425" y="2291250"/>
            <a:ext cx="0" cy="77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23"/>
          <p:cNvCxnSpPr>
            <a:endCxn id="287" idx="2"/>
          </p:cNvCxnSpPr>
          <p:nvPr/>
        </p:nvCxnSpPr>
        <p:spPr>
          <a:xfrm rot="10800000">
            <a:off x="4955113" y="3580125"/>
            <a:ext cx="9816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88" name="Google Shape;288;p23"/>
          <p:cNvGrpSpPr/>
          <p:nvPr/>
        </p:nvGrpSpPr>
        <p:grpSpPr>
          <a:xfrm>
            <a:off x="8248775" y="2845237"/>
            <a:ext cx="615175" cy="780088"/>
            <a:chOff x="5473750" y="2624587"/>
            <a:chExt cx="615175" cy="780088"/>
          </a:xfrm>
        </p:grpSpPr>
        <p:pic>
          <p:nvPicPr>
            <p:cNvPr id="289" name="Google Shape;289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23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ddns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291" name="Google Shape;291;p23"/>
          <p:cNvCxnSpPr>
            <a:endCxn id="290" idx="2"/>
          </p:cNvCxnSpPr>
          <p:nvPr/>
        </p:nvCxnSpPr>
        <p:spPr>
          <a:xfrm flipH="1" rot="10800000">
            <a:off x="7287438" y="3625325"/>
            <a:ext cx="1315200" cy="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92" name="Google Shape;292;p23"/>
          <p:cNvGrpSpPr/>
          <p:nvPr/>
        </p:nvGrpSpPr>
        <p:grpSpPr>
          <a:xfrm>
            <a:off x="7683075" y="1588062"/>
            <a:ext cx="615175" cy="780088"/>
            <a:chOff x="5473750" y="2624587"/>
            <a:chExt cx="615175" cy="780088"/>
          </a:xfrm>
        </p:grpSpPr>
        <p:pic>
          <p:nvPicPr>
            <p:cNvPr id="293" name="Google Shape;293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23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wlconf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295" name="Google Shape;295;p23"/>
          <p:cNvCxnSpPr>
            <a:stCxn id="289" idx="0"/>
            <a:endCxn id="294" idx="2"/>
          </p:cNvCxnSpPr>
          <p:nvPr/>
        </p:nvCxnSpPr>
        <p:spPr>
          <a:xfrm rot="10800000">
            <a:off x="8037063" y="2368237"/>
            <a:ext cx="519300" cy="47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3"/>
          <p:cNvCxnSpPr>
            <a:stCxn id="282" idx="3"/>
            <a:endCxn id="293" idx="1"/>
          </p:cNvCxnSpPr>
          <p:nvPr/>
        </p:nvCxnSpPr>
        <p:spPr>
          <a:xfrm>
            <a:off x="6970025" y="1818800"/>
            <a:ext cx="713100" cy="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23"/>
          <p:cNvCxnSpPr>
            <a:stCxn id="271" idx="0"/>
            <a:endCxn id="282" idx="1"/>
          </p:cNvCxnSpPr>
          <p:nvPr/>
        </p:nvCxnSpPr>
        <p:spPr>
          <a:xfrm flipH="1" rot="10800000">
            <a:off x="5700513" y="1818912"/>
            <a:ext cx="654300" cy="98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98" name="Google Shape;298;p23"/>
          <p:cNvGrpSpPr/>
          <p:nvPr/>
        </p:nvGrpSpPr>
        <p:grpSpPr>
          <a:xfrm>
            <a:off x="4569463" y="2804712"/>
            <a:ext cx="771300" cy="775413"/>
            <a:chOff x="5429800" y="2624587"/>
            <a:chExt cx="771300" cy="775413"/>
          </a:xfrm>
        </p:grpSpPr>
        <p:pic>
          <p:nvPicPr>
            <p:cNvPr id="299" name="Google Shape;299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3"/>
            <p:cNvSpPr txBox="1"/>
            <p:nvPr/>
          </p:nvSpPr>
          <p:spPr>
            <a:xfrm>
              <a:off x="5429800" y="3152500"/>
              <a:ext cx="771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network.cgi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grpSp>
        <p:nvGrpSpPr>
          <p:cNvPr id="300" name="Google Shape;300;p23"/>
          <p:cNvGrpSpPr/>
          <p:nvPr/>
        </p:nvGrpSpPr>
        <p:grpSpPr>
          <a:xfrm>
            <a:off x="6970013" y="1955950"/>
            <a:ext cx="661590" cy="788413"/>
            <a:chOff x="5473750" y="2624587"/>
            <a:chExt cx="661590" cy="788413"/>
          </a:xfrm>
        </p:grpSpPr>
        <p:pic>
          <p:nvPicPr>
            <p:cNvPr id="301" name="Google Shape;301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23"/>
            <p:cNvSpPr txBox="1"/>
            <p:nvPr/>
          </p:nvSpPr>
          <p:spPr>
            <a:xfrm>
              <a:off x="5520040" y="3165500"/>
              <a:ext cx="61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wan.cgi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303" name="Google Shape;303;p23"/>
          <p:cNvCxnSpPr>
            <a:endCxn id="272" idx="2"/>
          </p:cNvCxnSpPr>
          <p:nvPr/>
        </p:nvCxnSpPr>
        <p:spPr>
          <a:xfrm rot="10800000">
            <a:off x="5700512" y="3580125"/>
            <a:ext cx="5112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23"/>
          <p:cNvCxnSpPr>
            <a:endCxn id="302" idx="2"/>
          </p:cNvCxnSpPr>
          <p:nvPr/>
        </p:nvCxnSpPr>
        <p:spPr>
          <a:xfrm flipH="1" rot="10800000">
            <a:off x="6858352" y="2744363"/>
            <a:ext cx="465600" cy="169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4"/>
          <p:cNvGrpSpPr/>
          <p:nvPr/>
        </p:nvGrpSpPr>
        <p:grpSpPr>
          <a:xfrm>
            <a:off x="1699778" y="3423331"/>
            <a:ext cx="893664" cy="893664"/>
            <a:chOff x="1735400" y="1678625"/>
            <a:chExt cx="870000" cy="870000"/>
          </a:xfrm>
        </p:grpSpPr>
        <p:sp>
          <p:nvSpPr>
            <p:cNvPr id="310" name="Google Shape;310;p24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311" name="Google Shape;311;p24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n</a:t>
              </a:r>
              <a:r>
                <a:rPr baseline="-25000" lang="en">
                  <a:solidFill>
                    <a:schemeClr val="dk1"/>
                  </a:solidFill>
                </a:rPr>
                <a:t>5</a:t>
              </a:r>
              <a:endParaRPr baseline="-25000">
                <a:solidFill>
                  <a:schemeClr val="dk1"/>
                </a:solidFill>
              </a:endParaRPr>
            </a:p>
          </p:txBody>
        </p:sp>
      </p:grpSp>
      <p:sp>
        <p:nvSpPr>
          <p:cNvPr id="312" name="Google Shape;312;p24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Border Binaries</a:t>
            </a:r>
            <a:endParaRPr/>
          </a:p>
        </p:txBody>
      </p:sp>
      <p:sp>
        <p:nvSpPr>
          <p:cNvPr id="313" name="Google Shape;3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7775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1699763" y="1206900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1</a:t>
            </a:r>
            <a:endParaRPr baseline="-25000"/>
          </a:p>
        </p:txBody>
      </p:sp>
      <p:grpSp>
        <p:nvGrpSpPr>
          <p:cNvPr id="316" name="Google Shape;316;p24"/>
          <p:cNvGrpSpPr/>
          <p:nvPr/>
        </p:nvGrpSpPr>
        <p:grpSpPr>
          <a:xfrm>
            <a:off x="1699778" y="1959081"/>
            <a:ext cx="893664" cy="893664"/>
            <a:chOff x="1735400" y="1678625"/>
            <a:chExt cx="870000" cy="870000"/>
          </a:xfrm>
        </p:grpSpPr>
        <p:sp>
          <p:nvSpPr>
            <p:cNvPr id="317" name="Google Shape;317;p24"/>
            <p:cNvSpPr/>
            <p:nvPr/>
          </p:nvSpPr>
          <p:spPr>
            <a:xfrm>
              <a:off x="1735400" y="1678625"/>
              <a:ext cx="870000" cy="870000"/>
            </a:xfrm>
            <a:prstGeom prst="diamond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/>
            </a:p>
          </p:txBody>
        </p:sp>
        <p:sp>
          <p:nvSpPr>
            <p:cNvPr id="318" name="Google Shape;318;p24"/>
            <p:cNvSpPr txBox="1"/>
            <p:nvPr/>
          </p:nvSpPr>
          <p:spPr>
            <a:xfrm>
              <a:off x="1752050" y="1904525"/>
              <a:ext cx="836700" cy="41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9" name="Google Shape;319;p24"/>
          <p:cNvSpPr/>
          <p:nvPr/>
        </p:nvSpPr>
        <p:spPr>
          <a:xfrm>
            <a:off x="2593450" y="29430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24"/>
          <p:cNvCxnSpPr>
            <a:stCxn id="315" idx="2"/>
            <a:endCxn id="317" idx="0"/>
          </p:cNvCxnSpPr>
          <p:nvPr/>
        </p:nvCxnSpPr>
        <p:spPr>
          <a:xfrm>
            <a:off x="2146613" y="1558800"/>
            <a:ext cx="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4"/>
          <p:cNvCxnSpPr/>
          <p:nvPr/>
        </p:nvCxnSpPr>
        <p:spPr>
          <a:xfrm>
            <a:off x="2369625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4"/>
          <p:cNvCxnSpPr/>
          <p:nvPr/>
        </p:nvCxnSpPr>
        <p:spPr>
          <a:xfrm flipH="1">
            <a:off x="1645050" y="26245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24"/>
          <p:cNvCxnSpPr/>
          <p:nvPr/>
        </p:nvCxnSpPr>
        <p:spPr>
          <a:xfrm>
            <a:off x="1671250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24"/>
          <p:cNvCxnSpPr/>
          <p:nvPr/>
        </p:nvCxnSpPr>
        <p:spPr>
          <a:xfrm flipH="1">
            <a:off x="2336675" y="3294975"/>
            <a:ext cx="256800" cy="3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24"/>
          <p:cNvSpPr txBox="1"/>
          <p:nvPr/>
        </p:nvSpPr>
        <p:spPr>
          <a:xfrm>
            <a:off x="2082125" y="15112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6" name="Google Shape;326;p24"/>
          <p:cNvSpPr txBox="1"/>
          <p:nvPr/>
        </p:nvSpPr>
        <p:spPr>
          <a:xfrm>
            <a:off x="1421650" y="24504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7" name="Google Shape;327;p24"/>
          <p:cNvSpPr txBox="1"/>
          <p:nvPr/>
        </p:nvSpPr>
        <p:spPr>
          <a:xfrm>
            <a:off x="1671250" y="30974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4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2369625" y="2433138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29" name="Google Shape;329;p24"/>
          <p:cNvSpPr txBox="1"/>
          <p:nvPr/>
        </p:nvSpPr>
        <p:spPr>
          <a:xfrm>
            <a:off x="2132350" y="3097413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5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2931250" y="3940575"/>
            <a:ext cx="893700" cy="35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baseline="-25000" lang="en"/>
              <a:t>6</a:t>
            </a:r>
            <a:endParaRPr baseline="-25000"/>
          </a:p>
        </p:txBody>
      </p:sp>
      <p:cxnSp>
        <p:nvCxnSpPr>
          <p:cNvPr id="331" name="Google Shape;331;p24"/>
          <p:cNvCxnSpPr>
            <a:endCxn id="330" idx="1"/>
          </p:cNvCxnSpPr>
          <p:nvPr/>
        </p:nvCxnSpPr>
        <p:spPr>
          <a:xfrm>
            <a:off x="2386450" y="4116525"/>
            <a:ext cx="54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24"/>
          <p:cNvCxnSpPr>
            <a:endCxn id="318" idx="1"/>
          </p:cNvCxnSpPr>
          <p:nvPr/>
        </p:nvCxnSpPr>
        <p:spPr>
          <a:xfrm flipH="1" rot="5400000">
            <a:off x="956231" y="3166563"/>
            <a:ext cx="1691700" cy="170400"/>
          </a:xfrm>
          <a:prstGeom prst="bentConnector4">
            <a:avLst>
              <a:gd fmla="val -4" name="adj1"/>
              <a:gd fmla="val 75047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3" name="Google Shape;333;p24"/>
          <p:cNvSpPr txBox="1"/>
          <p:nvPr/>
        </p:nvSpPr>
        <p:spPr>
          <a:xfrm>
            <a:off x="972725" y="1994800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7</a:t>
            </a:r>
            <a:endParaRPr baseline="-25000" sz="1800">
              <a:solidFill>
                <a:schemeClr val="dk2"/>
              </a:solidFill>
            </a:endParaRPr>
          </a:p>
        </p:txBody>
      </p:sp>
      <p:sp>
        <p:nvSpPr>
          <p:cNvPr id="334" name="Google Shape;334;p24"/>
          <p:cNvSpPr txBox="1"/>
          <p:nvPr/>
        </p:nvSpPr>
        <p:spPr>
          <a:xfrm>
            <a:off x="2491750" y="3965375"/>
            <a:ext cx="3879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</a:t>
            </a:r>
            <a:r>
              <a:rPr baseline="-25000" lang="en" sz="1800">
                <a:solidFill>
                  <a:schemeClr val="dk2"/>
                </a:solidFill>
              </a:rPr>
              <a:t>6</a:t>
            </a:r>
            <a:endParaRPr baseline="-25000" sz="1800">
              <a:solidFill>
                <a:schemeClr val="dk2"/>
              </a:solidFill>
            </a:endParaRPr>
          </a:p>
        </p:txBody>
      </p:sp>
      <p:grpSp>
        <p:nvGrpSpPr>
          <p:cNvPr id="335" name="Google Shape;335;p24"/>
          <p:cNvGrpSpPr/>
          <p:nvPr/>
        </p:nvGrpSpPr>
        <p:grpSpPr>
          <a:xfrm>
            <a:off x="6354838" y="3064050"/>
            <a:ext cx="615175" cy="784650"/>
            <a:chOff x="5994675" y="3507825"/>
            <a:chExt cx="615175" cy="784650"/>
          </a:xfrm>
        </p:grpSpPr>
        <p:pic>
          <p:nvPicPr>
            <p:cNvPr id="336" name="Google Shape;33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94675" y="3507825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24"/>
            <p:cNvSpPr txBox="1"/>
            <p:nvPr/>
          </p:nvSpPr>
          <p:spPr>
            <a:xfrm>
              <a:off x="6062263" y="4044975"/>
              <a:ext cx="4800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httpd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sp>
        <p:nvSpPr>
          <p:cNvPr id="338" name="Google Shape;338;p24"/>
          <p:cNvSpPr txBox="1"/>
          <p:nvPr/>
        </p:nvSpPr>
        <p:spPr>
          <a:xfrm>
            <a:off x="5771275" y="4292475"/>
            <a:ext cx="178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user_input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39" name="Google Shape;339;p24"/>
          <p:cNvCxnSpPr>
            <a:stCxn id="338" idx="0"/>
            <a:endCxn id="337" idx="2"/>
          </p:cNvCxnSpPr>
          <p:nvPr/>
        </p:nvCxnSpPr>
        <p:spPr>
          <a:xfrm rot="10800000">
            <a:off x="6662425" y="3848775"/>
            <a:ext cx="0" cy="4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0" name="Google Shape;340;p24"/>
          <p:cNvGrpSpPr/>
          <p:nvPr/>
        </p:nvGrpSpPr>
        <p:grpSpPr>
          <a:xfrm>
            <a:off x="5253662" y="2804712"/>
            <a:ext cx="893700" cy="775413"/>
            <a:chOff x="5334487" y="2624587"/>
            <a:chExt cx="893700" cy="775413"/>
          </a:xfrm>
        </p:grpSpPr>
        <p:pic>
          <p:nvPicPr>
            <p:cNvPr id="341" name="Google Shape;341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24"/>
            <p:cNvSpPr txBox="1"/>
            <p:nvPr/>
          </p:nvSpPr>
          <p:spPr>
            <a:xfrm>
              <a:off x="5334487" y="3152500"/>
              <a:ext cx="893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password.cgi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343" name="Google Shape;343;p24"/>
          <p:cNvCxnSpPr>
            <a:stCxn id="336" idx="1"/>
            <a:endCxn id="341" idx="3"/>
          </p:cNvCxnSpPr>
          <p:nvPr/>
        </p:nvCxnSpPr>
        <p:spPr>
          <a:xfrm rot="10800000">
            <a:off x="6008038" y="3112437"/>
            <a:ext cx="346800" cy="2592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4" name="Google Shape;344;p24"/>
          <p:cNvGrpSpPr/>
          <p:nvPr/>
        </p:nvGrpSpPr>
        <p:grpSpPr>
          <a:xfrm>
            <a:off x="7316775" y="2804712"/>
            <a:ext cx="615175" cy="780088"/>
            <a:chOff x="5473750" y="2624587"/>
            <a:chExt cx="615175" cy="780088"/>
          </a:xfrm>
        </p:grpSpPr>
        <p:pic>
          <p:nvPicPr>
            <p:cNvPr id="345" name="Google Shape;345;p24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24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dlnad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347" name="Google Shape;347;p24"/>
          <p:cNvCxnSpPr>
            <a:stCxn id="336" idx="3"/>
            <a:endCxn id="345" idx="1"/>
          </p:cNvCxnSpPr>
          <p:nvPr/>
        </p:nvCxnSpPr>
        <p:spPr>
          <a:xfrm flipH="1" rot="10800000">
            <a:off x="6970013" y="3112437"/>
            <a:ext cx="346800" cy="2592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48" name="Google Shape;348;p24"/>
          <p:cNvGrpSpPr/>
          <p:nvPr/>
        </p:nvGrpSpPr>
        <p:grpSpPr>
          <a:xfrm>
            <a:off x="4861975" y="1653062"/>
            <a:ext cx="615175" cy="780088"/>
            <a:chOff x="5473750" y="2624587"/>
            <a:chExt cx="615175" cy="780088"/>
          </a:xfrm>
        </p:grpSpPr>
        <p:pic>
          <p:nvPicPr>
            <p:cNvPr id="349" name="Google Shape;349;p24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0" name="Google Shape;350;p24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pptp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grpSp>
        <p:nvGrpSpPr>
          <p:cNvPr id="351" name="Google Shape;351;p24"/>
          <p:cNvGrpSpPr/>
          <p:nvPr/>
        </p:nvGrpSpPr>
        <p:grpSpPr>
          <a:xfrm>
            <a:off x="6294787" y="1511212"/>
            <a:ext cx="735300" cy="780088"/>
            <a:chOff x="5577037" y="1569487"/>
            <a:chExt cx="735300" cy="780088"/>
          </a:xfrm>
        </p:grpSpPr>
        <p:pic>
          <p:nvPicPr>
            <p:cNvPr id="352" name="Google Shape;352;p24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637100" y="15694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24"/>
            <p:cNvSpPr txBox="1"/>
            <p:nvPr/>
          </p:nvSpPr>
          <p:spPr>
            <a:xfrm>
              <a:off x="5577037" y="2102075"/>
              <a:ext cx="73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wandetect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354" name="Google Shape;354;p24"/>
          <p:cNvCxnSpPr>
            <a:endCxn id="349" idx="3"/>
          </p:cNvCxnSpPr>
          <p:nvPr/>
        </p:nvCxnSpPr>
        <p:spPr>
          <a:xfrm rot="10800000">
            <a:off x="5477150" y="1960650"/>
            <a:ext cx="954000" cy="11034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4"/>
          <p:cNvCxnSpPr>
            <a:stCxn id="336" idx="0"/>
            <a:endCxn id="353" idx="2"/>
          </p:cNvCxnSpPr>
          <p:nvPr/>
        </p:nvCxnSpPr>
        <p:spPr>
          <a:xfrm rot="10800000">
            <a:off x="6662425" y="2291250"/>
            <a:ext cx="0" cy="772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24"/>
          <p:cNvCxnSpPr>
            <a:endCxn id="357" idx="2"/>
          </p:cNvCxnSpPr>
          <p:nvPr/>
        </p:nvCxnSpPr>
        <p:spPr>
          <a:xfrm rot="10800000">
            <a:off x="4955113" y="3580125"/>
            <a:ext cx="981600" cy="7995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58" name="Google Shape;358;p24"/>
          <p:cNvGrpSpPr/>
          <p:nvPr/>
        </p:nvGrpSpPr>
        <p:grpSpPr>
          <a:xfrm>
            <a:off x="8248775" y="2845237"/>
            <a:ext cx="615175" cy="780088"/>
            <a:chOff x="5473750" y="2624587"/>
            <a:chExt cx="615175" cy="780088"/>
          </a:xfrm>
        </p:grpSpPr>
        <p:pic>
          <p:nvPicPr>
            <p:cNvPr id="359" name="Google Shape;359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" name="Google Shape;360;p24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ddns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361" name="Google Shape;361;p24"/>
          <p:cNvCxnSpPr>
            <a:endCxn id="360" idx="2"/>
          </p:cNvCxnSpPr>
          <p:nvPr/>
        </p:nvCxnSpPr>
        <p:spPr>
          <a:xfrm flipH="1" rot="10800000">
            <a:off x="7287438" y="3625325"/>
            <a:ext cx="1315200" cy="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62" name="Google Shape;362;p24"/>
          <p:cNvGrpSpPr/>
          <p:nvPr/>
        </p:nvGrpSpPr>
        <p:grpSpPr>
          <a:xfrm>
            <a:off x="7683075" y="1588062"/>
            <a:ext cx="615175" cy="780088"/>
            <a:chOff x="5473750" y="2624587"/>
            <a:chExt cx="615175" cy="780088"/>
          </a:xfrm>
        </p:grpSpPr>
        <p:pic>
          <p:nvPicPr>
            <p:cNvPr id="363" name="Google Shape;363;p24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24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wlconf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365" name="Google Shape;365;p24"/>
          <p:cNvCxnSpPr>
            <a:stCxn id="359" idx="0"/>
            <a:endCxn id="364" idx="2"/>
          </p:cNvCxnSpPr>
          <p:nvPr/>
        </p:nvCxnSpPr>
        <p:spPr>
          <a:xfrm rot="10800000">
            <a:off x="8037063" y="2368237"/>
            <a:ext cx="519300" cy="4770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6" name="Google Shape;366;p24"/>
          <p:cNvCxnSpPr>
            <a:stCxn id="352" idx="3"/>
            <a:endCxn id="363" idx="1"/>
          </p:cNvCxnSpPr>
          <p:nvPr/>
        </p:nvCxnSpPr>
        <p:spPr>
          <a:xfrm>
            <a:off x="6970025" y="1818800"/>
            <a:ext cx="713100" cy="76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24"/>
          <p:cNvCxnSpPr>
            <a:stCxn id="341" idx="0"/>
            <a:endCxn id="352" idx="1"/>
          </p:cNvCxnSpPr>
          <p:nvPr/>
        </p:nvCxnSpPr>
        <p:spPr>
          <a:xfrm flipH="1" rot="10800000">
            <a:off x="5700513" y="1818912"/>
            <a:ext cx="654300" cy="985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68" name="Google Shape;368;p24"/>
          <p:cNvGrpSpPr/>
          <p:nvPr/>
        </p:nvGrpSpPr>
        <p:grpSpPr>
          <a:xfrm>
            <a:off x="4569463" y="2804712"/>
            <a:ext cx="771300" cy="775413"/>
            <a:chOff x="5429800" y="2624587"/>
            <a:chExt cx="771300" cy="775413"/>
          </a:xfrm>
        </p:grpSpPr>
        <p:pic>
          <p:nvPicPr>
            <p:cNvPr id="369" name="Google Shape;369;p24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7" name="Google Shape;357;p24"/>
            <p:cNvSpPr txBox="1"/>
            <p:nvPr/>
          </p:nvSpPr>
          <p:spPr>
            <a:xfrm>
              <a:off x="5429800" y="3152500"/>
              <a:ext cx="771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network.cgi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370" name="Google Shape;370;p24"/>
          <p:cNvCxnSpPr>
            <a:endCxn id="342" idx="2"/>
          </p:cNvCxnSpPr>
          <p:nvPr/>
        </p:nvCxnSpPr>
        <p:spPr>
          <a:xfrm rot="10800000">
            <a:off x="5700512" y="3580125"/>
            <a:ext cx="5112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24"/>
          <p:cNvSpPr txBox="1"/>
          <p:nvPr/>
        </p:nvSpPr>
        <p:spPr>
          <a:xfrm>
            <a:off x="599375" y="4640717"/>
            <a:ext cx="509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⋀(∑n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⋁e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" name="Google Shape;372;p24"/>
          <p:cNvSpPr txBox="1"/>
          <p:nvPr/>
        </p:nvSpPr>
        <p:spPr>
          <a:xfrm>
            <a:off x="599375" y="4292475"/>
            <a:ext cx="469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⋀((e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)⋁(e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⋀e</a:t>
            </a:r>
            <a:r>
              <a:rPr baseline="-25000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73" name="Google Shape;373;p24"/>
          <p:cNvGrpSpPr/>
          <p:nvPr/>
        </p:nvGrpSpPr>
        <p:grpSpPr>
          <a:xfrm>
            <a:off x="6970013" y="1955950"/>
            <a:ext cx="661590" cy="788413"/>
            <a:chOff x="5473750" y="2624587"/>
            <a:chExt cx="661590" cy="788413"/>
          </a:xfrm>
        </p:grpSpPr>
        <p:pic>
          <p:nvPicPr>
            <p:cNvPr id="374" name="Google Shape;374;p24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24"/>
            <p:cNvSpPr txBox="1"/>
            <p:nvPr/>
          </p:nvSpPr>
          <p:spPr>
            <a:xfrm>
              <a:off x="5520040" y="3165500"/>
              <a:ext cx="61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wan.cgi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376" name="Google Shape;376;p24"/>
          <p:cNvCxnSpPr>
            <a:endCxn id="375" idx="2"/>
          </p:cNvCxnSpPr>
          <p:nvPr/>
        </p:nvCxnSpPr>
        <p:spPr>
          <a:xfrm flipH="1" rot="10800000">
            <a:off x="6858352" y="2744363"/>
            <a:ext cx="465600" cy="1696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82" name="Google Shape;382;p25"/>
          <p:cNvGrpSpPr/>
          <p:nvPr/>
        </p:nvGrpSpPr>
        <p:grpSpPr>
          <a:xfrm>
            <a:off x="302953" y="1738938"/>
            <a:ext cx="2838526" cy="2366968"/>
            <a:chOff x="755825" y="2324575"/>
            <a:chExt cx="2272275" cy="1591774"/>
          </a:xfrm>
        </p:grpSpPr>
        <p:pic>
          <p:nvPicPr>
            <p:cNvPr id="383" name="Google Shape;383;p25"/>
            <p:cNvPicPr preferRelativeResize="0"/>
            <p:nvPr/>
          </p:nvPicPr>
          <p:blipFill rotWithShape="1">
            <a:blip r:embed="rId3">
              <a:alphaModFix/>
            </a:blip>
            <a:srcRect b="1553" l="1483" r="3423" t="15355"/>
            <a:stretch/>
          </p:blipFill>
          <p:spPr>
            <a:xfrm>
              <a:off x="755825" y="2324575"/>
              <a:ext cx="2272275" cy="1591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4" name="Google Shape;384;p25"/>
            <p:cNvSpPr/>
            <p:nvPr/>
          </p:nvSpPr>
          <p:spPr>
            <a:xfrm>
              <a:off x="1686325" y="3059500"/>
              <a:ext cx="190800" cy="3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5"/>
            <p:cNvSpPr/>
            <p:nvPr/>
          </p:nvSpPr>
          <p:spPr>
            <a:xfrm>
              <a:off x="2434825" y="3059500"/>
              <a:ext cx="228900" cy="3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5"/>
            <p:cNvSpPr/>
            <p:nvPr/>
          </p:nvSpPr>
          <p:spPr>
            <a:xfrm>
              <a:off x="2434825" y="3562075"/>
              <a:ext cx="279000" cy="3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5"/>
            <p:cNvSpPr/>
            <p:nvPr/>
          </p:nvSpPr>
          <p:spPr>
            <a:xfrm>
              <a:off x="1686325" y="3553250"/>
              <a:ext cx="279000" cy="33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25"/>
          <p:cNvSpPr txBox="1"/>
          <p:nvPr/>
        </p:nvSpPr>
        <p:spPr>
          <a:xfrm>
            <a:off x="1038963" y="1200875"/>
            <a:ext cx="1366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3694600" y="1112100"/>
            <a:ext cx="23427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Web Server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0" name="Google Shape;390;p25"/>
          <p:cNvSpPr txBox="1"/>
          <p:nvPr/>
        </p:nvSpPr>
        <p:spPr>
          <a:xfrm>
            <a:off x="3650200" y="1738975"/>
            <a:ext cx="2431500" cy="23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6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6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6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600">
                <a:solidFill>
                  <a:srgbClr val="6A8759"/>
                </a:solidFill>
                <a:latin typeface="Consolas"/>
                <a:ea typeface="Consolas"/>
                <a:cs typeface="Consolas"/>
                <a:sym typeface="Consolas"/>
              </a:rPr>
              <a:t>// Handle POST Request</a:t>
            </a:r>
            <a:br>
              <a:rPr lang="en" sz="600">
                <a:solidFill>
                  <a:srgbClr val="6A875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6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6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strcmp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(request.type, </a:t>
            </a:r>
            <a:r>
              <a:rPr lang="en" sz="6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"POST"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60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6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strcmp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(request.location,</a:t>
            </a:r>
            <a:endParaRPr sz="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lang="en" sz="6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"password_recovery.cgi"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)) {</a:t>
            </a:r>
            <a:b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6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nvram_set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6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"password”, 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request.params[</a:t>
            </a:r>
            <a:r>
              <a:rPr lang="en" sz="600">
                <a:solidFill>
                  <a:srgbClr val="A4C2F4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 sz="60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60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"password_recovery.cgi"</a:t>
            </a: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C586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25"/>
          <p:cNvSpPr txBox="1"/>
          <p:nvPr/>
        </p:nvSpPr>
        <p:spPr>
          <a:xfrm>
            <a:off x="6475150" y="1200900"/>
            <a:ext cx="21417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 Utilities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92" name="Google Shape;39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0437" y="1884900"/>
            <a:ext cx="1911150" cy="191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5"/>
          <p:cNvSpPr txBox="1"/>
          <p:nvPr/>
        </p:nvSpPr>
        <p:spPr>
          <a:xfrm>
            <a:off x="6146650" y="3868750"/>
            <a:ext cx="27987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password_recovery.cgi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4" name="Google Shape;394;p25"/>
          <p:cNvSpPr/>
          <p:nvPr/>
        </p:nvSpPr>
        <p:spPr>
          <a:xfrm>
            <a:off x="3218375" y="2798350"/>
            <a:ext cx="337200" cy="16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6222350" y="2798350"/>
            <a:ext cx="337200" cy="16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Firmware Dataflow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321475" y="2914175"/>
            <a:ext cx="412200" cy="84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6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Mango</a:t>
            </a:r>
            <a:endParaRPr/>
          </a:p>
        </p:txBody>
      </p:sp>
      <p:sp>
        <p:nvSpPr>
          <p:cNvPr id="403" name="Google Shape;40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04" name="Google Shape;404;p26"/>
          <p:cNvGrpSpPr/>
          <p:nvPr/>
        </p:nvGrpSpPr>
        <p:grpSpPr>
          <a:xfrm>
            <a:off x="4210125" y="2805900"/>
            <a:ext cx="615175" cy="784650"/>
            <a:chOff x="5994675" y="3507825"/>
            <a:chExt cx="615175" cy="784650"/>
          </a:xfrm>
        </p:grpSpPr>
        <p:pic>
          <p:nvPicPr>
            <p:cNvPr id="405" name="Google Shape;405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94675" y="3507825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6" name="Google Shape;406;p26"/>
            <p:cNvSpPr txBox="1"/>
            <p:nvPr/>
          </p:nvSpPr>
          <p:spPr>
            <a:xfrm>
              <a:off x="6062263" y="4044975"/>
              <a:ext cx="4800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httpd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sp>
        <p:nvSpPr>
          <p:cNvPr id="407" name="Google Shape;407;p26"/>
          <p:cNvSpPr txBox="1"/>
          <p:nvPr/>
        </p:nvSpPr>
        <p:spPr>
          <a:xfrm>
            <a:off x="3626563" y="4034325"/>
            <a:ext cx="178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user_input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8" name="Google Shape;408;p26"/>
          <p:cNvCxnSpPr>
            <a:stCxn id="407" idx="0"/>
            <a:endCxn id="406" idx="2"/>
          </p:cNvCxnSpPr>
          <p:nvPr/>
        </p:nvCxnSpPr>
        <p:spPr>
          <a:xfrm rot="10800000">
            <a:off x="4517713" y="3590625"/>
            <a:ext cx="0" cy="4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09" name="Google Shape;409;p26"/>
          <p:cNvGrpSpPr/>
          <p:nvPr/>
        </p:nvGrpSpPr>
        <p:grpSpPr>
          <a:xfrm>
            <a:off x="3108949" y="2546562"/>
            <a:ext cx="893700" cy="775413"/>
            <a:chOff x="5334487" y="2624587"/>
            <a:chExt cx="893700" cy="775413"/>
          </a:xfrm>
        </p:grpSpPr>
        <p:pic>
          <p:nvPicPr>
            <p:cNvPr id="410" name="Google Shape;410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26"/>
            <p:cNvSpPr txBox="1"/>
            <p:nvPr/>
          </p:nvSpPr>
          <p:spPr>
            <a:xfrm>
              <a:off x="5334487" y="3152500"/>
              <a:ext cx="893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password.cgi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412" name="Google Shape;412;p26"/>
          <p:cNvCxnSpPr>
            <a:stCxn id="405" idx="1"/>
            <a:endCxn id="410" idx="3"/>
          </p:cNvCxnSpPr>
          <p:nvPr/>
        </p:nvCxnSpPr>
        <p:spPr>
          <a:xfrm rot="10800000">
            <a:off x="3863325" y="2854287"/>
            <a:ext cx="346800" cy="2592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13" name="Google Shape;413;p26"/>
          <p:cNvGrpSpPr/>
          <p:nvPr/>
        </p:nvGrpSpPr>
        <p:grpSpPr>
          <a:xfrm>
            <a:off x="5172063" y="2546562"/>
            <a:ext cx="615175" cy="780088"/>
            <a:chOff x="5473750" y="2624587"/>
            <a:chExt cx="615175" cy="780088"/>
          </a:xfrm>
        </p:grpSpPr>
        <p:pic>
          <p:nvPicPr>
            <p:cNvPr id="414" name="Google Shape;414;p26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p26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dlnad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416" name="Google Shape;416;p26"/>
          <p:cNvCxnSpPr>
            <a:stCxn id="405" idx="3"/>
            <a:endCxn id="414" idx="1"/>
          </p:cNvCxnSpPr>
          <p:nvPr/>
        </p:nvCxnSpPr>
        <p:spPr>
          <a:xfrm flipH="1" rot="10800000">
            <a:off x="4825300" y="2854287"/>
            <a:ext cx="346800" cy="2592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17" name="Google Shape;417;p26"/>
          <p:cNvGrpSpPr/>
          <p:nvPr/>
        </p:nvGrpSpPr>
        <p:grpSpPr>
          <a:xfrm>
            <a:off x="2717263" y="1394912"/>
            <a:ext cx="615175" cy="780088"/>
            <a:chOff x="5473750" y="2624587"/>
            <a:chExt cx="615175" cy="780088"/>
          </a:xfrm>
        </p:grpSpPr>
        <p:pic>
          <p:nvPicPr>
            <p:cNvPr id="418" name="Google Shape;418;p26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26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pptp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grpSp>
        <p:nvGrpSpPr>
          <p:cNvPr id="420" name="Google Shape;420;p26"/>
          <p:cNvGrpSpPr/>
          <p:nvPr/>
        </p:nvGrpSpPr>
        <p:grpSpPr>
          <a:xfrm>
            <a:off x="4150075" y="1253062"/>
            <a:ext cx="735300" cy="780088"/>
            <a:chOff x="5577037" y="1569487"/>
            <a:chExt cx="735300" cy="780088"/>
          </a:xfrm>
        </p:grpSpPr>
        <p:pic>
          <p:nvPicPr>
            <p:cNvPr id="421" name="Google Shape;421;p26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637100" y="15694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26"/>
            <p:cNvSpPr txBox="1"/>
            <p:nvPr/>
          </p:nvSpPr>
          <p:spPr>
            <a:xfrm>
              <a:off x="5577037" y="2102075"/>
              <a:ext cx="73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wandetect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423" name="Google Shape;423;p26"/>
          <p:cNvCxnSpPr>
            <a:endCxn id="418" idx="3"/>
          </p:cNvCxnSpPr>
          <p:nvPr/>
        </p:nvCxnSpPr>
        <p:spPr>
          <a:xfrm rot="10800000">
            <a:off x="3332438" y="1702500"/>
            <a:ext cx="954000" cy="11034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26"/>
          <p:cNvCxnSpPr>
            <a:stCxn id="405" idx="0"/>
            <a:endCxn id="422" idx="2"/>
          </p:cNvCxnSpPr>
          <p:nvPr/>
        </p:nvCxnSpPr>
        <p:spPr>
          <a:xfrm rot="10800000">
            <a:off x="4517713" y="2033100"/>
            <a:ext cx="0" cy="772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5" name="Google Shape;425;p26"/>
          <p:cNvCxnSpPr>
            <a:endCxn id="426" idx="2"/>
          </p:cNvCxnSpPr>
          <p:nvPr/>
        </p:nvCxnSpPr>
        <p:spPr>
          <a:xfrm rot="10800000">
            <a:off x="2810400" y="3321975"/>
            <a:ext cx="981600" cy="7995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27" name="Google Shape;427;p26"/>
          <p:cNvGrpSpPr/>
          <p:nvPr/>
        </p:nvGrpSpPr>
        <p:grpSpPr>
          <a:xfrm>
            <a:off x="6104063" y="2587087"/>
            <a:ext cx="615175" cy="780088"/>
            <a:chOff x="5473750" y="2624587"/>
            <a:chExt cx="615175" cy="780088"/>
          </a:xfrm>
        </p:grpSpPr>
        <p:pic>
          <p:nvPicPr>
            <p:cNvPr id="428" name="Google Shape;428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26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ddns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430" name="Google Shape;430;p26"/>
          <p:cNvCxnSpPr>
            <a:endCxn id="429" idx="2"/>
          </p:cNvCxnSpPr>
          <p:nvPr/>
        </p:nvCxnSpPr>
        <p:spPr>
          <a:xfrm flipH="1" rot="10800000">
            <a:off x="5142725" y="3367175"/>
            <a:ext cx="1315200" cy="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31" name="Google Shape;431;p26"/>
          <p:cNvGrpSpPr/>
          <p:nvPr/>
        </p:nvGrpSpPr>
        <p:grpSpPr>
          <a:xfrm>
            <a:off x="5538363" y="1329912"/>
            <a:ext cx="615175" cy="780088"/>
            <a:chOff x="5473750" y="2624587"/>
            <a:chExt cx="615175" cy="780088"/>
          </a:xfrm>
        </p:grpSpPr>
        <p:pic>
          <p:nvPicPr>
            <p:cNvPr id="432" name="Google Shape;432;p26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26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wlconf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434" name="Google Shape;434;p26"/>
          <p:cNvCxnSpPr>
            <a:stCxn id="428" idx="0"/>
            <a:endCxn id="433" idx="2"/>
          </p:cNvCxnSpPr>
          <p:nvPr/>
        </p:nvCxnSpPr>
        <p:spPr>
          <a:xfrm rot="10800000">
            <a:off x="5892350" y="2110087"/>
            <a:ext cx="519300" cy="4770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26"/>
          <p:cNvCxnSpPr>
            <a:stCxn id="421" idx="3"/>
            <a:endCxn id="432" idx="1"/>
          </p:cNvCxnSpPr>
          <p:nvPr/>
        </p:nvCxnSpPr>
        <p:spPr>
          <a:xfrm>
            <a:off x="4825313" y="1560650"/>
            <a:ext cx="713100" cy="76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26"/>
          <p:cNvCxnSpPr>
            <a:stCxn id="410" idx="0"/>
            <a:endCxn id="421" idx="1"/>
          </p:cNvCxnSpPr>
          <p:nvPr/>
        </p:nvCxnSpPr>
        <p:spPr>
          <a:xfrm flipH="1" rot="10800000">
            <a:off x="3555800" y="1560762"/>
            <a:ext cx="654300" cy="985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37" name="Google Shape;437;p26"/>
          <p:cNvGrpSpPr/>
          <p:nvPr/>
        </p:nvGrpSpPr>
        <p:grpSpPr>
          <a:xfrm>
            <a:off x="2424750" y="2546562"/>
            <a:ext cx="771300" cy="775413"/>
            <a:chOff x="5429800" y="2624587"/>
            <a:chExt cx="771300" cy="775413"/>
          </a:xfrm>
        </p:grpSpPr>
        <p:pic>
          <p:nvPicPr>
            <p:cNvPr id="438" name="Google Shape;438;p26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26"/>
            <p:cNvSpPr txBox="1"/>
            <p:nvPr/>
          </p:nvSpPr>
          <p:spPr>
            <a:xfrm>
              <a:off x="5429800" y="3152500"/>
              <a:ext cx="771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network.cgi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grpSp>
        <p:nvGrpSpPr>
          <p:cNvPr id="439" name="Google Shape;439;p26"/>
          <p:cNvGrpSpPr/>
          <p:nvPr/>
        </p:nvGrpSpPr>
        <p:grpSpPr>
          <a:xfrm>
            <a:off x="4874263" y="1663612"/>
            <a:ext cx="661590" cy="788413"/>
            <a:chOff x="5473750" y="2624587"/>
            <a:chExt cx="661590" cy="788413"/>
          </a:xfrm>
        </p:grpSpPr>
        <p:pic>
          <p:nvPicPr>
            <p:cNvPr id="440" name="Google Shape;440;p26"/>
            <p:cNvPicPr preferRelativeResize="0"/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26"/>
            <p:cNvSpPr txBox="1"/>
            <p:nvPr/>
          </p:nvSpPr>
          <p:spPr>
            <a:xfrm>
              <a:off x="5520040" y="3165500"/>
              <a:ext cx="61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D4D4D4"/>
                  </a:solidFill>
                </a:rPr>
                <a:t>wan.cgi</a:t>
              </a:r>
              <a:endParaRPr sz="900">
                <a:solidFill>
                  <a:srgbClr val="D4D4D4"/>
                </a:solidFill>
              </a:endParaRPr>
            </a:p>
          </p:txBody>
        </p:sp>
      </p:grpSp>
      <p:cxnSp>
        <p:nvCxnSpPr>
          <p:cNvPr id="442" name="Google Shape;442;p26"/>
          <p:cNvCxnSpPr>
            <a:endCxn id="411" idx="2"/>
          </p:cNvCxnSpPr>
          <p:nvPr/>
        </p:nvCxnSpPr>
        <p:spPr>
          <a:xfrm rot="10800000">
            <a:off x="3555799" y="3321975"/>
            <a:ext cx="5112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26"/>
          <p:cNvCxnSpPr>
            <a:endCxn id="441" idx="2"/>
          </p:cNvCxnSpPr>
          <p:nvPr/>
        </p:nvCxnSpPr>
        <p:spPr>
          <a:xfrm flipH="1" rot="10800000">
            <a:off x="4762602" y="2452025"/>
            <a:ext cx="465600" cy="1696800"/>
          </a:xfrm>
          <a:prstGeom prst="straightConnector1">
            <a:avLst/>
          </a:prstGeom>
          <a:noFill/>
          <a:ln cap="flat" cmpd="sng" w="9525">
            <a:solidFill>
              <a:srgbClr val="D4D4D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7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Mango</a:t>
            </a:r>
            <a:endParaRPr/>
          </a:p>
        </p:txBody>
      </p:sp>
      <p:sp>
        <p:nvSpPr>
          <p:cNvPr id="449" name="Google Shape;4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50" name="Google Shape;450;p27"/>
          <p:cNvGrpSpPr/>
          <p:nvPr/>
        </p:nvGrpSpPr>
        <p:grpSpPr>
          <a:xfrm>
            <a:off x="4210125" y="2807449"/>
            <a:ext cx="615175" cy="784650"/>
            <a:chOff x="5994675" y="3507825"/>
            <a:chExt cx="615175" cy="784650"/>
          </a:xfrm>
        </p:grpSpPr>
        <p:pic>
          <p:nvPicPr>
            <p:cNvPr id="451" name="Google Shape;451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94675" y="3507825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27"/>
            <p:cNvSpPr txBox="1"/>
            <p:nvPr/>
          </p:nvSpPr>
          <p:spPr>
            <a:xfrm>
              <a:off x="6062263" y="4044975"/>
              <a:ext cx="4800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httpd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sp>
        <p:nvSpPr>
          <p:cNvPr id="453" name="Google Shape;453;p27"/>
          <p:cNvSpPr txBox="1"/>
          <p:nvPr/>
        </p:nvSpPr>
        <p:spPr>
          <a:xfrm>
            <a:off x="3626563" y="4035874"/>
            <a:ext cx="178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user_input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54" name="Google Shape;454;p27"/>
          <p:cNvCxnSpPr>
            <a:stCxn id="453" idx="0"/>
            <a:endCxn id="452" idx="2"/>
          </p:cNvCxnSpPr>
          <p:nvPr/>
        </p:nvCxnSpPr>
        <p:spPr>
          <a:xfrm rot="10800000">
            <a:off x="4517713" y="3592174"/>
            <a:ext cx="0" cy="4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55" name="Google Shape;455;p27"/>
          <p:cNvGrpSpPr/>
          <p:nvPr/>
        </p:nvGrpSpPr>
        <p:grpSpPr>
          <a:xfrm>
            <a:off x="3108949" y="2548111"/>
            <a:ext cx="893700" cy="775413"/>
            <a:chOff x="5334487" y="2624587"/>
            <a:chExt cx="893700" cy="775413"/>
          </a:xfrm>
        </p:grpSpPr>
        <p:pic>
          <p:nvPicPr>
            <p:cNvPr id="456" name="Google Shape;456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7" name="Google Shape;457;p27"/>
            <p:cNvSpPr txBox="1"/>
            <p:nvPr/>
          </p:nvSpPr>
          <p:spPr>
            <a:xfrm>
              <a:off x="5334487" y="3152500"/>
              <a:ext cx="8937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password.cgi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458" name="Google Shape;458;p27"/>
          <p:cNvCxnSpPr>
            <a:stCxn id="451" idx="1"/>
            <a:endCxn id="456" idx="3"/>
          </p:cNvCxnSpPr>
          <p:nvPr/>
        </p:nvCxnSpPr>
        <p:spPr>
          <a:xfrm rot="10800000">
            <a:off x="3863325" y="2855836"/>
            <a:ext cx="346800" cy="25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59" name="Google Shape;459;p27"/>
          <p:cNvGrpSpPr/>
          <p:nvPr/>
        </p:nvGrpSpPr>
        <p:grpSpPr>
          <a:xfrm>
            <a:off x="5172063" y="2548111"/>
            <a:ext cx="615175" cy="780088"/>
            <a:chOff x="5473750" y="2624587"/>
            <a:chExt cx="615175" cy="780088"/>
          </a:xfrm>
        </p:grpSpPr>
        <p:pic>
          <p:nvPicPr>
            <p:cNvPr id="460" name="Google Shape;4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1" name="Google Shape;461;p27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dlnad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cxnSp>
        <p:nvCxnSpPr>
          <p:cNvPr id="462" name="Google Shape;462;p27"/>
          <p:cNvCxnSpPr>
            <a:stCxn id="451" idx="3"/>
            <a:endCxn id="460" idx="1"/>
          </p:cNvCxnSpPr>
          <p:nvPr/>
        </p:nvCxnSpPr>
        <p:spPr>
          <a:xfrm flipH="1" rot="10800000">
            <a:off x="4825300" y="2855836"/>
            <a:ext cx="346800" cy="259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3" name="Google Shape;463;p27"/>
          <p:cNvGrpSpPr/>
          <p:nvPr/>
        </p:nvGrpSpPr>
        <p:grpSpPr>
          <a:xfrm>
            <a:off x="2717263" y="1396461"/>
            <a:ext cx="615175" cy="780088"/>
            <a:chOff x="5473750" y="2624587"/>
            <a:chExt cx="615175" cy="780088"/>
          </a:xfrm>
        </p:grpSpPr>
        <p:pic>
          <p:nvPicPr>
            <p:cNvPr id="464" name="Google Shape;46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27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pptp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grpSp>
        <p:nvGrpSpPr>
          <p:cNvPr id="466" name="Google Shape;466;p27"/>
          <p:cNvGrpSpPr/>
          <p:nvPr/>
        </p:nvGrpSpPr>
        <p:grpSpPr>
          <a:xfrm>
            <a:off x="4150075" y="1254611"/>
            <a:ext cx="735300" cy="780088"/>
            <a:chOff x="5577037" y="1569487"/>
            <a:chExt cx="735300" cy="780088"/>
          </a:xfrm>
        </p:grpSpPr>
        <p:pic>
          <p:nvPicPr>
            <p:cNvPr id="467" name="Google Shape;467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37100" y="15694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27"/>
            <p:cNvSpPr txBox="1"/>
            <p:nvPr/>
          </p:nvSpPr>
          <p:spPr>
            <a:xfrm>
              <a:off x="5577037" y="2102075"/>
              <a:ext cx="73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wandetect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cxnSp>
        <p:nvCxnSpPr>
          <p:cNvPr id="469" name="Google Shape;469;p27"/>
          <p:cNvCxnSpPr>
            <a:endCxn id="464" idx="3"/>
          </p:cNvCxnSpPr>
          <p:nvPr/>
        </p:nvCxnSpPr>
        <p:spPr>
          <a:xfrm rot="10800000">
            <a:off x="3332438" y="1704049"/>
            <a:ext cx="954000" cy="110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0" name="Google Shape;470;p27"/>
          <p:cNvCxnSpPr>
            <a:stCxn id="451" idx="0"/>
            <a:endCxn id="468" idx="2"/>
          </p:cNvCxnSpPr>
          <p:nvPr/>
        </p:nvCxnSpPr>
        <p:spPr>
          <a:xfrm rot="10800000">
            <a:off x="4517713" y="2034649"/>
            <a:ext cx="0" cy="772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27"/>
          <p:cNvCxnSpPr>
            <a:endCxn id="472" idx="2"/>
          </p:cNvCxnSpPr>
          <p:nvPr/>
        </p:nvCxnSpPr>
        <p:spPr>
          <a:xfrm rot="10800000">
            <a:off x="2810400" y="3323524"/>
            <a:ext cx="981600" cy="799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73" name="Google Shape;473;p27"/>
          <p:cNvGrpSpPr/>
          <p:nvPr/>
        </p:nvGrpSpPr>
        <p:grpSpPr>
          <a:xfrm>
            <a:off x="6104063" y="2588636"/>
            <a:ext cx="615175" cy="780088"/>
            <a:chOff x="5473750" y="2624587"/>
            <a:chExt cx="615175" cy="780088"/>
          </a:xfrm>
        </p:grpSpPr>
        <p:pic>
          <p:nvPicPr>
            <p:cNvPr id="474" name="Google Shape;47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27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2"/>
                  </a:solidFill>
                </a:rPr>
                <a:t>ddns</a:t>
              </a:r>
              <a:endParaRPr sz="900">
                <a:solidFill>
                  <a:schemeClr val="dk2"/>
                </a:solidFill>
              </a:endParaRPr>
            </a:p>
          </p:txBody>
        </p:sp>
      </p:grpSp>
      <p:cxnSp>
        <p:nvCxnSpPr>
          <p:cNvPr id="476" name="Google Shape;476;p27"/>
          <p:cNvCxnSpPr>
            <a:endCxn id="475" idx="2"/>
          </p:cNvCxnSpPr>
          <p:nvPr/>
        </p:nvCxnSpPr>
        <p:spPr>
          <a:xfrm flipH="1" rot="10800000">
            <a:off x="5142725" y="3368724"/>
            <a:ext cx="1315200" cy="7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77" name="Google Shape;477;p27"/>
          <p:cNvGrpSpPr/>
          <p:nvPr/>
        </p:nvGrpSpPr>
        <p:grpSpPr>
          <a:xfrm>
            <a:off x="5538363" y="1331461"/>
            <a:ext cx="615175" cy="780088"/>
            <a:chOff x="5473750" y="2624587"/>
            <a:chExt cx="615175" cy="780088"/>
          </a:xfrm>
        </p:grpSpPr>
        <p:pic>
          <p:nvPicPr>
            <p:cNvPr id="478" name="Google Shape;478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9" name="Google Shape;479;p27"/>
            <p:cNvSpPr txBox="1"/>
            <p:nvPr/>
          </p:nvSpPr>
          <p:spPr>
            <a:xfrm>
              <a:off x="5566313" y="3157175"/>
              <a:ext cx="5226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wlconf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cxnSp>
        <p:nvCxnSpPr>
          <p:cNvPr id="480" name="Google Shape;480;p27"/>
          <p:cNvCxnSpPr>
            <a:stCxn id="474" idx="0"/>
            <a:endCxn id="479" idx="2"/>
          </p:cNvCxnSpPr>
          <p:nvPr/>
        </p:nvCxnSpPr>
        <p:spPr>
          <a:xfrm rot="10800000">
            <a:off x="5892350" y="2111636"/>
            <a:ext cx="519300" cy="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1" name="Google Shape;481;p27"/>
          <p:cNvCxnSpPr>
            <a:stCxn id="467" idx="3"/>
            <a:endCxn id="478" idx="1"/>
          </p:cNvCxnSpPr>
          <p:nvPr/>
        </p:nvCxnSpPr>
        <p:spPr>
          <a:xfrm>
            <a:off x="4825313" y="1562199"/>
            <a:ext cx="713100" cy="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2" name="Google Shape;482;p27"/>
          <p:cNvCxnSpPr>
            <a:stCxn id="456" idx="0"/>
            <a:endCxn id="467" idx="1"/>
          </p:cNvCxnSpPr>
          <p:nvPr/>
        </p:nvCxnSpPr>
        <p:spPr>
          <a:xfrm flipH="1" rot="10800000">
            <a:off x="3555800" y="1562311"/>
            <a:ext cx="654300" cy="9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83" name="Google Shape;483;p27"/>
          <p:cNvGrpSpPr/>
          <p:nvPr/>
        </p:nvGrpSpPr>
        <p:grpSpPr>
          <a:xfrm>
            <a:off x="2424750" y="2548111"/>
            <a:ext cx="771300" cy="775413"/>
            <a:chOff x="5429800" y="2624587"/>
            <a:chExt cx="771300" cy="775413"/>
          </a:xfrm>
        </p:grpSpPr>
        <p:pic>
          <p:nvPicPr>
            <p:cNvPr id="484" name="Google Shape;484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27"/>
            <p:cNvSpPr txBox="1"/>
            <p:nvPr/>
          </p:nvSpPr>
          <p:spPr>
            <a:xfrm>
              <a:off x="5429800" y="3152500"/>
              <a:ext cx="771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network.cgi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grpSp>
        <p:nvGrpSpPr>
          <p:cNvPr id="485" name="Google Shape;485;p27"/>
          <p:cNvGrpSpPr/>
          <p:nvPr/>
        </p:nvGrpSpPr>
        <p:grpSpPr>
          <a:xfrm>
            <a:off x="4874263" y="1665161"/>
            <a:ext cx="661590" cy="788413"/>
            <a:chOff x="5473750" y="2624587"/>
            <a:chExt cx="661590" cy="788413"/>
          </a:xfrm>
        </p:grpSpPr>
        <p:pic>
          <p:nvPicPr>
            <p:cNvPr id="486" name="Google Shape;486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73750" y="2624587"/>
              <a:ext cx="615175" cy="61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7" name="Google Shape;487;p27"/>
            <p:cNvSpPr txBox="1"/>
            <p:nvPr/>
          </p:nvSpPr>
          <p:spPr>
            <a:xfrm>
              <a:off x="5520040" y="3165500"/>
              <a:ext cx="615300" cy="24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wan.cgi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cxnSp>
        <p:nvCxnSpPr>
          <p:cNvPr id="488" name="Google Shape;488;p27"/>
          <p:cNvCxnSpPr>
            <a:endCxn id="457" idx="2"/>
          </p:cNvCxnSpPr>
          <p:nvPr/>
        </p:nvCxnSpPr>
        <p:spPr>
          <a:xfrm rot="10800000">
            <a:off x="3555799" y="3323524"/>
            <a:ext cx="511200" cy="79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27"/>
          <p:cNvCxnSpPr>
            <a:endCxn id="487" idx="2"/>
          </p:cNvCxnSpPr>
          <p:nvPr/>
        </p:nvCxnSpPr>
        <p:spPr>
          <a:xfrm flipH="1" rot="10800000">
            <a:off x="4762602" y="2453574"/>
            <a:ext cx="465600" cy="169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5" name="Google Shape;495;p28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Improved Static Analysis for Linux-Based Firmware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6" name="Google Shape;496;p28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29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Improved Static Analysis for Linux-Based Firmware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MangoDFA—Value Dependency Analysis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3" name="Google Shape;503;p29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ango—Analysis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09" name="Google Shape;509;p30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*a1)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a1);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510" name="Google Shape;510;p30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Analysis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1" name="Google Shape;511;p30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17" name="Google Shape;517;p31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*a1)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a1);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cxnSp>
        <p:nvCxnSpPr>
          <p:cNvPr id="518" name="Google Shape;518;p31"/>
          <p:cNvCxnSpPr/>
          <p:nvPr/>
        </p:nvCxnSpPr>
        <p:spPr>
          <a:xfrm flipH="1" rot="10800000">
            <a:off x="1347550" y="1944300"/>
            <a:ext cx="4145100" cy="409800"/>
          </a:xfrm>
          <a:prstGeom prst="bentConnector3">
            <a:avLst>
              <a:gd fmla="val -19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19" name="Google Shape;519;p31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0" name="Google Shape;520;p31"/>
          <p:cNvSpPr/>
          <p:nvPr/>
        </p:nvSpPr>
        <p:spPr>
          <a:xfrm>
            <a:off x="4572000" y="168000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fgets</a:t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6573700" y="168000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522" name="Google Shape;522;p31"/>
          <p:cNvSpPr/>
          <p:nvPr/>
        </p:nvSpPr>
        <p:spPr>
          <a:xfrm>
            <a:off x="6573700" y="1022938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</a:t>
            </a:r>
            <a:endParaRPr/>
          </a:p>
        </p:txBody>
      </p:sp>
      <p:cxnSp>
        <p:nvCxnSpPr>
          <p:cNvPr id="523" name="Google Shape;523;p31"/>
          <p:cNvCxnSpPr>
            <a:stCxn id="522" idx="2"/>
            <a:endCxn id="521" idx="0"/>
          </p:cNvCxnSpPr>
          <p:nvPr/>
        </p:nvCxnSpPr>
        <p:spPr>
          <a:xfrm>
            <a:off x="7148650" y="1445038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31"/>
          <p:cNvCxnSpPr/>
          <p:nvPr/>
        </p:nvCxnSpPr>
        <p:spPr>
          <a:xfrm>
            <a:off x="6415325" y="996175"/>
            <a:ext cx="0" cy="3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5" name="Google Shape;525;p31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Analysis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31" name="Google Shape;531;p32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*a1)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a1);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532" name="Google Shape;532;p32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4572000" y="168000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fgets</a:t>
            </a:r>
            <a:endParaRPr/>
          </a:p>
        </p:txBody>
      </p:sp>
      <p:sp>
        <p:nvSpPr>
          <p:cNvPr id="534" name="Google Shape;534;p32"/>
          <p:cNvSpPr/>
          <p:nvPr/>
        </p:nvSpPr>
        <p:spPr>
          <a:xfrm>
            <a:off x="6573700" y="168000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535" name="Google Shape;535;p32"/>
          <p:cNvSpPr/>
          <p:nvPr/>
        </p:nvSpPr>
        <p:spPr>
          <a:xfrm>
            <a:off x="6573700" y="1022938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</a:t>
            </a:r>
            <a:endParaRPr/>
          </a:p>
        </p:txBody>
      </p:sp>
      <p:cxnSp>
        <p:nvCxnSpPr>
          <p:cNvPr id="536" name="Google Shape;536;p32"/>
          <p:cNvCxnSpPr>
            <a:stCxn id="535" idx="2"/>
            <a:endCxn id="534" idx="0"/>
          </p:cNvCxnSpPr>
          <p:nvPr/>
        </p:nvCxnSpPr>
        <p:spPr>
          <a:xfrm>
            <a:off x="7148650" y="1445038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32"/>
          <p:cNvCxnSpPr/>
          <p:nvPr/>
        </p:nvCxnSpPr>
        <p:spPr>
          <a:xfrm>
            <a:off x="6415325" y="996175"/>
            <a:ext cx="0" cy="3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38" name="Google Shape;538;p32"/>
          <p:cNvSpPr/>
          <p:nvPr/>
        </p:nvSpPr>
        <p:spPr>
          <a:xfrm>
            <a:off x="4572000" y="2345325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sub_401080</a:t>
            </a:r>
            <a:endParaRPr/>
          </a:p>
        </p:txBody>
      </p:sp>
      <p:sp>
        <p:nvSpPr>
          <p:cNvPr id="539" name="Google Shape;539;p32"/>
          <p:cNvSpPr/>
          <p:nvPr/>
        </p:nvSpPr>
        <p:spPr>
          <a:xfrm>
            <a:off x="6573700" y="2317325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arg1: name</a:t>
            </a:r>
            <a:endParaRPr/>
          </a:p>
        </p:txBody>
      </p:sp>
      <p:cxnSp>
        <p:nvCxnSpPr>
          <p:cNvPr id="540" name="Google Shape;540;p32"/>
          <p:cNvCxnSpPr>
            <a:endCxn id="538" idx="0"/>
          </p:cNvCxnSpPr>
          <p:nvPr/>
        </p:nvCxnSpPr>
        <p:spPr>
          <a:xfrm>
            <a:off x="5410350" y="2105325"/>
            <a:ext cx="0" cy="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" name="Google Shape;541;p32"/>
          <p:cNvCxnSpPr>
            <a:endCxn id="539" idx="0"/>
          </p:cNvCxnSpPr>
          <p:nvPr/>
        </p:nvCxnSpPr>
        <p:spPr>
          <a:xfrm>
            <a:off x="7148650" y="2105225"/>
            <a:ext cx="0" cy="2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" name="Google Shape;542;p32"/>
          <p:cNvCxnSpPr/>
          <p:nvPr/>
        </p:nvCxnSpPr>
        <p:spPr>
          <a:xfrm rot="10800000">
            <a:off x="1894500" y="2556375"/>
            <a:ext cx="2677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32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Analysis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49" name="Google Shape;549;p33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*a1)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a1);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cxnSp>
        <p:nvCxnSpPr>
          <p:cNvPr id="550" name="Google Shape;550;p33"/>
          <p:cNvCxnSpPr/>
          <p:nvPr/>
        </p:nvCxnSpPr>
        <p:spPr>
          <a:xfrm flipH="1" rot="10800000">
            <a:off x="3401100" y="3260675"/>
            <a:ext cx="1170900" cy="201300"/>
          </a:xfrm>
          <a:prstGeom prst="bentConnector3">
            <a:avLst>
              <a:gd fmla="val -649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51" name="Google Shape;551;p33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4572000" y="168000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fgets</a:t>
            </a: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6573700" y="168000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6573700" y="1022938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</a:t>
            </a:r>
            <a:endParaRPr/>
          </a:p>
        </p:txBody>
      </p:sp>
      <p:cxnSp>
        <p:nvCxnSpPr>
          <p:cNvPr id="555" name="Google Shape;555;p33"/>
          <p:cNvCxnSpPr>
            <a:stCxn id="554" idx="2"/>
            <a:endCxn id="553" idx="0"/>
          </p:cNvCxnSpPr>
          <p:nvPr/>
        </p:nvCxnSpPr>
        <p:spPr>
          <a:xfrm>
            <a:off x="7148650" y="1445038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6" name="Google Shape;556;p33"/>
          <p:cNvCxnSpPr/>
          <p:nvPr/>
        </p:nvCxnSpPr>
        <p:spPr>
          <a:xfrm>
            <a:off x="6415325" y="996175"/>
            <a:ext cx="0" cy="3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7" name="Google Shape;557;p33"/>
          <p:cNvSpPr/>
          <p:nvPr/>
        </p:nvSpPr>
        <p:spPr>
          <a:xfrm>
            <a:off x="4572000" y="2345325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sub_401080</a:t>
            </a:r>
            <a:endParaRPr/>
          </a:p>
        </p:txBody>
      </p:sp>
      <p:sp>
        <p:nvSpPr>
          <p:cNvPr id="558" name="Google Shape;558;p33"/>
          <p:cNvSpPr/>
          <p:nvPr/>
        </p:nvSpPr>
        <p:spPr>
          <a:xfrm>
            <a:off x="6573700" y="2317325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arg1: name</a:t>
            </a:r>
            <a:endParaRPr/>
          </a:p>
        </p:txBody>
      </p:sp>
      <p:cxnSp>
        <p:nvCxnSpPr>
          <p:cNvPr id="559" name="Google Shape;559;p33"/>
          <p:cNvCxnSpPr>
            <a:endCxn id="557" idx="0"/>
          </p:cNvCxnSpPr>
          <p:nvPr/>
        </p:nvCxnSpPr>
        <p:spPr>
          <a:xfrm>
            <a:off x="5410350" y="2105325"/>
            <a:ext cx="0" cy="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33"/>
          <p:cNvCxnSpPr>
            <a:endCxn id="558" idx="0"/>
          </p:cNvCxnSpPr>
          <p:nvPr/>
        </p:nvCxnSpPr>
        <p:spPr>
          <a:xfrm>
            <a:off x="7148650" y="2105225"/>
            <a:ext cx="0" cy="2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3"/>
          <p:cNvSpPr/>
          <p:nvPr/>
        </p:nvSpPr>
        <p:spPr>
          <a:xfrm>
            <a:off x="4572000" y="307244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snprintf</a:t>
            </a:r>
            <a:endParaRPr/>
          </a:p>
        </p:txBody>
      </p:sp>
      <p:sp>
        <p:nvSpPr>
          <p:cNvPr id="562" name="Google Shape;562;p33"/>
          <p:cNvSpPr/>
          <p:nvPr/>
        </p:nvSpPr>
        <p:spPr>
          <a:xfrm>
            <a:off x="6573700" y="307244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rg1: a1</a:t>
            </a:r>
            <a:endParaRPr/>
          </a:p>
        </p:txBody>
      </p:sp>
      <p:cxnSp>
        <p:nvCxnSpPr>
          <p:cNvPr id="563" name="Google Shape;563;p33"/>
          <p:cNvCxnSpPr>
            <a:endCxn id="561" idx="0"/>
          </p:cNvCxnSpPr>
          <p:nvPr/>
        </p:nvCxnSpPr>
        <p:spPr>
          <a:xfrm>
            <a:off x="5410350" y="2771240"/>
            <a:ext cx="0" cy="30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33"/>
          <p:cNvCxnSpPr>
            <a:endCxn id="562" idx="0"/>
          </p:cNvCxnSpPr>
          <p:nvPr/>
        </p:nvCxnSpPr>
        <p:spPr>
          <a:xfrm>
            <a:off x="7148650" y="2743340"/>
            <a:ext cx="0" cy="3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5" name="Google Shape;565;p33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Analysis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71" name="Google Shape;571;p34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*a1)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a1);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cxnSp>
        <p:nvCxnSpPr>
          <p:cNvPr id="572" name="Google Shape;572;p34"/>
          <p:cNvCxnSpPr/>
          <p:nvPr/>
        </p:nvCxnSpPr>
        <p:spPr>
          <a:xfrm flipH="1" rot="10800000">
            <a:off x="1521750" y="3260600"/>
            <a:ext cx="3050400" cy="216600"/>
          </a:xfrm>
          <a:prstGeom prst="bentConnector3">
            <a:avLst>
              <a:gd fmla="val 249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73" name="Google Shape;573;p34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4572000" y="168000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fgets</a:t>
            </a:r>
            <a:endParaRPr/>
          </a:p>
        </p:txBody>
      </p:sp>
      <p:sp>
        <p:nvSpPr>
          <p:cNvPr id="575" name="Google Shape;575;p34"/>
          <p:cNvSpPr/>
          <p:nvPr/>
        </p:nvSpPr>
        <p:spPr>
          <a:xfrm>
            <a:off x="6573700" y="168000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576" name="Google Shape;576;p34"/>
          <p:cNvSpPr/>
          <p:nvPr/>
        </p:nvSpPr>
        <p:spPr>
          <a:xfrm>
            <a:off x="6573700" y="1022938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</a:t>
            </a:r>
            <a:endParaRPr/>
          </a:p>
        </p:txBody>
      </p:sp>
      <p:cxnSp>
        <p:nvCxnSpPr>
          <p:cNvPr id="577" name="Google Shape;577;p34"/>
          <p:cNvCxnSpPr>
            <a:stCxn id="576" idx="2"/>
            <a:endCxn id="575" idx="0"/>
          </p:cNvCxnSpPr>
          <p:nvPr/>
        </p:nvCxnSpPr>
        <p:spPr>
          <a:xfrm>
            <a:off x="7148650" y="1445038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34"/>
          <p:cNvCxnSpPr/>
          <p:nvPr/>
        </p:nvCxnSpPr>
        <p:spPr>
          <a:xfrm>
            <a:off x="6415325" y="996175"/>
            <a:ext cx="0" cy="3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9" name="Google Shape;579;p34"/>
          <p:cNvSpPr/>
          <p:nvPr/>
        </p:nvSpPr>
        <p:spPr>
          <a:xfrm>
            <a:off x="4572000" y="2345325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sub_401080</a:t>
            </a:r>
            <a:endParaRPr/>
          </a:p>
        </p:txBody>
      </p:sp>
      <p:sp>
        <p:nvSpPr>
          <p:cNvPr id="580" name="Google Shape;580;p34"/>
          <p:cNvSpPr/>
          <p:nvPr/>
        </p:nvSpPr>
        <p:spPr>
          <a:xfrm>
            <a:off x="6573700" y="2317325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arg1: name</a:t>
            </a:r>
            <a:endParaRPr/>
          </a:p>
        </p:txBody>
      </p:sp>
      <p:cxnSp>
        <p:nvCxnSpPr>
          <p:cNvPr id="581" name="Google Shape;581;p34"/>
          <p:cNvCxnSpPr>
            <a:endCxn id="579" idx="0"/>
          </p:cNvCxnSpPr>
          <p:nvPr/>
        </p:nvCxnSpPr>
        <p:spPr>
          <a:xfrm>
            <a:off x="5410350" y="2105325"/>
            <a:ext cx="0" cy="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2" name="Google Shape;582;p34"/>
          <p:cNvCxnSpPr>
            <a:endCxn id="580" idx="0"/>
          </p:cNvCxnSpPr>
          <p:nvPr/>
        </p:nvCxnSpPr>
        <p:spPr>
          <a:xfrm>
            <a:off x="7148650" y="2105225"/>
            <a:ext cx="0" cy="2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3" name="Google Shape;583;p34"/>
          <p:cNvSpPr/>
          <p:nvPr/>
        </p:nvSpPr>
        <p:spPr>
          <a:xfrm>
            <a:off x="4572000" y="307244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snprintf</a:t>
            </a:r>
            <a:endParaRPr/>
          </a:p>
        </p:txBody>
      </p:sp>
      <p:sp>
        <p:nvSpPr>
          <p:cNvPr id="584" name="Google Shape;584;p34"/>
          <p:cNvSpPr/>
          <p:nvPr/>
        </p:nvSpPr>
        <p:spPr>
          <a:xfrm>
            <a:off x="6573700" y="307244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arg1: a1</a:t>
            </a:r>
            <a:endParaRPr/>
          </a:p>
        </p:txBody>
      </p:sp>
      <p:cxnSp>
        <p:nvCxnSpPr>
          <p:cNvPr id="585" name="Google Shape;585;p34"/>
          <p:cNvCxnSpPr>
            <a:endCxn id="583" idx="0"/>
          </p:cNvCxnSpPr>
          <p:nvPr/>
        </p:nvCxnSpPr>
        <p:spPr>
          <a:xfrm>
            <a:off x="5410350" y="2771240"/>
            <a:ext cx="0" cy="30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6" name="Google Shape;586;p34"/>
          <p:cNvCxnSpPr>
            <a:endCxn id="584" idx="0"/>
          </p:cNvCxnSpPr>
          <p:nvPr/>
        </p:nvCxnSpPr>
        <p:spPr>
          <a:xfrm>
            <a:off x="7148650" y="2743340"/>
            <a:ext cx="0" cy="3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34"/>
          <p:cNvSpPr/>
          <p:nvPr/>
        </p:nvSpPr>
        <p:spPr>
          <a:xfrm>
            <a:off x="7881975" y="307244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</a:t>
            </a:r>
            <a:endParaRPr/>
          </a:p>
        </p:txBody>
      </p:sp>
      <p:cxnSp>
        <p:nvCxnSpPr>
          <p:cNvPr id="588" name="Google Shape;588;p34"/>
          <p:cNvCxnSpPr>
            <a:endCxn id="587" idx="1"/>
          </p:cNvCxnSpPr>
          <p:nvPr/>
        </p:nvCxnSpPr>
        <p:spPr>
          <a:xfrm>
            <a:off x="7723575" y="3283490"/>
            <a:ext cx="15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34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Analysis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595" name="Google Shape;595;p35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*a1)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a1);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cxnSp>
        <p:nvCxnSpPr>
          <p:cNvPr id="596" name="Google Shape;596;p35"/>
          <p:cNvCxnSpPr/>
          <p:nvPr/>
        </p:nvCxnSpPr>
        <p:spPr>
          <a:xfrm>
            <a:off x="1339125" y="3850025"/>
            <a:ext cx="3232800" cy="160500"/>
          </a:xfrm>
          <a:prstGeom prst="bentConnector3">
            <a:avLst>
              <a:gd fmla="val 236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97" name="Google Shape;597;p35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4572000" y="168000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fgets</a:t>
            </a:r>
            <a:endParaRPr/>
          </a:p>
        </p:txBody>
      </p:sp>
      <p:sp>
        <p:nvSpPr>
          <p:cNvPr id="599" name="Google Shape;599;p35"/>
          <p:cNvSpPr/>
          <p:nvPr/>
        </p:nvSpPr>
        <p:spPr>
          <a:xfrm>
            <a:off x="6573700" y="168000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600" name="Google Shape;600;p35"/>
          <p:cNvSpPr/>
          <p:nvPr/>
        </p:nvSpPr>
        <p:spPr>
          <a:xfrm>
            <a:off x="6573700" y="1022938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</a:t>
            </a:r>
            <a:endParaRPr/>
          </a:p>
        </p:txBody>
      </p:sp>
      <p:cxnSp>
        <p:nvCxnSpPr>
          <p:cNvPr id="601" name="Google Shape;601;p35"/>
          <p:cNvCxnSpPr>
            <a:stCxn id="600" idx="2"/>
            <a:endCxn id="599" idx="0"/>
          </p:cNvCxnSpPr>
          <p:nvPr/>
        </p:nvCxnSpPr>
        <p:spPr>
          <a:xfrm>
            <a:off x="7148650" y="1445038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2" name="Google Shape;602;p35"/>
          <p:cNvCxnSpPr/>
          <p:nvPr/>
        </p:nvCxnSpPr>
        <p:spPr>
          <a:xfrm>
            <a:off x="6415325" y="996175"/>
            <a:ext cx="0" cy="340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3" name="Google Shape;603;p35"/>
          <p:cNvSpPr/>
          <p:nvPr/>
        </p:nvSpPr>
        <p:spPr>
          <a:xfrm>
            <a:off x="4572000" y="2345325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sub_401080</a:t>
            </a:r>
            <a:endParaRPr/>
          </a:p>
        </p:txBody>
      </p:sp>
      <p:sp>
        <p:nvSpPr>
          <p:cNvPr id="604" name="Google Shape;604;p35"/>
          <p:cNvSpPr/>
          <p:nvPr/>
        </p:nvSpPr>
        <p:spPr>
          <a:xfrm>
            <a:off x="6573700" y="2317325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arg1: name</a:t>
            </a:r>
            <a:endParaRPr/>
          </a:p>
        </p:txBody>
      </p:sp>
      <p:cxnSp>
        <p:nvCxnSpPr>
          <p:cNvPr id="605" name="Google Shape;605;p35"/>
          <p:cNvCxnSpPr>
            <a:endCxn id="603" idx="0"/>
          </p:cNvCxnSpPr>
          <p:nvPr/>
        </p:nvCxnSpPr>
        <p:spPr>
          <a:xfrm>
            <a:off x="5410350" y="2105325"/>
            <a:ext cx="0" cy="24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6" name="Google Shape;606;p35"/>
          <p:cNvCxnSpPr>
            <a:endCxn id="604" idx="0"/>
          </p:cNvCxnSpPr>
          <p:nvPr/>
        </p:nvCxnSpPr>
        <p:spPr>
          <a:xfrm>
            <a:off x="7148650" y="2105225"/>
            <a:ext cx="0" cy="21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7" name="Google Shape;607;p35"/>
          <p:cNvSpPr/>
          <p:nvPr/>
        </p:nvSpPr>
        <p:spPr>
          <a:xfrm>
            <a:off x="4572000" y="3072440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snprintf</a:t>
            </a:r>
            <a:endParaRPr/>
          </a:p>
        </p:txBody>
      </p:sp>
      <p:sp>
        <p:nvSpPr>
          <p:cNvPr id="608" name="Google Shape;608;p35"/>
          <p:cNvSpPr/>
          <p:nvPr/>
        </p:nvSpPr>
        <p:spPr>
          <a:xfrm>
            <a:off x="6573700" y="307244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arg1: a1</a:t>
            </a:r>
            <a:endParaRPr/>
          </a:p>
        </p:txBody>
      </p:sp>
      <p:sp>
        <p:nvSpPr>
          <p:cNvPr id="609" name="Google Shape;609;p35"/>
          <p:cNvSpPr/>
          <p:nvPr/>
        </p:nvSpPr>
        <p:spPr>
          <a:xfrm>
            <a:off x="7881975" y="3072440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</a:t>
            </a:r>
            <a:endParaRPr/>
          </a:p>
        </p:txBody>
      </p:sp>
      <p:cxnSp>
        <p:nvCxnSpPr>
          <p:cNvPr id="610" name="Google Shape;610;p35"/>
          <p:cNvCxnSpPr>
            <a:endCxn id="607" idx="0"/>
          </p:cNvCxnSpPr>
          <p:nvPr/>
        </p:nvCxnSpPr>
        <p:spPr>
          <a:xfrm>
            <a:off x="5410350" y="2771240"/>
            <a:ext cx="0" cy="30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35"/>
          <p:cNvCxnSpPr>
            <a:endCxn id="608" idx="0"/>
          </p:cNvCxnSpPr>
          <p:nvPr/>
        </p:nvCxnSpPr>
        <p:spPr>
          <a:xfrm>
            <a:off x="7148650" y="2743340"/>
            <a:ext cx="0" cy="32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35"/>
          <p:cNvCxnSpPr>
            <a:stCxn id="608" idx="3"/>
            <a:endCxn id="609" idx="1"/>
          </p:cNvCxnSpPr>
          <p:nvPr/>
        </p:nvCxnSpPr>
        <p:spPr>
          <a:xfrm>
            <a:off x="7723600" y="3283490"/>
            <a:ext cx="15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35"/>
          <p:cNvSpPr/>
          <p:nvPr/>
        </p:nvSpPr>
        <p:spPr>
          <a:xfrm>
            <a:off x="4572150" y="3799575"/>
            <a:ext cx="16767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</a:t>
            </a:r>
            <a:endParaRPr/>
          </a:p>
        </p:txBody>
      </p:sp>
      <p:sp>
        <p:nvSpPr>
          <p:cNvPr id="614" name="Google Shape;614;p35"/>
          <p:cNvSpPr/>
          <p:nvPr/>
        </p:nvSpPr>
        <p:spPr>
          <a:xfrm>
            <a:off x="6573850" y="3799575"/>
            <a:ext cx="1149900" cy="42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cmd</a:t>
            </a:r>
            <a:endParaRPr/>
          </a:p>
        </p:txBody>
      </p:sp>
      <p:cxnSp>
        <p:nvCxnSpPr>
          <p:cNvPr id="615" name="Google Shape;615;p35"/>
          <p:cNvCxnSpPr>
            <a:endCxn id="613" idx="0"/>
          </p:cNvCxnSpPr>
          <p:nvPr/>
        </p:nvCxnSpPr>
        <p:spPr>
          <a:xfrm>
            <a:off x="5410500" y="3498375"/>
            <a:ext cx="0" cy="30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35"/>
          <p:cNvCxnSpPr>
            <a:stCxn id="609" idx="2"/>
            <a:endCxn id="614" idx="3"/>
          </p:cNvCxnSpPr>
          <p:nvPr/>
        </p:nvCxnSpPr>
        <p:spPr>
          <a:xfrm flipH="1">
            <a:off x="7723725" y="3494540"/>
            <a:ext cx="733200" cy="51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7" name="Google Shape;617;p35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Analysis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36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Improved Static Analysis for Linux-Based Firmware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MangoDFA—Value Dependency Analysis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Expressions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4" name="Google Shape;624;p36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ango—Analysis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30" name="Google Shape;630;p37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631" name="Google Shape;631;p37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Mango—Rich Expressions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37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Tracking with Rich Expressions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33" name="Google Shape;633;p37"/>
          <p:cNvCxnSpPr>
            <a:stCxn id="634" idx="1"/>
          </p:cNvCxnSpPr>
          <p:nvPr/>
        </p:nvCxnSpPr>
        <p:spPr>
          <a:xfrm flipH="1">
            <a:off x="1289825" y="2040375"/>
            <a:ext cx="4080600" cy="329700"/>
          </a:xfrm>
          <a:prstGeom prst="bentConnector3">
            <a:avLst>
              <a:gd fmla="val 99998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37"/>
          <p:cNvSpPr/>
          <p:nvPr/>
        </p:nvSpPr>
        <p:spPr>
          <a:xfrm>
            <a:off x="537042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40" name="Google Shape;640;p38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"hostname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cxnSp>
        <p:nvCxnSpPr>
          <p:cNvPr id="641" name="Google Shape;641;p38"/>
          <p:cNvCxnSpPr>
            <a:endCxn id="642" idx="1"/>
          </p:cNvCxnSpPr>
          <p:nvPr/>
        </p:nvCxnSpPr>
        <p:spPr>
          <a:xfrm flipH="1" rot="10800000">
            <a:off x="1607525" y="2597850"/>
            <a:ext cx="3762900" cy="405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38"/>
          <p:cNvCxnSpPr/>
          <p:nvPr/>
        </p:nvCxnSpPr>
        <p:spPr>
          <a:xfrm rot="10800000">
            <a:off x="1616250" y="2680400"/>
            <a:ext cx="0" cy="325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4" name="Google Shape;644;p38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Tracking with Rich Expressions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5" name="Google Shape;645;p38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6" name="Google Shape;646;p38"/>
          <p:cNvSpPr/>
          <p:nvPr/>
        </p:nvSpPr>
        <p:spPr>
          <a:xfrm>
            <a:off x="537042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5370425" y="2433900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47" name="Google Shape;647;p38"/>
          <p:cNvCxnSpPr/>
          <p:nvPr/>
        </p:nvCxnSpPr>
        <p:spPr>
          <a:xfrm>
            <a:off x="6791975" y="2204325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53" name="Google Shape;653;p39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"hostname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654" name="Google Shape;654;p39"/>
          <p:cNvSpPr/>
          <p:nvPr/>
        </p:nvSpPr>
        <p:spPr>
          <a:xfrm>
            <a:off x="537042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5" name="Google Shape;655;p39"/>
          <p:cNvSpPr/>
          <p:nvPr/>
        </p:nvSpPr>
        <p:spPr>
          <a:xfrm>
            <a:off x="4671575" y="3548563"/>
            <a:ext cx="42408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hostname 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 + </a:t>
            </a:r>
            <a:r>
              <a:rPr lang="en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6" name="Google Shape;656;p39"/>
          <p:cNvSpPr/>
          <p:nvPr/>
        </p:nvSpPr>
        <p:spPr>
          <a:xfrm>
            <a:off x="5370425" y="2433900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57" name="Google Shape;657;p39"/>
          <p:cNvSpPr/>
          <p:nvPr/>
        </p:nvSpPr>
        <p:spPr>
          <a:xfrm>
            <a:off x="5370425" y="29913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58" name="Google Shape;658;p39"/>
          <p:cNvCxnSpPr/>
          <p:nvPr/>
        </p:nvCxnSpPr>
        <p:spPr>
          <a:xfrm>
            <a:off x="6791975" y="2204325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39"/>
          <p:cNvCxnSpPr/>
          <p:nvPr/>
        </p:nvCxnSpPr>
        <p:spPr>
          <a:xfrm>
            <a:off x="6791975" y="2761800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0" name="Google Shape;660;p39"/>
          <p:cNvCxnSpPr>
            <a:stCxn id="657" idx="2"/>
          </p:cNvCxnSpPr>
          <p:nvPr/>
        </p:nvCxnSpPr>
        <p:spPr>
          <a:xfrm>
            <a:off x="6791975" y="3319275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1" name="Google Shape;661;p39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Tracking with Rich Expressions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2" name="Google Shape;662;p39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63" name="Google Shape;663;p39"/>
          <p:cNvCxnSpPr/>
          <p:nvPr/>
        </p:nvCxnSpPr>
        <p:spPr>
          <a:xfrm rot="10800000">
            <a:off x="1500575" y="3625663"/>
            <a:ext cx="3171000" cy="191100"/>
          </a:xfrm>
          <a:prstGeom prst="bentConnector3">
            <a:avLst>
              <a:gd fmla="val 10000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4" name="Google Shape;664;p39"/>
          <p:cNvCxnSpPr/>
          <p:nvPr/>
        </p:nvCxnSpPr>
        <p:spPr>
          <a:xfrm rot="10800000">
            <a:off x="3512200" y="3155325"/>
            <a:ext cx="1858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9"/>
          <p:cNvCxnSpPr/>
          <p:nvPr/>
        </p:nvCxnSpPr>
        <p:spPr>
          <a:xfrm>
            <a:off x="3519700" y="3155325"/>
            <a:ext cx="0" cy="325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0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 Dependency Tracking with Rich Expressions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1" name="Google Shape;67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40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673" name="Google Shape;673;p40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"hostname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674" name="Google Shape;674;p40"/>
          <p:cNvSpPr/>
          <p:nvPr/>
        </p:nvSpPr>
        <p:spPr>
          <a:xfrm>
            <a:off x="537042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5" name="Google Shape;675;p40"/>
          <p:cNvSpPr/>
          <p:nvPr/>
        </p:nvSpPr>
        <p:spPr>
          <a:xfrm>
            <a:off x="4671575" y="3548563"/>
            <a:ext cx="42408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hostname 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 + </a:t>
            </a:r>
            <a:r>
              <a:rPr lang="en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6" name="Google Shape;676;p40"/>
          <p:cNvSpPr/>
          <p:nvPr/>
        </p:nvSpPr>
        <p:spPr>
          <a:xfrm>
            <a:off x="5370425" y="2433900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5370425" y="29913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78" name="Google Shape;678;p40"/>
          <p:cNvCxnSpPr/>
          <p:nvPr/>
        </p:nvCxnSpPr>
        <p:spPr>
          <a:xfrm>
            <a:off x="6791975" y="2204325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40"/>
          <p:cNvCxnSpPr/>
          <p:nvPr/>
        </p:nvCxnSpPr>
        <p:spPr>
          <a:xfrm>
            <a:off x="6791975" y="2761800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0" name="Google Shape;680;p40"/>
          <p:cNvCxnSpPr>
            <a:stCxn id="677" idx="2"/>
          </p:cNvCxnSpPr>
          <p:nvPr/>
        </p:nvCxnSpPr>
        <p:spPr>
          <a:xfrm>
            <a:off x="6791975" y="3319275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1" name="Google Shape;681;p40"/>
          <p:cNvSpPr/>
          <p:nvPr/>
        </p:nvSpPr>
        <p:spPr>
          <a:xfrm>
            <a:off x="4671575" y="4105900"/>
            <a:ext cx="42408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"hostname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 + </a:t>
            </a:r>
            <a:r>
              <a:rPr lang="en"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82" name="Google Shape;682;p40"/>
          <p:cNvCxnSpPr/>
          <p:nvPr/>
        </p:nvCxnSpPr>
        <p:spPr>
          <a:xfrm>
            <a:off x="6791975" y="3876475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40"/>
          <p:cNvCxnSpPr/>
          <p:nvPr/>
        </p:nvCxnSpPr>
        <p:spPr>
          <a:xfrm>
            <a:off x="1345175" y="3853150"/>
            <a:ext cx="3326400" cy="416700"/>
          </a:xfrm>
          <a:prstGeom prst="bentConnector3">
            <a:avLst>
              <a:gd fmla="val -6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689" name="Google Shape;689;p41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chemeClr val="accent6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"echo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 %d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690" name="Google Shape;690;p41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Expressions with Value Transformations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1" name="Google Shape;691;p41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2" name="Google Shape;692;p41"/>
          <p:cNvSpPr/>
          <p:nvPr/>
        </p:nvSpPr>
        <p:spPr>
          <a:xfrm>
            <a:off x="537042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93" name="Google Shape;693;p41"/>
          <p:cNvSpPr/>
          <p:nvPr/>
        </p:nvSpPr>
        <p:spPr>
          <a:xfrm>
            <a:off x="5370425" y="2433900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94" name="Google Shape;694;p41"/>
          <p:cNvSpPr/>
          <p:nvPr/>
        </p:nvSpPr>
        <p:spPr>
          <a:xfrm>
            <a:off x="5370425" y="29913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695" name="Google Shape;695;p41"/>
          <p:cNvCxnSpPr/>
          <p:nvPr/>
        </p:nvCxnSpPr>
        <p:spPr>
          <a:xfrm>
            <a:off x="6791975" y="2204325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41"/>
          <p:cNvCxnSpPr/>
          <p:nvPr/>
        </p:nvCxnSpPr>
        <p:spPr>
          <a:xfrm>
            <a:off x="6791975" y="2761800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7" name="Google Shape;697;p41"/>
          <p:cNvCxnSpPr>
            <a:stCxn id="694" idx="1"/>
          </p:cNvCxnSpPr>
          <p:nvPr/>
        </p:nvCxnSpPr>
        <p:spPr>
          <a:xfrm rot="10800000">
            <a:off x="3715025" y="3155325"/>
            <a:ext cx="1655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41"/>
          <p:cNvCxnSpPr/>
          <p:nvPr/>
        </p:nvCxnSpPr>
        <p:spPr>
          <a:xfrm>
            <a:off x="3723150" y="3158725"/>
            <a:ext cx="0" cy="325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04" name="Google Shape;704;p42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chemeClr val="accent6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~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"echo 'num %d'"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/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705" name="Google Shape;705;p42"/>
          <p:cNvSpPr/>
          <p:nvPr/>
        </p:nvSpPr>
        <p:spPr>
          <a:xfrm>
            <a:off x="537042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5370425" y="35485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200">
                <a:latin typeface="Source Code Pro"/>
                <a:ea typeface="Source Code Pro"/>
                <a:cs typeface="Source Code Pro"/>
                <a:sym typeface="Source Code Pro"/>
              </a:rPr>
              <a:t>echo 'num 1337'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7" name="Google Shape;707;p42"/>
          <p:cNvSpPr/>
          <p:nvPr/>
        </p:nvSpPr>
        <p:spPr>
          <a:xfrm>
            <a:off x="5370425" y="2433900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8" name="Google Shape;708;p42"/>
          <p:cNvSpPr/>
          <p:nvPr/>
        </p:nvSpPr>
        <p:spPr>
          <a:xfrm>
            <a:off x="5370425" y="29913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709" name="Google Shape;709;p42"/>
          <p:cNvCxnSpPr/>
          <p:nvPr/>
        </p:nvCxnSpPr>
        <p:spPr>
          <a:xfrm>
            <a:off x="6791975" y="2204325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0" name="Google Shape;710;p42"/>
          <p:cNvCxnSpPr/>
          <p:nvPr/>
        </p:nvCxnSpPr>
        <p:spPr>
          <a:xfrm>
            <a:off x="6791975" y="2761800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42"/>
          <p:cNvCxnSpPr>
            <a:stCxn id="708" idx="2"/>
          </p:cNvCxnSpPr>
          <p:nvPr/>
        </p:nvCxnSpPr>
        <p:spPr>
          <a:xfrm>
            <a:off x="6791975" y="3319275"/>
            <a:ext cx="0" cy="23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2" name="Google Shape;712;p42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13" name="Google Shape;713;p42"/>
          <p:cNvCxnSpPr/>
          <p:nvPr/>
        </p:nvCxnSpPr>
        <p:spPr>
          <a:xfrm rot="10800000">
            <a:off x="1499525" y="3635700"/>
            <a:ext cx="3870900" cy="194100"/>
          </a:xfrm>
          <a:prstGeom prst="bentConnector3">
            <a:avLst>
              <a:gd fmla="val 10000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4" name="Google Shape;714;p42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Expressions with Value Transformations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15" name="Google Shape;715;p42"/>
          <p:cNvCxnSpPr>
            <a:stCxn id="708" idx="1"/>
          </p:cNvCxnSpPr>
          <p:nvPr/>
        </p:nvCxnSpPr>
        <p:spPr>
          <a:xfrm rot="10800000">
            <a:off x="3715025" y="3155325"/>
            <a:ext cx="16554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42"/>
          <p:cNvCxnSpPr/>
          <p:nvPr/>
        </p:nvCxnSpPr>
        <p:spPr>
          <a:xfrm>
            <a:off x="3723150" y="3158725"/>
            <a:ext cx="0" cy="325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2" name="Google Shape;722;p43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Improved Static Analysis for Linux-Based Firmware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MangoDFA—Value Dependency Analysis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Expressions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Assumed Nonimpact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3" name="Google Shape;723;p43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ango—Analysis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29" name="Google Shape;729;p44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730" name="Google Shape;730;p44"/>
          <p:cNvSpPr/>
          <p:nvPr/>
        </p:nvSpPr>
        <p:spPr>
          <a:xfrm>
            <a:off x="512627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731" name="Google Shape;731;p44"/>
          <p:cNvCxnSpPr>
            <a:endCxn id="730" idx="1"/>
          </p:cNvCxnSpPr>
          <p:nvPr/>
        </p:nvCxnSpPr>
        <p:spPr>
          <a:xfrm flipH="1" rot="10800000">
            <a:off x="1350175" y="2040375"/>
            <a:ext cx="3776100" cy="298500"/>
          </a:xfrm>
          <a:prstGeom prst="bentConnector3">
            <a:avLst>
              <a:gd fmla="val -11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32" name="Google Shape;732;p44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Investigating Functions Based on Impact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3" name="Google Shape;733;p44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Mango—Assumed Nonimpact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8" name="Google Shape;738;p45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739" name="Google Shape;739;p45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Mango—Assumed Nonimpact</a:t>
            </a:r>
            <a:endParaRPr/>
          </a:p>
        </p:txBody>
      </p:sp>
      <p:sp>
        <p:nvSpPr>
          <p:cNvPr id="740" name="Google Shape;740;p45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Investigating Functions Based on Impact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41" name="Google Shape;741;p45"/>
          <p:cNvCxnSpPr/>
          <p:nvPr/>
        </p:nvCxnSpPr>
        <p:spPr>
          <a:xfrm>
            <a:off x="631625" y="2603728"/>
            <a:ext cx="2466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45"/>
          <p:cNvSpPr/>
          <p:nvPr/>
        </p:nvSpPr>
        <p:spPr>
          <a:xfrm>
            <a:off x="512627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43" name="Google Shape;7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49" name="Google Shape;749;p46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"hostname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750" name="Google Shape;750;p46"/>
          <p:cNvSpPr/>
          <p:nvPr/>
        </p:nvSpPr>
        <p:spPr>
          <a:xfrm>
            <a:off x="512627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1" name="Google Shape;751;p46"/>
          <p:cNvSpPr/>
          <p:nvPr/>
        </p:nvSpPr>
        <p:spPr>
          <a:xfrm>
            <a:off x="5126275" y="2433900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752" name="Google Shape;752;p46"/>
          <p:cNvCxnSpPr>
            <a:stCxn id="750" idx="2"/>
            <a:endCxn id="751" idx="0"/>
          </p:cNvCxnSpPr>
          <p:nvPr/>
        </p:nvCxnSpPr>
        <p:spPr>
          <a:xfrm>
            <a:off x="6547825" y="2204325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p46"/>
          <p:cNvCxnSpPr/>
          <p:nvPr/>
        </p:nvCxnSpPr>
        <p:spPr>
          <a:xfrm flipH="1" rot="10800000">
            <a:off x="1598000" y="2603725"/>
            <a:ext cx="3519600" cy="572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6"/>
          <p:cNvCxnSpPr/>
          <p:nvPr/>
        </p:nvCxnSpPr>
        <p:spPr>
          <a:xfrm rot="10800000">
            <a:off x="1593600" y="2814450"/>
            <a:ext cx="3600" cy="371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5" name="Google Shape;755;p46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Investigating Functions Based on Impact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6" name="Google Shape;756;p46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Mango—Assumed Nonimpact</a:t>
            </a:r>
            <a:endParaRPr/>
          </a:p>
        </p:txBody>
      </p:sp>
      <p:cxnSp>
        <p:nvCxnSpPr>
          <p:cNvPr id="757" name="Google Shape;757;p46"/>
          <p:cNvCxnSpPr/>
          <p:nvPr/>
        </p:nvCxnSpPr>
        <p:spPr>
          <a:xfrm>
            <a:off x="631625" y="2603728"/>
            <a:ext cx="2466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63" name="Google Shape;763;p47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"hostname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764" name="Google Shape;764;p47"/>
          <p:cNvSpPr/>
          <p:nvPr/>
        </p:nvSpPr>
        <p:spPr>
          <a:xfrm>
            <a:off x="5126275" y="187642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name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65" name="Google Shape;765;p47"/>
          <p:cNvSpPr/>
          <p:nvPr/>
        </p:nvSpPr>
        <p:spPr>
          <a:xfrm>
            <a:off x="5126275" y="2433900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766" name="Google Shape;766;p47"/>
          <p:cNvCxnSpPr>
            <a:stCxn id="764" idx="2"/>
            <a:endCxn id="765" idx="0"/>
          </p:cNvCxnSpPr>
          <p:nvPr/>
        </p:nvCxnSpPr>
        <p:spPr>
          <a:xfrm>
            <a:off x="6547825" y="2204325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7" name="Google Shape;767;p47"/>
          <p:cNvSpPr/>
          <p:nvPr/>
        </p:nvSpPr>
        <p:spPr>
          <a:xfrm>
            <a:off x="5126275" y="29913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768" name="Google Shape;768;p47"/>
          <p:cNvCxnSpPr>
            <a:stCxn id="765" idx="2"/>
            <a:endCxn id="767" idx="0"/>
          </p:cNvCxnSpPr>
          <p:nvPr/>
        </p:nvCxnSpPr>
        <p:spPr>
          <a:xfrm>
            <a:off x="6547825" y="2761800"/>
            <a:ext cx="0" cy="2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47"/>
          <p:cNvCxnSpPr>
            <a:endCxn id="767" idx="1"/>
          </p:cNvCxnSpPr>
          <p:nvPr/>
        </p:nvCxnSpPr>
        <p:spPr>
          <a:xfrm flipH="1" rot="10800000">
            <a:off x="1876375" y="3155325"/>
            <a:ext cx="3249900" cy="291000"/>
          </a:xfrm>
          <a:prstGeom prst="bentConnector3">
            <a:avLst>
              <a:gd fmla="val 145" name="adj1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70" name="Google Shape;770;p47"/>
          <p:cNvSpPr txBox="1"/>
          <p:nvPr>
            <p:ph idx="1" type="body"/>
          </p:nvPr>
        </p:nvSpPr>
        <p:spPr>
          <a:xfrm>
            <a:off x="311700" y="1152475"/>
            <a:ext cx="85206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Investigating Functions Based on Impact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1" name="Google Shape;771;p47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Mango—Assumed Nonimpact</a:t>
            </a:r>
            <a:endParaRPr/>
          </a:p>
        </p:txBody>
      </p:sp>
      <p:cxnSp>
        <p:nvCxnSpPr>
          <p:cNvPr id="772" name="Google Shape;772;p47"/>
          <p:cNvCxnSpPr/>
          <p:nvPr/>
        </p:nvCxnSpPr>
        <p:spPr>
          <a:xfrm>
            <a:off x="631625" y="2603728"/>
            <a:ext cx="2466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8" name="Google Shape;778;p48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Improved Static Analysis for Linux-Based Firmware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MangoDFA—Value Dependency Analysis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Expressions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Assumed Nonimpact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Sink-to-Source </a:t>
            </a: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Coarse-</a:t>
            </a: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Grained Analysis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9" name="Google Shape;779;p48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85" name="Google Shape;785;p49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786" name="Google Shape;786;p49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/>
              <a:t>Sink-to-Source Coarse-Grained 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7" name="Google Shape;787;p49"/>
          <p:cNvSpPr txBox="1"/>
          <p:nvPr>
            <p:ph idx="1" type="body"/>
          </p:nvPr>
        </p:nvSpPr>
        <p:spPr>
          <a:xfrm>
            <a:off x="311700" y="1152475"/>
            <a:ext cx="40380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Tracing Backwards Through a Call Trace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8" name="Google Shape;788;p49"/>
          <p:cNvSpPr/>
          <p:nvPr/>
        </p:nvSpPr>
        <p:spPr>
          <a:xfrm>
            <a:off x="5359675" y="41702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system(cmd)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0"/>
          <p:cNvSpPr/>
          <p:nvPr/>
        </p:nvSpPr>
        <p:spPr>
          <a:xfrm>
            <a:off x="4525525" y="3065725"/>
            <a:ext cx="4511400" cy="152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95" name="Google Shape;795;p50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"hostname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796" name="Google Shape;796;p50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Mango—Sink-to-Source Coarse-Grained Analysis</a:t>
            </a:r>
            <a:endParaRPr/>
          </a:p>
        </p:txBody>
      </p:sp>
      <p:sp>
        <p:nvSpPr>
          <p:cNvPr id="797" name="Google Shape;797;p50"/>
          <p:cNvSpPr/>
          <p:nvPr/>
        </p:nvSpPr>
        <p:spPr>
          <a:xfrm>
            <a:off x="5359675" y="41702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system(cmd)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98" name="Google Shape;798;p50"/>
          <p:cNvSpPr/>
          <p:nvPr/>
        </p:nvSpPr>
        <p:spPr>
          <a:xfrm>
            <a:off x="4684825" y="3676175"/>
            <a:ext cx="41928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snprintf(cmd, 0x60, "hostname %s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, name)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99" name="Google Shape;799;p50"/>
          <p:cNvSpPr/>
          <p:nvPr/>
        </p:nvSpPr>
        <p:spPr>
          <a:xfrm>
            <a:off x="5359675" y="31820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validate_name(name)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800" name="Google Shape;800;p50"/>
          <p:cNvCxnSpPr>
            <a:stCxn id="797" idx="0"/>
          </p:cNvCxnSpPr>
          <p:nvPr/>
        </p:nvCxnSpPr>
        <p:spPr>
          <a:xfrm rot="10800000">
            <a:off x="6781225" y="4002275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50"/>
          <p:cNvCxnSpPr/>
          <p:nvPr/>
        </p:nvCxnSpPr>
        <p:spPr>
          <a:xfrm rot="10800000">
            <a:off x="6781225" y="3509975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50"/>
          <p:cNvSpPr txBox="1"/>
          <p:nvPr/>
        </p:nvSpPr>
        <p:spPr>
          <a:xfrm>
            <a:off x="4562500" y="2678350"/>
            <a:ext cx="42795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sub_401080(char *name)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03" name="Google Shape;803;p50"/>
          <p:cNvSpPr/>
          <p:nvPr/>
        </p:nvSpPr>
        <p:spPr>
          <a:xfrm>
            <a:off x="5359675" y="1928188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sub_401080(name)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04" name="Google Shape;804;p50"/>
          <p:cNvSpPr txBox="1"/>
          <p:nvPr>
            <p:ph idx="1" type="body"/>
          </p:nvPr>
        </p:nvSpPr>
        <p:spPr>
          <a:xfrm>
            <a:off x="311700" y="1152475"/>
            <a:ext cx="40380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Tracing Backwards Through a Call Trace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0" name="Google Shape;810;p51"/>
          <p:cNvSpPr/>
          <p:nvPr/>
        </p:nvSpPr>
        <p:spPr>
          <a:xfrm>
            <a:off x="4525525" y="3065725"/>
            <a:ext cx="4511400" cy="152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11" name="Google Shape;811;p51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sub_401080(name);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812" name="Google Shape;812;p51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Mango—Sink-to-Source Coarse-Grained Analysis</a:t>
            </a:r>
            <a:endParaRPr/>
          </a:p>
        </p:txBody>
      </p:sp>
      <p:sp>
        <p:nvSpPr>
          <p:cNvPr id="813" name="Google Shape;813;p51"/>
          <p:cNvSpPr/>
          <p:nvPr/>
        </p:nvSpPr>
        <p:spPr>
          <a:xfrm>
            <a:off x="5359675" y="41702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system(cmd)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4" name="Google Shape;814;p51"/>
          <p:cNvSpPr/>
          <p:nvPr/>
        </p:nvSpPr>
        <p:spPr>
          <a:xfrm>
            <a:off x="4684825" y="3676175"/>
            <a:ext cx="41928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snprintf(cmd, 0x60, 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"hostname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%s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, name)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5" name="Google Shape;815;p51"/>
          <p:cNvSpPr/>
          <p:nvPr/>
        </p:nvSpPr>
        <p:spPr>
          <a:xfrm>
            <a:off x="5359675" y="31820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validate_name(name)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816" name="Google Shape;816;p51"/>
          <p:cNvCxnSpPr>
            <a:stCxn id="813" idx="0"/>
          </p:cNvCxnSpPr>
          <p:nvPr/>
        </p:nvCxnSpPr>
        <p:spPr>
          <a:xfrm rot="10800000">
            <a:off x="6781225" y="4002275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51"/>
          <p:cNvCxnSpPr/>
          <p:nvPr/>
        </p:nvCxnSpPr>
        <p:spPr>
          <a:xfrm rot="10800000">
            <a:off x="6781225" y="3509975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8" name="Google Shape;818;p51"/>
          <p:cNvSpPr txBox="1"/>
          <p:nvPr/>
        </p:nvSpPr>
        <p:spPr>
          <a:xfrm>
            <a:off x="4562500" y="2678350"/>
            <a:ext cx="41928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sub_401080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(char *name)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9" name="Google Shape;819;p51"/>
          <p:cNvSpPr/>
          <p:nvPr/>
        </p:nvSpPr>
        <p:spPr>
          <a:xfrm>
            <a:off x="5359675" y="1928188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sub_401080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(name)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20" name="Google Shape;820;p51"/>
          <p:cNvSpPr/>
          <p:nvPr/>
        </p:nvSpPr>
        <p:spPr>
          <a:xfrm>
            <a:off x="5359675" y="1420338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821" name="Google Shape;821;p51"/>
          <p:cNvCxnSpPr>
            <a:stCxn id="819" idx="0"/>
          </p:cNvCxnSpPr>
          <p:nvPr/>
        </p:nvCxnSpPr>
        <p:spPr>
          <a:xfrm rot="10800000">
            <a:off x="6781225" y="1760188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51"/>
          <p:cNvSpPr txBox="1"/>
          <p:nvPr>
            <p:ph idx="1" type="body"/>
          </p:nvPr>
        </p:nvSpPr>
        <p:spPr>
          <a:xfrm>
            <a:off x="311700" y="1152475"/>
            <a:ext cx="40380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Tracing Backwards Through a Call Trace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8" name="Google Shape;828;p52"/>
          <p:cNvSpPr/>
          <p:nvPr/>
        </p:nvSpPr>
        <p:spPr>
          <a:xfrm>
            <a:off x="4525525" y="3065725"/>
            <a:ext cx="4511400" cy="152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29" name="Google Shape;829;p52"/>
          <p:cNvGraphicFramePr/>
          <p:nvPr/>
        </p:nvGraphicFramePr>
        <p:xfrm>
          <a:off x="311688" y="187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{1EFD1F42-8013-40E3-9FAD-B954037B0DF7}</a:tableStyleId>
              </a:tblPr>
              <a:tblGrid>
                <a:gridCol w="403787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fgets(name,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E0C46C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stdin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start_background_task(&amp;thread);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sub_401080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" sz="1100">
                          <a:solidFill>
                            <a:srgbClr val="CB783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</a:t>
                      </a:r>
                      <a:r>
                        <a:rPr lang="en" sz="1100">
                          <a:solidFill>
                            <a:srgbClr val="B9B9B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*name)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100">
                        <a:solidFill>
                          <a:srgbClr val="BABABA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" sz="1100">
                          <a:solidFill>
                            <a:srgbClr val="A2FCA2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validate_name(name);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snprintf(cmd, </a:t>
                      </a:r>
                      <a:r>
                        <a:rPr lang="en" sz="1100">
                          <a:solidFill>
                            <a:srgbClr val="6896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0x60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hostname</a:t>
                      </a:r>
                      <a:r>
                        <a:rPr lang="en" sz="1100">
                          <a:solidFill>
                            <a:srgbClr val="6A8759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%s"</a:t>
                      </a: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name);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system(cmd);</a:t>
                      </a:r>
                      <a:b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" sz="1100">
                          <a:solidFill>
                            <a:srgbClr val="BABABA"/>
                          </a:solidFill>
                          <a:highlight>
                            <a:srgbClr val="2B2B2B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100">
                        <a:solidFill>
                          <a:srgbClr val="CB7832"/>
                        </a:solidFill>
                        <a:highlight>
                          <a:srgbClr val="2B2B2B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2B2B2B"/>
                    </a:solidFill>
                  </a:tcPr>
                </a:tc>
              </a:tr>
            </a:tbl>
          </a:graphicData>
        </a:graphic>
      </p:graphicFrame>
      <p:sp>
        <p:nvSpPr>
          <p:cNvPr id="830" name="Google Shape;830;p52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Mango—Sink-to-Source Coarse-Grained Analysis</a:t>
            </a:r>
            <a:endParaRPr/>
          </a:p>
        </p:txBody>
      </p:sp>
      <p:sp>
        <p:nvSpPr>
          <p:cNvPr id="831" name="Google Shape;831;p52"/>
          <p:cNvSpPr/>
          <p:nvPr/>
        </p:nvSpPr>
        <p:spPr>
          <a:xfrm>
            <a:off x="5359675" y="41702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system(cmd)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2" name="Google Shape;832;p52"/>
          <p:cNvSpPr/>
          <p:nvPr/>
        </p:nvSpPr>
        <p:spPr>
          <a:xfrm>
            <a:off x="4684825" y="3676175"/>
            <a:ext cx="41928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snprintf(cmd, 0x60, 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"hostname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 %s</a:t>
            </a:r>
            <a:r>
              <a:rPr lang="en" sz="13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</a:t>
            </a:r>
            <a:r>
              <a:rPr lang="en" sz="1300">
                <a:latin typeface="Source Code Pro"/>
                <a:ea typeface="Source Code Pro"/>
                <a:cs typeface="Source Code Pro"/>
                <a:sym typeface="Source Code Pro"/>
              </a:rPr>
              <a:t>, name)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3" name="Google Shape;833;p52"/>
          <p:cNvSpPr/>
          <p:nvPr/>
        </p:nvSpPr>
        <p:spPr>
          <a:xfrm>
            <a:off x="5359675" y="3182075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validate_name(name)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834" name="Google Shape;834;p52"/>
          <p:cNvCxnSpPr>
            <a:stCxn id="831" idx="0"/>
          </p:cNvCxnSpPr>
          <p:nvPr/>
        </p:nvCxnSpPr>
        <p:spPr>
          <a:xfrm rot="10800000">
            <a:off x="6781225" y="4002275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52"/>
          <p:cNvCxnSpPr/>
          <p:nvPr/>
        </p:nvCxnSpPr>
        <p:spPr>
          <a:xfrm rot="10800000">
            <a:off x="6781225" y="3509975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" name="Google Shape;836;p52"/>
          <p:cNvSpPr txBox="1"/>
          <p:nvPr/>
        </p:nvSpPr>
        <p:spPr>
          <a:xfrm>
            <a:off x="4562500" y="2678350"/>
            <a:ext cx="42795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sub_401080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(char *name)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7" name="Google Shape;837;p52"/>
          <p:cNvSpPr/>
          <p:nvPr/>
        </p:nvSpPr>
        <p:spPr>
          <a:xfrm>
            <a:off x="4525525" y="1327538"/>
            <a:ext cx="4511400" cy="1017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52"/>
          <p:cNvSpPr/>
          <p:nvPr/>
        </p:nvSpPr>
        <p:spPr>
          <a:xfrm>
            <a:off x="5359675" y="1928188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sub_401080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(name)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9" name="Google Shape;839;p52"/>
          <p:cNvSpPr/>
          <p:nvPr/>
        </p:nvSpPr>
        <p:spPr>
          <a:xfrm>
            <a:off x="5359675" y="1420338"/>
            <a:ext cx="2843100" cy="327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fgets(name, 0x40, stdin)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cxnSp>
        <p:nvCxnSpPr>
          <p:cNvPr id="840" name="Google Shape;840;p52"/>
          <p:cNvCxnSpPr>
            <a:stCxn id="838" idx="0"/>
          </p:cNvCxnSpPr>
          <p:nvPr/>
        </p:nvCxnSpPr>
        <p:spPr>
          <a:xfrm rot="10800000">
            <a:off x="6781225" y="1760188"/>
            <a:ext cx="0" cy="16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1" name="Google Shape;841;p52"/>
          <p:cNvSpPr txBox="1"/>
          <p:nvPr/>
        </p:nvSpPr>
        <p:spPr>
          <a:xfrm>
            <a:off x="4562500" y="931388"/>
            <a:ext cx="31005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main()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42" name="Google Shape;842;p52"/>
          <p:cNvSpPr txBox="1"/>
          <p:nvPr>
            <p:ph idx="1" type="body"/>
          </p:nvPr>
        </p:nvSpPr>
        <p:spPr>
          <a:xfrm>
            <a:off x="311700" y="1152475"/>
            <a:ext cx="4038000" cy="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Analysis Result: </a:t>
            </a:r>
            <a:endParaRPr sz="1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3" name="Google Shape;843;p52"/>
          <p:cNvSpPr txBox="1"/>
          <p:nvPr/>
        </p:nvSpPr>
        <p:spPr>
          <a:xfrm>
            <a:off x="381550" y="1521225"/>
            <a:ext cx="31005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main -&gt; </a:t>
            </a: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sub_401080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3"/>
          <p:cNvSpPr txBox="1"/>
          <p:nvPr>
            <p:ph idx="1" type="body"/>
          </p:nvPr>
        </p:nvSpPr>
        <p:spPr>
          <a:xfrm>
            <a:off x="311700" y="1152475"/>
            <a:ext cx="8520600" cy="35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Improved Static Analysis for Linux-Based Firmware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MangoDFA—Value Dependency Analysis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Rich Expressions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Assumed Nonimpact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Sink-to-Source Coarse-Grained Analysis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434475" y="2344325"/>
            <a:ext cx="4604100" cy="6255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1" name="Google Shape;851;p53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ango—Analysis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4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</a:t>
            </a:r>
            <a:r>
              <a:rPr lang="en"/>
              <a:t>Time Ablation</a:t>
            </a:r>
            <a:endParaRPr/>
          </a:p>
        </p:txBody>
      </p:sp>
      <p:sp>
        <p:nvSpPr>
          <p:cNvPr id="857" name="Google Shape;85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8" name="Google Shape;858;p5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838" y="1096475"/>
            <a:ext cx="5768325" cy="356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4" name="Google Shape;864;p55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Mango</a:t>
            </a:r>
            <a:r>
              <a:rPr lang="en"/>
              <a:t>—</a:t>
            </a: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Alert Ablation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65" name="Google Shape;865;p5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621" y="959025"/>
            <a:ext cx="6080759" cy="3754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6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Mango—Efficacy</a:t>
            </a:r>
            <a:endParaRPr/>
          </a:p>
        </p:txBody>
      </p:sp>
      <p:sp>
        <p:nvSpPr>
          <p:cNvPr id="871" name="Google Shape;871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49 Firmware KARONTE Dataset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2" name="Google Shape;87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7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Mango—Efficacy</a:t>
            </a:r>
            <a:endParaRPr/>
          </a:p>
        </p:txBody>
      </p:sp>
      <p:sp>
        <p:nvSpPr>
          <p:cNvPr id="878" name="Google Shape;878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49 Firmware KARONTE Dataset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2,310 Alerts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9" name="Google Shape;87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8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Mango—Efficacy</a:t>
            </a:r>
            <a:endParaRPr/>
          </a:p>
        </p:txBody>
      </p:sp>
      <p:sp>
        <p:nvSpPr>
          <p:cNvPr id="885" name="Google Shape;88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49 Firmware KARONTE Dataset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2,310 Alerts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100 command injections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57 True Positives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57% TP Rate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6" name="Google Shape;88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9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Mango—Efficacy</a:t>
            </a:r>
            <a:endParaRPr/>
          </a:p>
        </p:txBody>
      </p:sp>
      <p:sp>
        <p:nvSpPr>
          <p:cNvPr id="892" name="Google Shape;892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49 Firmware KARONTE Dataset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2,310 Alerts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100 command injections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57 True Positives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57% TP Rate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230 buffer overflows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109 True Positives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47% TP Rate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3" name="Google Shape;89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60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Mango—Efficacy</a:t>
            </a:r>
            <a:endParaRPr/>
          </a:p>
        </p:txBody>
      </p:sp>
      <p:sp>
        <p:nvSpPr>
          <p:cNvPr id="899" name="Google Shape;89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49 Firmware KARONTE Dataset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2,310 Alerts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100 command injections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57 True Positives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57% TP Rate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230 buffer overflows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109 True Positives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47% TP Rate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Total: 52% TP Rate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0" name="Google Shape;90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6" name="Google Shape;906;p61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</a:t>
            </a:r>
            <a:r>
              <a:rPr lang="en"/>
              <a:t>Mango vs SaTC</a:t>
            </a:r>
            <a:endParaRPr/>
          </a:p>
        </p:txBody>
      </p:sp>
      <p:graphicFrame>
        <p:nvGraphicFramePr>
          <p:cNvPr id="907" name="Google Shape;907;p61"/>
          <p:cNvGraphicFramePr/>
          <p:nvPr/>
        </p:nvGraphicFramePr>
        <p:xfrm>
          <a:off x="95250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{9F777EB9-358C-4593-B871-E85EA283B929}</a:tableStyleId>
              </a:tblPr>
              <a:tblGrid>
                <a:gridCol w="1639250"/>
                <a:gridCol w="125635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Analyzed</a:t>
                      </a:r>
                      <a:b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Alerted</a:t>
                      </a: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b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Runtime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SaTC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 Mango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3" name="Google Shape;913;p62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Mango vs SaTC</a:t>
            </a:r>
            <a:endParaRPr/>
          </a:p>
        </p:txBody>
      </p:sp>
      <p:graphicFrame>
        <p:nvGraphicFramePr>
          <p:cNvPr id="914" name="Google Shape;914;p62"/>
          <p:cNvGraphicFramePr/>
          <p:nvPr/>
        </p:nvGraphicFramePr>
        <p:xfrm>
          <a:off x="95250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{9F777EB9-358C-4593-B871-E85EA283B929}</a:tableStyleId>
              </a:tblPr>
              <a:tblGrid>
                <a:gridCol w="1639250"/>
                <a:gridCol w="125635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Analyzed 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Alerted 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Runtime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SaTC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131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 Mango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3,599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0" name="Google Shape;920;p63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Mango vs SaTC</a:t>
            </a:r>
            <a:endParaRPr/>
          </a:p>
        </p:txBody>
      </p:sp>
      <p:graphicFrame>
        <p:nvGraphicFramePr>
          <p:cNvPr id="921" name="Google Shape;921;p63"/>
          <p:cNvGraphicFramePr/>
          <p:nvPr/>
        </p:nvGraphicFramePr>
        <p:xfrm>
          <a:off x="95250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{9F777EB9-358C-4593-B871-E85EA283B929}</a:tableStyleId>
              </a:tblPr>
              <a:tblGrid>
                <a:gridCol w="1639250"/>
                <a:gridCol w="125635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Analyzed</a:t>
                      </a:r>
                      <a:b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Alerted 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Runtime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SaTC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131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 Mango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3,599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2,310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7" name="Google Shape;927;p64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Mango vs SaTC</a:t>
            </a:r>
            <a:endParaRPr/>
          </a:p>
        </p:txBody>
      </p:sp>
      <p:graphicFrame>
        <p:nvGraphicFramePr>
          <p:cNvPr id="928" name="Google Shape;928;p64"/>
          <p:cNvGraphicFramePr/>
          <p:nvPr/>
        </p:nvGraphicFramePr>
        <p:xfrm>
          <a:off x="95250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{9F777EB9-358C-4593-B871-E85EA283B929}</a:tableStyleId>
              </a:tblPr>
              <a:tblGrid>
                <a:gridCol w="1639250"/>
                <a:gridCol w="125635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Analyzed</a:t>
                      </a:r>
                      <a:b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Alerted 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Runtime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SaTC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131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52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 Mango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3,599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2,310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4" name="Google Shape;934;p65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Operation Mango vs SaTC</a:t>
            </a:r>
            <a:endParaRPr/>
          </a:p>
        </p:txBody>
      </p:sp>
      <p:graphicFrame>
        <p:nvGraphicFramePr>
          <p:cNvPr id="935" name="Google Shape;935;p65"/>
          <p:cNvGraphicFramePr/>
          <p:nvPr/>
        </p:nvGraphicFramePr>
        <p:xfrm>
          <a:off x="952500" y="1870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{9F777EB9-358C-4593-B871-E85EA283B929}</a:tableStyleId>
              </a:tblPr>
              <a:tblGrid>
                <a:gridCol w="1639250"/>
                <a:gridCol w="125635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Analyzed</a:t>
                      </a:r>
                      <a:b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</a:t>
                      </a: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Alerted </a:t>
                      </a:r>
                      <a:b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Binaries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Runtime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SaTC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131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52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860:58h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 Mango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3,599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2,310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174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946:22h</a:t>
                      </a:r>
                      <a:endParaRPr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1" name="Google Shape;941;p66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 bugs in 3x more binaries at 22x faster per binary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8" name="Google Shape;948;p67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 bugs in 3x more binaries at 22x faster per binary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Manually verified 166 exploitable vulnerabilities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5" name="Google Shape;955;p68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 bugs in 3x more binaries at 22x faster per binary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Manually verified 166 exploitable vulnerabilities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 Mango is open-sourced and available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2" name="Google Shape;962;p69"/>
          <p:cNvSpPr txBox="1"/>
          <p:nvPr>
            <p:ph type="title"/>
          </p:nvPr>
        </p:nvSpPr>
        <p:spPr>
          <a:xfrm>
            <a:off x="119850" y="181125"/>
            <a:ext cx="8904300" cy="62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Mango—Summary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Found bugs in 3x more binaries at 22x faster per binary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Manually verified 166 exploitable vulnerabilities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 Mango is open-sourced and available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Helvetica Neue"/>
              <a:buChar char="●"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 Mango is integrated in angr and will be maintained</a:t>
            </a:r>
            <a:b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70"/>
          <p:cNvSpPr txBox="1"/>
          <p:nvPr/>
        </p:nvSpPr>
        <p:spPr>
          <a:xfrm>
            <a:off x="979050" y="3171625"/>
            <a:ext cx="71859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 Gibbs | wilgibbs.com | </a:t>
            </a:r>
            <a:r>
              <a:rPr lang="en" sz="1800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wfgibbs@asu.edu</a:t>
            </a:r>
            <a:r>
              <a:rPr lang="en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@</a:t>
            </a:r>
            <a:r>
              <a:rPr lang="en" sz="1800">
                <a:solidFill>
                  <a:schemeClr val="dk1"/>
                </a:solidFill>
                <a:uFill>
                  <a:noFill/>
                </a:uFill>
                <a:latin typeface="Helvetica Neue"/>
                <a:ea typeface="Helvetica Neue"/>
                <a:cs typeface="Helvetica Neue"/>
                <a:sym typeface="Helvetica Neu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cl4sm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69" name="Google Shape;969;p70"/>
          <p:cNvSpPr txBox="1"/>
          <p:nvPr/>
        </p:nvSpPr>
        <p:spPr>
          <a:xfrm>
            <a:off x="0" y="4629025"/>
            <a:ext cx="9144000" cy="5145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0" name="Google Shape;970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88850" y="3848425"/>
            <a:ext cx="1736853" cy="48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3412" y="3798882"/>
            <a:ext cx="1201750" cy="58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2175" y="4678288"/>
            <a:ext cx="1190275" cy="3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0"/>
          <p:cNvSpPr txBox="1"/>
          <p:nvPr/>
        </p:nvSpPr>
        <p:spPr>
          <a:xfrm>
            <a:off x="1486125" y="2262150"/>
            <a:ext cx="59553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 Mango</a:t>
            </a:r>
            <a:br>
              <a:rPr lang="en" sz="17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7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/>
              </a:rPr>
              <a:t>https://github.com/sefcom/operation-mango-public</a:t>
            </a:r>
            <a:endParaRPr sz="17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4" name="Google Shape;974;p70"/>
          <p:cNvSpPr txBox="1"/>
          <p:nvPr/>
        </p:nvSpPr>
        <p:spPr>
          <a:xfrm>
            <a:off x="3095100" y="1238625"/>
            <a:ext cx="2953800" cy="9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2"/>
                </a:solidFill>
              </a:rPr>
              <a:t>Thank You!</a:t>
            </a:r>
            <a:endParaRPr sz="3600">
              <a:solidFill>
                <a:schemeClr val="dk2"/>
              </a:solidFill>
            </a:endParaRPr>
          </a:p>
        </p:txBody>
      </p:sp>
      <p:pic>
        <p:nvPicPr>
          <p:cNvPr id="975" name="Google Shape;975;p7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76600" y="262275"/>
            <a:ext cx="482300" cy="4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7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350000" y="262275"/>
            <a:ext cx="482300" cy="4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7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63300" y="262275"/>
            <a:ext cx="482300" cy="4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