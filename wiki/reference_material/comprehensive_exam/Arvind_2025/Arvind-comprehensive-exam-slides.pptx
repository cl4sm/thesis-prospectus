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1BF_8DC90F1C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modernComment_19F_53D064B.xml" ContentType="application/vnd.ms-powerpoint.comment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omments/modernComment_194_A07A4A16.xml" ContentType="application/vnd.ms-powerpoint.comment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comments/modernComment_1AB_CE21852C.xml" ContentType="application/vnd.ms-powerpoint.comments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comments/modernComment_193_3B4CAD1A.xml" ContentType="application/vnd.ms-powerpoint.comments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comments/modernComment_1EF_FDA8A589.xml" ContentType="application/vnd.ms-powerpoint.comments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comments/modernComment_18C_B640C9BD.xml" ContentType="application/vnd.ms-powerpoint.comments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comments/modernComment_192_26FC7053.xml" ContentType="application/vnd.ms-powerpoint.comments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3"/>
  </p:notesMasterIdLst>
  <p:sldIdLst>
    <p:sldId id="256" r:id="rId2"/>
    <p:sldId id="392" r:id="rId3"/>
    <p:sldId id="395" r:id="rId4"/>
    <p:sldId id="394" r:id="rId5"/>
    <p:sldId id="398" r:id="rId6"/>
    <p:sldId id="547" r:id="rId7"/>
    <p:sldId id="548" r:id="rId8"/>
    <p:sldId id="549" r:id="rId9"/>
    <p:sldId id="531" r:id="rId10"/>
    <p:sldId id="465" r:id="rId11"/>
    <p:sldId id="447" r:id="rId12"/>
    <p:sldId id="561" r:id="rId13"/>
    <p:sldId id="449" r:id="rId14"/>
    <p:sldId id="452" r:id="rId15"/>
    <p:sldId id="453" r:id="rId16"/>
    <p:sldId id="454" r:id="rId17"/>
    <p:sldId id="415" r:id="rId18"/>
    <p:sldId id="492" r:id="rId19"/>
    <p:sldId id="521" r:id="rId20"/>
    <p:sldId id="404" r:id="rId21"/>
    <p:sldId id="539" r:id="rId22"/>
    <p:sldId id="591" r:id="rId23"/>
    <p:sldId id="592" r:id="rId24"/>
    <p:sldId id="406" r:id="rId25"/>
    <p:sldId id="461" r:id="rId26"/>
    <p:sldId id="446" r:id="rId27"/>
    <p:sldId id="550" r:id="rId28"/>
    <p:sldId id="551" r:id="rId29"/>
    <p:sldId id="463" r:id="rId30"/>
    <p:sldId id="469" r:id="rId31"/>
    <p:sldId id="513" r:id="rId32"/>
    <p:sldId id="410" r:id="rId33"/>
    <p:sldId id="552" r:id="rId34"/>
    <p:sldId id="553" r:id="rId35"/>
    <p:sldId id="477" r:id="rId36"/>
    <p:sldId id="582" r:id="rId37"/>
    <p:sldId id="583" r:id="rId38"/>
    <p:sldId id="584" r:id="rId39"/>
    <p:sldId id="569" r:id="rId40"/>
    <p:sldId id="482" r:id="rId41"/>
    <p:sldId id="480" r:id="rId42"/>
    <p:sldId id="486" r:id="rId43"/>
    <p:sldId id="570" r:id="rId44"/>
    <p:sldId id="488" r:id="rId45"/>
    <p:sldId id="489" r:id="rId46"/>
    <p:sldId id="490" r:id="rId47"/>
    <p:sldId id="494" r:id="rId48"/>
    <p:sldId id="418" r:id="rId49"/>
    <p:sldId id="566" r:id="rId50"/>
    <p:sldId id="567" r:id="rId51"/>
    <p:sldId id="518" r:id="rId52"/>
    <p:sldId id="519" r:id="rId53"/>
    <p:sldId id="520" r:id="rId54"/>
    <p:sldId id="517" r:id="rId55"/>
    <p:sldId id="420" r:id="rId56"/>
    <p:sldId id="542" r:id="rId57"/>
    <p:sldId id="524" r:id="rId58"/>
    <p:sldId id="525" r:id="rId59"/>
    <p:sldId id="526" r:id="rId60"/>
    <p:sldId id="527" r:id="rId61"/>
    <p:sldId id="528" r:id="rId62"/>
    <p:sldId id="585" r:id="rId63"/>
    <p:sldId id="586" r:id="rId64"/>
    <p:sldId id="522" r:id="rId65"/>
    <p:sldId id="523" r:id="rId66"/>
    <p:sldId id="497" r:id="rId67"/>
    <p:sldId id="556" r:id="rId68"/>
    <p:sldId id="557" r:id="rId69"/>
    <p:sldId id="559" r:id="rId70"/>
    <p:sldId id="573" r:id="rId71"/>
    <p:sldId id="427" r:id="rId72"/>
    <p:sldId id="571" r:id="rId73"/>
    <p:sldId id="568" r:id="rId74"/>
    <p:sldId id="580" r:id="rId75"/>
    <p:sldId id="594" r:id="rId76"/>
    <p:sldId id="595" r:id="rId77"/>
    <p:sldId id="532" r:id="rId78"/>
    <p:sldId id="581" r:id="rId79"/>
    <p:sldId id="432" r:id="rId80"/>
    <p:sldId id="533" r:id="rId81"/>
    <p:sldId id="534" r:id="rId82"/>
    <p:sldId id="535" r:id="rId83"/>
    <p:sldId id="429" r:id="rId84"/>
    <p:sldId id="438" r:id="rId85"/>
    <p:sldId id="442" r:id="rId86"/>
    <p:sldId id="443" r:id="rId87"/>
    <p:sldId id="466" r:id="rId88"/>
    <p:sldId id="403" r:id="rId89"/>
    <p:sldId id="444" r:id="rId90"/>
    <p:sldId id="536" r:id="rId91"/>
    <p:sldId id="576" r:id="rId92"/>
    <p:sldId id="484" r:id="rId93"/>
    <p:sldId id="485" r:id="rId94"/>
    <p:sldId id="405" r:id="rId95"/>
    <p:sldId id="459" r:id="rId96"/>
    <p:sldId id="562" r:id="rId97"/>
    <p:sldId id="572" r:id="rId98"/>
    <p:sldId id="460" r:id="rId99"/>
    <p:sldId id="514" r:id="rId100"/>
    <p:sldId id="421" r:id="rId101"/>
    <p:sldId id="540" r:id="rId102"/>
    <p:sldId id="541" r:id="rId103"/>
    <p:sldId id="495" r:id="rId104"/>
    <p:sldId id="423" r:id="rId105"/>
    <p:sldId id="543" r:id="rId106"/>
    <p:sldId id="544" r:id="rId107"/>
    <p:sldId id="579" r:id="rId108"/>
    <p:sldId id="456" r:id="rId109"/>
    <p:sldId id="455" r:id="rId110"/>
    <p:sldId id="462" r:id="rId111"/>
    <p:sldId id="575" r:id="rId112"/>
    <p:sldId id="496" r:id="rId113"/>
    <p:sldId id="422" r:id="rId114"/>
    <p:sldId id="545" r:id="rId115"/>
    <p:sldId id="546" r:id="rId116"/>
    <p:sldId id="565" r:id="rId117"/>
    <p:sldId id="503" r:id="rId118"/>
    <p:sldId id="504" r:id="rId119"/>
    <p:sldId id="507" r:id="rId120"/>
    <p:sldId id="508" r:id="rId121"/>
    <p:sldId id="509" r:id="rId122"/>
    <p:sldId id="510" r:id="rId123"/>
    <p:sldId id="511" r:id="rId124"/>
    <p:sldId id="512" r:id="rId125"/>
    <p:sldId id="500" r:id="rId126"/>
    <p:sldId id="529" r:id="rId127"/>
    <p:sldId id="530" r:id="rId128"/>
    <p:sldId id="593" r:id="rId129"/>
    <p:sldId id="587" r:id="rId130"/>
    <p:sldId id="588" r:id="rId131"/>
    <p:sldId id="589" r:id="rId132"/>
    <p:sldId id="590" r:id="rId133"/>
    <p:sldId id="578" r:id="rId134"/>
    <p:sldId id="400" r:id="rId135"/>
    <p:sldId id="487" r:id="rId136"/>
    <p:sldId id="430" r:id="rId137"/>
    <p:sldId id="435" r:id="rId138"/>
    <p:sldId id="431" r:id="rId139"/>
    <p:sldId id="396" r:id="rId140"/>
    <p:sldId id="433" r:id="rId141"/>
    <p:sldId id="481" r:id="rId142"/>
    <p:sldId id="577" r:id="rId143"/>
    <p:sldId id="516" r:id="rId144"/>
    <p:sldId id="563" r:id="rId145"/>
    <p:sldId id="564" r:id="rId146"/>
    <p:sldId id="267" r:id="rId147"/>
    <p:sldId id="402" r:id="rId148"/>
    <p:sldId id="445" r:id="rId149"/>
    <p:sldId id="407" r:id="rId150"/>
    <p:sldId id="471" r:id="rId151"/>
    <p:sldId id="399" r:id="rId152"/>
  </p:sldIdLst>
  <p:sldSz cx="9144000" cy="5143500" type="screen16x9"/>
  <p:notesSz cx="6858000" cy="9144000"/>
  <p:embeddedFontLst>
    <p:embeddedFont>
      <p:font typeface="Helvetica Neue" panose="020B0604020202020204" charset="0"/>
      <p:regular r:id="rId154"/>
      <p:bold r:id="rId155"/>
      <p:italic r:id="rId156"/>
      <p:boldItalic r:id="rId1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65473A-6417-691E-FDA8-14FA28C0CED7}" name="Arvind Sriram Raj (Student)" initials="A(" userId="S::asraj@sundevils.asu.edu::f00b77fc-d2a0-4c40-9aef-1876012b44a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1D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2AC2B9-3ACF-7E86-A38E-932A29A536D7}" v="405" dt="2025-03-04T03:46:58.131"/>
    <p1510:client id="{22AC0474-7C98-6991-080C-D16ABE4570C7}" v="25" dt="2025-03-04T23:54:56.635"/>
    <p1510:client id="{5C71CA5C-58F9-83F7-7446-01D53982BBED}" v="24" dt="2025-03-05T20:14:14.830"/>
    <p1510:client id="{90B3FB01-4925-0784-DAB5-19A6FE961A15}" v="2" dt="2025-03-05T05:17:52.1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viewProps" Target="view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theme" Target="theme/theme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font" Target="fonts/font3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microsoft.com/office/2015/10/relationships/revisionInfo" Target="revisionInfo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font" Target="fonts/font4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microsoft.com/office/2018/10/relationships/authors" Target="author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font" Target="fonts/font1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font" Target="fonts/font2.fntdata"/></Relationships>
</file>

<file path=ppt/comments/modernComment_1AB_CE21852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43D363-3FF2-4BB2-AAF0-2F1629BF51DB}" authorId="{C765473A-6417-691E-FDA8-14FA28C0CED7}" created="2025-02-26T06:44:37.248">
    <pc:sldMkLst xmlns:pc="http://schemas.microsoft.com/office/powerpoint/2013/main/command">
      <pc:docMk/>
      <pc:sldMk cId="3458303276" sldId="427"/>
    </pc:sldMkLst>
    <p188:txBody>
      <a:bodyPr/>
      <a:lstStyle/>
      <a:p>
        <a:r>
          <a:rPr lang="en-US"/>
          <a:t>May be talk about metrics to evaluate? What is there in Klees et al?</a:t>
        </a:r>
      </a:p>
    </p188:txBody>
  </p188:cm>
</p188:cmLst>
</file>

<file path=ppt/comments/modernComment_1BF_8DC90F1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F0B6A78-369E-4236-A3E0-EFE4F2F689AE}" authorId="{C765473A-6417-691E-FDA8-14FA28C0CED7}" status="resolved" created="2025-02-26T06:47:49.614" complete="100000">
    <pc:sldMkLst xmlns:pc="http://schemas.microsoft.com/office/powerpoint/2013/main/command">
      <pc:docMk/>
      <pc:sldMk cId="2378764060" sldId="447"/>
    </pc:sldMkLst>
    <p188:txBody>
      <a:bodyPr/>
      <a:lstStyle/>
      <a:p>
        <a:r>
          <a:rPr lang="en-US"/>
          <a:t>Replace target types with key challenges?</a:t>
        </a:r>
      </a:p>
    </p188:txBody>
  </p188:cm>
</p188:cmLst>
</file>

<file path=ppt/comments/modernComment_1EF_FDA8A58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FE5D393-B497-407A-97C9-E427443EF415}" authorId="{C765473A-6417-691E-FDA8-14FA28C0CED7}" created="2025-01-29T05:44:27.486">
    <pc:sldMkLst xmlns:pc="http://schemas.microsoft.com/office/powerpoint/2013/main/command">
      <pc:docMk/>
      <pc:sldMk cId="4255688073" sldId="495"/>
    </pc:sldMkLst>
    <p188:txBody>
      <a:bodyPr/>
      <a:lstStyle/>
      <a:p>
        <a:r>
          <a:rPr lang="en-US"/>
          <a:t>Better title maybe?</a:t>
        </a:r>
      </a:p>
    </p188:txBody>
  </p188:cm>
</p188:cmLst>
</file>

<file path=ppt/comments/modernComment_18C_B640C9B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38245DB-9A48-4B5A-ADF1-EC12FABF3E3B}" authorId="{C765473A-6417-691E-FDA8-14FA28C0CED7}" created="2025-01-15T01:59:03.846">
    <pc:sldMkLst xmlns:pc="http://schemas.microsoft.com/office/powerpoint/2013/main/command">
      <pc:docMk/>
      <pc:sldMk cId="3057699261" sldId="396"/>
    </pc:sldMkLst>
    <p188:txBody>
      <a:bodyPr/>
      <a:lstStyle/>
      <a:p>
        <a:r>
          <a:rPr lang="en-US"/>
          <a:t>May be collapse the testing phase into just "Test seeds" -&gt; "Interesting seeds" based on rest of presentation?</a:t>
        </a:r>
      </a:p>
    </p188:txBody>
  </p188:cm>
  <p188:cm id="{F2FA1CFC-0F46-4583-B5C7-0D4B589C5861}" authorId="{C765473A-6417-691E-FDA8-14FA28C0CED7}" created="2025-01-20T06:48:01.596">
    <pc:sldMkLst xmlns:pc="http://schemas.microsoft.com/office/powerpoint/2013/main/command">
      <pc:docMk/>
      <pc:sldMk cId="3057699261" sldId="396"/>
    </pc:sldMkLst>
    <p188:txBody>
      <a:bodyPr/>
      <a:lstStyle/>
      <a:p>
        <a:r>
          <a:rPr lang="en-US"/>
          <a:t>TODO: How does AFL assign energy to seeds?</a:t>
        </a:r>
      </a:p>
    </p188:txBody>
  </p188:cm>
</p188:cmLst>
</file>

<file path=ppt/comments/modernComment_19F_53D064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8515246-13BA-4F49-A069-E79BD261230E}" authorId="{C765473A-6417-691E-FDA8-14FA28C0CED7}" status="resolved" created="2025-01-22T07:33:49.714" complete="100000">
    <pc:sldMkLst xmlns:pc="http://schemas.microsoft.com/office/powerpoint/2013/main/command">
      <pc:docMk/>
      <pc:sldMk cId="87885387" sldId="415"/>
    </pc:sldMkLst>
    <p188:txBody>
      <a:bodyPr/>
      <a:lstStyle/>
      <a:p>
        <a:r>
          <a:rPr lang="en-US"/>
          <a:t>Move WINNIE to binaries; not focused on libraries.</a:t>
        </a:r>
      </a:p>
    </p188:txBody>
  </p188:cm>
  <p188:cm id="{59A4CE15-6B64-4B69-A2E4-D3A86B05C84C}" authorId="{C765473A-6417-691E-FDA8-14FA28C0CED7}" status="resolved" created="2025-01-22T07:34:23.996" complete="100000">
    <pc:sldMkLst xmlns:pc="http://schemas.microsoft.com/office/powerpoint/2013/main/command">
      <pc:docMk/>
      <pc:sldMk cId="87885387" sldId="415"/>
    </pc:sldMkLst>
    <p188:txBody>
      <a:bodyPr/>
      <a:lstStyle/>
      <a:p>
        <a:r>
          <a:rPr lang="en-US"/>
          <a:t>Change order: do programs first and libraries next? Increasing order of complexity.</a:t>
        </a:r>
      </a:p>
    </p188:txBody>
  </p188:cm>
</p188:cmLst>
</file>

<file path=ppt/comments/modernComment_192_26FC705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4208047-9D91-4AFD-8877-F7D31C87566A}" authorId="{C765473A-6417-691E-FDA8-14FA28C0CED7}" created="2025-01-20T06:50:22.743">
    <pc:sldMkLst xmlns:pc="http://schemas.microsoft.com/office/powerpoint/2013/main/command">
      <pc:docMk/>
      <pc:sldMk cId="654078035" sldId="402"/>
    </pc:sldMkLst>
    <p188:txBody>
      <a:bodyPr/>
      <a:lstStyle/>
      <a:p>
        <a:r>
          <a:rPr lang="en-US"/>
          <a:t>Redo this slide: remove content covered in next few slides. Remove this slide entirely if needed.</a:t>
        </a:r>
      </a:p>
    </p188:txBody>
  </p188:cm>
</p188:cmLst>
</file>

<file path=ppt/comments/modernComment_193_3B4CAD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F45FC7-0779-485C-96BB-A8D85BF0412E}" authorId="{C765473A-6417-691E-FDA8-14FA28C0CED7}" status="resolved" created="2025-01-18T22:47:34.422" complete="100000">
    <pc:sldMkLst xmlns:pc="http://schemas.microsoft.com/office/powerpoint/2013/main/command">
      <pc:docMk/>
      <pc:sldMk cId="994880794" sldId="403"/>
    </pc:sldMkLst>
    <p188:replyLst>
      <p188:reply id="{C45C07AC-2C35-4B72-897E-6728EECF0A00}" authorId="{C765473A-6417-691E-FDA8-14FA28C0CED7}" created="2025-01-20T06:49:52.664">
        <p188:txBody>
          <a:bodyPr/>
          <a:lstStyle/>
          <a:p>
            <a:r>
              <a:rPr lang="en-US"/>
              <a:t>TODO: Redo this slide</a:t>
            </a:r>
          </a:p>
        </p188:txBody>
      </p188:reply>
    </p188:replyLst>
    <p188:txBody>
      <a:bodyPr/>
      <a:lstStyle/>
      <a:p>
        <a:r>
          <a:rPr lang="en-US"/>
          <a:t>Perhaps more slides with details of AFL components is needed?</a:t>
        </a:r>
      </a:p>
    </p188:txBody>
  </p188:cm>
</p188:cmLst>
</file>

<file path=ppt/comments/modernComment_194_A07A4A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BB2BBC1-CFC3-48CB-95CC-15216F863370}" authorId="{C765473A-6417-691E-FDA8-14FA28C0CED7}" created="2025-01-18T22:45:52.701">
    <pc:sldMkLst xmlns:pc="http://schemas.microsoft.com/office/powerpoint/2013/main/command">
      <pc:docMk/>
      <pc:sldMk cId="2692368918" sldId="404"/>
    </pc:sldMkLst>
    <p188:txBody>
      <a:bodyPr/>
      <a:lstStyle/>
      <a:p>
        <a:r>
          <a:rPr lang="en-US"/>
          <a:t>Perhaps add a title slide indicating transition but with also some content (perhaps list of objectives of research targeting specific component could be in title slide?)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/sanitizers/wiki/ThreadSanitizerAlgorithm" TargetMode="External"/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llvm.org/devmtg/2012-11/Serebryany_TSan-MSan.pdf" TargetMode="External"/></Relationships>
</file>

<file path=ppt/notesSlides/_rels/notesSlide1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/sanitizers/wiki/ThreadSanitizerAlgorithm" TargetMode="External"/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llvm.org/devmtg/2012-11/Serebryany_TSan-MSan.pdf" TargetMode="External"/></Relationships>
</file>

<file path=ppt/notesSlides/_rels/notesSlide1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/sanitizers/wiki/ThreadSanitizerAlgorithm" TargetMode="External"/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llvm.org/devmtg/2012-11/Serebryany_TSan-MSan.pdf" TargetMode="Externa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dcfbed6c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dcfbed6c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Need automated ways to analyze computer software – manual is slow not scalable.</a:t>
            </a:r>
          </a:p>
        </p:txBody>
      </p:sp>
    </p:spTree>
    <p:extLst>
      <p:ext uri="{BB962C8B-B14F-4D97-AF65-F5344CB8AC3E}">
        <p14:creationId xmlns:p14="http://schemas.microsoft.com/office/powerpoint/2010/main" val="183918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Focus on understanding how fuzzing has evolved in past few years by looking at fundamental (and not applied) fuzzing research. Restricting to fuzzing user-space single process applications written in C/C++; most heavily used targets in research.</a:t>
            </a:r>
          </a:p>
        </p:txBody>
      </p:sp>
    </p:spTree>
    <p:extLst>
      <p:ext uri="{BB962C8B-B14F-4D97-AF65-F5344CB8AC3E}">
        <p14:creationId xmlns:p14="http://schemas.microsoft.com/office/powerpoint/2010/main" val="3292466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495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96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7E1ADEA7-7F32-1064-B0EE-D2DD2C1B7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299FF90C-C5EA-7348-C184-50A73EDA0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BDBC9DD4-424E-08D5-61E0-855961CF88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92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892726E1-1D09-D947-50D4-4BC249E0B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A6A95233-F833-E398-203C-F6715EAA1E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78DEFDB1-8782-31E3-A830-955E2E530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27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F47BA9DD-B8E8-8777-2505-31DEA4532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6CCB26CC-2EE4-08F1-36F2-B8F158CFF4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96DBD292-1E88-92CF-ABC9-BB63982D8C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75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AFB7E177-138D-CC3B-1F19-A22B5B93B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51C0F1D1-58C2-D788-F1FE-711D41F45E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A01A67A3-A82B-5876-87FB-4D0E23B2DB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Harness: Set up and run target.</a:t>
            </a:r>
          </a:p>
          <a:p>
            <a:pPr marL="0" indent="0">
              <a:buNone/>
            </a:pPr>
            <a:r>
              <a:rPr lang="en-US" dirty="0"/>
              <a:t>Seed pool: Manually curated set of valid inputs.</a:t>
            </a:r>
          </a:p>
          <a:p>
            <a:pPr marL="0" indent="0">
              <a:buNone/>
            </a:pPr>
            <a:r>
              <a:rPr lang="en-US" dirty="0"/>
              <a:t>Schedule: FIFO + heuristics to </a:t>
            </a:r>
            <a:r>
              <a:rPr lang="en-US" dirty="0" err="1"/>
              <a:t>favour</a:t>
            </a:r>
            <a:r>
              <a:rPr lang="en-US" dirty="0"/>
              <a:t> smaller seeds and seeds executing faster. Also, energy assignment: how much effort to spend mutating seed.</a:t>
            </a:r>
          </a:p>
          <a:p>
            <a:pPr marL="0" indent="0">
              <a:buNone/>
            </a:pPr>
            <a:r>
              <a:rPr lang="en-US" dirty="0"/>
              <a:t>Mutate: Deterministic and non-deterministic mutations.</a:t>
            </a:r>
          </a:p>
          <a:p>
            <a:pPr marL="0" indent="0">
              <a:buNone/>
            </a:pPr>
            <a:r>
              <a:rPr lang="en-US" dirty="0"/>
              <a:t>Instrumentation: Mainly for collecting execution data. Typically implemented with compiler.</a:t>
            </a:r>
          </a:p>
          <a:p>
            <a:pPr marL="0" indent="0">
              <a:buNone/>
            </a:pPr>
            <a:r>
              <a:rPr lang="en-US" dirty="0"/>
              <a:t>Execute: Set up and run target code. Two modes: Fork fuzz or persistent fuzz.</a:t>
            </a:r>
          </a:p>
          <a:p>
            <a:pPr marL="0" indent="0">
              <a:buNone/>
            </a:pPr>
            <a:r>
              <a:rPr lang="en-US" dirty="0"/>
              <a:t>Execution data: Crashes and coverage data.</a:t>
            </a:r>
          </a:p>
        </p:txBody>
      </p:sp>
    </p:spTree>
    <p:extLst>
      <p:ext uri="{BB962C8B-B14F-4D97-AF65-F5344CB8AC3E}">
        <p14:creationId xmlns:p14="http://schemas.microsoft.com/office/powerpoint/2010/main" val="1764883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943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Mostly manually written; automated efforts recent.</a:t>
            </a:r>
          </a:p>
        </p:txBody>
      </p:sp>
    </p:spTree>
    <p:extLst>
      <p:ext uri="{BB962C8B-B14F-4D97-AF65-F5344CB8AC3E}">
        <p14:creationId xmlns:p14="http://schemas.microsoft.com/office/powerpoint/2010/main" val="36240361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641124A0-0275-2FCA-8BAF-FC71D6992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EEEB1B47-AD3D-90D7-B7D3-93B114FA84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1C2CCBD4-4395-F802-64E3-332DD5084F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68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61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UI programs harder to harness since user interaction simulation involved. Also, UI code not really interesting to fuzz.</a:t>
            </a:r>
          </a:p>
        </p:txBody>
      </p:sp>
    </p:spTree>
    <p:extLst>
      <p:ext uri="{BB962C8B-B14F-4D97-AF65-F5344CB8AC3E}">
        <p14:creationId xmlns:p14="http://schemas.microsoft.com/office/powerpoint/2010/main" val="2187049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Identify functions accepting pointers as </a:t>
            </a:r>
            <a:r>
              <a:rPr lang="en-US" dirty="0" err="1"/>
              <a:t>args</a:t>
            </a:r>
            <a:r>
              <a:rPr lang="en-US" dirty="0"/>
              <a:t> or open/read/close file and harness them. Found by tracing function calls with </a:t>
            </a:r>
            <a:r>
              <a:rPr lang="en-US" dirty="0" err="1"/>
              <a:t>args</a:t>
            </a:r>
            <a:r>
              <a:rPr lang="en-US" dirty="0"/>
              <a:t> and finding callers of </a:t>
            </a:r>
            <a:r>
              <a:rPr lang="en-US" dirty="0" err="1"/>
              <a:t>fopen</a:t>
            </a:r>
            <a:r>
              <a:rPr lang="en-US" dirty="0"/>
              <a:t> equivalent functions. Execution trace also used to compute dependencies between functions.</a:t>
            </a:r>
          </a:p>
        </p:txBody>
      </p:sp>
    </p:spTree>
    <p:extLst>
      <p:ext uri="{BB962C8B-B14F-4D97-AF65-F5344CB8AC3E}">
        <p14:creationId xmlns:p14="http://schemas.microsoft.com/office/powerpoint/2010/main" val="4018089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API dependency graph: Capture control and data dependencies between API calls and synthesize fuzz drivers using that dependency information.</a:t>
            </a:r>
          </a:p>
          <a:p>
            <a:pPr marL="0" indent="0">
              <a:buNone/>
            </a:pPr>
            <a:r>
              <a:rPr lang="en-US" dirty="0" err="1"/>
              <a:t>Fuzzgen</a:t>
            </a:r>
            <a:r>
              <a:rPr lang="en-US" dirty="0"/>
              <a:t>: Static analysis only. First few bytes of input control which path is tested; thus </a:t>
            </a:r>
            <a:r>
              <a:rPr lang="en-US" dirty="0" err="1"/>
              <a:t>fuzzer</a:t>
            </a:r>
            <a:r>
              <a:rPr lang="en-US" dirty="0"/>
              <a:t> controls which path is tested as well.</a:t>
            </a:r>
          </a:p>
          <a:p>
            <a:pPr marL="0" indent="0">
              <a:buNone/>
            </a:pPr>
            <a:r>
              <a:rPr lang="en-US" dirty="0" err="1"/>
              <a:t>APICraft</a:t>
            </a:r>
            <a:r>
              <a:rPr lang="en-US" dirty="0"/>
              <a:t>: Static + Dynamic analysis and genetic algorithms to generate fuzz driver.</a:t>
            </a:r>
          </a:p>
        </p:txBody>
      </p:sp>
    </p:spTree>
    <p:extLst>
      <p:ext uri="{BB962C8B-B14F-4D97-AF65-F5344CB8AC3E}">
        <p14:creationId xmlns:p14="http://schemas.microsoft.com/office/powerpoint/2010/main" val="14821599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Preprocess source to extract caller-callee relationships, dependencies (code + data) etc. Also, slicing performed to compute dependencies between functions and to identify which fields to initialize (for forward use).</a:t>
            </a:r>
          </a:p>
        </p:txBody>
      </p:sp>
    </p:spTree>
    <p:extLst>
      <p:ext uri="{BB962C8B-B14F-4D97-AF65-F5344CB8AC3E}">
        <p14:creationId xmlns:p14="http://schemas.microsoft.com/office/powerpoint/2010/main" val="25276668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2816F4BB-74B9-FC48-5A57-92ED00008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661713C0-B84D-E5DD-FE06-169E59CC83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FEAAFF30-5FF5-1A5D-FA02-A64E7069F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Uses custom language used to express dependencies between functions.</a:t>
            </a:r>
          </a:p>
          <a:p>
            <a:pPr marL="0" indent="0">
              <a:buNone/>
            </a:pPr>
            <a:r>
              <a:rPr lang="en-US" dirty="0"/>
              <a:t>Generate initial harness using static analysis info from header files. Learn more dependencies during fuzzing and update driver based on feedback.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5874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47385E50-A904-816A-1EE7-5F50112F0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A987B1EE-3C3A-9F53-FD23-5A6B10DBEB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CB4D8029-B4B6-EE62-121F-C562804888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RUBICK: Also uses first few input bytes to control which automaton to execute just like in </a:t>
            </a:r>
            <a:r>
              <a:rPr lang="en-US" err="1"/>
              <a:t>Fuzzgen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121191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581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72DF56E1-ACE3-08AE-9D4C-9BB25B4B5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EC5AA9D6-AB22-6FD2-9F28-AF2F24DDB2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7BAE37E6-050A-76FD-D506-61012BE62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err="1"/>
              <a:t>AFLFast</a:t>
            </a:r>
            <a:r>
              <a:rPr lang="en-US"/>
              <a:t>: Both criteria used for priority in scheduling and energy assignment – higher for both.</a:t>
            </a:r>
          </a:p>
          <a:p>
            <a:pPr marL="0" indent="0">
              <a:buNone/>
            </a:pPr>
            <a:r>
              <a:rPr lang="en-US"/>
              <a:t>FOX, GREYONE: Uses a distance metric to prioritize seeds with values close to value that will flip branch.</a:t>
            </a:r>
          </a:p>
          <a:p>
            <a:pPr marL="0" indent="0">
              <a:buNone/>
            </a:pPr>
            <a:r>
              <a:rPr lang="en-US"/>
              <a:t>FOX: Uses branch condition to measure closeness. GREYONE: Uses taint analysis to measure closeness.</a:t>
            </a:r>
          </a:p>
        </p:txBody>
      </p:sp>
    </p:spTree>
    <p:extLst>
      <p:ext uri="{BB962C8B-B14F-4D97-AF65-F5344CB8AC3E}">
        <p14:creationId xmlns:p14="http://schemas.microsoft.com/office/powerpoint/2010/main" val="929428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29FB92B1-F360-AA98-3C2C-97D360A2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3F0087D8-3318-DCF7-4A85-F0705DC131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5B17AF89-1D4C-7B0D-F574-44606F183B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err="1"/>
              <a:t>AFLFast</a:t>
            </a:r>
            <a:r>
              <a:rPr lang="en-US"/>
              <a:t>: Both criteria used for priority in scheduling and energy assignment – higher for both.</a:t>
            </a:r>
          </a:p>
          <a:p>
            <a:pPr marL="0" indent="0">
              <a:buNone/>
            </a:pPr>
            <a:r>
              <a:rPr lang="en-US"/>
              <a:t>FOX, GREYONE: Uses a distance metric to prioritize seeds with values close to value that will flip branch.</a:t>
            </a:r>
          </a:p>
          <a:p>
            <a:pPr marL="0" indent="0">
              <a:buNone/>
            </a:pPr>
            <a:r>
              <a:rPr lang="en-US"/>
              <a:t>FOX: Uses branch condition to measure closeness. GREYONE: Uses taint analysis to measure closeness.</a:t>
            </a:r>
          </a:p>
        </p:txBody>
      </p:sp>
    </p:spTree>
    <p:extLst>
      <p:ext uri="{BB962C8B-B14F-4D97-AF65-F5344CB8AC3E}">
        <p14:creationId xmlns:p14="http://schemas.microsoft.com/office/powerpoint/2010/main" val="7999885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F9370890-E65C-17F0-6919-E24412572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30C3CDFE-7229-D73C-123C-3CAF511AB1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BDD89869-D0EF-D38C-4918-6BB7FDA5CA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err="1"/>
              <a:t>AFLFast</a:t>
            </a:r>
            <a:r>
              <a:rPr lang="en-US"/>
              <a:t>: Both criteria used for priority in scheduling and energy assignment – higher for both.</a:t>
            </a:r>
          </a:p>
          <a:p>
            <a:pPr marL="0" indent="0">
              <a:buNone/>
            </a:pPr>
            <a:r>
              <a:rPr lang="en-US"/>
              <a:t>FOX, GREYONE: Uses a distance metric to prioritize seeds with values close to value that will flip branch.</a:t>
            </a:r>
          </a:p>
          <a:p>
            <a:pPr marL="0" indent="0">
              <a:buNone/>
            </a:pPr>
            <a:r>
              <a:rPr lang="en-US"/>
              <a:t>FOX: Uses branch condition to measure closeness. GREYONE: Uses taint analysis to measure closeness.</a:t>
            </a:r>
          </a:p>
        </p:txBody>
      </p:sp>
    </p:spTree>
    <p:extLst>
      <p:ext uri="{BB962C8B-B14F-4D97-AF65-F5344CB8AC3E}">
        <p14:creationId xmlns:p14="http://schemas.microsoft.com/office/powerpoint/2010/main" val="14108280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/>
              <a:t>EcoFuzz</a:t>
            </a:r>
            <a:r>
              <a:rPr lang="en-US" dirty="0"/>
              <a:t> – Model fuzzing as an exploration-exploitation problem (exploring new regions vs finding new bugs). Seeds are arms, reward is new code coverage. Probability is too math complex so skipped.</a:t>
            </a:r>
          </a:p>
        </p:txBody>
      </p:sp>
    </p:spTree>
    <p:extLst>
      <p:ext uri="{BB962C8B-B14F-4D97-AF65-F5344CB8AC3E}">
        <p14:creationId xmlns:p14="http://schemas.microsoft.com/office/powerpoint/2010/main" val="14355130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AFL-Hier: Use coarse-grained (</a:t>
            </a:r>
            <a:r>
              <a:rPr lang="en-US" err="1"/>
              <a:t>eg</a:t>
            </a:r>
            <a:r>
              <a:rPr lang="en-US"/>
              <a:t>: function coverage) and fine-grained metrics (</a:t>
            </a:r>
            <a:r>
              <a:rPr lang="en-US" err="1"/>
              <a:t>eg</a:t>
            </a:r>
            <a:r>
              <a:rPr lang="en-US"/>
              <a:t>: edge coverage). Traverse tree picking cluster with highest score at each level. Score prioritizes rarity of features uncovered, ease of finding new seeds and uncertainty (of?)</a:t>
            </a:r>
          </a:p>
        </p:txBody>
      </p:sp>
    </p:spTree>
    <p:extLst>
      <p:ext uri="{BB962C8B-B14F-4D97-AF65-F5344CB8AC3E}">
        <p14:creationId xmlns:p14="http://schemas.microsoft.com/office/powerpoint/2010/main" val="9048707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Mention broad types: whole seed mutation and selective seed mutation.</a:t>
            </a:r>
          </a:p>
        </p:txBody>
      </p:sp>
    </p:spTree>
    <p:extLst>
      <p:ext uri="{BB962C8B-B14F-4D97-AF65-F5344CB8AC3E}">
        <p14:creationId xmlns:p14="http://schemas.microsoft.com/office/powerpoint/2010/main" val="31219259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DAC533F5-8711-A42E-0DC7-1D435525D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6C3343D9-BBDF-0EDB-C6BA-7CEAE92377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9C558A18-CD39-B087-9E3C-F6532BA1FB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err="1"/>
              <a:t>VUzzer</a:t>
            </a:r>
            <a:r>
              <a:rPr lang="en-US"/>
              <a:t> – Weights computed using depth of basic block in CFG: more branches traversed =&gt; higher weight.</a:t>
            </a:r>
          </a:p>
          <a:p>
            <a:pPr marL="0" indent="0">
              <a:buNone/>
            </a:pPr>
            <a:r>
              <a:rPr lang="en-US" err="1"/>
              <a:t>VUzzer</a:t>
            </a:r>
            <a:r>
              <a:rPr lang="en-US"/>
              <a:t>: Genetic algorithms inspired mutation. Fitter seeds reach less explored code parts.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8302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CAE20D25-9FE4-8ECE-A64A-2F6DA4730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253ECCBA-32EF-C799-01E3-F90BA1F72E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346E3CA2-134B-E43B-BB2D-601B5EB57E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err="1"/>
              <a:t>VUzzer</a:t>
            </a:r>
            <a:r>
              <a:rPr lang="en-US"/>
              <a:t> – Weights computed using depth of basic block in CFG: more branches traversed =&gt; higher weight.</a:t>
            </a:r>
          </a:p>
          <a:p>
            <a:pPr marL="0" indent="0">
              <a:buNone/>
            </a:pPr>
            <a:r>
              <a:rPr lang="en-US" err="1"/>
              <a:t>VUzzer</a:t>
            </a:r>
            <a:r>
              <a:rPr lang="en-US"/>
              <a:t>: Genetic algorithms inspired mutation. Fitter seeds reach less explored code parts.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683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NAUTILUS accepts grammar as input while GRIMOIRE infers grammar during fuzzing: when new coverage is uncovered by an input, the input is minimized/abstracted (similar to AFL's seed minimization?) as long as coverage is preserved to understand which parts of input matter to uncovering new coverage.</a:t>
            </a:r>
          </a:p>
        </p:txBody>
      </p:sp>
    </p:spTree>
    <p:extLst>
      <p:ext uri="{BB962C8B-B14F-4D97-AF65-F5344CB8AC3E}">
        <p14:creationId xmlns:p14="http://schemas.microsoft.com/office/powerpoint/2010/main" val="38092318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err="1"/>
              <a:t>NestFuzz</a:t>
            </a:r>
            <a:r>
              <a:rPr lang="en-US"/>
              <a:t>: Identify input fields, their types and dependencies by analyzing control/data dependencies between instructions using taint analysis.</a:t>
            </a:r>
          </a:p>
          <a:p>
            <a:pPr marL="0" indent="0">
              <a:buNone/>
            </a:pPr>
            <a:r>
              <a:rPr lang="en-US"/>
              <a:t>AIFORE: Uses Convolutional Neural Network (CNN) to identify field types. Taint analysis for rest.</a:t>
            </a:r>
          </a:p>
        </p:txBody>
      </p:sp>
    </p:spTree>
    <p:extLst>
      <p:ext uri="{BB962C8B-B14F-4D97-AF65-F5344CB8AC3E}">
        <p14:creationId xmlns:p14="http://schemas.microsoft.com/office/powerpoint/2010/main" val="17045002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FA1A6C15-103C-C018-E50E-31CFEFE46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BCC323EF-41F2-C8C5-75D4-102D1CF6A8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9F6A91BC-3A13-AC6C-8659-E98DB92670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957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EMS: Use value before/after mutation, frequency of mutation to estimate mutation operator probabilities and create model.</a:t>
            </a:r>
          </a:p>
        </p:txBody>
      </p:sp>
    </p:spTree>
    <p:extLst>
      <p:ext uri="{BB962C8B-B14F-4D97-AF65-F5344CB8AC3E}">
        <p14:creationId xmlns:p14="http://schemas.microsoft.com/office/powerpoint/2010/main" val="11388683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5BFD1D17-D42B-0265-EBD7-A88C5EA3C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E0E7A071-9057-9D65-9F43-221A8C135F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97A63599-BFA4-DBB8-95E3-89F91499EC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EMS: Use value before/after mutation, frequency of mutation to estimate mutation operator probabilities and create model.</a:t>
            </a:r>
          </a:p>
        </p:txBody>
      </p:sp>
    </p:spTree>
    <p:extLst>
      <p:ext uri="{BB962C8B-B14F-4D97-AF65-F5344CB8AC3E}">
        <p14:creationId xmlns:p14="http://schemas.microsoft.com/office/powerpoint/2010/main" val="23627135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3E76B398-5BC4-2E9B-5F98-F7C020661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9E6468C1-C4B2-FC89-4A91-4AFF6DEAF4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E5994C27-BA31-D3D7-EA3A-164B6652A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EMS: Use value before/after mutation, frequency of mutation to estimate mutation operator probabilities and create model.</a:t>
            </a:r>
          </a:p>
        </p:txBody>
      </p:sp>
    </p:spTree>
    <p:extLst>
      <p:ext uri="{BB962C8B-B14F-4D97-AF65-F5344CB8AC3E}">
        <p14:creationId xmlns:p14="http://schemas.microsoft.com/office/powerpoint/2010/main" val="11867155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6424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F2C56D5C-9405-7CBC-DCBB-AC8B3A9B2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54ED5B7F-F548-0CA7-5051-4DE90B694D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912A718E-0759-0ABC-43F3-44F95D98AC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787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915AC351-9158-0E3C-D74F-9B4FF8DA7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E5B2883C-EECD-2D33-6AEE-81A3687C3D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F9D55655-CD49-9767-5E5D-972B6C5C58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841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17BD4FA1-D919-FC35-1AEF-8CE770988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479DBAA9-3DB4-352B-D371-C1594D9B14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A832D49E-F66E-7F1D-7BC2-31BC43B2B4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0820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3675324C-E7B5-60D8-DE43-522D10815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00DD81E3-3058-9E22-BEB7-80E8383961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2EB255BD-37A6-6E36-7219-B5DAB279B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Angora: Identify input bytes affecting branches using taint analysis and solve branch function using gradient descent.</a:t>
            </a:r>
          </a:p>
          <a:p>
            <a:pPr marL="0" indent="0">
              <a:buNone/>
            </a:pPr>
            <a:r>
              <a:rPr lang="en-US"/>
              <a:t>Matryoshka: Gradient descent to solve chain of dependent branch functions.</a:t>
            </a:r>
          </a:p>
          <a:p>
            <a:pPr marL="0" indent="0">
              <a:buNone/>
            </a:pPr>
            <a:r>
              <a:rPr lang="en-US"/>
              <a:t>JIGSAW: JIT compile branch function into native code and use gradient descent.</a:t>
            </a:r>
          </a:p>
        </p:txBody>
      </p:sp>
    </p:spTree>
    <p:extLst>
      <p:ext uri="{BB962C8B-B14F-4D97-AF65-F5344CB8AC3E}">
        <p14:creationId xmlns:p14="http://schemas.microsoft.com/office/powerpoint/2010/main" val="20583225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5F292A65-517D-434B-009D-950A86609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669E85F2-A93B-9434-078A-53B8B896CF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778BE81C-0D08-D5A0-0BF0-F83293B927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Angora: Identify input bytes affecting branches using taint analysis and solve branch function using gradient descent.</a:t>
            </a:r>
          </a:p>
          <a:p>
            <a:pPr marL="0" indent="0">
              <a:buNone/>
            </a:pPr>
            <a:r>
              <a:rPr lang="en-US"/>
              <a:t>Matryoshka: Gradient descent to solve chain of dependent branch functions.</a:t>
            </a:r>
          </a:p>
          <a:p>
            <a:pPr marL="0" indent="0">
              <a:buNone/>
            </a:pPr>
            <a:r>
              <a:rPr lang="en-US"/>
              <a:t>JIGSAW: JIT compile branch function into native code and use gradient descent.</a:t>
            </a:r>
          </a:p>
        </p:txBody>
      </p:sp>
    </p:spTree>
    <p:extLst>
      <p:ext uri="{BB962C8B-B14F-4D97-AF65-F5344CB8AC3E}">
        <p14:creationId xmlns:p14="http://schemas.microsoft.com/office/powerpoint/2010/main" val="129322131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CE88E5D9-353E-24B5-1E9E-AEA22C2E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71CEF5ED-5C99-68B7-C1C6-79314D67CB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AF51A3D7-F784-26B4-A286-D0E9BF9717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975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4A400855-354A-6728-B4E8-DE7479F56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8D519D4A-A665-C188-F945-91EF69F21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C30CE9E9-902B-DE69-8178-19EE4F2E22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9234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13694722-2246-3231-E140-C2C466829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ACA2B573-5763-7969-E99A-27A603992C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ED57656C-93AA-A616-2029-161FE91FDB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62649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2F8B7EEC-4B86-A1D1-7D3D-1BD82FCB2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FDD897C3-E3E9-11FB-C6AA-F1D05A4AD4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A1F17339-2ECD-5085-483E-BF505F4D9C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In some sense, GREYONE is also inference based like REDQUEEN.</a:t>
            </a:r>
          </a:p>
          <a:p>
            <a:pPr marL="0" indent="0">
              <a:buNone/>
            </a:pPr>
            <a:r>
              <a:rPr lang="en-US"/>
              <a:t>Matryoshka: Gradient descent to solve chain of dependent branch functions.</a:t>
            </a:r>
          </a:p>
          <a:p>
            <a:pPr marL="0" indent="0">
              <a:buNone/>
            </a:pPr>
            <a:r>
              <a:rPr lang="en-US"/>
              <a:t>JIGSAW: JIT compile branch function into native code and use gradient descent.</a:t>
            </a:r>
          </a:p>
        </p:txBody>
      </p:sp>
    </p:spTree>
    <p:extLst>
      <p:ext uri="{BB962C8B-B14F-4D97-AF65-F5344CB8AC3E}">
        <p14:creationId xmlns:p14="http://schemas.microsoft.com/office/powerpoint/2010/main" val="183968365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78FC7EC5-2706-3289-C34C-3B826D7C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1DAB7845-E4D5-93B8-EF92-30FC141835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46556523-98D5-77F9-714E-FA64905749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Angora: Identify input bytes affecting branches using taint analysis and solve branch function using gradient descent.</a:t>
            </a:r>
          </a:p>
          <a:p>
            <a:pPr marL="0" indent="0">
              <a:buNone/>
            </a:pPr>
            <a:r>
              <a:rPr lang="en-US"/>
              <a:t>Matryoshka: Gradient descent to solve chain of dependent branch functions.</a:t>
            </a:r>
          </a:p>
          <a:p>
            <a:pPr marL="0" indent="0">
              <a:buNone/>
            </a:pPr>
            <a:r>
              <a:rPr lang="en-US"/>
              <a:t>JIGSAW: JIT compile branch function into native code and use gradient descent.</a:t>
            </a:r>
          </a:p>
        </p:txBody>
      </p:sp>
    </p:spTree>
    <p:extLst>
      <p:ext uri="{BB962C8B-B14F-4D97-AF65-F5344CB8AC3E}">
        <p14:creationId xmlns:p14="http://schemas.microsoft.com/office/powerpoint/2010/main" val="386450487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FBC9470A-BFE8-8925-1FFF-B82F0A50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05F8BC51-BC05-4D74-4B02-45FB254589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D5373761-86EF-A1D1-C3BD-6D44DA015E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Angora: Identify input bytes affecting branches using taint analysis and solve branch function using gradient descent.</a:t>
            </a:r>
          </a:p>
          <a:p>
            <a:pPr marL="0" indent="0">
              <a:buNone/>
            </a:pPr>
            <a:r>
              <a:rPr lang="en-US"/>
              <a:t>Matryoshka: Gradient descent to solve chain of dependent branch functions.</a:t>
            </a:r>
          </a:p>
          <a:p>
            <a:pPr marL="0" indent="0">
              <a:buNone/>
            </a:pPr>
            <a:r>
              <a:rPr lang="en-US"/>
              <a:t>JIGSAW: JIT compile branch function into native code and use gradient descent.</a:t>
            </a:r>
          </a:p>
        </p:txBody>
      </p:sp>
    </p:spTree>
    <p:extLst>
      <p:ext uri="{BB962C8B-B14F-4D97-AF65-F5344CB8AC3E}">
        <p14:creationId xmlns:p14="http://schemas.microsoft.com/office/powerpoint/2010/main" val="146054587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DB433BBC-265B-E0DF-EDB3-E18DA1187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EA7214DA-12B4-BEDB-E8EC-838E5E149B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AE16BC8C-07A3-4700-BBE1-41A00E7F69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01178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4433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7445ED02-3489-3510-9007-122ACC3A9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A21B9E46-E9ED-F400-0B36-70327DA4B1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00051852-D0F1-3C2F-28D3-E3CB11E8B2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78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0F0847C9-EFFC-6368-9CCA-77700D020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F4F6439B-A1B0-0AA3-8C36-9B1BAE6ED3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00C44C29-DD3E-4097-3A26-FD7A8CFED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Sanitizer memory misused: overflow, uninitialized memory.</a:t>
            </a:r>
          </a:p>
        </p:txBody>
      </p:sp>
    </p:spTree>
    <p:extLst>
      <p:ext uri="{BB962C8B-B14F-4D97-AF65-F5344CB8AC3E}">
        <p14:creationId xmlns:p14="http://schemas.microsoft.com/office/powerpoint/2010/main" val="24316642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CF6824F2-52F3-EFC3-4835-2271E392A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0ADF95CC-D665-F17D-E366-A68FF64396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46027C18-5C2E-AB23-F58C-A35D8AB87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4669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5719BD87-8E3F-0203-CC22-92F18B00E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64B3BF6D-E5ED-261B-289E-32FB361249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4250A7ED-106B-66F8-0F9A-9F50E78FF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4483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D6B70C6E-81AD-7BDC-FDEE-EF23FF699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555D77CD-BAC4-155A-0BB7-AEAC56259B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ADB4FF67-A785-A569-64AE-12F9A89401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8459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D30588EA-7987-2F1F-88E0-E997D8663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6B707A58-0E7A-A78C-E2AF-20961E8626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77B0FF68-C017-6134-3A00-B042469E5D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Clone functions with higher diversity of invocation (</a:t>
            </a:r>
            <a:r>
              <a:rPr lang="en-US" err="1"/>
              <a:t>eg</a:t>
            </a:r>
            <a:r>
              <a:rPr lang="en-US"/>
              <a:t>: integer </a:t>
            </a:r>
            <a:r>
              <a:rPr lang="en-US" err="1"/>
              <a:t>args</a:t>
            </a:r>
            <a:r>
              <a:rPr lang="en-US"/>
              <a:t> vs different subclass object </a:t>
            </a:r>
            <a:r>
              <a:rPr lang="en-US" err="1"/>
              <a:t>args</a:t>
            </a:r>
            <a:r>
              <a:rPr lang="en-US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15265842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3959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CD37D830-7169-9D88-3D23-02E281FD2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A5A048F1-89FF-177C-B5D5-2099321BAC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1E27CA9E-E08B-A7D2-817F-3DCA242DCA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7700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4D24312B-5BF7-0DF3-A9CA-5A9DFC35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B558D4BE-0058-C87D-C026-AD1D772163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F7A7A800-237B-AB1A-A81F-A674E6002F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1141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3156775C-44A8-F1CD-9A60-30BF56373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683D3D35-FBF6-6C5F-D841-706D89918B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5BEF9B29-F00C-E686-1CA6-DE4127A881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Replace first instruction in every block with an interrupt.</a:t>
            </a:r>
          </a:p>
        </p:txBody>
      </p:sp>
    </p:spTree>
    <p:extLst>
      <p:ext uri="{BB962C8B-B14F-4D97-AF65-F5344CB8AC3E}">
        <p14:creationId xmlns:p14="http://schemas.microsoft.com/office/powerpoint/2010/main" val="141993838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8884013F-8915-FA68-B2CE-BDC5ADDA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EF1DB3F9-6401-2B58-1CA2-46A2259383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1DEE8614-D6CA-8CD1-7561-290A164928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Interrupt triggered: perform full analysis.</a:t>
            </a:r>
          </a:p>
        </p:txBody>
      </p:sp>
    </p:spTree>
    <p:extLst>
      <p:ext uri="{BB962C8B-B14F-4D97-AF65-F5344CB8AC3E}">
        <p14:creationId xmlns:p14="http://schemas.microsoft.com/office/powerpoint/2010/main" val="94949947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2B94A4A4-44F2-FD9B-0F9A-128CAA44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D61AB6F1-A7B0-1FAE-F663-99EE2400D7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1F0AD97E-F613-0899-66D6-A161CCE9A6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Remove instrumentation from all executed blocks. Next time, same path is executed, input will treated as uninteresting since no interrupt was triggered.</a:t>
            </a:r>
          </a:p>
        </p:txBody>
      </p:sp>
    </p:spTree>
    <p:extLst>
      <p:ext uri="{BB962C8B-B14F-4D97-AF65-F5344CB8AC3E}">
        <p14:creationId xmlns:p14="http://schemas.microsoft.com/office/powerpoint/2010/main" val="308969592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D0DC8574-0AF0-4C5E-70D4-54310F2AA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92B0F96D-DB04-C423-A247-7F90BC32D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6204DEDC-CC02-A50E-EC75-6099CA23A3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New path with one previously unseen block =&gt; interrupt triggered.</a:t>
            </a:r>
          </a:p>
        </p:txBody>
      </p:sp>
    </p:spTree>
    <p:extLst>
      <p:ext uri="{BB962C8B-B14F-4D97-AF65-F5344CB8AC3E}">
        <p14:creationId xmlns:p14="http://schemas.microsoft.com/office/powerpoint/2010/main" val="81440121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5883946D-EDB6-E30A-220F-D7A8DBE75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0D99AFE5-A4AB-3626-DE2C-4B306C8BE4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60AF04FE-E260-D50A-6E02-150EF0937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Use symbolic execution to identify false positives due to instrumentation</a:t>
            </a:r>
          </a:p>
        </p:txBody>
      </p:sp>
    </p:spTree>
    <p:extLst>
      <p:ext uri="{BB962C8B-B14F-4D97-AF65-F5344CB8AC3E}">
        <p14:creationId xmlns:p14="http://schemas.microsoft.com/office/powerpoint/2010/main" val="299523649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B27AEFF6-829D-2B78-A324-9AC81988B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7BBC71C1-EBEC-126E-90C0-2A21C1D4E0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3FA6AD14-C106-4E6E-D9F3-EB3F4BFE74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Use symbolic execution to identify false positives due to instrumentation</a:t>
            </a:r>
          </a:p>
        </p:txBody>
      </p:sp>
    </p:spTree>
    <p:extLst>
      <p:ext uri="{BB962C8B-B14F-4D97-AF65-F5344CB8AC3E}">
        <p14:creationId xmlns:p14="http://schemas.microsoft.com/office/powerpoint/2010/main" val="361894296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606CCB22-6EFE-2127-B6DA-36D522EA6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38773AFD-D9AE-0D93-3F3B-F1A06A315F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98A9B3D5-1759-FB6B-454C-212178A7E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59325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8A364789-28ED-398A-46D5-C6E4F2DDD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B60DAD27-D210-32EF-9C33-9C817EC550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87CDDD33-ED43-7B0D-B255-C0EE4346BB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Indirectly focus on code coverage via data "coverage"</a:t>
            </a:r>
          </a:p>
          <a:p>
            <a:pPr marL="0" indent="0">
              <a:buNone/>
            </a:pPr>
            <a:r>
              <a:rPr lang="en-US" dirty="0"/>
              <a:t>Example invariant: length &lt; 100. Set of invariants satisfied by the current seed pool and not entire program. Invariant status (satisfied/unsatisfied) encoded into coverage.</a:t>
            </a:r>
          </a:p>
        </p:txBody>
      </p:sp>
    </p:spTree>
    <p:extLst>
      <p:ext uri="{BB962C8B-B14F-4D97-AF65-F5344CB8AC3E}">
        <p14:creationId xmlns:p14="http://schemas.microsoft.com/office/powerpoint/2010/main" val="184694328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B4FD5436-9C67-6A0E-06F4-F7B6C3549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255F4938-DC8E-842D-A299-E60FA019DA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559B3CAF-087F-AAA4-F9E0-5EDB1DAB4F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Mostly manually written; automated efforts recent.</a:t>
            </a:r>
          </a:p>
        </p:txBody>
      </p:sp>
    </p:spTree>
    <p:extLst>
      <p:ext uri="{BB962C8B-B14F-4D97-AF65-F5344CB8AC3E}">
        <p14:creationId xmlns:p14="http://schemas.microsoft.com/office/powerpoint/2010/main" val="326631912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E015C220-2AC4-B1BB-2710-0DB73A90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71106589-1EB2-2431-03AF-30618AD319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0090A209-ED23-0AA2-C644-27A5C8E4FD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MAGMA has ground truth while others do not.</a:t>
            </a:r>
          </a:p>
        </p:txBody>
      </p:sp>
    </p:spTree>
    <p:extLst>
      <p:ext uri="{BB962C8B-B14F-4D97-AF65-F5344CB8AC3E}">
        <p14:creationId xmlns:p14="http://schemas.microsoft.com/office/powerpoint/2010/main" val="140342922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BACC340E-F36D-844E-383F-DEFD40B1E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145FE04E-ACA7-716D-C9FF-7BAB0B147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C450CDC4-9C9F-FCBD-ECEA-A0099356C3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\</a:t>
            </a:r>
          </a:p>
        </p:txBody>
      </p:sp>
    </p:spTree>
    <p:extLst>
      <p:ext uri="{BB962C8B-B14F-4D97-AF65-F5344CB8AC3E}">
        <p14:creationId xmlns:p14="http://schemas.microsoft.com/office/powerpoint/2010/main" val="79702847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FA2A8FA3-30E6-28E0-4FDC-400A750E8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655DF0EF-0E1A-AC5A-EECD-B3F17E5EE5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68939264-ECB3-FC6D-2603-958165504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07633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FAC47813-1C64-2A4C-E12C-171961679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BDF0D200-AC93-2DCD-555A-0D90C015EC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E9BC029F-FF8D-1990-C7E4-E92ABD6BC2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46062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53543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084C4021-962B-A6A8-A375-96B804FED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701CE9AF-C1C2-ADDA-8506-49B0934D4D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1588F6E1-EF9F-2E75-37EA-E18BD2FD85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0385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3D9A84AE-6EE2-8AD4-5830-6AB607862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B9B20FBC-2CC7-33C4-8CFC-1C90BDB5BA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8D6473C0-B163-51C4-BCDF-170274E1BC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4343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1BDB598B-F700-CB02-321E-4D9DCF540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707C507A-AEBC-418D-F46E-382A2D64CC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82D59ADD-8CE5-47CA-1942-530303489C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Some work has been done that tangentially addresses this. </a:t>
            </a:r>
            <a:r>
              <a:rPr lang="en-US" dirty="0" err="1"/>
              <a:t>Eg</a:t>
            </a:r>
            <a:r>
              <a:rPr lang="en-US" dirty="0"/>
              <a:t>: Google </a:t>
            </a:r>
            <a:r>
              <a:rPr lang="en-US" dirty="0" err="1"/>
              <a:t>FuzzTest</a:t>
            </a:r>
            <a:r>
              <a:rPr lang="en-US" dirty="0"/>
              <a:t>. But more work needed.</a:t>
            </a:r>
          </a:p>
        </p:txBody>
      </p:sp>
    </p:spTree>
    <p:extLst>
      <p:ext uri="{BB962C8B-B14F-4D97-AF65-F5344CB8AC3E}">
        <p14:creationId xmlns:p14="http://schemas.microsoft.com/office/powerpoint/2010/main" val="140562852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9703D405-0E71-1822-9829-320EE07EE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EB2EBEBB-3A1D-C83D-0332-9D444C9AB9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8307901F-077A-4ECB-A704-80A14988BF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Some work has been done that tangentially addresses this. </a:t>
            </a:r>
            <a:r>
              <a:rPr lang="en-US" dirty="0" err="1"/>
              <a:t>Eg</a:t>
            </a:r>
            <a:r>
              <a:rPr lang="en-US" dirty="0"/>
              <a:t>: Google </a:t>
            </a:r>
            <a:r>
              <a:rPr lang="en-US" dirty="0" err="1"/>
              <a:t>FuzzTest</a:t>
            </a:r>
            <a:r>
              <a:rPr lang="en-US" dirty="0"/>
              <a:t>. But more work needed.</a:t>
            </a:r>
          </a:p>
        </p:txBody>
      </p:sp>
    </p:spTree>
    <p:extLst>
      <p:ext uri="{BB962C8B-B14F-4D97-AF65-F5344CB8AC3E}">
        <p14:creationId xmlns:p14="http://schemas.microsoft.com/office/powerpoint/2010/main" val="223478732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FA5F4F84-FC08-5BDF-889F-1A17BD0B9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D955E17E-C546-318C-5AA5-263A5E845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5DB1631F-2B13-5473-0BAE-9F685B33B6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Some work has been done that tangentially addresses this. </a:t>
            </a:r>
            <a:r>
              <a:rPr lang="en-US" dirty="0" err="1"/>
              <a:t>Eg</a:t>
            </a:r>
            <a:r>
              <a:rPr lang="en-US" dirty="0"/>
              <a:t>: Google </a:t>
            </a:r>
            <a:r>
              <a:rPr lang="en-US" dirty="0" err="1"/>
              <a:t>FuzzTest</a:t>
            </a:r>
            <a:r>
              <a:rPr lang="en-US" dirty="0"/>
              <a:t>. But more work needed.</a:t>
            </a:r>
          </a:p>
        </p:txBody>
      </p:sp>
    </p:spTree>
    <p:extLst>
      <p:ext uri="{BB962C8B-B14F-4D97-AF65-F5344CB8AC3E}">
        <p14:creationId xmlns:p14="http://schemas.microsoft.com/office/powerpoint/2010/main" val="15877777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C0A5C29D-F925-61ED-D94C-4C5CD1365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A543789B-CEDE-E9A0-C103-BBFBD1623B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74258DE4-F223-6612-E9F8-FBE599E321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Calibri"/>
              <a:buChar char="-"/>
            </a:pPr>
            <a:r>
              <a:rPr lang="en-US" dirty="0"/>
              <a:t>Human aspects of </a:t>
            </a:r>
            <a:r>
              <a:rPr lang="en-US" dirty="0" err="1"/>
              <a:t>fuzzers</a:t>
            </a:r>
            <a:r>
              <a:rPr lang="en-US" dirty="0"/>
              <a:t>: how to debug fuzz driver, what is a good seed pool</a:t>
            </a:r>
          </a:p>
          <a:p>
            <a:pPr marL="171450" indent="-171450">
              <a:buFont typeface="Calibri"/>
              <a:buChar char="-"/>
            </a:pPr>
            <a:r>
              <a:rPr lang="en-US" dirty="0"/>
              <a:t>Deeper integration with other techniques like symbolic execution and SMT solving paper.</a:t>
            </a:r>
          </a:p>
          <a:p>
            <a:pPr marL="171450" indent="-171450">
              <a:buFont typeface="Calibri"/>
              <a:buChar char="-"/>
            </a:pPr>
            <a:r>
              <a:rPr lang="en-US" dirty="0"/>
              <a:t>Component level evaluation in addition to system level evaluation?</a:t>
            </a:r>
          </a:p>
          <a:p>
            <a:pPr marL="171450" indent="-171450">
              <a:buFont typeface="Calibri"/>
              <a:buChar char="-"/>
            </a:pPr>
            <a:r>
              <a:rPr lang="en-US" dirty="0"/>
              <a:t>Reproducibility of entire fuzzing run?</a:t>
            </a:r>
          </a:p>
          <a:p>
            <a:pPr marL="171450" indent="-171450">
              <a:buFont typeface="Calibri"/>
              <a:buChar char="-"/>
            </a:pPr>
            <a:r>
              <a:rPr lang="en-US" dirty="0"/>
              <a:t>LLMs already do fuzz drivers. Probably more imprecise cases (</a:t>
            </a:r>
            <a:r>
              <a:rPr lang="en-US" dirty="0" err="1"/>
              <a:t>eg</a:t>
            </a:r>
            <a:r>
              <a:rPr lang="en-US" dirty="0"/>
              <a:t>: generating seeds, extracting grammar for use in generating seeds, may be analyzing </a:t>
            </a:r>
            <a:r>
              <a:rPr lang="en-US" dirty="0" err="1"/>
              <a:t>fuzzign</a:t>
            </a:r>
            <a:r>
              <a:rPr lang="en-US" dirty="0"/>
              <a:t> performance to suggest bottlenecks?) but not something requiring more precision (</a:t>
            </a:r>
            <a:r>
              <a:rPr lang="en-US" dirty="0" err="1"/>
              <a:t>eg</a:t>
            </a:r>
            <a:r>
              <a:rPr lang="en-US" dirty="0"/>
              <a:t>: what is good coverage?, what is best seed to schedule?)</a:t>
            </a:r>
          </a:p>
        </p:txBody>
      </p:sp>
    </p:spTree>
    <p:extLst>
      <p:ext uri="{BB962C8B-B14F-4D97-AF65-F5344CB8AC3E}">
        <p14:creationId xmlns:p14="http://schemas.microsoft.com/office/powerpoint/2010/main" val="72865139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B83DDB0C-EC2A-71E6-EEA5-6FE80A7EB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6A9DED10-C4B5-D397-D710-6D3F2102CB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6D0BE734-1C97-C10F-78FA-5D82A7E1B0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8840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1206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70F63CF6-F5C2-D6C8-23F8-F978C593B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DD42FFD3-1AA6-1F2A-42C7-40674A62E3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5C7E9B9D-2A0D-83D3-802F-9FF9BAAB96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0844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454BB97B-9D4F-3151-C904-9BB57FB78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077526DC-E18C-3D09-0D5A-F25D32826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06C18529-B5A6-13A7-6CCC-3EF9C1A393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3272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59A4854D-CA4B-B9E6-57F5-47DDFAD73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6B4F6221-F73B-9848-403D-4E1981BE29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21B0F214-92AD-364E-9F76-1F9F9848B9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0842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Mention IDs are randomly assigned at compile time.</a:t>
            </a:r>
          </a:p>
        </p:txBody>
      </p:sp>
    </p:spTree>
    <p:extLst>
      <p:ext uri="{BB962C8B-B14F-4D97-AF65-F5344CB8AC3E}">
        <p14:creationId xmlns:p14="http://schemas.microsoft.com/office/powerpoint/2010/main" val="15682354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26180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8348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3225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3854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Seed mutator: Byte-level, target-independent.</a:t>
            </a:r>
          </a:p>
        </p:txBody>
      </p:sp>
    </p:spTree>
    <p:extLst>
      <p:ext uri="{BB962C8B-B14F-4D97-AF65-F5344CB8AC3E}">
        <p14:creationId xmlns:p14="http://schemas.microsoft.com/office/powerpoint/2010/main" val="185430166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Seed mutator: Byte-level, target-independent.</a:t>
            </a:r>
          </a:p>
        </p:txBody>
      </p:sp>
    </p:spTree>
    <p:extLst>
      <p:ext uri="{BB962C8B-B14F-4D97-AF65-F5344CB8AC3E}">
        <p14:creationId xmlns:p14="http://schemas.microsoft.com/office/powerpoint/2010/main" val="139169440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1108D35B-61A2-C99D-D852-BC583F838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CC995FF5-2E83-B1EB-3239-FAD0EB3E7B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1627453B-A3EC-137E-2C84-E1DE5D81DE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Seed mutator: Byte-level, target-independent.</a:t>
            </a:r>
          </a:p>
        </p:txBody>
      </p:sp>
    </p:spTree>
    <p:extLst>
      <p:ext uri="{BB962C8B-B14F-4D97-AF65-F5344CB8AC3E}">
        <p14:creationId xmlns:p14="http://schemas.microsoft.com/office/powerpoint/2010/main" val="421683683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6BF07A08-7EB6-3ABA-4571-2DEABA31B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D1D52900-1253-395C-2808-2870B1A2D5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9001CB06-F29A-0CC5-AF1E-62E6293941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4875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1FD4DA22-3E97-1B3F-6426-30CF1759C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E701D278-0BB6-733B-CF03-FEE7D1E3C8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CFE5DACE-6249-10F8-BFB4-C028C457F2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Inference analysis would miss the relationship of </a:t>
            </a:r>
            <a:r>
              <a:rPr lang="en-US" err="1"/>
              <a:t>chunk_name</a:t>
            </a:r>
            <a:r>
              <a:rPr lang="en-US"/>
              <a:t> with </a:t>
            </a:r>
            <a:r>
              <a:rPr lang="en-US" err="1"/>
              <a:t>png_IHDR</a:t>
            </a:r>
            <a:r>
              <a:rPr lang="en-US"/>
              <a:t> since only </a:t>
            </a:r>
            <a:r>
              <a:rPr lang="en-US" err="1"/>
              <a:t>png_IDAT's</a:t>
            </a:r>
            <a:r>
              <a:rPr lang="en-US"/>
              <a:t> will be seen. Taint analysis would assume </a:t>
            </a:r>
            <a:r>
              <a:rPr lang="en-US" err="1"/>
              <a:t>chunk_name</a:t>
            </a:r>
            <a:r>
              <a:rPr lang="en-US"/>
              <a:t> has taint of both header and data. In reality, different "versions" of </a:t>
            </a:r>
            <a:r>
              <a:rPr lang="en-US" err="1"/>
              <a:t>chunk_name</a:t>
            </a:r>
            <a:r>
              <a:rPr lang="en-US"/>
              <a:t> depend on different parts of input.</a:t>
            </a:r>
          </a:p>
        </p:txBody>
      </p:sp>
    </p:spTree>
    <p:extLst>
      <p:ext uri="{BB962C8B-B14F-4D97-AF65-F5344CB8AC3E}">
        <p14:creationId xmlns:p14="http://schemas.microsoft.com/office/powerpoint/2010/main" val="189805062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6FC6FD01-C67A-4971-B87D-6DB87C6F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3065F132-B02D-7DE8-D9FD-6446BE8D9B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3030EA90-86C9-7707-FC81-6278D8383A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Inference analysis would miss the relationship of </a:t>
            </a:r>
            <a:r>
              <a:rPr lang="en-US" dirty="0" err="1"/>
              <a:t>chunk_name</a:t>
            </a:r>
            <a:r>
              <a:rPr lang="en-US" dirty="0"/>
              <a:t> with </a:t>
            </a:r>
            <a:r>
              <a:rPr lang="en-US" dirty="0" err="1"/>
              <a:t>png_IHDR</a:t>
            </a:r>
            <a:r>
              <a:rPr lang="en-US" dirty="0"/>
              <a:t> since only </a:t>
            </a:r>
            <a:r>
              <a:rPr lang="en-US" dirty="0" err="1"/>
              <a:t>png_IDAT's</a:t>
            </a:r>
            <a:r>
              <a:rPr lang="en-US" dirty="0"/>
              <a:t> will be seen. Taint analysis would assume </a:t>
            </a:r>
            <a:r>
              <a:rPr lang="en-US" dirty="0" err="1"/>
              <a:t>chunk_name</a:t>
            </a:r>
            <a:r>
              <a:rPr lang="en-US" dirty="0"/>
              <a:t> has taint of both header and data. In reality, different "versions" of </a:t>
            </a:r>
            <a:r>
              <a:rPr lang="en-US" dirty="0" err="1"/>
              <a:t>chunk_name</a:t>
            </a:r>
            <a:r>
              <a:rPr lang="en-US" dirty="0"/>
              <a:t> depend on different parts of input. Record variables and values they are compared with to identify these temporally different "versions".</a:t>
            </a:r>
          </a:p>
        </p:txBody>
      </p:sp>
    </p:spTree>
    <p:extLst>
      <p:ext uri="{BB962C8B-B14F-4D97-AF65-F5344CB8AC3E}">
        <p14:creationId xmlns:p14="http://schemas.microsoft.com/office/powerpoint/2010/main" val="114878389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K-Scheduler: Seeds reaching parents of unexplored nodes with high centrality scores.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7404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84949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ACDE8329-5ED2-BB59-B425-5BBE99A02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323C94F2-D4B1-65F2-AED7-B76EA0F668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81E0E85F-AC71-6F49-DFE5-00E45C97FE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192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6B2DCE5C-5253-C011-7192-154B4621E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7E5B29D7-B8DB-9AC0-2BC4-52BA2002E2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2FA1239B-1FE7-02F4-2B56-1FE7FAAE06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4905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5661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558ECAB9-862A-6C3A-3392-D2FC0EA55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6E0A9BFF-8D81-958B-937B-DF219A9994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418A67B0-92A3-7331-F87F-8ABD8B051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232048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8735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788A57EF-3D5D-4BDA-FFE5-CA2C5CE9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EF1B9A25-C4BF-17DE-5F31-A76D8F77CE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22CA4825-7412-89AD-00EE-595D2D3462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40628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0FCF2641-E8E5-2467-950C-F70B201B8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961B4D49-02B8-D5C3-D2A3-F373B2F607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330737B5-2FD4-047C-C7F3-1DF3B80724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90612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1CB500D0-70AC-7321-9391-99BA5849D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140850BD-A9B3-BFCC-B5F8-2C1D649BE9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8A90D663-6987-17DC-7B09-FB53EFDACF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Mostly manually written; automated efforts recent.</a:t>
            </a:r>
          </a:p>
        </p:txBody>
      </p:sp>
    </p:spTree>
    <p:extLst>
      <p:ext uri="{BB962C8B-B14F-4D97-AF65-F5344CB8AC3E}">
        <p14:creationId xmlns:p14="http://schemas.microsoft.com/office/powerpoint/2010/main" val="2014870912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err="1"/>
              <a:t>EnFuzz</a:t>
            </a:r>
            <a:r>
              <a:rPr lang="en-US"/>
              <a:t>: static ensemble. </a:t>
            </a:r>
            <a:r>
              <a:rPr lang="en-US" err="1"/>
              <a:t>Autofz</a:t>
            </a:r>
            <a:r>
              <a:rPr lang="en-US"/>
              <a:t>: Dynamic ensemble with monitoring.</a:t>
            </a:r>
          </a:p>
        </p:txBody>
      </p:sp>
    </p:spTree>
    <p:extLst>
      <p:ext uri="{BB962C8B-B14F-4D97-AF65-F5344CB8AC3E}">
        <p14:creationId xmlns:p14="http://schemas.microsoft.com/office/powerpoint/2010/main" val="17998785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83EEC74A-D29E-37B0-6328-AB4E3B677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A2C0EC09-93E2-D9C5-26F8-F985B6F7F8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88ED5F24-BF53-8DCB-F455-0BDBF9A761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err="1"/>
              <a:t>EnFuzz</a:t>
            </a:r>
            <a:r>
              <a:rPr lang="en-US"/>
              <a:t>: static ensemble. </a:t>
            </a:r>
            <a:r>
              <a:rPr lang="en-US" err="1"/>
              <a:t>Autofz</a:t>
            </a:r>
            <a:r>
              <a:rPr lang="en-US"/>
              <a:t>: Dynamic ensemble with monitoring.</a:t>
            </a:r>
          </a:p>
        </p:txBody>
      </p:sp>
    </p:spTree>
    <p:extLst>
      <p:ext uri="{BB962C8B-B14F-4D97-AF65-F5344CB8AC3E}">
        <p14:creationId xmlns:p14="http://schemas.microsoft.com/office/powerpoint/2010/main" val="2763656972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DC3464E1-3722-073F-77DE-D2E8E9CC0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69FB552E-40AD-2982-E08B-D5F44AD220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AC53C765-4CC1-5048-5BD0-DE8DFA2B2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err="1"/>
              <a:t>EnFuzz</a:t>
            </a:r>
            <a:r>
              <a:rPr lang="en-US"/>
              <a:t>: static ensemble. </a:t>
            </a:r>
            <a:r>
              <a:rPr lang="en-US" err="1"/>
              <a:t>Autofz</a:t>
            </a:r>
            <a:r>
              <a:rPr lang="en-US"/>
              <a:t>: Dynamic ensemble with monitoring.</a:t>
            </a:r>
          </a:p>
        </p:txBody>
      </p:sp>
    </p:spTree>
    <p:extLst>
      <p:ext uri="{BB962C8B-B14F-4D97-AF65-F5344CB8AC3E}">
        <p14:creationId xmlns:p14="http://schemas.microsoft.com/office/powerpoint/2010/main" val="2097680710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BE310952-3C4A-DC13-D1DC-551DAD246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A886FE99-4FAF-94B7-14AB-90E474221D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CE15DA2B-47F1-B6C5-21AF-03F2B65B60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API dependency graph: Capture control and data dependencies between API calls and synthesize fuzz drivers using that dependency information.</a:t>
            </a:r>
          </a:p>
          <a:p>
            <a:pPr marL="0" indent="0">
              <a:buNone/>
            </a:pPr>
            <a:r>
              <a:rPr lang="en-US" dirty="0" err="1"/>
              <a:t>Fuzzgen</a:t>
            </a:r>
            <a:r>
              <a:rPr lang="en-US" dirty="0"/>
              <a:t>: Static analysis only. First few bytes of input control which path is tested; thus </a:t>
            </a:r>
            <a:r>
              <a:rPr lang="en-US" dirty="0" err="1"/>
              <a:t>fuzzer</a:t>
            </a:r>
            <a:r>
              <a:rPr lang="en-US" dirty="0"/>
              <a:t> controls which path is tested as well.</a:t>
            </a:r>
          </a:p>
          <a:p>
            <a:pPr marL="0" indent="0">
              <a:buNone/>
            </a:pPr>
            <a:r>
              <a:rPr lang="en-US" dirty="0" err="1"/>
              <a:t>APICraft</a:t>
            </a:r>
            <a:r>
              <a:rPr lang="en-US" dirty="0"/>
              <a:t>: Static + Dynamic analysis and genetic algorithms to generate fuzz driver.</a:t>
            </a:r>
          </a:p>
        </p:txBody>
      </p:sp>
    </p:spTree>
    <p:extLst>
      <p:ext uri="{BB962C8B-B14F-4D97-AF65-F5344CB8AC3E}">
        <p14:creationId xmlns:p14="http://schemas.microsoft.com/office/powerpoint/2010/main" val="3689762912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err="1"/>
              <a:t>Fuzzgen</a:t>
            </a:r>
            <a:r>
              <a:rPr lang="en-US"/>
              <a:t>: Static analysis only. First few bytes of input control which path is tested; thus </a:t>
            </a:r>
            <a:r>
              <a:rPr lang="en-US" err="1"/>
              <a:t>fuzzer</a:t>
            </a:r>
            <a:r>
              <a:rPr lang="en-US"/>
              <a:t> controls which path is tested as well.</a:t>
            </a:r>
          </a:p>
          <a:p>
            <a:pPr marL="0" indent="0">
              <a:buNone/>
            </a:pPr>
            <a:r>
              <a:rPr lang="en-US" err="1"/>
              <a:t>APICraft</a:t>
            </a:r>
            <a:r>
              <a:rPr lang="en-US"/>
              <a:t>: Static + Dynamic analysis and genetic algorithms to generate fuzz driver.</a:t>
            </a:r>
          </a:p>
        </p:txBody>
      </p:sp>
    </p:spTree>
    <p:extLst>
      <p:ext uri="{BB962C8B-B14F-4D97-AF65-F5344CB8AC3E}">
        <p14:creationId xmlns:p14="http://schemas.microsoft.com/office/powerpoint/2010/main" val="1350201685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RUBICK: Finite state automaton extracted for each API representing usage: how it's called etc. Also uses first few input bytes to control which automaton to execute just like in  </a:t>
            </a:r>
            <a:r>
              <a:rPr lang="en-US" dirty="0" err="1"/>
              <a:t>Fuzzgen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96369166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64925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6AAE1E37-09BE-D241-A24D-FD86BF93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836F9F3C-1C50-6B51-5704-3AFACC87F9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3DB34187-D09F-2256-6FC5-B0BD2EC201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921058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160DF92F-6F7A-6C9F-D81C-9A2D64C07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97CD875C-9EFB-BC68-BD7A-F3925EA363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2472AF0C-0FD4-8A02-0A71-B4A5A559F5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681905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ZAFL: Perform only rewriting as needed. </a:t>
            </a:r>
            <a:r>
              <a:rPr lang="en-US" err="1"/>
              <a:t>StochFuzz</a:t>
            </a:r>
            <a:r>
              <a:rPr lang="en-US"/>
              <a:t>: On-demand binary rewriting to overcome disassembly issues.</a:t>
            </a:r>
          </a:p>
        </p:txBody>
      </p:sp>
    </p:spTree>
    <p:extLst>
      <p:ext uri="{BB962C8B-B14F-4D97-AF65-F5344CB8AC3E}">
        <p14:creationId xmlns:p14="http://schemas.microsoft.com/office/powerpoint/2010/main" val="2106334986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965FD32B-8662-6ED6-595B-506AB5EF2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FA0DE5FD-77E1-72D0-2D8E-C9286BAD04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DC85DE07-93D5-1F4B-D6AB-DC475354CD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HEXCITE: Mainly for fast coverage detection if using edge coverage instead of block coverage. Create new edges for each iteration. For branches, modify jump to point to an​ interrupt </a:t>
            </a:r>
            <a:r>
              <a:rPr lang="en-US" dirty="0" err="1"/>
              <a:t>instr</a:t>
            </a:r>
            <a:r>
              <a:rPr lang="en-US" dirty="0"/>
              <a:t> or direct jump to 0 address.</a:t>
            </a:r>
          </a:p>
        </p:txBody>
      </p:sp>
    </p:spTree>
    <p:extLst>
      <p:ext uri="{BB962C8B-B14F-4D97-AF65-F5344CB8AC3E}">
        <p14:creationId xmlns:p14="http://schemas.microsoft.com/office/powerpoint/2010/main" val="574392973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AD74289A-6E79-BF5D-B696-5AC006119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F342D9DD-D1BE-DD26-3756-A906AD68C5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643C921C-E2B7-670D-408C-9AE03F0CEE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105046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B9F201CE-F554-47C2-75CA-D31333EC3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49C3A62A-9BB4-30AB-9EB7-63A5330F36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DF1A0D31-53B1-B0D0-9115-AE4951863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4015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87FA5775-B24E-3D24-41BB-4AF8818A5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59C4FB0F-190D-F4C9-4D73-9F82E5259A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3E56BEC2-69B5-F6B6-6E45-C2603B5E0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19708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F882176E-001C-8CD3-2881-2D2FF6991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036D1894-82EE-424C-022B-2A26BBD11F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4A39418D-55CF-4E0D-D6D9-309583557A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Signals good but do miss cases. Sanitizers introduced to detect vulnerabilities in more fine grained manner.</a:t>
            </a:r>
          </a:p>
        </p:txBody>
      </p:sp>
    </p:spTree>
    <p:extLst>
      <p:ext uri="{BB962C8B-B14F-4D97-AF65-F5344CB8AC3E}">
        <p14:creationId xmlns:p14="http://schemas.microsoft.com/office/powerpoint/2010/main" val="2864426668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DBEFA0AC-08FD-52CF-A919-9FCECB834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F131B6E7-9B34-27DA-1B8A-2466AF01C2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67C2E664-7E28-8728-0707-18F84808FF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Redzones for both stack objects and </a:t>
            </a:r>
            <a:r>
              <a:rPr lang="en-US" err="1"/>
              <a:t>globals</a:t>
            </a:r>
            <a:r>
              <a:rPr lang="en-US"/>
              <a:t>.</a:t>
            </a:r>
          </a:p>
          <a:p>
            <a:pPr marL="0" indent="0">
              <a:buNone/>
            </a:pPr>
            <a:r>
              <a:rPr lang="en-US"/>
              <a:t>ASAN--: Optimized version with same functionality for less instrumentation (</a:t>
            </a:r>
            <a:r>
              <a:rPr lang="en-US" err="1"/>
              <a:t>eg</a:t>
            </a:r>
            <a:r>
              <a:rPr lang="en-US"/>
              <a:t>: eliminate obviously non-vulnerable accesses like accesses using constant index).</a:t>
            </a:r>
          </a:p>
        </p:txBody>
      </p:sp>
    </p:spTree>
    <p:extLst>
      <p:ext uri="{BB962C8B-B14F-4D97-AF65-F5344CB8AC3E}">
        <p14:creationId xmlns:p14="http://schemas.microsoft.com/office/powerpoint/2010/main" val="53929599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8E8A377E-43F1-44EF-F423-6BCDC9769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D411F3A0-2209-2F76-A151-8660EFE8D5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FA5F2E15-53CC-FC12-4015-588384D61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Redzones for both stack objects and </a:t>
            </a:r>
            <a:r>
              <a:rPr lang="en-US" err="1"/>
              <a:t>globals</a:t>
            </a:r>
            <a:r>
              <a:rPr lang="en-US"/>
              <a:t>.</a:t>
            </a:r>
          </a:p>
          <a:p>
            <a:pPr marL="0" indent="0">
              <a:buNone/>
            </a:pPr>
            <a:r>
              <a:rPr lang="en-US"/>
              <a:t>ASAN--: Optimized version with same functionality for less instrumentation (</a:t>
            </a:r>
            <a:r>
              <a:rPr lang="en-US" err="1"/>
              <a:t>eg</a:t>
            </a:r>
            <a:r>
              <a:rPr lang="en-US"/>
              <a:t>: eliminate obviously non-vulnerable accesses like accesses using constant index).</a:t>
            </a:r>
          </a:p>
        </p:txBody>
      </p:sp>
    </p:spTree>
    <p:extLst>
      <p:ext uri="{BB962C8B-B14F-4D97-AF65-F5344CB8AC3E}">
        <p14:creationId xmlns:p14="http://schemas.microsoft.com/office/powerpoint/2010/main" val="210753060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C488C4E4-EB82-E988-C761-4507D3632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25D68426-516B-0100-E2FD-577EAB582B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A29D19A8-D218-5C1C-19AC-C535E35CDA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90766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C110EE08-6172-9862-4140-0A2A3B6AB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D760FBF8-AE31-0876-1B87-A7F3829CB7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A1986D78-17D6-9686-347E-0FCCDBBD90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83925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B2E2A0AA-4D79-6279-00F3-289975E36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68695871-6A5A-3D8E-B7CA-EA2F6F4A09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DED5B169-7194-9FED-04C9-B3EBE4BFCF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287980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0A76BA4D-F661-396F-42AD-D8FDAB7BB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A2E08BBC-DD2F-FA85-53EA-42103BCC96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A7409974-73F4-F6B2-3ABF-C9E3C70763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33786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29E59913-B582-0C58-E356-F38C0A6D4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7A56312F-E0FB-909D-8BDB-9181B2170D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005F63F1-F39E-355C-A26A-E0FB8B7BB3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Simplified version of TSAN v2 which uses compiler instrumentation. 8 byte record stored for every 8 bytes of memory.</a:t>
            </a:r>
          </a:p>
          <a:p>
            <a:pPr marL="0" indent="0">
              <a:buNone/>
            </a:pPr>
            <a:r>
              <a:rPr lang="en-US">
                <a:hlinkClick r:id="rId3"/>
              </a:rPr>
              <a:t>https://github.com/google/sanitizers/wiki/ThreadSanitizerAlgorithm</a:t>
            </a:r>
            <a:endParaRPr lang="en-US"/>
          </a:p>
          <a:p>
            <a:pPr marL="0" indent="0">
              <a:buNone/>
            </a:pPr>
            <a:r>
              <a:rPr lang="en-US"/>
              <a:t>8 byte record stored for every 8 bytes of memory</a:t>
            </a:r>
          </a:p>
          <a:p>
            <a:pPr marL="0" indent="0">
              <a:buNone/>
            </a:pPr>
            <a:r>
              <a:rPr lang="en-US">
                <a:hlinkClick r:id="rId4"/>
              </a:rPr>
              <a:t>https://llvm.org/devmtg/2012-11/Serebryany_TSan-MSan.pdf</a:t>
            </a:r>
          </a:p>
          <a:p>
            <a:pPr marL="0" indent="0">
              <a:buNone/>
            </a:pPr>
            <a:r>
              <a:rPr lang="en-US"/>
              <a:t>https://www.youtube.com/watch?v=HDgttiIvMxA</a:t>
            </a:r>
          </a:p>
        </p:txBody>
      </p:sp>
    </p:spTree>
    <p:extLst>
      <p:ext uri="{BB962C8B-B14F-4D97-AF65-F5344CB8AC3E}">
        <p14:creationId xmlns:p14="http://schemas.microsoft.com/office/powerpoint/2010/main" val="2816176028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1404E60B-6D17-8B3B-E546-F96AB3363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C666EDB1-A1CE-1101-1008-9902BE9238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5B3163F0-5923-AFD3-12CC-C5C8D5E6C7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>
                <a:hlinkClick r:id="rId3"/>
              </a:rPr>
              <a:t>https://github.com/google/sanitizers/wiki/ThreadSanitizerAlgorithm</a:t>
            </a:r>
            <a:endParaRPr lang="en-US"/>
          </a:p>
          <a:p>
            <a:pPr marL="0" indent="0">
              <a:buNone/>
            </a:pPr>
            <a:r>
              <a:rPr lang="en-US"/>
              <a:t>8 byte record stored for every 8 bytes of memory</a:t>
            </a:r>
          </a:p>
          <a:p>
            <a:pPr marL="0" indent="0">
              <a:buNone/>
            </a:pPr>
            <a:r>
              <a:rPr lang="en-US">
                <a:hlinkClick r:id="rId4"/>
              </a:rPr>
              <a:t>https://llvm.org/devmtg/2012-11/Serebryany_TSan-MSan.pdf</a:t>
            </a:r>
          </a:p>
          <a:p>
            <a:pPr marL="0" indent="0">
              <a:buNone/>
            </a:pPr>
            <a:r>
              <a:rPr lang="en-US"/>
              <a:t>https://www.youtube.com/watch?v=HDgttiIvMxA</a:t>
            </a:r>
          </a:p>
        </p:txBody>
      </p:sp>
    </p:spTree>
    <p:extLst>
      <p:ext uri="{BB962C8B-B14F-4D97-AF65-F5344CB8AC3E}">
        <p14:creationId xmlns:p14="http://schemas.microsoft.com/office/powerpoint/2010/main" val="1913469140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8201C428-81D0-E091-D959-8FA9A99B7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2CBCE001-D7E5-D531-D8C4-2902C57FDB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C0C8351F-D68D-ACAE-BC87-48F04CB9F2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Data race because T3 read event happened before T1 write chronologically but was recorded after T1 write was recorded. Overlap of data access too.</a:t>
            </a:r>
          </a:p>
          <a:p>
            <a:pPr marL="0" indent="0">
              <a:buNone/>
            </a:pPr>
            <a:r>
              <a:rPr lang="en-US">
                <a:hlinkClick r:id="rId3"/>
              </a:rPr>
              <a:t>https://github.com/google/sanitizers/wiki/ThreadSanitizerAlgorithm</a:t>
            </a:r>
            <a:endParaRPr lang="en-US"/>
          </a:p>
          <a:p>
            <a:pPr marL="0" indent="0">
              <a:buNone/>
            </a:pPr>
            <a:r>
              <a:rPr lang="en-US"/>
              <a:t>8 byte record stored for every 8 bytes of memory</a:t>
            </a:r>
          </a:p>
          <a:p>
            <a:pPr marL="0" indent="0">
              <a:buNone/>
            </a:pPr>
            <a:r>
              <a:rPr lang="en-US">
                <a:hlinkClick r:id="rId4"/>
              </a:rPr>
              <a:t>https://llvm.org/devmtg/2012-11/Serebryany_TSan-MSan.pdf</a:t>
            </a:r>
          </a:p>
          <a:p>
            <a:pPr marL="0" indent="0">
              <a:buNone/>
            </a:pPr>
            <a:r>
              <a:rPr lang="en-US"/>
              <a:t>https://www.youtube.com/watch?v=HDgttiIvMxA</a:t>
            </a:r>
          </a:p>
        </p:txBody>
      </p:sp>
    </p:spTree>
    <p:extLst>
      <p:ext uri="{BB962C8B-B14F-4D97-AF65-F5344CB8AC3E}">
        <p14:creationId xmlns:p14="http://schemas.microsoft.com/office/powerpoint/2010/main" val="3242144834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AD6E10FD-A6D5-2D46-5DE3-4D2673C00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F30D6EC4-5DB7-477F-7C0D-17D2291EB4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B56136E2-D60D-7972-05F2-B2DE80E10C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Some work has been done that tangentially addresses this. </a:t>
            </a:r>
            <a:r>
              <a:rPr lang="en-US" dirty="0" err="1"/>
              <a:t>Eg</a:t>
            </a:r>
            <a:r>
              <a:rPr lang="en-US" dirty="0"/>
              <a:t>: Google </a:t>
            </a:r>
            <a:r>
              <a:rPr lang="en-US" dirty="0" err="1"/>
              <a:t>FuzzTest</a:t>
            </a:r>
            <a:r>
              <a:rPr lang="en-US" dirty="0"/>
              <a:t>. But more work needed.</a:t>
            </a:r>
          </a:p>
        </p:txBody>
      </p:sp>
    </p:spTree>
    <p:extLst>
      <p:ext uri="{BB962C8B-B14F-4D97-AF65-F5344CB8AC3E}">
        <p14:creationId xmlns:p14="http://schemas.microsoft.com/office/powerpoint/2010/main" val="3942563223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CA67DF27-16CE-2AFC-9EDB-3D30B14B0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D6D515E8-E457-2EAF-7282-123A5F563F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72D86226-6E0C-96DD-BFF2-BAD08E3F1B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Some work has been done that tangentially addresses this. </a:t>
            </a:r>
            <a:r>
              <a:rPr lang="en-US" dirty="0" err="1"/>
              <a:t>Eg</a:t>
            </a:r>
            <a:r>
              <a:rPr lang="en-US" dirty="0"/>
              <a:t>: Google </a:t>
            </a:r>
            <a:r>
              <a:rPr lang="en-US" dirty="0" err="1"/>
              <a:t>FuzzTest</a:t>
            </a:r>
            <a:r>
              <a:rPr lang="en-US" dirty="0"/>
              <a:t>. But more work needed.</a:t>
            </a:r>
          </a:p>
        </p:txBody>
      </p:sp>
    </p:spTree>
    <p:extLst>
      <p:ext uri="{BB962C8B-B14F-4D97-AF65-F5344CB8AC3E}">
        <p14:creationId xmlns:p14="http://schemas.microsoft.com/office/powerpoint/2010/main" val="3385672124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906C5EC6-0A0C-32B8-28C4-C85B8F973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9BBBECEA-1F7A-7E37-572B-66391C46BF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7D0AE9F8-49FE-9A7B-4FB0-89C31DCF4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Some work has been done that tangentially addresses this. </a:t>
            </a:r>
            <a:r>
              <a:rPr lang="en-US" dirty="0" err="1"/>
              <a:t>Eg</a:t>
            </a:r>
            <a:r>
              <a:rPr lang="en-US" dirty="0"/>
              <a:t>: Google </a:t>
            </a:r>
            <a:r>
              <a:rPr lang="en-US" dirty="0" err="1"/>
              <a:t>FuzzTest</a:t>
            </a:r>
            <a:r>
              <a:rPr lang="en-US" dirty="0"/>
              <a:t>. But more work needed.</a:t>
            </a:r>
          </a:p>
        </p:txBody>
      </p:sp>
    </p:spTree>
    <p:extLst>
      <p:ext uri="{BB962C8B-B14F-4D97-AF65-F5344CB8AC3E}">
        <p14:creationId xmlns:p14="http://schemas.microsoft.com/office/powerpoint/2010/main" val="2663333170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F2259721-5D0E-1B63-06D4-AB0784C5E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2E76FF70-703B-6134-4AA0-AA0ABBFD1C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CA42D4EB-6F88-5987-5B47-6F92E5A5AB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Some work has been done that tangentially addresses this. </a:t>
            </a:r>
            <a:r>
              <a:rPr lang="en-US" dirty="0" err="1"/>
              <a:t>Eg</a:t>
            </a:r>
            <a:r>
              <a:rPr lang="en-US" dirty="0"/>
              <a:t>: Google </a:t>
            </a:r>
            <a:r>
              <a:rPr lang="en-US" dirty="0" err="1"/>
              <a:t>FuzzTest</a:t>
            </a:r>
            <a:r>
              <a:rPr lang="en-US" dirty="0"/>
              <a:t>. But more work needed.</a:t>
            </a:r>
          </a:p>
        </p:txBody>
      </p:sp>
    </p:spTree>
    <p:extLst>
      <p:ext uri="{BB962C8B-B14F-4D97-AF65-F5344CB8AC3E}">
        <p14:creationId xmlns:p14="http://schemas.microsoft.com/office/powerpoint/2010/main" val="2504535776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A6349CA8-D979-3F03-FCAF-76480FD1A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76CC2991-0BDD-A7B1-EF28-8A671018A8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B570F9B5-4C59-5054-8662-D69C588B90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Symbolic execution &lt;-&gt; SMT solver integration. Similar approach in fuzzing?</a:t>
            </a:r>
          </a:p>
        </p:txBody>
      </p:sp>
    </p:spTree>
    <p:extLst>
      <p:ext uri="{BB962C8B-B14F-4D97-AF65-F5344CB8AC3E}">
        <p14:creationId xmlns:p14="http://schemas.microsoft.com/office/powerpoint/2010/main" val="2255287085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CE526F97-6C74-94D6-288C-706A7CF37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57BE40F6-F763-5B3D-5872-3AF71A6581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AF58BB52-5EC4-9E64-292A-A939B4F121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/>
              <a:t>curr</a:t>
            </a:r>
            <a:r>
              <a:rPr lang="en-US" dirty="0"/>
              <a:t>, </a:t>
            </a:r>
            <a:r>
              <a:rPr lang="en-US" dirty="0" err="1"/>
              <a:t>prev</a:t>
            </a:r>
            <a:r>
              <a:rPr lang="en-US" dirty="0"/>
              <a:t>: Block IDs. x, y, z – parameters to compute ID without collisions. Chosen that way. If not possible, assign hash and store in hash table.</a:t>
            </a:r>
          </a:p>
        </p:txBody>
      </p:sp>
    </p:spTree>
    <p:extLst>
      <p:ext uri="{BB962C8B-B14F-4D97-AF65-F5344CB8AC3E}">
        <p14:creationId xmlns:p14="http://schemas.microsoft.com/office/powerpoint/2010/main" val="4199560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278306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7BF52CFA-E7C0-570C-902D-E633B5539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E6F544CB-EEB0-B829-C115-EDB09AB570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4DC4EEA2-8896-C413-9080-346E6C6D82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900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109499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100836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03696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Seed pool: Manually curated set of valid inputs.</a:t>
            </a:r>
          </a:p>
          <a:p>
            <a:pPr marL="0" indent="0">
              <a:buNone/>
            </a:pPr>
            <a:r>
              <a:rPr lang="en-US"/>
              <a:t>Schedule: FIFO + heuristics to </a:t>
            </a:r>
            <a:r>
              <a:rPr lang="en-US" err="1"/>
              <a:t>favour</a:t>
            </a:r>
            <a:r>
              <a:rPr lang="en-US"/>
              <a:t> smaller seeds and seeds executing faster. Also, energy assignment: how much effort to spend mutating seed.</a:t>
            </a:r>
          </a:p>
          <a:p>
            <a:pPr marL="0" indent="0">
              <a:buNone/>
            </a:pPr>
            <a:r>
              <a:rPr lang="en-US"/>
              <a:t>Instrumentation: Mainly to calculate coverage data.</a:t>
            </a:r>
          </a:p>
        </p:txBody>
      </p:sp>
    </p:spTree>
    <p:extLst>
      <p:ext uri="{BB962C8B-B14F-4D97-AF65-F5344CB8AC3E}">
        <p14:creationId xmlns:p14="http://schemas.microsoft.com/office/powerpoint/2010/main" val="1049392928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79416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8A4E7335-EBCA-2F60-7F92-30E9BD6F9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79A4079E-66C5-3F8D-3A65-A66F2A0C15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849FA857-1401-ADFF-8ED2-2759231821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Angora: Identify input bytes affecting branches using taint analysis and solve branch function using gradient descent.</a:t>
            </a:r>
          </a:p>
          <a:p>
            <a:pPr marL="0" indent="0">
              <a:buNone/>
            </a:pPr>
            <a:r>
              <a:rPr lang="en-US"/>
              <a:t>Matryoshka: Gradient descent to solve chain of dependent branch functions.</a:t>
            </a:r>
          </a:p>
          <a:p>
            <a:pPr marL="0" indent="0">
              <a:buNone/>
            </a:pPr>
            <a:r>
              <a:rPr lang="en-US"/>
              <a:t>JIGSAW: JIT compile branch function into native code and use gradient descent.</a:t>
            </a:r>
          </a:p>
        </p:txBody>
      </p:sp>
    </p:spTree>
    <p:extLst>
      <p:ext uri="{BB962C8B-B14F-4D97-AF65-F5344CB8AC3E}">
        <p14:creationId xmlns:p14="http://schemas.microsoft.com/office/powerpoint/2010/main" val="853829332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9249CAA6-CC3E-F09F-960E-94A297614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8AD63BF5-535D-60D8-7A55-7D290870E1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AF7C5E12-F944-022B-53AB-9DDB01153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RUBICK: Finite state automaton extracted for each API representing usage: how it's called etc. Also uses first few input bytes to control which automaton to execute just like in  </a:t>
            </a:r>
            <a:r>
              <a:rPr lang="en-US" dirty="0" err="1"/>
              <a:t>Fuzzgen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50482505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B1D0E2C6-EBDE-DCF8-D3A9-FAB761B80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01FF0579-BAC8-C557-DE35-64F7B4AB28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2BE3B129-900F-F44D-CE90-9A67B1E5C3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/>
              <a:t>curr</a:t>
            </a:r>
            <a:r>
              <a:rPr lang="en-US" dirty="0"/>
              <a:t>, </a:t>
            </a:r>
            <a:r>
              <a:rPr lang="en-US" dirty="0" err="1"/>
              <a:t>prev</a:t>
            </a:r>
            <a:r>
              <a:rPr lang="en-US" dirty="0"/>
              <a:t>: Block IDs. x, y, z – parameters to compute ID without collisions. Chosen that way. If not possible, assign hash and store in hash table.</a:t>
            </a:r>
          </a:p>
        </p:txBody>
      </p:sp>
    </p:spTree>
    <p:extLst>
      <p:ext uri="{BB962C8B-B14F-4D97-AF65-F5344CB8AC3E}">
        <p14:creationId xmlns:p14="http://schemas.microsoft.com/office/powerpoint/2010/main" val="390478900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D10CAF57-190D-E640-9264-9CDB4B7E6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C60B7030-32BF-223E-386F-FF107459A7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FCB4E3B9-170A-68F5-F0C7-3EA316CF85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/>
              <a:t>curr</a:t>
            </a:r>
            <a:r>
              <a:rPr lang="en-US" dirty="0"/>
              <a:t>, </a:t>
            </a:r>
            <a:r>
              <a:rPr lang="en-US" dirty="0" err="1"/>
              <a:t>prev</a:t>
            </a:r>
            <a:r>
              <a:rPr lang="en-US" dirty="0"/>
              <a:t>: Block IDs. x, y, z – parameters to compute ID without collisions. Chosen that way. If not possible, assign hash and store in hash table.</a:t>
            </a:r>
          </a:p>
        </p:txBody>
      </p:sp>
    </p:spTree>
    <p:extLst>
      <p:ext uri="{BB962C8B-B14F-4D97-AF65-F5344CB8AC3E}">
        <p14:creationId xmlns:p14="http://schemas.microsoft.com/office/powerpoint/2010/main" val="1483355678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58EECDEF-1D91-82B9-4132-8BB20A0E1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>
            <a:extLst>
              <a:ext uri="{FF2B5EF4-FFF2-40B4-BE49-F238E27FC236}">
                <a16:creationId xmlns:a16="http://schemas.microsoft.com/office/drawing/2014/main" id="{C3E68491-A644-64B3-59FF-BAD2FC6F58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>
            <a:extLst>
              <a:ext uri="{FF2B5EF4-FFF2-40B4-BE49-F238E27FC236}">
                <a16:creationId xmlns:a16="http://schemas.microsoft.com/office/drawing/2014/main" id="{6823ED62-A039-3006-BBFA-3B7BDAC400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/>
              <a:t>curr</a:t>
            </a:r>
            <a:r>
              <a:rPr lang="en-US" dirty="0"/>
              <a:t>, </a:t>
            </a:r>
            <a:r>
              <a:rPr lang="en-US" dirty="0" err="1"/>
              <a:t>prev</a:t>
            </a:r>
            <a:r>
              <a:rPr lang="en-US" dirty="0"/>
              <a:t>: Block IDs. x, y, z – parameters to compute ID without collisions. Chosen that way. If not possible, assign hash and store in hash table.</a:t>
            </a:r>
          </a:p>
        </p:txBody>
      </p:sp>
    </p:spTree>
    <p:extLst>
      <p:ext uri="{BB962C8B-B14F-4D97-AF65-F5344CB8AC3E}">
        <p14:creationId xmlns:p14="http://schemas.microsoft.com/office/powerpoint/2010/main" val="2807694434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https://www.pexels.com/photo/computer-in-tesla-car-18977345/</a:t>
            </a:r>
          </a:p>
        </p:txBody>
      </p:sp>
    </p:spTree>
    <p:extLst>
      <p:ext uri="{BB962C8B-B14F-4D97-AF65-F5344CB8AC3E}">
        <p14:creationId xmlns:p14="http://schemas.microsoft.com/office/powerpoint/2010/main" val="2547535407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Feedback: Edge IDs computed from block IDs.</a:t>
            </a:r>
          </a:p>
        </p:txBody>
      </p:sp>
    </p:spTree>
    <p:extLst>
      <p:ext uri="{BB962C8B-B14F-4D97-AF65-F5344CB8AC3E}">
        <p14:creationId xmlns:p14="http://schemas.microsoft.com/office/powerpoint/2010/main" val="3006567360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802333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49392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23623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cfbed6c7_1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cfbed6c7_13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172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DD67F-AA34-6599-0BC4-7BEC7DD5D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86827-A745-BD77-D52D-3F7D6B172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99B32-FCFA-B7CD-14BE-C0164665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68CF-4D45-0D44-8CF1-4162967EC1FF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EC57D-EDD9-24B9-2A1B-DE4B608C3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D66CC-4B14-8D24-18DB-76957CFCB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F650E-C5D9-8A45-B700-7AC88F1C3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15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62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BF_8DC90F1C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9F_53D064B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94_A07A4A1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AB_CE21852C.xm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93_3B4CAD1A.xm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EF_FDA8A589.xml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8C_B640C9BD.xml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3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2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4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92_26FC7053.xml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3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3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3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2584" y="17610"/>
            <a:ext cx="9072391" cy="11440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GB" sz="3800">
                <a:latin typeface="Helvetica Neue"/>
                <a:sym typeface="Helvetica Neue"/>
              </a:rPr>
              <a:t>A Brief History of Modern Fuzzing</a:t>
            </a:r>
            <a:endParaRPr lang="en-US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87913" y="1100172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</a:pPr>
            <a:r>
              <a:rPr lang="en-GB">
                <a:solidFill>
                  <a:schemeClr val="dk1"/>
                </a:solidFill>
                <a:latin typeface="Helvetica Neue"/>
                <a:sym typeface="Helvetica Neue"/>
              </a:rPr>
              <a:t>Twelve years of American Fuzzy Lop (AFL)</a:t>
            </a:r>
            <a:endParaRPr lang="en-US">
              <a:solidFill>
                <a:schemeClr val="dk1"/>
              </a:solidFill>
              <a:latin typeface="Helvetica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4629025"/>
            <a:ext cx="9144000" cy="5145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9F4F8F-09D5-7BC1-1BCE-3B792626F479}"/>
              </a:ext>
            </a:extLst>
          </p:cNvPr>
          <p:cNvSpPr txBox="1"/>
          <p:nvPr/>
        </p:nvSpPr>
        <p:spPr>
          <a:xfrm>
            <a:off x="1021545" y="1965868"/>
            <a:ext cx="6996772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Helvetica Neue"/>
              </a:rPr>
              <a:t>PhD Comprehensive Exam (Oral Component) March 2025</a:t>
            </a:r>
            <a:endParaRPr lang="en-US"/>
          </a:p>
          <a:p>
            <a:pPr algn="ctr"/>
            <a:endParaRPr lang="en-US" sz="2000">
              <a:latin typeface="Helvetica Neue"/>
            </a:endParaRPr>
          </a:p>
          <a:p>
            <a:pPr algn="ctr"/>
            <a:r>
              <a:rPr lang="en-US" sz="2000" dirty="0">
                <a:latin typeface="Helvetica Neue"/>
              </a:rPr>
              <a:t>Arvind S Raj</a:t>
            </a:r>
          </a:p>
          <a:p>
            <a:pPr algn="ctr"/>
            <a:endParaRPr lang="en-US" sz="2000" dirty="0">
              <a:latin typeface="Helvetica Neue"/>
            </a:endParaRPr>
          </a:p>
          <a:p>
            <a:pPr algn="ctr"/>
            <a:endParaRPr lang="en-US" sz="2000" dirty="0">
              <a:latin typeface="Helvetica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6279C9-4E4D-7CB9-95C6-4A7254344698}"/>
              </a:ext>
            </a:extLst>
          </p:cNvPr>
          <p:cNvSpPr txBox="1"/>
          <p:nvPr/>
        </p:nvSpPr>
        <p:spPr>
          <a:xfrm>
            <a:off x="1801914" y="3822529"/>
            <a:ext cx="34850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/>
              <a:t>Adam </a:t>
            </a:r>
            <a:r>
              <a:rPr lang="en-US" sz="2000" dirty="0" err="1"/>
              <a:t>Doupé</a:t>
            </a:r>
            <a:endParaRPr lang="en-US" sz="2000" dirty="0"/>
          </a:p>
          <a:p>
            <a:pPr algn="ctr"/>
            <a:r>
              <a:rPr lang="en-US" sz="2000" dirty="0"/>
              <a:t>Jedidiah Crandall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027A88-E1CC-B1EE-7634-B54B0A86A1F7}"/>
              </a:ext>
            </a:extLst>
          </p:cNvPr>
          <p:cNvSpPr txBox="1"/>
          <p:nvPr/>
        </p:nvSpPr>
        <p:spPr>
          <a:xfrm>
            <a:off x="3891350" y="3822529"/>
            <a:ext cx="34850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 err="1"/>
              <a:t>Ruoyu</a:t>
            </a:r>
            <a:r>
              <a:rPr lang="en-US" sz="2000" dirty="0"/>
              <a:t> Wang</a:t>
            </a:r>
            <a:endParaRPr lang="en-US" dirty="0"/>
          </a:p>
          <a:p>
            <a:pPr algn="ctr"/>
            <a:r>
              <a:rPr lang="en-US" sz="2000" dirty="0"/>
              <a:t>Tiffany Bao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FE2CC0-32EE-98CD-5681-AAA2B086602C}"/>
              </a:ext>
            </a:extLst>
          </p:cNvPr>
          <p:cNvSpPr txBox="1"/>
          <p:nvPr/>
        </p:nvSpPr>
        <p:spPr>
          <a:xfrm>
            <a:off x="2831852" y="3040191"/>
            <a:ext cx="348505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/>
              <a:t>PhD Committee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9DD55E-53DB-5D84-FE4F-2FCF87CBA0CF}"/>
              </a:ext>
            </a:extLst>
          </p:cNvPr>
          <p:cNvSpPr txBox="1"/>
          <p:nvPr/>
        </p:nvSpPr>
        <p:spPr>
          <a:xfrm>
            <a:off x="2806965" y="3441529"/>
            <a:ext cx="348505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/>
              <a:t>Yan </a:t>
            </a:r>
            <a:r>
              <a:rPr lang="en-US" sz="2000" dirty="0" err="1"/>
              <a:t>Shoshitaishvili</a:t>
            </a:r>
            <a:r>
              <a:rPr lang="en-US" sz="2000" dirty="0"/>
              <a:t> (chair)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2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Software is large and complex</a:t>
            </a:r>
            <a:endParaRPr lang="en-US">
              <a:solidFill>
                <a:schemeClr val="lt1"/>
              </a:solidFill>
            </a:endParaRPr>
          </a:p>
        </p:txBody>
      </p:sp>
      <p:pic>
        <p:nvPicPr>
          <p:cNvPr id="2" name="Picture 1" descr="https://upload.wikimedia.org/wikipedia/commons/thumb/3/35/Tux.svg/405px-Tux.svg.png">
            <a:extLst>
              <a:ext uri="{FF2B5EF4-FFF2-40B4-BE49-F238E27FC236}">
                <a16:creationId xmlns:a16="http://schemas.microsoft.com/office/drawing/2014/main" id="{EDFC264B-FDFD-BE0B-F88D-FE87EB685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981" y="987166"/>
            <a:ext cx="2258291" cy="26710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F8EF27-AA4A-0230-C793-03BEC688CC58}"/>
              </a:ext>
            </a:extLst>
          </p:cNvPr>
          <p:cNvSpPr txBox="1"/>
          <p:nvPr/>
        </p:nvSpPr>
        <p:spPr>
          <a:xfrm>
            <a:off x="6217227" y="4035136"/>
            <a:ext cx="282286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Helvetica Neue"/>
              </a:rPr>
              <a:t>&gt;40 million LOC</a:t>
            </a:r>
          </a:p>
        </p:txBody>
      </p:sp>
      <p:pic>
        <p:nvPicPr>
          <p:cNvPr id="4" name="Picture 3" descr="https://upload.wikimedia.org/wikipedia/commons/thumb/a/a0/Firefox_logo%2C_2019.svg/231px-Firefox_logo%2C_2019.svg.png">
            <a:extLst>
              <a:ext uri="{FF2B5EF4-FFF2-40B4-BE49-F238E27FC236}">
                <a16:creationId xmlns:a16="http://schemas.microsoft.com/office/drawing/2014/main" id="{FD9D75E4-6FC1-7C6C-11D5-8474B82EF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2395" y="1366997"/>
            <a:ext cx="2200275" cy="228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90DC14-09CB-D88F-1CCC-9151AC1BEE46}"/>
              </a:ext>
            </a:extLst>
          </p:cNvPr>
          <p:cNvSpPr txBox="1"/>
          <p:nvPr/>
        </p:nvSpPr>
        <p:spPr>
          <a:xfrm>
            <a:off x="3160568" y="4035136"/>
            <a:ext cx="282286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Helvetica Neue"/>
              </a:rPr>
              <a:t>&gt;28 million LOC</a:t>
            </a:r>
          </a:p>
        </p:txBody>
      </p:sp>
      <p:pic>
        <p:nvPicPr>
          <p:cNvPr id="6" name="Picture 5" descr="https://upload.wikimedia.org/wikipedia/commons/thumb/a/af/GNU_Compiler_Collection_logo.svg/203px-GNU_Compiler_Collection_logo.svg.png">
            <a:extLst>
              <a:ext uri="{FF2B5EF4-FFF2-40B4-BE49-F238E27FC236}">
                <a16:creationId xmlns:a16="http://schemas.microsoft.com/office/drawing/2014/main" id="{634E8575-A3BF-9657-465F-F32E09DAA3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004" y="1368136"/>
            <a:ext cx="1933575" cy="2286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CEAFB5-69A2-4095-1E68-953308637DF5}"/>
              </a:ext>
            </a:extLst>
          </p:cNvPr>
          <p:cNvSpPr txBox="1"/>
          <p:nvPr/>
        </p:nvSpPr>
        <p:spPr>
          <a:xfrm>
            <a:off x="41700" y="4035135"/>
            <a:ext cx="282286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Helvetica Neue"/>
              </a:rPr>
              <a:t>&gt;15 million LOC</a:t>
            </a:r>
          </a:p>
        </p:txBody>
      </p:sp>
    </p:spTree>
    <p:extLst>
      <p:ext uri="{BB962C8B-B14F-4D97-AF65-F5344CB8AC3E}">
        <p14:creationId xmlns:p14="http://schemas.microsoft.com/office/powerpoint/2010/main" val="2275726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3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Fuzz testing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871678"/>
            <a:ext cx="8837839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Discover vulnerabilities using randomly generated inputs.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American Fuzzy Lop (AFL) – widely used </a:t>
            </a:r>
            <a:r>
              <a:rPr lang="en-US" sz="2800" dirty="0" err="1">
                <a:latin typeface="Helvetica Neue"/>
              </a:rPr>
              <a:t>fuzzer</a:t>
            </a:r>
            <a:r>
              <a:rPr lang="en-US" sz="2800" dirty="0">
                <a:latin typeface="Helvetica Neue"/>
              </a:rPr>
              <a:t> today.</a:t>
            </a:r>
            <a:endParaRPr lang="en-US" sz="2800" i="1" dirty="0"/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Talk focus – Understanding fuzzing through computer security research based on AFL.</a:t>
            </a:r>
          </a:p>
          <a:p>
            <a:endParaRPr lang="en-US" sz="2800"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2BF01-27DE-23E0-9435-FD673F93E067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“Dissecting American Fuzzy Lop: A </a:t>
            </a:r>
            <a:r>
              <a:rPr lang="en-US" sz="1000" dirty="0" err="1">
                <a:latin typeface="Helvetica Neue"/>
              </a:rPr>
              <a:t>FuzzBench</a:t>
            </a:r>
            <a:r>
              <a:rPr lang="en-US" sz="1000" dirty="0">
                <a:latin typeface="Helvetica Neue"/>
              </a:rPr>
              <a:t> Evaluation” ACM TOSEM 2023.</a:t>
            </a:r>
          </a:p>
        </p:txBody>
      </p:sp>
    </p:spTree>
    <p:extLst>
      <p:ext uri="{BB962C8B-B14F-4D97-AF65-F5344CB8AC3E}">
        <p14:creationId xmlns:p14="http://schemas.microsoft.com/office/powerpoint/2010/main" val="726166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4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53079" y="2061482"/>
            <a:ext cx="883783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>
                <a:latin typeface="Helvetica Neue"/>
              </a:rPr>
              <a:t>AFL Fundamentals</a:t>
            </a:r>
          </a:p>
        </p:txBody>
      </p:sp>
    </p:spTree>
    <p:extLst>
      <p:ext uri="{BB962C8B-B14F-4D97-AF65-F5344CB8AC3E}">
        <p14:creationId xmlns:p14="http://schemas.microsoft.com/office/powerpoint/2010/main" val="1503000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5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AFL fundamentals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52727" y="871678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Coverage-guided mutational </a:t>
            </a:r>
            <a:r>
              <a:rPr lang="en-US" sz="2800" dirty="0" err="1">
                <a:latin typeface="Helvetica Neue"/>
              </a:rPr>
              <a:t>greybox</a:t>
            </a:r>
            <a:r>
              <a:rPr lang="en-US" sz="2800" dirty="0">
                <a:latin typeface="Helvetica Neue"/>
              </a:rPr>
              <a:t> </a:t>
            </a:r>
            <a:r>
              <a:rPr lang="en-US" sz="2800" dirty="0" err="1">
                <a:latin typeface="Helvetica Neue"/>
              </a:rPr>
              <a:t>fuzzer</a:t>
            </a:r>
            <a:r>
              <a:rPr lang="en-US" sz="2800" dirty="0">
                <a:latin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6909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CE8B53A7-AC28-CF66-4D7A-10C281C9B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2488E4B8-CB57-3A9C-A64E-382B59EB93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6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4BF8E5C-7805-F885-DFA1-C2AFA65363B0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C04FCA81-BB61-F933-2044-C119F91EF269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2C16998-955B-E4BE-86B9-61C6C8D2276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DB54701B-9312-988F-4786-2E48E97572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AFL fundamentals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C2CC53-6252-92B4-904A-455D4360CC8A}"/>
              </a:ext>
            </a:extLst>
          </p:cNvPr>
          <p:cNvSpPr txBox="1"/>
          <p:nvPr/>
        </p:nvSpPr>
        <p:spPr>
          <a:xfrm>
            <a:off x="152727" y="871678"/>
            <a:ext cx="8837839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Coverage-guided mutational </a:t>
            </a:r>
            <a:r>
              <a:rPr lang="en-US" sz="2800" dirty="0" err="1">
                <a:latin typeface="Helvetica Neue"/>
              </a:rPr>
              <a:t>greybox</a:t>
            </a:r>
            <a:r>
              <a:rPr lang="en-US" sz="2800" dirty="0">
                <a:latin typeface="Helvetica Neue"/>
              </a:rPr>
              <a:t> </a:t>
            </a:r>
            <a:r>
              <a:rPr lang="en-US" sz="2800" dirty="0" err="1">
                <a:latin typeface="Helvetica Neue"/>
              </a:rPr>
              <a:t>fuzzer</a:t>
            </a:r>
            <a:r>
              <a:rPr lang="en-US" sz="2800" dirty="0">
                <a:latin typeface="Helvetica Neue"/>
              </a:rPr>
              <a:t>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Font typeface="Arial,Sans-Serif"/>
              <a:buChar char="•"/>
            </a:pPr>
            <a:r>
              <a:rPr lang="en-US" sz="2800" dirty="0">
                <a:latin typeface="Helvetica Neue"/>
              </a:rPr>
              <a:t>Code coverage used to guide fuzzing process.</a:t>
            </a:r>
          </a:p>
          <a:p>
            <a:endParaRPr lang="en-US" sz="280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12217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0552B22E-3D4F-B664-9654-0281D65DB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325A509C-C15D-299B-045B-7F78BC63C9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7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5FE1DC4F-7D5E-2ADA-472B-D241CE228A22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E263F029-15A4-3ABF-61FE-0BB6AB8124D2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81EDA1A9-D5E7-A1DD-1F7A-08B6B8C8737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5DE78192-808E-1FDB-D90F-A9FAD88BC5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AFL fundamentals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36E82A-6BA8-61FD-6457-67BF4A2B97A6}"/>
              </a:ext>
            </a:extLst>
          </p:cNvPr>
          <p:cNvSpPr txBox="1"/>
          <p:nvPr/>
        </p:nvSpPr>
        <p:spPr>
          <a:xfrm>
            <a:off x="152727" y="871678"/>
            <a:ext cx="883783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Coverage-guided mutational </a:t>
            </a:r>
            <a:r>
              <a:rPr lang="en-US" sz="2800" dirty="0" err="1">
                <a:latin typeface="Helvetica Neue"/>
              </a:rPr>
              <a:t>greybox</a:t>
            </a:r>
            <a:r>
              <a:rPr lang="en-US" sz="2800" dirty="0">
                <a:latin typeface="Helvetica Neue"/>
              </a:rPr>
              <a:t> </a:t>
            </a:r>
            <a:r>
              <a:rPr lang="en-US" sz="2800" dirty="0" err="1">
                <a:latin typeface="Helvetica Neue"/>
              </a:rPr>
              <a:t>fuzzer</a:t>
            </a:r>
            <a:r>
              <a:rPr lang="en-US" sz="2800" dirty="0">
                <a:latin typeface="Helvetica Neue"/>
              </a:rPr>
              <a:t>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Font typeface="Arial,Sans-Serif"/>
              <a:buChar char="•"/>
            </a:pPr>
            <a:r>
              <a:rPr lang="en-US" sz="2800" dirty="0">
                <a:latin typeface="Helvetica Neue"/>
              </a:rPr>
              <a:t>Code coverage used to guide fuzzing process.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Lightweight instrumentation inserted into the program under test.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402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0DA71346-DB0F-B270-DF22-FA7E01DCB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D84A94F9-C37F-2404-1686-FB348C61C2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8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DF16498D-0FAE-DDD7-F110-CEB8E8CA9735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6EAD3B7E-2A82-F9ED-AEFC-164BFD55F208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3044F631-AE4A-B46D-3FC2-65CDE5B3D35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32BD51C0-047D-362D-AABF-8F3FF71104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AFL fundamentals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16623B-0EED-3023-9B65-D31AE8E10AA0}"/>
              </a:ext>
            </a:extLst>
          </p:cNvPr>
          <p:cNvSpPr txBox="1"/>
          <p:nvPr/>
        </p:nvSpPr>
        <p:spPr>
          <a:xfrm>
            <a:off x="152727" y="871678"/>
            <a:ext cx="8837839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Coverage-guided mutational </a:t>
            </a:r>
            <a:r>
              <a:rPr lang="en-US" sz="2800" dirty="0" err="1">
                <a:latin typeface="Helvetica Neue"/>
              </a:rPr>
              <a:t>greybox</a:t>
            </a:r>
            <a:r>
              <a:rPr lang="en-US" sz="2800" dirty="0">
                <a:latin typeface="Helvetica Neue"/>
              </a:rPr>
              <a:t> </a:t>
            </a:r>
            <a:r>
              <a:rPr lang="en-US" sz="2800" dirty="0" err="1">
                <a:latin typeface="Helvetica Neue"/>
              </a:rPr>
              <a:t>fuzzer</a:t>
            </a:r>
            <a:r>
              <a:rPr lang="en-US" sz="2800" dirty="0">
                <a:latin typeface="Helvetica Neue"/>
              </a:rPr>
              <a:t>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Font typeface="Arial,Sans-Serif"/>
              <a:buChar char="•"/>
            </a:pPr>
            <a:r>
              <a:rPr lang="en-US" sz="2800" dirty="0">
                <a:latin typeface="Helvetica Neue"/>
              </a:rPr>
              <a:t>Code coverage used to guide fuzzing process.</a:t>
            </a:r>
          </a:p>
          <a:p>
            <a:pPr marL="457200" indent="-457200">
              <a:buFont typeface="Arial,Sans-Serif"/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Font typeface="Arial,Sans-Serif"/>
              <a:buChar char="•"/>
            </a:pPr>
            <a:r>
              <a:rPr lang="en-US" sz="2800" dirty="0">
                <a:latin typeface="Helvetica Neue"/>
              </a:rPr>
              <a:t>Lightweight instrumentation inserted into the program under test.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Mutate existing inputs(“seeds”) to generate new inputs.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358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EAD251B8-C3C8-1872-8F58-A15F29D5D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812C39C0-01D0-D413-A021-46FCE66994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9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EB08CA99-975C-33A0-9557-271FD5BEFB3B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7D92491D-86BD-7816-F032-E960C1B09AB3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D531B4F5-D886-218E-471B-7CB19087667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D4550452-7F4A-9EEE-00B3-C087BBB0B9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AFL fuzzing workflow</a:t>
            </a:r>
          </a:p>
        </p:txBody>
      </p:sp>
      <p:sp>
        <p:nvSpPr>
          <p:cNvPr id="2" name="Flowchart: Data 1">
            <a:extLst>
              <a:ext uri="{FF2B5EF4-FFF2-40B4-BE49-F238E27FC236}">
                <a16:creationId xmlns:a16="http://schemas.microsoft.com/office/drawing/2014/main" id="{4E90CABB-5941-DC20-7255-1DAEA162CEC3}"/>
              </a:ext>
            </a:extLst>
          </p:cNvPr>
          <p:cNvSpPr/>
          <p:nvPr/>
        </p:nvSpPr>
        <p:spPr>
          <a:xfrm>
            <a:off x="384870" y="3840062"/>
            <a:ext cx="1229556" cy="62636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Seed Pool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F7B014D6-F499-A4C9-AF93-1D6D288D80B6}"/>
              </a:ext>
            </a:extLst>
          </p:cNvPr>
          <p:cNvSpPr/>
          <p:nvPr/>
        </p:nvSpPr>
        <p:spPr>
          <a:xfrm>
            <a:off x="2731036" y="3863444"/>
            <a:ext cx="1162015" cy="631918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Schedule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BFB7D680-8CA2-5374-764F-41357D335155}"/>
              </a:ext>
            </a:extLst>
          </p:cNvPr>
          <p:cNvSpPr/>
          <p:nvPr/>
        </p:nvSpPr>
        <p:spPr>
          <a:xfrm>
            <a:off x="4055262" y="3490212"/>
            <a:ext cx="1055865" cy="626369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Seed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lowchart: Data 4">
            <a:extLst>
              <a:ext uri="{FF2B5EF4-FFF2-40B4-BE49-F238E27FC236}">
                <a16:creationId xmlns:a16="http://schemas.microsoft.com/office/drawing/2014/main" id="{7E4F0156-5434-4FE8-5819-04C14F47CC66}"/>
              </a:ext>
            </a:extLst>
          </p:cNvPr>
          <p:cNvSpPr/>
          <p:nvPr/>
        </p:nvSpPr>
        <p:spPr>
          <a:xfrm>
            <a:off x="7020710" y="3300204"/>
            <a:ext cx="1049315" cy="814457"/>
          </a:xfrm>
          <a:prstGeom prst="flowChartMulti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New Seeds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lowchart: Data 1">
            <a:extLst>
              <a:ext uri="{FF2B5EF4-FFF2-40B4-BE49-F238E27FC236}">
                <a16:creationId xmlns:a16="http://schemas.microsoft.com/office/drawing/2014/main" id="{5EEC922F-1CFE-DA44-42F6-901625BC7414}"/>
              </a:ext>
            </a:extLst>
          </p:cNvPr>
          <p:cNvSpPr/>
          <p:nvPr/>
        </p:nvSpPr>
        <p:spPr>
          <a:xfrm>
            <a:off x="370219" y="1278639"/>
            <a:ext cx="1571335" cy="68800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Target Program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E889F329-31BC-D6FB-A366-50BE27887E8C}"/>
              </a:ext>
            </a:extLst>
          </p:cNvPr>
          <p:cNvSpPr/>
          <p:nvPr/>
        </p:nvSpPr>
        <p:spPr>
          <a:xfrm>
            <a:off x="5852834" y="1336658"/>
            <a:ext cx="1164540" cy="556140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Instrument</a:t>
            </a:r>
            <a:endParaRPr lang="en-US"/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87A9F1DB-79E7-A8B1-A9B3-4C1D9BE7B1A2}"/>
              </a:ext>
            </a:extLst>
          </p:cNvPr>
          <p:cNvSpPr/>
          <p:nvPr/>
        </p:nvSpPr>
        <p:spPr>
          <a:xfrm>
            <a:off x="6175512" y="2490345"/>
            <a:ext cx="929895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Execute</a:t>
            </a:r>
            <a:endParaRPr lang="en-US"/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9D486280-9895-D18A-77A6-F2DFD6020F6F}"/>
              </a:ext>
            </a:extLst>
          </p:cNvPr>
          <p:cNvSpPr/>
          <p:nvPr/>
        </p:nvSpPr>
        <p:spPr>
          <a:xfrm>
            <a:off x="2640651" y="2474470"/>
            <a:ext cx="1168310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Helvetica Neue"/>
                <a:cs typeface="Arial"/>
              </a:rPr>
              <a:t>Filter</a:t>
            </a:r>
            <a:br>
              <a:rPr lang="en-US" sz="1600" dirty="0">
                <a:latin typeface="Helvetica Neue"/>
                <a:cs typeface="Arial"/>
              </a:rPr>
            </a:br>
            <a:r>
              <a:rPr lang="en-US" sz="1600" dirty="0">
                <a:solidFill>
                  <a:schemeClr val="tx1"/>
                </a:solidFill>
                <a:latin typeface="Helvetica Neue"/>
                <a:cs typeface="Arial"/>
              </a:rPr>
              <a:t>Seeds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lowchart: Data 1">
            <a:extLst>
              <a:ext uri="{FF2B5EF4-FFF2-40B4-BE49-F238E27FC236}">
                <a16:creationId xmlns:a16="http://schemas.microsoft.com/office/drawing/2014/main" id="{6DD25F98-AD76-5921-B20C-FBE4645B122F}"/>
              </a:ext>
            </a:extLst>
          </p:cNvPr>
          <p:cNvSpPr/>
          <p:nvPr/>
        </p:nvSpPr>
        <p:spPr>
          <a:xfrm>
            <a:off x="4178262" y="2106977"/>
            <a:ext cx="1756231" cy="626369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Execution data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19A0C80-2BC4-AA09-A2A4-BEC0209CFFA3}"/>
              </a:ext>
            </a:extLst>
          </p:cNvPr>
          <p:cNvCxnSpPr>
            <a:cxnSpLocks/>
          </p:cNvCxnSpPr>
          <p:nvPr/>
        </p:nvCxnSpPr>
        <p:spPr>
          <a:xfrm flipV="1">
            <a:off x="1613467" y="4155570"/>
            <a:ext cx="1116605" cy="25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8597AEE-CD9D-83A9-3AC7-5F2A19C9269F}"/>
              </a:ext>
            </a:extLst>
          </p:cNvPr>
          <p:cNvCxnSpPr>
            <a:cxnSpLocks/>
          </p:cNvCxnSpPr>
          <p:nvPr/>
        </p:nvCxnSpPr>
        <p:spPr>
          <a:xfrm flipH="1">
            <a:off x="3811077" y="2753537"/>
            <a:ext cx="2345267" cy="44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02C3F44-8260-8B36-B70A-5F812C2DBF31}"/>
              </a:ext>
            </a:extLst>
          </p:cNvPr>
          <p:cNvCxnSpPr/>
          <p:nvPr/>
        </p:nvCxnSpPr>
        <p:spPr>
          <a:xfrm flipH="1">
            <a:off x="8390014" y="1630656"/>
            <a:ext cx="626" cy="2522198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370DF87-09D1-6388-87B4-2A4EFF6478DD}"/>
              </a:ext>
            </a:extLst>
          </p:cNvPr>
          <p:cNvCxnSpPr>
            <a:cxnSpLocks/>
          </p:cNvCxnSpPr>
          <p:nvPr/>
        </p:nvCxnSpPr>
        <p:spPr>
          <a:xfrm flipH="1" flipV="1">
            <a:off x="7113156" y="2754124"/>
            <a:ext cx="1281094" cy="136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A7E8236-BD28-812D-39C0-DF263CED8F13}"/>
              </a:ext>
            </a:extLst>
          </p:cNvPr>
          <p:cNvCxnSpPr/>
          <p:nvPr/>
        </p:nvCxnSpPr>
        <p:spPr>
          <a:xfrm>
            <a:off x="953042" y="2980702"/>
            <a:ext cx="411" cy="8656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E92606B9-EBF8-9AB5-159D-8BB3D8844148}"/>
              </a:ext>
            </a:extLst>
          </p:cNvPr>
          <p:cNvSpPr/>
          <p:nvPr/>
        </p:nvSpPr>
        <p:spPr>
          <a:xfrm>
            <a:off x="2937197" y="1326806"/>
            <a:ext cx="1164540" cy="556140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Helvetica Neue"/>
                <a:cs typeface="Arial"/>
              </a:rPr>
              <a:t>Create Driver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90E5906-EA84-82E0-9530-B4B7289A3FAE}"/>
              </a:ext>
            </a:extLst>
          </p:cNvPr>
          <p:cNvCxnSpPr>
            <a:cxnSpLocks/>
          </p:cNvCxnSpPr>
          <p:nvPr/>
        </p:nvCxnSpPr>
        <p:spPr>
          <a:xfrm flipV="1">
            <a:off x="4108730" y="1624945"/>
            <a:ext cx="1753372" cy="72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80EDD43-225D-CEAA-0F20-40FD33E67B09}"/>
              </a:ext>
            </a:extLst>
          </p:cNvPr>
          <p:cNvCxnSpPr>
            <a:cxnSpLocks/>
          </p:cNvCxnSpPr>
          <p:nvPr/>
        </p:nvCxnSpPr>
        <p:spPr>
          <a:xfrm>
            <a:off x="1940643" y="1631914"/>
            <a:ext cx="1000897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1D9F8D95-4E43-60B7-440E-24C4D1C2562D}"/>
              </a:ext>
            </a:extLst>
          </p:cNvPr>
          <p:cNvSpPr/>
          <p:nvPr/>
        </p:nvSpPr>
        <p:spPr>
          <a:xfrm>
            <a:off x="5383749" y="3841218"/>
            <a:ext cx="1162015" cy="631918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Mutate</a:t>
            </a:r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D5F1AD-5EB1-22CB-893A-E25B47479C8C}"/>
              </a:ext>
            </a:extLst>
          </p:cNvPr>
          <p:cNvCxnSpPr>
            <a:cxnSpLocks/>
          </p:cNvCxnSpPr>
          <p:nvPr/>
        </p:nvCxnSpPr>
        <p:spPr>
          <a:xfrm flipV="1">
            <a:off x="3893116" y="4157158"/>
            <a:ext cx="1481730" cy="104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224F38-5B45-45AC-A398-48CE04E512DB}"/>
              </a:ext>
            </a:extLst>
          </p:cNvPr>
          <p:cNvCxnSpPr/>
          <p:nvPr/>
        </p:nvCxnSpPr>
        <p:spPr>
          <a:xfrm>
            <a:off x="6534897" y="4150565"/>
            <a:ext cx="1849718" cy="233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Data 1">
            <a:extLst>
              <a:ext uri="{FF2B5EF4-FFF2-40B4-BE49-F238E27FC236}">
                <a16:creationId xmlns:a16="http://schemas.microsoft.com/office/drawing/2014/main" id="{FF2DCCE0-4B87-FE5E-8CE5-4E3FDA0EC0B8}"/>
              </a:ext>
            </a:extLst>
          </p:cNvPr>
          <p:cNvSpPr/>
          <p:nvPr/>
        </p:nvSpPr>
        <p:spPr>
          <a:xfrm>
            <a:off x="4321137" y="930942"/>
            <a:ext cx="1327606" cy="657113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Fuzz Driver</a:t>
            </a:r>
            <a:endParaRPr lang="en-US"/>
          </a:p>
        </p:txBody>
      </p:sp>
      <p:sp>
        <p:nvSpPr>
          <p:cNvPr id="26" name="Flowchart: Data 1">
            <a:extLst>
              <a:ext uri="{FF2B5EF4-FFF2-40B4-BE49-F238E27FC236}">
                <a16:creationId xmlns:a16="http://schemas.microsoft.com/office/drawing/2014/main" id="{EF33A9AC-64FA-6700-693D-77368210EF21}"/>
              </a:ext>
            </a:extLst>
          </p:cNvPr>
          <p:cNvSpPr/>
          <p:nvPr/>
        </p:nvSpPr>
        <p:spPr>
          <a:xfrm>
            <a:off x="7188162" y="867642"/>
            <a:ext cx="1792401" cy="720413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Instrumented Program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AE3A6A4-C0A0-E13E-3C15-471619FB5AEE}"/>
              </a:ext>
            </a:extLst>
          </p:cNvPr>
          <p:cNvCxnSpPr/>
          <p:nvPr/>
        </p:nvCxnSpPr>
        <p:spPr>
          <a:xfrm>
            <a:off x="7021511" y="1628775"/>
            <a:ext cx="1371600" cy="0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D088F2-2978-D4C1-6F6E-2B491C8F3605}"/>
              </a:ext>
            </a:extLst>
          </p:cNvPr>
          <p:cNvCxnSpPr/>
          <p:nvPr/>
        </p:nvCxnSpPr>
        <p:spPr>
          <a:xfrm flipV="1">
            <a:off x="957482" y="2976874"/>
            <a:ext cx="1689397" cy="87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Data 4">
            <a:extLst>
              <a:ext uri="{FF2B5EF4-FFF2-40B4-BE49-F238E27FC236}">
                <a16:creationId xmlns:a16="http://schemas.microsoft.com/office/drawing/2014/main" id="{E032C802-B587-14D3-4C8E-83644D43C7B8}"/>
              </a:ext>
            </a:extLst>
          </p:cNvPr>
          <p:cNvSpPr/>
          <p:nvPr/>
        </p:nvSpPr>
        <p:spPr>
          <a:xfrm>
            <a:off x="999816" y="3021250"/>
            <a:ext cx="1574232" cy="683519"/>
          </a:xfrm>
          <a:prstGeom prst="flowChartMulti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Helvetica Neue"/>
                <a:cs typeface="Arial"/>
              </a:rPr>
              <a:t>Interesting Seeds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1F38EF-0286-8F32-6A0A-9CEF896934C4}"/>
              </a:ext>
            </a:extLst>
          </p:cNvPr>
          <p:cNvCxnSpPr/>
          <p:nvPr/>
        </p:nvCxnSpPr>
        <p:spPr>
          <a:xfrm flipH="1">
            <a:off x="835127" y="2704577"/>
            <a:ext cx="1805886" cy="3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Data 4">
            <a:extLst>
              <a:ext uri="{FF2B5EF4-FFF2-40B4-BE49-F238E27FC236}">
                <a16:creationId xmlns:a16="http://schemas.microsoft.com/office/drawing/2014/main" id="{854F3095-0AD0-00F4-B687-92D1BD5D7D06}"/>
              </a:ext>
            </a:extLst>
          </p:cNvPr>
          <p:cNvSpPr/>
          <p:nvPr/>
        </p:nvSpPr>
        <p:spPr>
          <a:xfrm>
            <a:off x="1054009" y="2006345"/>
            <a:ext cx="1574232" cy="683519"/>
          </a:xfrm>
          <a:prstGeom prst="flowChartMulti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Helvetica Neue"/>
                <a:cs typeface="Arial"/>
              </a:rPr>
              <a:t>Crashing Seeds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Flowchart: Process 24">
            <a:extLst>
              <a:ext uri="{FF2B5EF4-FFF2-40B4-BE49-F238E27FC236}">
                <a16:creationId xmlns:a16="http://schemas.microsoft.com/office/drawing/2014/main" id="{348F9696-F72D-DC5C-07A8-106ADD9600FD}"/>
              </a:ext>
            </a:extLst>
          </p:cNvPr>
          <p:cNvSpPr/>
          <p:nvPr/>
        </p:nvSpPr>
        <p:spPr>
          <a:xfrm>
            <a:off x="4525" y="2385461"/>
            <a:ext cx="833293" cy="669453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Save to disk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62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14" grpId="0" animBg="1"/>
      <p:bldP spid="17" grpId="0" animBg="1"/>
      <p:bldP spid="20" grpId="0" animBg="1"/>
      <p:bldP spid="21" grpId="0" animBg="1"/>
      <p:bldP spid="23" grpId="0" animBg="1"/>
      <p:bldP spid="9" grpId="0" animBg="1"/>
      <p:bldP spid="7" grpId="0" animBg="1"/>
      <p:bldP spid="22" grpId="0" animBg="1"/>
      <p:bldP spid="26" grpId="0" animBg="1"/>
      <p:bldP spid="11" grpId="0" animBg="1"/>
      <p:bldP spid="12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10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Fuzzing research</a:t>
            </a:r>
          </a:p>
        </p:txBody>
      </p:sp>
      <p:sp>
        <p:nvSpPr>
          <p:cNvPr id="2" name="Flowchart: Data 1">
            <a:extLst>
              <a:ext uri="{FF2B5EF4-FFF2-40B4-BE49-F238E27FC236}">
                <a16:creationId xmlns:a16="http://schemas.microsoft.com/office/drawing/2014/main" id="{05714327-374C-C670-2A21-6FF0ED38577F}"/>
              </a:ext>
            </a:extLst>
          </p:cNvPr>
          <p:cNvSpPr/>
          <p:nvPr/>
        </p:nvSpPr>
        <p:spPr>
          <a:xfrm>
            <a:off x="384870" y="3840062"/>
            <a:ext cx="1229556" cy="62636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Seed Pool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889D5A5A-6E7D-BE76-FFEA-6B31DC899C6F}"/>
              </a:ext>
            </a:extLst>
          </p:cNvPr>
          <p:cNvSpPr/>
          <p:nvPr/>
        </p:nvSpPr>
        <p:spPr>
          <a:xfrm>
            <a:off x="2731036" y="3863444"/>
            <a:ext cx="1162015" cy="631918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Schedule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9ADDB31C-7B60-5635-3739-F0369FCE3F43}"/>
              </a:ext>
            </a:extLst>
          </p:cNvPr>
          <p:cNvSpPr/>
          <p:nvPr/>
        </p:nvSpPr>
        <p:spPr>
          <a:xfrm>
            <a:off x="4055262" y="3490212"/>
            <a:ext cx="1055865" cy="626369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Seed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lowchart: Data 4">
            <a:extLst>
              <a:ext uri="{FF2B5EF4-FFF2-40B4-BE49-F238E27FC236}">
                <a16:creationId xmlns:a16="http://schemas.microsoft.com/office/drawing/2014/main" id="{02A7EA8B-F00E-0D40-5D2B-EBE32E19CA10}"/>
              </a:ext>
            </a:extLst>
          </p:cNvPr>
          <p:cNvSpPr/>
          <p:nvPr/>
        </p:nvSpPr>
        <p:spPr>
          <a:xfrm>
            <a:off x="7020710" y="3300204"/>
            <a:ext cx="1049315" cy="814457"/>
          </a:xfrm>
          <a:prstGeom prst="flowChartMulti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New Seeds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lowchart: Data 1">
            <a:extLst>
              <a:ext uri="{FF2B5EF4-FFF2-40B4-BE49-F238E27FC236}">
                <a16:creationId xmlns:a16="http://schemas.microsoft.com/office/drawing/2014/main" id="{9466A67C-2D37-EDA1-AF26-6A1D93D0052A}"/>
              </a:ext>
            </a:extLst>
          </p:cNvPr>
          <p:cNvSpPr/>
          <p:nvPr/>
        </p:nvSpPr>
        <p:spPr>
          <a:xfrm>
            <a:off x="370219" y="1278639"/>
            <a:ext cx="1571335" cy="68800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Target Program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2BD2CAF8-B0A0-3FE1-0CEE-611EC6341E30}"/>
              </a:ext>
            </a:extLst>
          </p:cNvPr>
          <p:cNvSpPr/>
          <p:nvPr/>
        </p:nvSpPr>
        <p:spPr>
          <a:xfrm>
            <a:off x="5852834" y="1336658"/>
            <a:ext cx="1164540" cy="556140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Instrument</a:t>
            </a:r>
            <a:endParaRPr lang="en-US"/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D817EE70-A6D1-025B-4FAB-AB87C5E1FF19}"/>
              </a:ext>
            </a:extLst>
          </p:cNvPr>
          <p:cNvSpPr/>
          <p:nvPr/>
        </p:nvSpPr>
        <p:spPr>
          <a:xfrm>
            <a:off x="6175512" y="2490345"/>
            <a:ext cx="929895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Execute</a:t>
            </a:r>
            <a:endParaRPr lang="en-US"/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08B78309-C4B3-50C6-C9F1-0B07540DBEFC}"/>
              </a:ext>
            </a:extLst>
          </p:cNvPr>
          <p:cNvSpPr/>
          <p:nvPr/>
        </p:nvSpPr>
        <p:spPr>
          <a:xfrm>
            <a:off x="2640651" y="2474470"/>
            <a:ext cx="1168310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Helvetica Neue"/>
                <a:cs typeface="Arial"/>
              </a:rPr>
              <a:t>Filter</a:t>
            </a:r>
            <a:br>
              <a:rPr lang="en-US" sz="1600" dirty="0">
                <a:latin typeface="Helvetica Neue"/>
                <a:cs typeface="Arial"/>
              </a:rPr>
            </a:br>
            <a:r>
              <a:rPr lang="en-US" sz="1600" dirty="0">
                <a:solidFill>
                  <a:schemeClr val="tx1"/>
                </a:solidFill>
                <a:latin typeface="Helvetica Neue"/>
                <a:cs typeface="Arial"/>
              </a:rPr>
              <a:t>Seeds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lowchart: Data 1">
            <a:extLst>
              <a:ext uri="{FF2B5EF4-FFF2-40B4-BE49-F238E27FC236}">
                <a16:creationId xmlns:a16="http://schemas.microsoft.com/office/drawing/2014/main" id="{5C7E3AA5-2C2A-13A5-9967-A37158177FFE}"/>
              </a:ext>
            </a:extLst>
          </p:cNvPr>
          <p:cNvSpPr/>
          <p:nvPr/>
        </p:nvSpPr>
        <p:spPr>
          <a:xfrm>
            <a:off x="4178262" y="2106977"/>
            <a:ext cx="1756231" cy="626369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Execution data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59049D-12A7-9327-DFB0-52EA7B597081}"/>
              </a:ext>
            </a:extLst>
          </p:cNvPr>
          <p:cNvCxnSpPr>
            <a:cxnSpLocks/>
          </p:cNvCxnSpPr>
          <p:nvPr/>
        </p:nvCxnSpPr>
        <p:spPr>
          <a:xfrm flipV="1">
            <a:off x="1613467" y="4155570"/>
            <a:ext cx="1116605" cy="25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1940365-3329-2E80-0656-3E8DD4C44EA6}"/>
              </a:ext>
            </a:extLst>
          </p:cNvPr>
          <p:cNvCxnSpPr>
            <a:cxnSpLocks/>
          </p:cNvCxnSpPr>
          <p:nvPr/>
        </p:nvCxnSpPr>
        <p:spPr>
          <a:xfrm flipH="1">
            <a:off x="3811077" y="2753537"/>
            <a:ext cx="2345267" cy="44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8B233FC-0AEF-6711-932E-093BE132354A}"/>
              </a:ext>
            </a:extLst>
          </p:cNvPr>
          <p:cNvCxnSpPr/>
          <p:nvPr/>
        </p:nvCxnSpPr>
        <p:spPr>
          <a:xfrm flipH="1">
            <a:off x="8390014" y="1630656"/>
            <a:ext cx="626" cy="2522198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94FFC90-F5ED-75AB-53EF-2DFBF2F8DEE1}"/>
              </a:ext>
            </a:extLst>
          </p:cNvPr>
          <p:cNvCxnSpPr>
            <a:cxnSpLocks/>
          </p:cNvCxnSpPr>
          <p:nvPr/>
        </p:nvCxnSpPr>
        <p:spPr>
          <a:xfrm flipH="1" flipV="1">
            <a:off x="7113156" y="2754124"/>
            <a:ext cx="1281094" cy="136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C3F7D98B-D968-4DCE-F81B-8F3B9800DB4A}"/>
              </a:ext>
            </a:extLst>
          </p:cNvPr>
          <p:cNvSpPr/>
          <p:nvPr/>
        </p:nvSpPr>
        <p:spPr>
          <a:xfrm>
            <a:off x="2937197" y="1326806"/>
            <a:ext cx="1164540" cy="556140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Helvetica Neue"/>
                <a:cs typeface="Arial"/>
              </a:rPr>
              <a:t>Create Driver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F71639D-E08B-FD18-B0A5-5CF51EB66C40}"/>
              </a:ext>
            </a:extLst>
          </p:cNvPr>
          <p:cNvCxnSpPr>
            <a:cxnSpLocks/>
          </p:cNvCxnSpPr>
          <p:nvPr/>
        </p:nvCxnSpPr>
        <p:spPr>
          <a:xfrm flipV="1">
            <a:off x="4108730" y="1624945"/>
            <a:ext cx="1753372" cy="72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E534C32-335E-943D-6C87-890839AE2852}"/>
              </a:ext>
            </a:extLst>
          </p:cNvPr>
          <p:cNvCxnSpPr>
            <a:cxnSpLocks/>
          </p:cNvCxnSpPr>
          <p:nvPr/>
        </p:nvCxnSpPr>
        <p:spPr>
          <a:xfrm>
            <a:off x="1940643" y="1631914"/>
            <a:ext cx="1000897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06060EB1-2555-502D-D48E-D51EEAF8CAB5}"/>
              </a:ext>
            </a:extLst>
          </p:cNvPr>
          <p:cNvSpPr/>
          <p:nvPr/>
        </p:nvSpPr>
        <p:spPr>
          <a:xfrm>
            <a:off x="5383749" y="3841218"/>
            <a:ext cx="1162015" cy="631918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Mutate</a:t>
            </a:r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A2836D-439D-3F88-9F0A-84639FDA6501}"/>
              </a:ext>
            </a:extLst>
          </p:cNvPr>
          <p:cNvCxnSpPr>
            <a:cxnSpLocks/>
          </p:cNvCxnSpPr>
          <p:nvPr/>
        </p:nvCxnSpPr>
        <p:spPr>
          <a:xfrm flipV="1">
            <a:off x="3893116" y="4157158"/>
            <a:ext cx="1481730" cy="104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46DE953-0E46-7EDD-59BF-6DD9F3E37190}"/>
              </a:ext>
            </a:extLst>
          </p:cNvPr>
          <p:cNvCxnSpPr/>
          <p:nvPr/>
        </p:nvCxnSpPr>
        <p:spPr>
          <a:xfrm>
            <a:off x="6534897" y="4150565"/>
            <a:ext cx="1849718" cy="233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Data 1">
            <a:extLst>
              <a:ext uri="{FF2B5EF4-FFF2-40B4-BE49-F238E27FC236}">
                <a16:creationId xmlns:a16="http://schemas.microsoft.com/office/drawing/2014/main" id="{EB1DD89A-47E5-0D15-51A2-7346CF05096C}"/>
              </a:ext>
            </a:extLst>
          </p:cNvPr>
          <p:cNvSpPr/>
          <p:nvPr/>
        </p:nvSpPr>
        <p:spPr>
          <a:xfrm>
            <a:off x="4321137" y="930942"/>
            <a:ext cx="1327606" cy="657113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Fuzz Driver</a:t>
            </a:r>
            <a:endParaRPr lang="en-US"/>
          </a:p>
        </p:txBody>
      </p:sp>
      <p:sp>
        <p:nvSpPr>
          <p:cNvPr id="26" name="Flowchart: Data 1">
            <a:extLst>
              <a:ext uri="{FF2B5EF4-FFF2-40B4-BE49-F238E27FC236}">
                <a16:creationId xmlns:a16="http://schemas.microsoft.com/office/drawing/2014/main" id="{7BB96DF2-AC59-4E5F-E204-6A345BCFEDC9}"/>
              </a:ext>
            </a:extLst>
          </p:cNvPr>
          <p:cNvSpPr/>
          <p:nvPr/>
        </p:nvSpPr>
        <p:spPr>
          <a:xfrm>
            <a:off x="7188162" y="867642"/>
            <a:ext cx="1792401" cy="720413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Instrumented Program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859560A-EE08-6BAC-DE13-3FCC6172C844}"/>
              </a:ext>
            </a:extLst>
          </p:cNvPr>
          <p:cNvCxnSpPr/>
          <p:nvPr/>
        </p:nvCxnSpPr>
        <p:spPr>
          <a:xfrm>
            <a:off x="7021511" y="1628775"/>
            <a:ext cx="1371600" cy="0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09DC1163-5F3E-B987-A92D-C8815BC1656B}"/>
              </a:ext>
            </a:extLst>
          </p:cNvPr>
          <p:cNvSpPr/>
          <p:nvPr/>
        </p:nvSpPr>
        <p:spPr>
          <a:xfrm>
            <a:off x="2638810" y="1176205"/>
            <a:ext cx="1695860" cy="87804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A0D551-A8E7-5E1A-00E8-B208447AAD58}"/>
              </a:ext>
            </a:extLst>
          </p:cNvPr>
          <p:cNvSpPr/>
          <p:nvPr/>
        </p:nvSpPr>
        <p:spPr>
          <a:xfrm>
            <a:off x="2443486" y="2290266"/>
            <a:ext cx="1587348" cy="10082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BA22271-E981-7A46-7BF8-D79EB3B6A712}"/>
              </a:ext>
            </a:extLst>
          </p:cNvPr>
          <p:cNvSpPr/>
          <p:nvPr/>
        </p:nvSpPr>
        <p:spPr>
          <a:xfrm>
            <a:off x="2566466" y="3628588"/>
            <a:ext cx="1486070" cy="10806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9774B14-D0DC-7C2C-349F-F9E5A80DA0EB}"/>
              </a:ext>
            </a:extLst>
          </p:cNvPr>
          <p:cNvSpPr/>
          <p:nvPr/>
        </p:nvSpPr>
        <p:spPr>
          <a:xfrm>
            <a:off x="5214175" y="3614119"/>
            <a:ext cx="1486070" cy="10806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7F667CC-152C-C1DC-8AA3-7EECEE821385}"/>
              </a:ext>
            </a:extLst>
          </p:cNvPr>
          <p:cNvCxnSpPr/>
          <p:nvPr/>
        </p:nvCxnSpPr>
        <p:spPr>
          <a:xfrm>
            <a:off x="953042" y="2980702"/>
            <a:ext cx="411" cy="8656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49746EE-FA07-14A7-8905-352D203FA4F4}"/>
              </a:ext>
            </a:extLst>
          </p:cNvPr>
          <p:cNvCxnSpPr/>
          <p:nvPr/>
        </p:nvCxnSpPr>
        <p:spPr>
          <a:xfrm flipV="1">
            <a:off x="957482" y="2976874"/>
            <a:ext cx="1689397" cy="87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Data 4">
            <a:extLst>
              <a:ext uri="{FF2B5EF4-FFF2-40B4-BE49-F238E27FC236}">
                <a16:creationId xmlns:a16="http://schemas.microsoft.com/office/drawing/2014/main" id="{E4ED6D32-61C2-D127-35FD-FC17AB720D06}"/>
              </a:ext>
            </a:extLst>
          </p:cNvPr>
          <p:cNvSpPr/>
          <p:nvPr/>
        </p:nvSpPr>
        <p:spPr>
          <a:xfrm>
            <a:off x="999816" y="3021250"/>
            <a:ext cx="1574232" cy="683519"/>
          </a:xfrm>
          <a:prstGeom prst="flowChartMulti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Helvetica Neue"/>
                <a:cs typeface="Arial"/>
              </a:rPr>
              <a:t>Interesting Seeds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3287528-6DB5-E3AF-FA2F-956162147750}"/>
              </a:ext>
            </a:extLst>
          </p:cNvPr>
          <p:cNvCxnSpPr/>
          <p:nvPr/>
        </p:nvCxnSpPr>
        <p:spPr>
          <a:xfrm flipH="1">
            <a:off x="835127" y="2704577"/>
            <a:ext cx="1805886" cy="3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Data 4">
            <a:extLst>
              <a:ext uri="{FF2B5EF4-FFF2-40B4-BE49-F238E27FC236}">
                <a16:creationId xmlns:a16="http://schemas.microsoft.com/office/drawing/2014/main" id="{FD2E64AD-EFD8-501A-DEE7-8A853FED45F5}"/>
              </a:ext>
            </a:extLst>
          </p:cNvPr>
          <p:cNvSpPr/>
          <p:nvPr/>
        </p:nvSpPr>
        <p:spPr>
          <a:xfrm>
            <a:off x="1054009" y="2006345"/>
            <a:ext cx="1574232" cy="683519"/>
          </a:xfrm>
          <a:prstGeom prst="flowChartMulti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Helvetica Neue"/>
                <a:cs typeface="Arial"/>
              </a:rPr>
              <a:t>Crashing Seeds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Flowchart: Process 43">
            <a:extLst>
              <a:ext uri="{FF2B5EF4-FFF2-40B4-BE49-F238E27FC236}">
                <a16:creationId xmlns:a16="http://schemas.microsoft.com/office/drawing/2014/main" id="{97C892CE-1A6F-D29D-D4F2-C86A7D037DDD}"/>
              </a:ext>
            </a:extLst>
          </p:cNvPr>
          <p:cNvSpPr/>
          <p:nvPr/>
        </p:nvSpPr>
        <p:spPr>
          <a:xfrm>
            <a:off x="4525" y="2385461"/>
            <a:ext cx="833293" cy="669453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Save to disk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661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11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-3574" y="1569546"/>
            <a:ext cx="9143293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dirty="0">
                <a:latin typeface="Helvetica Neue"/>
              </a:rPr>
              <a:t>Generating Fuzz Drivers</a:t>
            </a:r>
          </a:p>
          <a:p>
            <a:pPr algn="ctr"/>
            <a:endParaRPr lang="en-US" sz="3200" dirty="0">
              <a:latin typeface="Helvetica Neue"/>
            </a:endParaRPr>
          </a:p>
          <a:p>
            <a:pPr algn="ctr"/>
            <a:r>
              <a:rPr lang="en-US" sz="3200" dirty="0">
                <a:latin typeface="Helvetica Neue"/>
              </a:rPr>
              <a:t>Automatically generate semantically correct fuzz driver for the target program</a:t>
            </a:r>
          </a:p>
        </p:txBody>
      </p:sp>
    </p:spTree>
    <p:extLst>
      <p:ext uri="{BB962C8B-B14F-4D97-AF65-F5344CB8AC3E}">
        <p14:creationId xmlns:p14="http://schemas.microsoft.com/office/powerpoint/2010/main" val="23787640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500A9BED-C112-5B79-3867-786ED2B36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DEC6A10E-82F1-7FF3-5663-C339FA1F92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12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CB5F5BC-84B9-02BC-6C8B-5FC85443EC6C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EAC7183D-D3F7-3DBA-79DE-83E822BCD5CD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ACF25D9F-6B97-B95D-3938-8A3F221A382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DD9CF208-0BD9-6C10-2CCC-3C80067A8C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Generating Fuzz Drivers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478FBD-AA0D-E79D-FB14-E66C45526672}"/>
              </a:ext>
            </a:extLst>
          </p:cNvPr>
          <p:cNvSpPr txBox="1"/>
          <p:nvPr/>
        </p:nvSpPr>
        <p:spPr>
          <a:xfrm>
            <a:off x="0" y="903109"/>
            <a:ext cx="914329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 err="1">
                <a:latin typeface="Helvetica Neue"/>
              </a:rPr>
              <a:t>CarpetFuzz</a:t>
            </a:r>
            <a:r>
              <a:rPr lang="en-US" sz="2800" dirty="0">
                <a:latin typeface="Helvetica Neue"/>
              </a:rPr>
              <a:t>/</a:t>
            </a:r>
            <a:r>
              <a:rPr lang="en-US" sz="2800" dirty="0" err="1">
                <a:latin typeface="Helvetica Neue"/>
              </a:rPr>
              <a:t>ProphetFuzz</a:t>
            </a:r>
            <a:r>
              <a:rPr lang="en-US" sz="2800" dirty="0">
                <a:latin typeface="Helvetica Neue"/>
              </a:rPr>
              <a:t>: Arguments from man pages.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7E4530-8632-88E6-F971-9D2CD75D9886}"/>
              </a:ext>
            </a:extLst>
          </p:cNvPr>
          <p:cNvSpPr txBox="1"/>
          <p:nvPr/>
        </p:nvSpPr>
        <p:spPr>
          <a:xfrm>
            <a:off x="223630" y="1632131"/>
            <a:ext cx="8694012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>
                <a:latin typeface="Helvetica Neue"/>
              </a:rPr>
              <a:t>Aliases: </a:t>
            </a:r>
            <a:r>
              <a:rPr lang="en-US" sz="2600">
                <a:latin typeface="monospace"/>
              </a:rPr>
              <a:t>-l, --line-numbers</a:t>
            </a:r>
            <a:r>
              <a:rPr lang="en-US" sz="2600">
                <a:latin typeface="Helvetica Neue"/>
              </a:rPr>
              <a:t>.</a:t>
            </a:r>
          </a:p>
          <a:p>
            <a:endParaRPr lang="en-US" sz="2600">
              <a:latin typeface="Helvetica Neue"/>
            </a:endParaRPr>
          </a:p>
          <a:p>
            <a:r>
              <a:rPr lang="en-US" sz="2600">
                <a:latin typeface="Helvetica Neue"/>
              </a:rPr>
              <a:t>Implied: </a:t>
            </a:r>
            <a:r>
              <a:rPr lang="en-US" sz="2600">
                <a:latin typeface="monospace"/>
              </a:rPr>
              <a:t>-x is equivalent to specifying all of -a -f -h -p -r -t.</a:t>
            </a:r>
          </a:p>
          <a:p>
            <a:endParaRPr lang="en-US" sz="2600">
              <a:latin typeface="Helvetica Neue"/>
            </a:endParaRPr>
          </a:p>
          <a:p>
            <a:r>
              <a:rPr lang="en-US" sz="2600">
                <a:latin typeface="Helvetica Neue"/>
              </a:rPr>
              <a:t>Conflict: </a:t>
            </a:r>
            <a:r>
              <a:rPr lang="en-US" sz="2600">
                <a:latin typeface="monospace"/>
              </a:rPr>
              <a:t>-</a:t>
            </a:r>
            <a:r>
              <a:rPr lang="en-US" sz="2600" err="1">
                <a:latin typeface="monospace"/>
              </a:rPr>
              <a:t>fpsmax</a:t>
            </a:r>
            <a:r>
              <a:rPr lang="en-US" sz="2600">
                <a:latin typeface="monospace"/>
              </a:rPr>
              <a:t> cannot be set together with -r</a:t>
            </a:r>
            <a:r>
              <a:rPr lang="en-US" sz="2600">
                <a:latin typeface="Helvetica Neue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207674-F2A8-5A39-E0F6-266D2549F5F7}"/>
              </a:ext>
            </a:extLst>
          </p:cNvPr>
          <p:cNvSpPr txBox="1"/>
          <p:nvPr/>
        </p:nvSpPr>
        <p:spPr>
          <a:xfrm>
            <a:off x="145772" y="4563208"/>
            <a:ext cx="722721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 err="1">
                <a:latin typeface="Helvetica Neue"/>
              </a:rPr>
              <a:t>CarpetFuzz</a:t>
            </a:r>
            <a:r>
              <a:rPr lang="en-US" sz="1000" dirty="0">
                <a:latin typeface="Helvetica Neue"/>
              </a:rPr>
              <a:t>: Automatic Program Option Constraint Extraction from Documentation for Fuzzing” USENIX Security 2023.</a:t>
            </a:r>
          </a:p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 err="1">
                <a:latin typeface="Helvetica Neue"/>
              </a:rPr>
              <a:t>ProphetFuzz</a:t>
            </a:r>
            <a:r>
              <a:rPr lang="en-US" sz="1000" dirty="0">
                <a:latin typeface="Helvetica Neue"/>
              </a:rPr>
              <a:t>: Fully Automated Prediction and Fuzzing of High-Risk Option Combinations with Only Documentation via Large Language Model” ACM CCS 2024.</a:t>
            </a:r>
          </a:p>
        </p:txBody>
      </p:sp>
    </p:spTree>
    <p:extLst>
      <p:ext uri="{BB962C8B-B14F-4D97-AF65-F5344CB8AC3E}">
        <p14:creationId xmlns:p14="http://schemas.microsoft.com/office/powerpoint/2010/main" val="155822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13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Generating Fuzz Drivers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4329" y="859814"/>
            <a:ext cx="968642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 err="1">
                <a:latin typeface="Helvetica Neue"/>
              </a:rPr>
              <a:t>OSMart</a:t>
            </a:r>
            <a:r>
              <a:rPr lang="en-US" sz="2800" dirty="0">
                <a:latin typeface="Helvetica Neue"/>
              </a:rPr>
              <a:t>: Identify arguments from argument parsing code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691463-D3B4-6750-1F0B-DF3B9F61B41E}"/>
              </a:ext>
            </a:extLst>
          </p:cNvPr>
          <p:cNvSpPr txBox="1"/>
          <p:nvPr/>
        </p:nvSpPr>
        <p:spPr>
          <a:xfrm>
            <a:off x="999237" y="1592644"/>
            <a:ext cx="8694012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monospace"/>
              </a:rPr>
              <a:t>case 'f':</a:t>
            </a:r>
          </a:p>
          <a:p>
            <a:r>
              <a:rPr lang="en-US" sz="2400">
                <a:latin typeface="monospace"/>
              </a:rPr>
              <a:t>   ...</a:t>
            </a:r>
          </a:p>
          <a:p>
            <a:r>
              <a:rPr lang="en-US" sz="2400">
                <a:latin typeface="monospace"/>
              </a:rPr>
              <a:t>case 'S':</a:t>
            </a:r>
          </a:p>
          <a:p>
            <a:r>
              <a:rPr lang="en-US" sz="2400">
                <a:latin typeface="monospace"/>
              </a:rPr>
              <a:t>   ...</a:t>
            </a:r>
          </a:p>
          <a:p>
            <a:r>
              <a:rPr lang="en-US" sz="2400">
                <a:latin typeface="monospace"/>
              </a:rPr>
              <a:t>case 'B':</a:t>
            </a:r>
          </a:p>
          <a:p>
            <a:r>
              <a:rPr lang="en-US" sz="2400">
                <a:latin typeface="monospace"/>
              </a:rPr>
              <a:t>   /* This is a secret undocumented option! */</a:t>
            </a:r>
          </a:p>
          <a:p>
            <a:r>
              <a:rPr lang="en-US" sz="2400">
                <a:latin typeface="monospace"/>
              </a:rPr>
              <a:t>   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44AFE0-3B11-2C74-3CA7-04A54479FF23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</a:t>
            </a:r>
            <a:r>
              <a:rPr lang="en-US" sz="1000" err="1">
                <a:latin typeface="Helvetica Neue"/>
              </a:rPr>
              <a:t>OSmart</a:t>
            </a:r>
            <a:r>
              <a:rPr lang="en-US" sz="1000" dirty="0">
                <a:latin typeface="Helvetica Neue"/>
              </a:rPr>
              <a:t>: Whitebox Program Option Fuzzing” ACM CCS 2024.</a:t>
            </a:r>
          </a:p>
        </p:txBody>
      </p:sp>
    </p:spTree>
    <p:extLst>
      <p:ext uri="{BB962C8B-B14F-4D97-AF65-F5344CB8AC3E}">
        <p14:creationId xmlns:p14="http://schemas.microsoft.com/office/powerpoint/2010/main" val="2436000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14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Generating Fuzz Drivers (cont.)</a:t>
            </a:r>
            <a:endParaRPr lang="en-US" dirty="0">
              <a:solidFill>
                <a:schemeClr val="lt1"/>
              </a:solidFill>
            </a:endParaRPr>
          </a:p>
          <a:p>
            <a:endParaRPr lang="en-US" sz="400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807859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Helvetica Neue"/>
              </a:rPr>
              <a:t>WINNIE</a:t>
            </a:r>
            <a:r>
              <a:rPr lang="en-US" sz="2800">
                <a:latin typeface="Helvetica Neue"/>
              </a:rPr>
              <a:t>:</a:t>
            </a:r>
            <a:r>
              <a:rPr lang="en-US" sz="2800" dirty="0">
                <a:latin typeface="Helvetica Neue"/>
              </a:rPr>
              <a:t> Fuzz driver generation for GUI </a:t>
            </a:r>
            <a:r>
              <a:rPr lang="en-US" sz="2800">
                <a:latin typeface="Helvetica Neue"/>
              </a:rPr>
              <a:t>programs.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659F34-5D8D-8E45-B672-D2281CB82F87}"/>
              </a:ext>
            </a:extLst>
          </p:cNvPr>
          <p:cNvSpPr txBox="1"/>
          <p:nvPr/>
        </p:nvSpPr>
        <p:spPr>
          <a:xfrm>
            <a:off x="1358975" y="2812432"/>
            <a:ext cx="126828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GUI runtime</a:t>
            </a:r>
          </a:p>
        </p:txBody>
      </p:sp>
      <p:pic>
        <p:nvPicPr>
          <p:cNvPr id="3" name="Graphic 24" descr="Programmer male with solid fill">
            <a:extLst>
              <a:ext uri="{FF2B5EF4-FFF2-40B4-BE49-F238E27FC236}">
                <a16:creationId xmlns:a16="http://schemas.microsoft.com/office/drawing/2014/main" id="{49C060A7-5A8D-8FA5-6810-56898801FD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37" y="2634906"/>
            <a:ext cx="790210" cy="7220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3C7DAF-5E3A-C801-193E-A7A690331CBC}"/>
              </a:ext>
            </a:extLst>
          </p:cNvPr>
          <p:cNvSpPr txBox="1"/>
          <p:nvPr/>
        </p:nvSpPr>
        <p:spPr>
          <a:xfrm>
            <a:off x="3362843" y="2190292"/>
            <a:ext cx="3416835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Image loader</a:t>
            </a:r>
          </a:p>
          <a:p>
            <a:pPr algn="ctr"/>
            <a:endParaRPr lang="en-US" sz="2400">
              <a:latin typeface="Helvetica Neue"/>
            </a:endParaRPr>
          </a:p>
          <a:p>
            <a:pPr algn="ctr"/>
            <a:endParaRPr lang="en-US" sz="1600">
              <a:latin typeface="monospace"/>
            </a:endParaRPr>
          </a:p>
          <a:p>
            <a:pPr algn="ctr"/>
            <a:endParaRPr lang="en-US" sz="2000">
              <a:latin typeface="monospace"/>
            </a:endParaRPr>
          </a:p>
          <a:p>
            <a:pPr algn="ctr"/>
            <a:endParaRPr lang="en-US" sz="1600">
              <a:latin typeface="monospac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6E60F3-EC24-364F-2AB8-3696CEA7579B}"/>
              </a:ext>
            </a:extLst>
          </p:cNvPr>
          <p:cNvSpPr txBox="1"/>
          <p:nvPr/>
        </p:nvSpPr>
        <p:spPr>
          <a:xfrm>
            <a:off x="7327173" y="1633261"/>
            <a:ext cx="164446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JPEG parser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6C6CC0-56CA-F494-F69B-2DC23181E87B}"/>
              </a:ext>
            </a:extLst>
          </p:cNvPr>
          <p:cNvSpPr txBox="1"/>
          <p:nvPr/>
        </p:nvSpPr>
        <p:spPr>
          <a:xfrm>
            <a:off x="7457386" y="2740089"/>
            <a:ext cx="152148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PNG parser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FC7487-963A-D7D7-6546-AB2E599A0D5A}"/>
              </a:ext>
            </a:extLst>
          </p:cNvPr>
          <p:cNvSpPr txBox="1"/>
          <p:nvPr/>
        </p:nvSpPr>
        <p:spPr>
          <a:xfrm>
            <a:off x="7442917" y="3723937"/>
            <a:ext cx="153595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BMP parser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E8D737-C350-00ED-4F92-A3AF1EB2A203}"/>
              </a:ext>
            </a:extLst>
          </p:cNvPr>
          <p:cNvCxnSpPr/>
          <p:nvPr/>
        </p:nvCxnSpPr>
        <p:spPr>
          <a:xfrm flipV="1">
            <a:off x="671101" y="3071394"/>
            <a:ext cx="681271" cy="69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2750A3-D0D7-BDE4-C014-9DD1889B27E6}"/>
              </a:ext>
            </a:extLst>
          </p:cNvPr>
          <p:cNvCxnSpPr>
            <a:cxnSpLocks/>
          </p:cNvCxnSpPr>
          <p:nvPr/>
        </p:nvCxnSpPr>
        <p:spPr>
          <a:xfrm flipV="1">
            <a:off x="2631562" y="3056925"/>
            <a:ext cx="681271" cy="69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972BF8-33A7-119E-3460-451FCEF80D12}"/>
              </a:ext>
            </a:extLst>
          </p:cNvPr>
          <p:cNvCxnSpPr>
            <a:cxnSpLocks/>
          </p:cNvCxnSpPr>
          <p:nvPr/>
        </p:nvCxnSpPr>
        <p:spPr>
          <a:xfrm flipV="1">
            <a:off x="6827384" y="2955646"/>
            <a:ext cx="608930" cy="141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5F49103-AAA6-4AEA-805C-DF57D7F9282A}"/>
              </a:ext>
            </a:extLst>
          </p:cNvPr>
          <p:cNvSpPr/>
          <p:nvPr/>
        </p:nvSpPr>
        <p:spPr>
          <a:xfrm>
            <a:off x="927340" y="1485327"/>
            <a:ext cx="8099024" cy="30769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599827-4F48-2BC9-0D5F-B827DBB870E1}"/>
              </a:ext>
            </a:extLst>
          </p:cNvPr>
          <p:cNvSpPr txBox="1"/>
          <p:nvPr/>
        </p:nvSpPr>
        <p:spPr>
          <a:xfrm>
            <a:off x="856358" y="1403863"/>
            <a:ext cx="28555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Program under test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617918-663E-8C28-95E8-82FDEE43DC1A}"/>
              </a:ext>
            </a:extLst>
          </p:cNvPr>
          <p:cNvCxnSpPr/>
          <p:nvPr/>
        </p:nvCxnSpPr>
        <p:spPr>
          <a:xfrm flipV="1">
            <a:off x="6857790" y="2045713"/>
            <a:ext cx="458793" cy="5612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5BF6BA3-47BF-7377-7086-889CB250DD3C}"/>
              </a:ext>
            </a:extLst>
          </p:cNvPr>
          <p:cNvCxnSpPr/>
          <p:nvPr/>
        </p:nvCxnSpPr>
        <p:spPr>
          <a:xfrm>
            <a:off x="6859259" y="3380994"/>
            <a:ext cx="580618" cy="3222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F3719FB-B246-99C1-FC27-C79DCE8A3F00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“WINNIE : Fuzzing Windows Applications with Harness Synthesis and Fast Cloning” ISOC NDSS 2021.</a:t>
            </a:r>
            <a:endParaRPr lang="en-US" sz="100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89415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15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Generating Fuzz Drivers (cont.)</a:t>
            </a:r>
            <a:endParaRPr lang="en-US" dirty="0">
              <a:solidFill>
                <a:schemeClr val="lt1"/>
              </a:solidFill>
            </a:endParaRPr>
          </a:p>
          <a:p>
            <a:endParaRPr lang="en-US" sz="400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807859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Helvetica Neue"/>
              </a:rPr>
              <a:t>WINNIE: Fuzz driver generation for GUI programs.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659F34-5D8D-8E45-B672-D2281CB82F87}"/>
              </a:ext>
            </a:extLst>
          </p:cNvPr>
          <p:cNvSpPr txBox="1"/>
          <p:nvPr/>
        </p:nvSpPr>
        <p:spPr>
          <a:xfrm>
            <a:off x="1358975" y="2812433"/>
            <a:ext cx="126828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GUI runtime</a:t>
            </a:r>
          </a:p>
        </p:txBody>
      </p:sp>
      <p:pic>
        <p:nvPicPr>
          <p:cNvPr id="3" name="Graphic 24" descr="Programmer male with solid fill">
            <a:extLst>
              <a:ext uri="{FF2B5EF4-FFF2-40B4-BE49-F238E27FC236}">
                <a16:creationId xmlns:a16="http://schemas.microsoft.com/office/drawing/2014/main" id="{49C060A7-5A8D-8FA5-6810-56898801FD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37" y="2634907"/>
            <a:ext cx="790210" cy="7220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3C7DAF-5E3A-C801-193E-A7A690331CBC}"/>
              </a:ext>
            </a:extLst>
          </p:cNvPr>
          <p:cNvSpPr txBox="1"/>
          <p:nvPr/>
        </p:nvSpPr>
        <p:spPr>
          <a:xfrm>
            <a:off x="3362843" y="2190293"/>
            <a:ext cx="3416835" cy="16927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Helvetica Neue"/>
              </a:rPr>
              <a:t>Image loader</a:t>
            </a:r>
          </a:p>
          <a:p>
            <a:pPr algn="ctr"/>
            <a:endParaRPr lang="en-US" sz="2400">
              <a:latin typeface="Helvetica Neue"/>
            </a:endParaRPr>
          </a:p>
          <a:p>
            <a:pPr algn="ctr"/>
            <a:r>
              <a:rPr lang="en-US" sz="2000" err="1">
                <a:latin typeface="monospace"/>
              </a:rPr>
              <a:t>parse_img</a:t>
            </a:r>
            <a:r>
              <a:rPr lang="en-US" sz="2000" dirty="0">
                <a:latin typeface="monospace"/>
              </a:rPr>
              <a:t>(char *data)</a:t>
            </a:r>
          </a:p>
          <a:p>
            <a:pPr algn="ctr"/>
            <a:endParaRPr lang="en-US" sz="2000">
              <a:latin typeface="monospace"/>
            </a:endParaRPr>
          </a:p>
          <a:p>
            <a:pPr algn="ctr"/>
            <a:r>
              <a:rPr lang="en-US" sz="2000" err="1">
                <a:latin typeface="monospace"/>
              </a:rPr>
              <a:t>parse_img_file</a:t>
            </a:r>
            <a:r>
              <a:rPr lang="en-US" sz="2000" dirty="0">
                <a:latin typeface="monospace"/>
              </a:rPr>
              <a:t>(char *path)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6E60F3-EC24-364F-2AB8-3696CEA7579B}"/>
              </a:ext>
            </a:extLst>
          </p:cNvPr>
          <p:cNvSpPr txBox="1"/>
          <p:nvPr/>
        </p:nvSpPr>
        <p:spPr>
          <a:xfrm>
            <a:off x="7327173" y="1633262"/>
            <a:ext cx="164446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JPEG parser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6C6CC0-56CA-F494-F69B-2DC23181E87B}"/>
              </a:ext>
            </a:extLst>
          </p:cNvPr>
          <p:cNvSpPr txBox="1"/>
          <p:nvPr/>
        </p:nvSpPr>
        <p:spPr>
          <a:xfrm>
            <a:off x="7457386" y="2740090"/>
            <a:ext cx="152148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PNG parser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FC7487-963A-D7D7-6546-AB2E599A0D5A}"/>
              </a:ext>
            </a:extLst>
          </p:cNvPr>
          <p:cNvSpPr txBox="1"/>
          <p:nvPr/>
        </p:nvSpPr>
        <p:spPr>
          <a:xfrm>
            <a:off x="7442917" y="3723938"/>
            <a:ext cx="153595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BMP parser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E8D737-C350-00ED-4F92-A3AF1EB2A203}"/>
              </a:ext>
            </a:extLst>
          </p:cNvPr>
          <p:cNvCxnSpPr/>
          <p:nvPr/>
        </p:nvCxnSpPr>
        <p:spPr>
          <a:xfrm flipV="1">
            <a:off x="671101" y="3071395"/>
            <a:ext cx="681271" cy="69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2750A3-D0D7-BDE4-C014-9DD1889B27E6}"/>
              </a:ext>
            </a:extLst>
          </p:cNvPr>
          <p:cNvCxnSpPr>
            <a:cxnSpLocks/>
          </p:cNvCxnSpPr>
          <p:nvPr/>
        </p:nvCxnSpPr>
        <p:spPr>
          <a:xfrm flipV="1">
            <a:off x="2631562" y="3056926"/>
            <a:ext cx="681271" cy="69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972BF8-33A7-119E-3460-451FCEF80D12}"/>
              </a:ext>
            </a:extLst>
          </p:cNvPr>
          <p:cNvCxnSpPr>
            <a:cxnSpLocks/>
          </p:cNvCxnSpPr>
          <p:nvPr/>
        </p:nvCxnSpPr>
        <p:spPr>
          <a:xfrm flipV="1">
            <a:off x="6827384" y="2955647"/>
            <a:ext cx="608930" cy="141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5F49103-AAA6-4AEA-805C-DF57D7F9282A}"/>
              </a:ext>
            </a:extLst>
          </p:cNvPr>
          <p:cNvSpPr/>
          <p:nvPr/>
        </p:nvSpPr>
        <p:spPr>
          <a:xfrm>
            <a:off x="927340" y="1485328"/>
            <a:ext cx="8099024" cy="30769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599827-4F48-2BC9-0D5F-B827DBB870E1}"/>
              </a:ext>
            </a:extLst>
          </p:cNvPr>
          <p:cNvSpPr txBox="1"/>
          <p:nvPr/>
        </p:nvSpPr>
        <p:spPr>
          <a:xfrm>
            <a:off x="856358" y="1403864"/>
            <a:ext cx="28555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Program under test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617918-663E-8C28-95E8-82FDEE43DC1A}"/>
              </a:ext>
            </a:extLst>
          </p:cNvPr>
          <p:cNvCxnSpPr/>
          <p:nvPr/>
        </p:nvCxnSpPr>
        <p:spPr>
          <a:xfrm flipV="1">
            <a:off x="6857790" y="2045714"/>
            <a:ext cx="458793" cy="5612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5BF6BA3-47BF-7377-7086-889CB250DD3C}"/>
              </a:ext>
            </a:extLst>
          </p:cNvPr>
          <p:cNvCxnSpPr/>
          <p:nvPr/>
        </p:nvCxnSpPr>
        <p:spPr>
          <a:xfrm>
            <a:off x="6859259" y="3380995"/>
            <a:ext cx="580618" cy="3222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A532042-F2F4-E928-CBC7-3DE24588395D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“WINNIE : Fuzzing Windows Applications with Harness Synthesis and Fast Cloning” ISOC NDSS 2021.</a:t>
            </a:r>
            <a:endParaRPr lang="en-US" sz="100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010126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16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Generating Fuzz Drivers (cont.)</a:t>
            </a:r>
            <a:endParaRPr lang="en-US" dirty="0">
              <a:solidFill>
                <a:schemeClr val="lt1"/>
              </a:solidFill>
            </a:endParaRPr>
          </a:p>
          <a:p>
            <a:endParaRPr lang="en-US" sz="400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68816" y="859814"/>
            <a:ext cx="907697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 err="1">
                <a:latin typeface="Helvetica Neue"/>
              </a:rPr>
              <a:t>Fuzzgen</a:t>
            </a:r>
            <a:r>
              <a:rPr lang="en-US" sz="2800" dirty="0">
                <a:latin typeface="Helvetica Neue"/>
              </a:rPr>
              <a:t>, </a:t>
            </a:r>
            <a:r>
              <a:rPr lang="en-US" sz="2800" dirty="0" err="1">
                <a:latin typeface="Helvetica Neue"/>
              </a:rPr>
              <a:t>APICraft</a:t>
            </a:r>
            <a:r>
              <a:rPr lang="en-US" sz="2800" dirty="0">
                <a:latin typeface="Helvetica Neue"/>
              </a:rPr>
              <a:t>, </a:t>
            </a:r>
            <a:r>
              <a:rPr lang="en-US" sz="2800" dirty="0" err="1">
                <a:latin typeface="Helvetica Neue"/>
              </a:rPr>
              <a:t>UTopia</a:t>
            </a:r>
            <a:r>
              <a:rPr lang="en-US" sz="2800" dirty="0">
                <a:latin typeface="Helvetica Neue"/>
              </a:rPr>
              <a:t>, RUBICK: Fuzz drivers from library consumers.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428B07-9EEF-DFF0-BF7C-B2ABA2056A23}"/>
              </a:ext>
            </a:extLst>
          </p:cNvPr>
          <p:cNvSpPr txBox="1"/>
          <p:nvPr/>
        </p:nvSpPr>
        <p:spPr>
          <a:xfrm>
            <a:off x="169897" y="2405421"/>
            <a:ext cx="1946201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Consumers</a:t>
            </a:r>
          </a:p>
          <a:p>
            <a:pPr algn="ctr"/>
            <a:r>
              <a:rPr lang="en-US" sz="2400" dirty="0">
                <a:latin typeface="Helvetica Neue"/>
              </a:rPr>
              <a:t>(</a:t>
            </a:r>
            <a:r>
              <a:rPr lang="en-US" sz="2400" dirty="0" err="1">
                <a:latin typeface="Helvetica Neue"/>
              </a:rPr>
              <a:t>Eg</a:t>
            </a:r>
            <a:r>
              <a:rPr lang="en-US" sz="2400" dirty="0">
                <a:latin typeface="Helvetica Neue"/>
              </a:rPr>
              <a:t>: Sample programs, unit tests)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DA8D6D2-1900-80B8-E354-E97AED345907}"/>
              </a:ext>
            </a:extLst>
          </p:cNvPr>
          <p:cNvSpPr/>
          <p:nvPr/>
        </p:nvSpPr>
        <p:spPr>
          <a:xfrm>
            <a:off x="3480550" y="2223893"/>
            <a:ext cx="1135358" cy="7886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  <a:latin typeface="Helvetica Neue"/>
                <a:cs typeface="Arial"/>
              </a:rPr>
              <a:t>api_fn1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B5A5ACB-8B5C-EF5E-3069-37699F04146E}"/>
              </a:ext>
            </a:extLst>
          </p:cNvPr>
          <p:cNvSpPr/>
          <p:nvPr/>
        </p:nvSpPr>
        <p:spPr>
          <a:xfrm>
            <a:off x="5238454" y="2223892"/>
            <a:ext cx="1135358" cy="7886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  <a:latin typeface="Helvetica Neue"/>
                <a:cs typeface="Arial"/>
              </a:rPr>
              <a:t>api_fn2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DB34BA-6F72-0A39-5C87-B8CCBECC28BF}"/>
              </a:ext>
            </a:extLst>
          </p:cNvPr>
          <p:cNvSpPr/>
          <p:nvPr/>
        </p:nvSpPr>
        <p:spPr>
          <a:xfrm>
            <a:off x="3480550" y="3374127"/>
            <a:ext cx="1135358" cy="7886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Helvetica Neue"/>
                <a:cs typeface="Arial"/>
              </a:rPr>
              <a:t>api_fn3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132905-FD52-E420-8596-7B04735ADF83}"/>
              </a:ext>
            </a:extLst>
          </p:cNvPr>
          <p:cNvSpPr/>
          <p:nvPr/>
        </p:nvSpPr>
        <p:spPr>
          <a:xfrm>
            <a:off x="5238454" y="3374127"/>
            <a:ext cx="1135358" cy="7886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Helvetica Neue"/>
                <a:cs typeface="Arial"/>
              </a:rPr>
              <a:t>api_fn4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7EE05F-FA37-5FC0-F19B-47083892CB19}"/>
              </a:ext>
            </a:extLst>
          </p:cNvPr>
          <p:cNvCxnSpPr/>
          <p:nvPr/>
        </p:nvCxnSpPr>
        <p:spPr>
          <a:xfrm>
            <a:off x="4042204" y="3014660"/>
            <a:ext cx="1885" cy="3584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C443090-D9CF-7968-FA3E-85CD00E0D3B0}"/>
              </a:ext>
            </a:extLst>
          </p:cNvPr>
          <p:cNvCxnSpPr>
            <a:cxnSpLocks/>
          </p:cNvCxnSpPr>
          <p:nvPr/>
        </p:nvCxnSpPr>
        <p:spPr>
          <a:xfrm>
            <a:off x="5800108" y="3014659"/>
            <a:ext cx="1885" cy="3584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C46DFB6-8E00-3B17-B48B-AAEF643AEBC5}"/>
              </a:ext>
            </a:extLst>
          </p:cNvPr>
          <p:cNvCxnSpPr>
            <a:cxnSpLocks/>
          </p:cNvCxnSpPr>
          <p:nvPr/>
        </p:nvCxnSpPr>
        <p:spPr>
          <a:xfrm>
            <a:off x="4606469" y="3709139"/>
            <a:ext cx="631258" cy="39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F80D1C4-BE92-D8F9-C814-D27A79178FDC}"/>
              </a:ext>
            </a:extLst>
          </p:cNvPr>
          <p:cNvSpPr/>
          <p:nvPr/>
        </p:nvSpPr>
        <p:spPr>
          <a:xfrm>
            <a:off x="3327346" y="1847716"/>
            <a:ext cx="3503839" cy="24768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994490-A3C8-DC0B-179A-32FA899E80DC}"/>
              </a:ext>
            </a:extLst>
          </p:cNvPr>
          <p:cNvSpPr txBox="1"/>
          <p:nvPr/>
        </p:nvSpPr>
        <p:spPr>
          <a:xfrm>
            <a:off x="7898753" y="2620447"/>
            <a:ext cx="108895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Fuzz</a:t>
            </a:r>
            <a:br>
              <a:rPr lang="en-US" sz="2400">
                <a:latin typeface="Helvetica Neue"/>
              </a:rPr>
            </a:br>
            <a:r>
              <a:rPr lang="en-US" sz="2400">
                <a:latin typeface="Helvetica Neue"/>
              </a:rPr>
              <a:t>Driver</a:t>
            </a:r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0750B636-3BA4-00FB-EAC2-9295F83C78C9}"/>
              </a:ext>
            </a:extLst>
          </p:cNvPr>
          <p:cNvSpPr/>
          <p:nvPr/>
        </p:nvSpPr>
        <p:spPr>
          <a:xfrm>
            <a:off x="2374845" y="2838288"/>
            <a:ext cx="904875" cy="52387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7954333E-EBEA-BB83-33FF-C85B1B1A3C91}"/>
              </a:ext>
            </a:extLst>
          </p:cNvPr>
          <p:cNvSpPr/>
          <p:nvPr/>
        </p:nvSpPr>
        <p:spPr>
          <a:xfrm>
            <a:off x="6940040" y="2831484"/>
            <a:ext cx="904875" cy="52387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AA75D4-1DD7-7AA0-A4E6-CC8D4FCA1AFD}"/>
              </a:ext>
            </a:extLst>
          </p:cNvPr>
          <p:cNvSpPr txBox="1"/>
          <p:nvPr/>
        </p:nvSpPr>
        <p:spPr>
          <a:xfrm>
            <a:off x="3669638" y="1850033"/>
            <a:ext cx="350383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Helvetica Neue"/>
              </a:rPr>
              <a:t>API Dependencies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7B1AD1-134F-7284-B7E4-4ED153B0AAF6}"/>
              </a:ext>
            </a:extLst>
          </p:cNvPr>
          <p:cNvSpPr txBox="1"/>
          <p:nvPr/>
        </p:nvSpPr>
        <p:spPr>
          <a:xfrm>
            <a:off x="145772" y="4439943"/>
            <a:ext cx="722721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</a:t>
            </a:r>
            <a:r>
              <a:rPr lang="en-US" sz="1000" err="1">
                <a:latin typeface="Helvetica Neue"/>
              </a:rPr>
              <a:t>FuzzGen</a:t>
            </a:r>
            <a:r>
              <a:rPr lang="en-US" sz="1000" dirty="0">
                <a:latin typeface="Helvetica Neue"/>
              </a:rPr>
              <a:t>: Automatic </a:t>
            </a:r>
            <a:r>
              <a:rPr lang="en-US" sz="1000" err="1">
                <a:latin typeface="Helvetica Neue"/>
              </a:rPr>
              <a:t>Fuzzer</a:t>
            </a:r>
            <a:r>
              <a:rPr lang="en-US" sz="1000" dirty="0">
                <a:latin typeface="Helvetica Neue"/>
              </a:rPr>
              <a:t> Generation” USENIX Security 2020.</a:t>
            </a:r>
          </a:p>
          <a:p>
            <a:r>
              <a:rPr lang="en-US" sz="1000" dirty="0">
                <a:latin typeface="Helvetica Neue"/>
              </a:rPr>
              <a:t>“</a:t>
            </a:r>
            <a:r>
              <a:rPr lang="en-US" sz="1000" err="1">
                <a:latin typeface="Helvetica Neue"/>
              </a:rPr>
              <a:t>APICraft</a:t>
            </a:r>
            <a:r>
              <a:rPr lang="en-US" sz="1000" dirty="0">
                <a:latin typeface="Helvetica Neue"/>
              </a:rPr>
              <a:t>: Fuzz Driver Generation for Closed-source SDK Libraries" USENIX Security 2021.</a:t>
            </a:r>
          </a:p>
          <a:p>
            <a:r>
              <a:rPr lang="en-US" sz="1000" dirty="0">
                <a:latin typeface="Helvetica Neue"/>
              </a:rPr>
              <a:t>“</a:t>
            </a:r>
            <a:r>
              <a:rPr lang="en-US" sz="1000" err="1">
                <a:latin typeface="Helvetica Neue"/>
              </a:rPr>
              <a:t>UTopia</a:t>
            </a:r>
            <a:r>
              <a:rPr lang="en-US" sz="1000" dirty="0">
                <a:latin typeface="Helvetica Neue"/>
              </a:rPr>
              <a:t>: Automatic Generation of Fuzz Driver using Unit Tests" IEEE S&amp;P 2023.</a:t>
            </a:r>
          </a:p>
          <a:p>
            <a:r>
              <a:rPr lang="en-US" sz="1000" dirty="0">
                <a:latin typeface="Helvetica Neue"/>
              </a:rPr>
              <a:t>“Automata-Guided Control-Flow-Sensitive Fuzz Driver Generation” USENIX Security 2023.</a:t>
            </a:r>
          </a:p>
        </p:txBody>
      </p:sp>
    </p:spTree>
    <p:extLst>
      <p:ext uri="{BB962C8B-B14F-4D97-AF65-F5344CB8AC3E}">
        <p14:creationId xmlns:p14="http://schemas.microsoft.com/office/powerpoint/2010/main" val="85719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29" grpId="0" animBg="1"/>
      <p:bldP spid="33" grpId="0" animBg="1"/>
      <p:bldP spid="35" grpId="0" animBg="1"/>
      <p:bldP spid="36" grpId="0" animBg="1"/>
      <p:bldP spid="3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17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Generating Fuzz Drivers (cont.)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890528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err="1">
                <a:latin typeface="Helvetica Neue"/>
              </a:rPr>
              <a:t>AFGen</a:t>
            </a:r>
            <a:r>
              <a:rPr lang="en-US" sz="2800">
                <a:latin typeface="Helvetica Neue"/>
              </a:rPr>
              <a:t>: Fuzz drivers for all functions in library.</a:t>
            </a:r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179B1C3-9975-373F-725C-A9CE6514E6EB}"/>
              </a:ext>
            </a:extLst>
          </p:cNvPr>
          <p:cNvSpPr/>
          <p:nvPr/>
        </p:nvSpPr>
        <p:spPr>
          <a:xfrm>
            <a:off x="3972871" y="2594291"/>
            <a:ext cx="1135358" cy="7886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  <a:latin typeface="Helvetica Neue"/>
                <a:cs typeface="Arial"/>
              </a:rPr>
              <a:t>inn_fn1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A743F0F-376F-CBAC-2815-431E06C38B95}"/>
              </a:ext>
            </a:extLst>
          </p:cNvPr>
          <p:cNvSpPr/>
          <p:nvPr/>
        </p:nvSpPr>
        <p:spPr>
          <a:xfrm>
            <a:off x="4704291" y="3671619"/>
            <a:ext cx="1135358" cy="7886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  <a:latin typeface="Helvetica Neue"/>
                <a:cs typeface="Arial"/>
              </a:rPr>
              <a:t>inn_fn3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8B08E8-0B97-C1E9-7856-121766598E08}"/>
              </a:ext>
            </a:extLst>
          </p:cNvPr>
          <p:cNvSpPr/>
          <p:nvPr/>
        </p:nvSpPr>
        <p:spPr>
          <a:xfrm>
            <a:off x="3200343" y="3671619"/>
            <a:ext cx="1135358" cy="7886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  <a:latin typeface="Helvetica Neue"/>
                <a:cs typeface="Arial"/>
              </a:rPr>
              <a:t>inn_fn2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61C4457-6D2C-7848-0711-1161B3E40AE5}"/>
              </a:ext>
            </a:extLst>
          </p:cNvPr>
          <p:cNvSpPr/>
          <p:nvPr/>
        </p:nvSpPr>
        <p:spPr>
          <a:xfrm>
            <a:off x="3972871" y="1459096"/>
            <a:ext cx="1135358" cy="7886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  <a:latin typeface="Helvetica Neue"/>
                <a:cs typeface="Arial"/>
              </a:rPr>
              <a:t>api_fn1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6017D3-C2D9-DD31-2C53-6B84422B01FA}"/>
              </a:ext>
            </a:extLst>
          </p:cNvPr>
          <p:cNvCxnSpPr/>
          <p:nvPr/>
        </p:nvCxnSpPr>
        <p:spPr>
          <a:xfrm flipV="1">
            <a:off x="4557083" y="2232338"/>
            <a:ext cx="9405" cy="3559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A65756-E327-46D4-064F-05EBB63C41CB}"/>
              </a:ext>
            </a:extLst>
          </p:cNvPr>
          <p:cNvCxnSpPr>
            <a:cxnSpLocks/>
          </p:cNvCxnSpPr>
          <p:nvPr/>
        </p:nvCxnSpPr>
        <p:spPr>
          <a:xfrm>
            <a:off x="4774109" y="3349172"/>
            <a:ext cx="267552" cy="3477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B610732-D0C4-A159-5B22-9E2BEDEE0B08}"/>
              </a:ext>
            </a:extLst>
          </p:cNvPr>
          <p:cNvCxnSpPr>
            <a:cxnSpLocks/>
          </p:cNvCxnSpPr>
          <p:nvPr/>
        </p:nvCxnSpPr>
        <p:spPr>
          <a:xfrm flipH="1">
            <a:off x="4013462" y="3366216"/>
            <a:ext cx="334026" cy="3477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62AF7D-81CA-A62F-FB31-A4E4C5268B55}"/>
              </a:ext>
            </a:extLst>
          </p:cNvPr>
          <p:cNvCxnSpPr/>
          <p:nvPr/>
        </p:nvCxnSpPr>
        <p:spPr>
          <a:xfrm>
            <a:off x="624626" y="3022374"/>
            <a:ext cx="2979068" cy="208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rrow: Down 19">
            <a:extLst>
              <a:ext uri="{FF2B5EF4-FFF2-40B4-BE49-F238E27FC236}">
                <a16:creationId xmlns:a16="http://schemas.microsoft.com/office/drawing/2014/main" id="{2216756B-E087-25D4-4175-096BCD814E0F}"/>
              </a:ext>
            </a:extLst>
          </p:cNvPr>
          <p:cNvSpPr/>
          <p:nvPr/>
        </p:nvSpPr>
        <p:spPr>
          <a:xfrm>
            <a:off x="2067509" y="3280841"/>
            <a:ext cx="595312" cy="1158875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A84D1A-01F2-D47A-2129-D9D591A09DDF}"/>
              </a:ext>
            </a:extLst>
          </p:cNvPr>
          <p:cNvSpPr txBox="1"/>
          <p:nvPr/>
        </p:nvSpPr>
        <p:spPr>
          <a:xfrm>
            <a:off x="385178" y="3371078"/>
            <a:ext cx="198562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Forward</a:t>
            </a:r>
            <a:endParaRPr lang="en-US"/>
          </a:p>
          <a:p>
            <a:r>
              <a:rPr lang="en-US" sz="2400">
                <a:latin typeface="Helvetica Neue"/>
              </a:rPr>
              <a:t>dependency</a:t>
            </a:r>
            <a:endParaRPr lang="en-US"/>
          </a:p>
          <a:p>
            <a:r>
              <a:rPr lang="en-US" sz="2400">
                <a:latin typeface="Helvetica Neue"/>
              </a:rPr>
              <a:t>analysis</a:t>
            </a:r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5FADC5-536B-BA11-3445-031A2BD1B7C7}"/>
              </a:ext>
            </a:extLst>
          </p:cNvPr>
          <p:cNvSpPr txBox="1"/>
          <p:nvPr/>
        </p:nvSpPr>
        <p:spPr>
          <a:xfrm>
            <a:off x="392696" y="1461064"/>
            <a:ext cx="191042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Backward</a:t>
            </a:r>
            <a:br>
              <a:rPr lang="en-US" sz="2400">
                <a:latin typeface="Helvetica Neue"/>
              </a:rPr>
            </a:br>
            <a:r>
              <a:rPr lang="en-US" sz="2400">
                <a:latin typeface="Helvetica Neue"/>
              </a:rPr>
              <a:t>dependency</a:t>
            </a:r>
          </a:p>
          <a:p>
            <a:r>
              <a:rPr lang="en-US" sz="2400">
                <a:latin typeface="Helvetica Neue"/>
              </a:rPr>
              <a:t>analysis</a:t>
            </a:r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73EC79C5-8EEE-4F43-0951-98336EB88B00}"/>
              </a:ext>
            </a:extLst>
          </p:cNvPr>
          <p:cNvSpPr/>
          <p:nvPr/>
        </p:nvSpPr>
        <p:spPr>
          <a:xfrm>
            <a:off x="2063750" y="1557150"/>
            <a:ext cx="595312" cy="1190625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A57EE7-B9A3-ABA6-41EF-75D7A72E2CAD}"/>
              </a:ext>
            </a:extLst>
          </p:cNvPr>
          <p:cNvSpPr txBox="1"/>
          <p:nvPr/>
        </p:nvSpPr>
        <p:spPr>
          <a:xfrm>
            <a:off x="7180397" y="2503375"/>
            <a:ext cx="108895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Fuzz</a:t>
            </a:r>
            <a:br>
              <a:rPr lang="en-US" sz="2400">
                <a:latin typeface="Helvetica Neue"/>
              </a:rPr>
            </a:br>
            <a:r>
              <a:rPr lang="en-US" sz="2400">
                <a:latin typeface="Helvetica Neue"/>
              </a:rPr>
              <a:t>Driver</a:t>
            </a:r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1E1EBAE-694A-2998-7163-BC5797BD46EE}"/>
              </a:ext>
            </a:extLst>
          </p:cNvPr>
          <p:cNvSpPr/>
          <p:nvPr/>
        </p:nvSpPr>
        <p:spPr>
          <a:xfrm>
            <a:off x="5672744" y="2691854"/>
            <a:ext cx="1250782" cy="55395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BBFF9-E29D-3480-B521-1B0AB91D1779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 err="1">
                <a:latin typeface="Helvetica Neue"/>
              </a:rPr>
              <a:t>AFGen</a:t>
            </a:r>
            <a:r>
              <a:rPr lang="en-US" sz="1000" dirty="0">
                <a:latin typeface="Helvetica Neue"/>
              </a:rPr>
              <a:t>: Whole-Function Fuzzing for Applications and Libraries” IEEE S&amp;P 2024.</a:t>
            </a:r>
          </a:p>
        </p:txBody>
      </p:sp>
    </p:spTree>
    <p:extLst>
      <p:ext uri="{BB962C8B-B14F-4D97-AF65-F5344CB8AC3E}">
        <p14:creationId xmlns:p14="http://schemas.microsoft.com/office/powerpoint/2010/main" val="8788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12" grpId="0" animBg="1"/>
      <p:bldP spid="20" grpId="0" animBg="1"/>
      <p:bldP spid="21" grpId="0"/>
      <p:bldP spid="22" grpId="0"/>
      <p:bldP spid="23" grpId="0" animBg="1"/>
      <p:bldP spid="25" grpId="0" animBg="1"/>
      <p:bldP spid="27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DDA0F0FF-CDE4-FE6C-C579-60F8BF901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DB4EBDA6-107F-2C70-74AA-53101104F1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18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90977B77-14E0-6846-F83C-60EDBEF277A2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7A5830D7-D57C-6E29-DBB6-634112FDB580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02F3FD6B-94C3-2011-650E-F89D483094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7DED1D72-D653-5DB0-A3BE-015EE88AD5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Generating Fuzz Drivers (</a:t>
            </a:r>
            <a:r>
              <a:rPr lang="en-US" sz="4000" dirty="0" err="1">
                <a:solidFill>
                  <a:schemeClr val="lt1"/>
                </a:solidFill>
                <a:latin typeface="Helvetica Neue"/>
              </a:rPr>
              <a:t>cont</a:t>
            </a:r>
            <a:r>
              <a:rPr lang="en-US" sz="4000" dirty="0">
                <a:solidFill>
                  <a:schemeClr val="lt1"/>
                </a:solidFill>
                <a:latin typeface="Helvetica Neue"/>
              </a:rPr>
              <a:t>).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596DF2-4FB0-D731-8B6D-22A716D1536B}"/>
              </a:ext>
            </a:extLst>
          </p:cNvPr>
          <p:cNvSpPr txBox="1"/>
          <p:nvPr/>
        </p:nvSpPr>
        <p:spPr>
          <a:xfrm>
            <a:off x="142874" y="898810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Helvetica Neue"/>
              </a:rPr>
              <a:t>Hopper: “Fuzzing” the fuzz driver.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B4889E-75C2-7DB0-3F5E-8951113009E2}"/>
              </a:ext>
            </a:extLst>
          </p:cNvPr>
          <p:cNvSpPr txBox="1"/>
          <p:nvPr/>
        </p:nvSpPr>
        <p:spPr>
          <a:xfrm>
            <a:off x="79835" y="1422827"/>
            <a:ext cx="4239224" cy="3170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monospace"/>
              </a:rPr>
              <a:t>struct Item {</a:t>
            </a:r>
          </a:p>
          <a:p>
            <a:r>
              <a:rPr lang="en-US" sz="2000" dirty="0">
                <a:latin typeface="monospace"/>
              </a:rPr>
              <a:t> char *name;</a:t>
            </a:r>
          </a:p>
          <a:p>
            <a:r>
              <a:rPr lang="en-US" sz="2000" dirty="0">
                <a:latin typeface="monospace"/>
              </a:rPr>
              <a:t> int </a:t>
            </a:r>
            <a:r>
              <a:rPr lang="en-US" sz="2000" dirty="0" err="1">
                <a:latin typeface="monospace"/>
              </a:rPr>
              <a:t>len</a:t>
            </a:r>
            <a:r>
              <a:rPr lang="en-US" sz="2000" dirty="0">
                <a:latin typeface="monospace"/>
              </a:rPr>
              <a:t>;</a:t>
            </a:r>
          </a:p>
          <a:p>
            <a:r>
              <a:rPr lang="en-US" sz="2000" dirty="0">
                <a:latin typeface="monospace"/>
              </a:rPr>
              <a:t>}</a:t>
            </a:r>
          </a:p>
          <a:p>
            <a:r>
              <a:rPr lang="en-US" sz="2000" dirty="0">
                <a:latin typeface="monospace"/>
              </a:rPr>
              <a:t>...</a:t>
            </a:r>
          </a:p>
          <a:p>
            <a:r>
              <a:rPr lang="en-US" sz="2000" dirty="0">
                <a:latin typeface="monospace"/>
              </a:rPr>
              <a:t>struct Obj;</a:t>
            </a:r>
          </a:p>
          <a:p>
            <a:r>
              <a:rPr lang="en-US" sz="2000" dirty="0">
                <a:latin typeface="monospace"/>
              </a:rPr>
              <a:t>...</a:t>
            </a:r>
          </a:p>
          <a:p>
            <a:r>
              <a:rPr lang="en-US" sz="2000" dirty="0">
                <a:latin typeface="monospace"/>
              </a:rPr>
              <a:t>Obj *</a:t>
            </a:r>
            <a:r>
              <a:rPr lang="en-US" sz="2000" dirty="0" err="1">
                <a:latin typeface="monospace"/>
              </a:rPr>
              <a:t>create_obj</a:t>
            </a:r>
            <a:r>
              <a:rPr lang="en-US" sz="2000" dirty="0">
                <a:latin typeface="monospace"/>
              </a:rPr>
              <a:t>();</a:t>
            </a:r>
          </a:p>
          <a:p>
            <a:r>
              <a:rPr lang="en-US" sz="2000" dirty="0">
                <a:latin typeface="monospace"/>
              </a:rPr>
              <a:t>void </a:t>
            </a:r>
            <a:r>
              <a:rPr lang="en-US" sz="2000" dirty="0" err="1">
                <a:latin typeface="monospace"/>
              </a:rPr>
              <a:t>add_item</a:t>
            </a:r>
            <a:r>
              <a:rPr lang="en-US" sz="2000" dirty="0">
                <a:latin typeface="monospace"/>
              </a:rPr>
              <a:t>(Obj *, Item);</a:t>
            </a:r>
          </a:p>
          <a:p>
            <a:r>
              <a:rPr lang="en-US" sz="2000" dirty="0">
                <a:latin typeface="monospace"/>
              </a:rPr>
              <a:t>void </a:t>
            </a:r>
            <a:r>
              <a:rPr lang="en-US" sz="2000" dirty="0" err="1">
                <a:latin typeface="monospace"/>
              </a:rPr>
              <a:t>print_obj</a:t>
            </a:r>
            <a:r>
              <a:rPr lang="en-US" sz="2000" dirty="0">
                <a:latin typeface="monospace"/>
              </a:rPr>
              <a:t>(Obj *);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95B1AC-8139-96C5-F030-72AC24020A2A}"/>
              </a:ext>
            </a:extLst>
          </p:cNvPr>
          <p:cNvSpPr txBox="1"/>
          <p:nvPr/>
        </p:nvSpPr>
        <p:spPr>
          <a:xfrm>
            <a:off x="4936970" y="1432766"/>
            <a:ext cx="379794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>
                <a:latin typeface="monospace"/>
              </a:rPr>
              <a:t>&lt;0&gt; load Obj* = null</a:t>
            </a:r>
          </a:p>
          <a:p>
            <a:r>
              <a:rPr lang="en-US" sz="2000">
                <a:latin typeface="monospace"/>
              </a:rPr>
              <a:t>&lt;1&gt; call </a:t>
            </a:r>
            <a:r>
              <a:rPr lang="en-US" sz="2000" err="1">
                <a:latin typeface="monospace"/>
              </a:rPr>
              <a:t>print_obj</a:t>
            </a:r>
            <a:r>
              <a:rPr lang="en-US" sz="2000">
                <a:latin typeface="monospace"/>
              </a:rPr>
              <a:t> (&lt;0&gt;)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ECF637-7BB0-4932-8978-00EB57E81846}"/>
              </a:ext>
            </a:extLst>
          </p:cNvPr>
          <p:cNvSpPr txBox="1"/>
          <p:nvPr/>
        </p:nvSpPr>
        <p:spPr>
          <a:xfrm>
            <a:off x="4951438" y="3219607"/>
            <a:ext cx="379794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>
                <a:latin typeface="monospace"/>
              </a:rPr>
              <a:t>&lt;0&gt; load Obj* = null</a:t>
            </a:r>
          </a:p>
          <a:p>
            <a:r>
              <a:rPr lang="en-US" sz="2000">
                <a:latin typeface="monospace"/>
              </a:rPr>
              <a:t>&lt;1&gt; call </a:t>
            </a:r>
            <a:r>
              <a:rPr lang="en-US" sz="2000" err="1">
                <a:latin typeface="monospace"/>
              </a:rPr>
              <a:t>create_obj</a:t>
            </a:r>
            <a:r>
              <a:rPr lang="en-US" sz="2000">
                <a:latin typeface="monospace"/>
              </a:rPr>
              <a:t>()</a:t>
            </a:r>
          </a:p>
          <a:p>
            <a:r>
              <a:rPr lang="en-US" sz="2000">
                <a:latin typeface="monospace"/>
              </a:rPr>
              <a:t>&lt;2&gt; assert </a:t>
            </a:r>
            <a:r>
              <a:rPr lang="en-US" sz="2000" err="1">
                <a:latin typeface="monospace"/>
              </a:rPr>
              <a:t>non_null</a:t>
            </a:r>
            <a:r>
              <a:rPr lang="en-US" sz="2000">
                <a:latin typeface="monospace"/>
              </a:rPr>
              <a:t>(&lt;1&gt;)</a:t>
            </a:r>
          </a:p>
          <a:p>
            <a:r>
              <a:rPr lang="en-US" sz="2000">
                <a:latin typeface="monospace"/>
              </a:rPr>
              <a:t>&lt;3&gt; call </a:t>
            </a:r>
            <a:r>
              <a:rPr lang="en-US" sz="2000" err="1">
                <a:latin typeface="monospace"/>
              </a:rPr>
              <a:t>print_obj</a:t>
            </a:r>
            <a:r>
              <a:rPr lang="en-US" sz="2000">
                <a:latin typeface="monospace"/>
              </a:rPr>
              <a:t> (&lt;1&gt;)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75F382F-972F-6C37-6A36-4291A1A03B44}"/>
              </a:ext>
            </a:extLst>
          </p:cNvPr>
          <p:cNvCxnSpPr/>
          <p:nvPr/>
        </p:nvCxnSpPr>
        <p:spPr>
          <a:xfrm>
            <a:off x="6799077" y="2152429"/>
            <a:ext cx="2098" cy="10695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B10A8B-ADDF-55BB-4DF3-DF86C9A98F02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“Hopper: Interpretative Fuzzing for Libraries” ACM CCS 2023.</a:t>
            </a:r>
            <a:endParaRPr lang="en-US" sz="100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3578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A5D2D129-4767-BD4E-1F1B-93BE509D4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EC83508B-4857-E452-4FCA-56BD52BA542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19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987C71EC-E95E-77B3-D4AD-FBF3CAF42488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83F0DF74-78D4-2523-C192-6C19E30352C0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63D6A673-B6F4-E29B-BC35-9A313DD4876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059E333D-5DBE-6B0A-2948-4D3DA50645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Generating Fuzz Drivers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F0C6A0-135D-1DC0-4800-77B89A5A63B2}"/>
              </a:ext>
            </a:extLst>
          </p:cNvPr>
          <p:cNvSpPr txBox="1"/>
          <p:nvPr/>
        </p:nvSpPr>
        <p:spPr>
          <a:xfrm>
            <a:off x="13478" y="890528"/>
            <a:ext cx="91289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err="1"/>
              <a:t>εfuzz</a:t>
            </a:r>
            <a:r>
              <a:rPr lang="en-US" sz="2800"/>
              <a:t>: Fuzz environment interactions (</a:t>
            </a:r>
            <a:r>
              <a:rPr lang="en-US" sz="2800" err="1"/>
              <a:t>eg</a:t>
            </a:r>
            <a:r>
              <a:rPr lang="en-US" sz="2800"/>
              <a:t>: </a:t>
            </a:r>
            <a:r>
              <a:rPr lang="en-US" sz="2800" err="1"/>
              <a:t>syscalls</a:t>
            </a:r>
            <a:r>
              <a:rPr lang="en-US" sz="2800"/>
              <a:t>).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70A2FD-FBC1-2927-3E08-134C4B3C66CE}"/>
              </a:ext>
            </a:extLst>
          </p:cNvPr>
          <p:cNvSpPr txBox="1"/>
          <p:nvPr/>
        </p:nvSpPr>
        <p:spPr>
          <a:xfrm>
            <a:off x="957615" y="2152871"/>
            <a:ext cx="1632796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Program under 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C6B154-29B3-521D-31D5-5BE7CA0D5A5A}"/>
              </a:ext>
            </a:extLst>
          </p:cNvPr>
          <p:cNvSpPr txBox="1"/>
          <p:nvPr/>
        </p:nvSpPr>
        <p:spPr>
          <a:xfrm>
            <a:off x="386115" y="1527456"/>
            <a:ext cx="2204295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Record Phase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1B39D-6FBF-54CC-1401-62FE0ECC0645}"/>
              </a:ext>
            </a:extLst>
          </p:cNvPr>
          <p:cNvSpPr txBox="1"/>
          <p:nvPr/>
        </p:nvSpPr>
        <p:spPr>
          <a:xfrm>
            <a:off x="806652" y="3975200"/>
            <a:ext cx="192393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Environment</a:t>
            </a:r>
            <a:endParaRPr lang="en-US"/>
          </a:p>
        </p:txBody>
      </p:sp>
      <p:sp>
        <p:nvSpPr>
          <p:cNvPr id="5" name="Arrow: Up-Down 4">
            <a:extLst>
              <a:ext uri="{FF2B5EF4-FFF2-40B4-BE49-F238E27FC236}">
                <a16:creationId xmlns:a16="http://schemas.microsoft.com/office/drawing/2014/main" id="{9E5B9E62-E111-F109-A31D-58CB07FAF6E4}"/>
              </a:ext>
            </a:extLst>
          </p:cNvPr>
          <p:cNvSpPr/>
          <p:nvPr/>
        </p:nvSpPr>
        <p:spPr>
          <a:xfrm>
            <a:off x="1610091" y="3027435"/>
            <a:ext cx="296740" cy="923295"/>
          </a:xfrm>
          <a:prstGeom prst="up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CDF7E6-9A48-3B3F-3F8C-C78F89633F9D}"/>
              </a:ext>
            </a:extLst>
          </p:cNvPr>
          <p:cNvSpPr txBox="1"/>
          <p:nvPr/>
        </p:nvSpPr>
        <p:spPr>
          <a:xfrm>
            <a:off x="1848562" y="3034176"/>
            <a:ext cx="192207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Record interactions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88B71E-6AA5-4382-480A-CD2FAEE21A22}"/>
              </a:ext>
            </a:extLst>
          </p:cNvPr>
          <p:cNvCxnSpPr/>
          <p:nvPr/>
        </p:nvCxnSpPr>
        <p:spPr>
          <a:xfrm>
            <a:off x="4200090" y="1521857"/>
            <a:ext cx="10990" cy="293090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37D787A-3CD1-6B62-CEEE-4196DB176B45}"/>
              </a:ext>
            </a:extLst>
          </p:cNvPr>
          <p:cNvSpPr txBox="1"/>
          <p:nvPr/>
        </p:nvSpPr>
        <p:spPr>
          <a:xfrm>
            <a:off x="4656190" y="1538239"/>
            <a:ext cx="3951144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Replay with Fuzzing Phase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0B48E-B014-893B-F5E4-B9CE623F2ABD}"/>
              </a:ext>
            </a:extLst>
          </p:cNvPr>
          <p:cNvSpPr txBox="1"/>
          <p:nvPr/>
        </p:nvSpPr>
        <p:spPr>
          <a:xfrm>
            <a:off x="5809973" y="2152871"/>
            <a:ext cx="1632796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Program under test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858CF0-FE6C-F280-5A95-C124052175BA}"/>
              </a:ext>
            </a:extLst>
          </p:cNvPr>
          <p:cNvSpPr txBox="1"/>
          <p:nvPr/>
        </p:nvSpPr>
        <p:spPr>
          <a:xfrm>
            <a:off x="5723708" y="3975200"/>
            <a:ext cx="192393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Environment</a:t>
            </a:r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71AA06C8-0926-7C31-FD91-E2192F863A06}"/>
              </a:ext>
            </a:extLst>
          </p:cNvPr>
          <p:cNvSpPr/>
          <p:nvPr/>
        </p:nvSpPr>
        <p:spPr>
          <a:xfrm>
            <a:off x="6039216" y="2994880"/>
            <a:ext cx="307730" cy="961658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C5F17BBD-719C-C20D-9B2C-A8216C88DD80}"/>
              </a:ext>
            </a:extLst>
          </p:cNvPr>
          <p:cNvSpPr/>
          <p:nvPr/>
        </p:nvSpPr>
        <p:spPr>
          <a:xfrm rot="10800000">
            <a:off x="6901857" y="3000168"/>
            <a:ext cx="307730" cy="961658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C954E4-53AA-EA42-6FD7-4A5EEA779B4D}"/>
              </a:ext>
            </a:extLst>
          </p:cNvPr>
          <p:cNvSpPr txBox="1"/>
          <p:nvPr/>
        </p:nvSpPr>
        <p:spPr>
          <a:xfrm>
            <a:off x="4846241" y="3217487"/>
            <a:ext cx="192207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Request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B3BB0A-EB05-6EE8-0BD4-75E57679C158}"/>
              </a:ext>
            </a:extLst>
          </p:cNvPr>
          <p:cNvSpPr txBox="1"/>
          <p:nvPr/>
        </p:nvSpPr>
        <p:spPr>
          <a:xfrm>
            <a:off x="7168842" y="3071086"/>
            <a:ext cx="131335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latin typeface="Helvetica Neue"/>
              </a:rPr>
              <a:t>Replay/Fuzz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86EB63-6F8B-E12F-4082-1B3A2294CD7E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“Program Environment Fuzzing” ACM CCS 2024.</a:t>
            </a:r>
            <a:endParaRPr lang="en-US" sz="100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69508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8" grpId="0" animBg="1"/>
      <p:bldP spid="9" grpId="0" animBg="1"/>
      <p:bldP spid="10" grpId="0" animBg="1"/>
      <p:bldP spid="11" grpId="0" animBg="1"/>
      <p:bldP spid="13" grpId="0" animBg="1"/>
      <p:bldP spid="14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20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890528"/>
            <a:ext cx="883783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endParaRPr lang="en-US" sz="2800">
              <a:latin typeface="Helvetica Neue"/>
            </a:endParaRPr>
          </a:p>
          <a:p>
            <a:pPr algn="ctr"/>
            <a:r>
              <a:rPr lang="en-US" sz="6000" dirty="0">
                <a:latin typeface="Helvetica Neue"/>
              </a:rPr>
              <a:t>Seed Scheduling</a:t>
            </a:r>
          </a:p>
          <a:p>
            <a:pPr marL="457200" indent="-457200">
              <a:buAutoNum type="arabicPeriod"/>
            </a:pPr>
            <a:endParaRPr lang="en-US" sz="3200">
              <a:latin typeface="Helvetica Neue"/>
            </a:endParaRPr>
          </a:p>
          <a:p>
            <a:pPr marL="514350" indent="-514350" algn="ctr">
              <a:buAutoNum type="arabicPeriod"/>
            </a:pPr>
            <a:r>
              <a:rPr lang="en-US" sz="3200" dirty="0">
                <a:latin typeface="Helvetica Neue"/>
              </a:rPr>
              <a:t>What is the optimal seed to mutate?</a:t>
            </a:r>
          </a:p>
          <a:p>
            <a:pPr marL="514350" indent="-514350" algn="ctr">
              <a:buAutoNum type="arabicPeriod"/>
            </a:pPr>
            <a:r>
              <a:rPr lang="en-US" sz="3200" dirty="0">
                <a:latin typeface="Helvetica Neue"/>
              </a:rPr>
              <a:t>How much effort should be spent mutating optimal seed?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923689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10469D05-1E86-BBA0-53DB-784B8D020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A189DA79-55CE-B5A2-0CBF-656E1DC4EA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21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9FC93797-2111-B3E0-520B-1788200E31EE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0BCD5072-36AC-6056-10BC-79DB9B6AFDA0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3928A3A4-DB6F-8FB8-050F-EBB81B90B71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D55263AD-626D-423D-7446-E1D6F79FD0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Seed scheduling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1E2EFD-5B01-A63C-52EB-FFBFDB6F1C3A}"/>
              </a:ext>
            </a:extLst>
          </p:cNvPr>
          <p:cNvSpPr txBox="1"/>
          <p:nvPr/>
        </p:nvSpPr>
        <p:spPr>
          <a:xfrm>
            <a:off x="142874" y="890528"/>
            <a:ext cx="883783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 err="1">
                <a:latin typeface="Helvetica Neue"/>
              </a:rPr>
              <a:t>AFLFast</a:t>
            </a:r>
            <a:r>
              <a:rPr lang="en-US" sz="2800" dirty="0">
                <a:latin typeface="Helvetica Neue"/>
              </a:rPr>
              <a:t>: Prioritize seeds covering less explored code regions.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AFEA49-8950-58F9-1B7F-9D581BA9BEDF}"/>
              </a:ext>
            </a:extLst>
          </p:cNvPr>
          <p:cNvSpPr txBox="1"/>
          <p:nvPr/>
        </p:nvSpPr>
        <p:spPr>
          <a:xfrm>
            <a:off x="145772" y="4291332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/>
              <a:t>Coverage-based </a:t>
            </a:r>
            <a:r>
              <a:rPr lang="en-US" sz="1000" dirty="0" err="1"/>
              <a:t>Greybox</a:t>
            </a:r>
            <a:r>
              <a:rPr lang="en-US" sz="1000" dirty="0"/>
              <a:t> Fuzzing as Markov Chain</a:t>
            </a:r>
            <a:r>
              <a:rPr lang="en-US" sz="1000" dirty="0">
                <a:latin typeface="Helvetica Neue"/>
              </a:rPr>
              <a:t>” ACM CCS 2016.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04881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12157BCB-7ECA-9925-FC67-BF8E7BFEA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8F34412F-D125-76BF-CC2A-61810F3AE3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22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4659ACB1-76FA-4E70-2E70-9C88B53F0961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BB9B0D0E-D0FD-E9A2-A034-DCD3D0C2E520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059C0E12-B252-E929-9B1C-80FF889BDCF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D71F7D85-2616-182D-C0E4-EFD3069225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Seed scheduling (cont.)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063AA6-29AF-94A1-0C32-870800B184EC}"/>
              </a:ext>
            </a:extLst>
          </p:cNvPr>
          <p:cNvSpPr txBox="1"/>
          <p:nvPr/>
        </p:nvSpPr>
        <p:spPr>
          <a:xfrm>
            <a:off x="142874" y="890528"/>
            <a:ext cx="8837839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 err="1">
                <a:latin typeface="Helvetica Neue"/>
              </a:rPr>
              <a:t>AFLFast</a:t>
            </a:r>
            <a:r>
              <a:rPr lang="en-US" sz="2800" dirty="0">
                <a:latin typeface="Helvetica Neue"/>
              </a:rPr>
              <a:t>: Prioritize seeds covering less explored code regions.</a:t>
            </a:r>
            <a:endParaRPr lang="en-US" dirty="0"/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err="1">
                <a:latin typeface="Helvetica Neue"/>
              </a:rPr>
              <a:t>CollAFL</a:t>
            </a:r>
            <a:r>
              <a:rPr lang="en-US" sz="2800" dirty="0">
                <a:latin typeface="Helvetica Neue"/>
              </a:rPr>
              <a:t>, K-Scheduler: Prioritize seeds reaching close to unexplored code regions.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487128-179A-B476-7AF5-A1860229CA92}"/>
              </a:ext>
            </a:extLst>
          </p:cNvPr>
          <p:cNvSpPr txBox="1"/>
          <p:nvPr/>
        </p:nvSpPr>
        <p:spPr>
          <a:xfrm>
            <a:off x="145772" y="4291332"/>
            <a:ext cx="722721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/>
              <a:t>Coverage-based </a:t>
            </a:r>
            <a:r>
              <a:rPr lang="en-US" sz="1000" dirty="0" err="1"/>
              <a:t>Greybox</a:t>
            </a:r>
            <a:r>
              <a:rPr lang="en-US" sz="1000" dirty="0"/>
              <a:t> Fuzzing as Markov Chain</a:t>
            </a:r>
            <a:r>
              <a:rPr lang="en-US" sz="1000" dirty="0">
                <a:latin typeface="Helvetica Neue"/>
              </a:rPr>
              <a:t>” ACM CCS 2016.</a:t>
            </a:r>
            <a:endParaRPr lang="en-US" dirty="0">
              <a:latin typeface="Helvetica Neue"/>
            </a:endParaRPr>
          </a:p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 err="1"/>
              <a:t>CollAFL</a:t>
            </a:r>
            <a:r>
              <a:rPr lang="en-US" sz="1000" dirty="0"/>
              <a:t>: Path Sensitive Fuzzing</a:t>
            </a:r>
            <a:r>
              <a:rPr lang="en-US" sz="1000" dirty="0">
                <a:latin typeface="Helvetica Neue"/>
              </a:rPr>
              <a:t>” IEEE S&amp;P 2018.</a:t>
            </a:r>
            <a:endParaRPr lang="en-US" dirty="0">
              <a:latin typeface="Helvetica Neue"/>
            </a:endParaRPr>
          </a:p>
          <a:p>
            <a:r>
              <a:rPr lang="en-US" sz="1000" dirty="0">
                <a:latin typeface="Helvetica Neue"/>
              </a:rPr>
              <a:t>“Effective Seed Scheduling for Fuzzing with Graph Centrality Analysis” IEEE S&amp;P 2022.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996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977252C1-F1CC-DDF9-4A29-E991C5E26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F1F701B6-67C3-BD73-298E-D6947F9DE1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23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2A51428-59D6-E1ED-D2DD-C2F694CCE335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D586AC0E-14D8-62B2-F7EE-42DDA7EC4585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5E8FC5FD-406C-DE7D-B5BE-168C6CB1A43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C1CCA256-335B-2EF8-B898-A53E7D3FBB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Seed scheduling (cont.)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673E82-C8AE-2D6A-0827-94CDF9C9AE73}"/>
              </a:ext>
            </a:extLst>
          </p:cNvPr>
          <p:cNvSpPr txBox="1"/>
          <p:nvPr/>
        </p:nvSpPr>
        <p:spPr>
          <a:xfrm>
            <a:off x="142874" y="890528"/>
            <a:ext cx="8837839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 err="1">
                <a:latin typeface="Helvetica Neue"/>
              </a:rPr>
              <a:t>AFLFast</a:t>
            </a:r>
            <a:r>
              <a:rPr lang="en-US" sz="2800" dirty="0">
                <a:latin typeface="Helvetica Neue"/>
              </a:rPr>
              <a:t>: Prioritize seeds covering less explored code regions.</a:t>
            </a:r>
            <a:endParaRPr lang="en-US" dirty="0"/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err="1">
                <a:latin typeface="Helvetica Neue"/>
              </a:rPr>
              <a:t>CollAFL</a:t>
            </a:r>
            <a:r>
              <a:rPr lang="en-US" sz="2800" dirty="0">
                <a:latin typeface="Helvetica Neue"/>
              </a:rPr>
              <a:t>, K-Scheduler: Prioritize seeds reaching close to unexplored code regions.</a:t>
            </a:r>
          </a:p>
          <a:p>
            <a:pPr marL="457200" indent="-457200">
              <a:buFont typeface="Arial"/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Font typeface="Arial,Sans-Serif"/>
              <a:buChar char="•"/>
            </a:pPr>
            <a:r>
              <a:rPr lang="en-US" sz="2800" dirty="0">
                <a:latin typeface="Helvetica Neue"/>
              </a:rPr>
              <a:t>FOX, GREYONE: Prioritize seeds most likely to flip one or more branches.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93C1E1-D93E-370E-DDC5-2B795C8E98D3}"/>
              </a:ext>
            </a:extLst>
          </p:cNvPr>
          <p:cNvSpPr txBox="1"/>
          <p:nvPr/>
        </p:nvSpPr>
        <p:spPr>
          <a:xfrm>
            <a:off x="145772" y="4291332"/>
            <a:ext cx="722721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/>
              <a:t>Coverage-based </a:t>
            </a:r>
            <a:r>
              <a:rPr lang="en-US" sz="1000" dirty="0" err="1"/>
              <a:t>Greybox</a:t>
            </a:r>
            <a:r>
              <a:rPr lang="en-US" sz="1000" dirty="0"/>
              <a:t> Fuzzing as Markov Chain</a:t>
            </a:r>
            <a:r>
              <a:rPr lang="en-US" sz="1000" dirty="0">
                <a:latin typeface="Helvetica Neue"/>
              </a:rPr>
              <a:t>” ACM CCS 2016.</a:t>
            </a:r>
            <a:endParaRPr lang="en-US" dirty="0">
              <a:latin typeface="Helvetica Neue"/>
            </a:endParaRPr>
          </a:p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 err="1"/>
              <a:t>CollAFL</a:t>
            </a:r>
            <a:r>
              <a:rPr lang="en-US" sz="1000" dirty="0"/>
              <a:t>: Path Sensitive Fuzzing</a:t>
            </a:r>
            <a:r>
              <a:rPr lang="en-US" sz="1000" dirty="0">
                <a:latin typeface="Helvetica Neue"/>
              </a:rPr>
              <a:t>” IEEE S&amp;P 2018.</a:t>
            </a:r>
            <a:endParaRPr lang="en-US" dirty="0">
              <a:latin typeface="Helvetica Neue"/>
            </a:endParaRPr>
          </a:p>
          <a:p>
            <a:r>
              <a:rPr lang="en-US" sz="1000" dirty="0">
                <a:latin typeface="Helvetica Neue"/>
              </a:rPr>
              <a:t>“Effective Seed Scheduling for Fuzzing with Graph Centrality Analysis” IEEE S&amp;P 2022.</a:t>
            </a:r>
            <a:endParaRPr lang="en-US" dirty="0"/>
          </a:p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/>
              <a:t>Data Flow Sensitive Fuzzing” USENIX Security 2020.</a:t>
            </a:r>
            <a:endParaRPr lang="en-US" sz="1000" dirty="0">
              <a:latin typeface="Helvetica Neue"/>
            </a:endParaRPr>
          </a:p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/>
              <a:t>FOX: Coverage-guided Fuzzing as Online Stochastic Control</a:t>
            </a:r>
            <a:r>
              <a:rPr lang="en-US" sz="1000" dirty="0">
                <a:latin typeface="Helvetica Neue"/>
              </a:rPr>
              <a:t>” ACM CCS 2024.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025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24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Seed scheduling (cont.)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890528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 err="1">
                <a:latin typeface="Helvetica Neue"/>
              </a:rPr>
              <a:t>EcoFuzz</a:t>
            </a:r>
            <a:r>
              <a:rPr lang="en-US" sz="2800" dirty="0">
                <a:latin typeface="Helvetica Neue"/>
              </a:rPr>
              <a:t>: Variant of Multi-Armed Bandit.</a:t>
            </a:r>
            <a:endParaRPr lang="en-US" dirty="0"/>
          </a:p>
        </p:txBody>
      </p:sp>
      <p:pic>
        <p:nvPicPr>
          <p:cNvPr id="2" name="Picture 1" descr="https://upload.wikimedia.org/wikipedia/commons/thumb/3/34/Slot_machines_at_Wookey_Hole_Caves.JPG/285px-Slot_machines_at_Wookey_Hole_Caves.JPG">
            <a:extLst>
              <a:ext uri="{FF2B5EF4-FFF2-40B4-BE49-F238E27FC236}">
                <a16:creationId xmlns:a16="http://schemas.microsoft.com/office/drawing/2014/main" id="{88394835-FF2A-3778-EC38-BB27293CD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69" y="1571625"/>
            <a:ext cx="3180848" cy="26770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6D230D-86D3-CE67-317E-CF8D1CE6B800}"/>
              </a:ext>
            </a:extLst>
          </p:cNvPr>
          <p:cNvSpPr txBox="1"/>
          <p:nvPr/>
        </p:nvSpPr>
        <p:spPr>
          <a:xfrm>
            <a:off x="3601953" y="1636568"/>
            <a:ext cx="553520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Exploration: Compute possible “reward” of seed (code coverage) and probability of achieving reward.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618156-1758-E470-9477-CC05E09B9B2F}"/>
              </a:ext>
            </a:extLst>
          </p:cNvPr>
          <p:cNvSpPr txBox="1"/>
          <p:nvPr/>
        </p:nvSpPr>
        <p:spPr>
          <a:xfrm>
            <a:off x="4000499" y="3050279"/>
            <a:ext cx="480579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Exploitation: Schedule seeds and assign energy based on reward and probability.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F4017D-903A-CD35-62C0-5428776E2D74}"/>
              </a:ext>
            </a:extLst>
          </p:cNvPr>
          <p:cNvSpPr txBox="1"/>
          <p:nvPr/>
        </p:nvSpPr>
        <p:spPr>
          <a:xfrm>
            <a:off x="-44727" y="4725693"/>
            <a:ext cx="741771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 err="1">
                <a:latin typeface="Helvetica Neue"/>
              </a:rPr>
              <a:t>EcoFuzz</a:t>
            </a:r>
            <a:r>
              <a:rPr lang="en-US" sz="1000" dirty="0">
                <a:latin typeface="Helvetica Neue"/>
              </a:rPr>
              <a:t>: Adaptive Energy-Saving </a:t>
            </a:r>
            <a:r>
              <a:rPr lang="en-US" sz="1000" dirty="0" err="1">
                <a:latin typeface="Helvetica Neue"/>
              </a:rPr>
              <a:t>Greybox</a:t>
            </a:r>
            <a:r>
              <a:rPr lang="en-US" sz="1000" dirty="0">
                <a:latin typeface="Helvetica Neue"/>
              </a:rPr>
              <a:t> Fuzzing as a Variant of the Adversarial Multi-Armed Bandit” USENIX Security 2020.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51518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5D27388-1739-D5FE-1393-4696B992DC4D}"/>
              </a:ext>
            </a:extLst>
          </p:cNvPr>
          <p:cNvCxnSpPr>
            <a:cxnSpLocks/>
          </p:cNvCxnSpPr>
          <p:nvPr/>
        </p:nvCxnSpPr>
        <p:spPr>
          <a:xfrm>
            <a:off x="7586117" y="3396974"/>
            <a:ext cx="2533" cy="3566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25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Seed scheduling</a:t>
            </a: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DE8B1841-92D6-FA19-5B71-9C08993823E9}"/>
              </a:ext>
            </a:extLst>
          </p:cNvPr>
          <p:cNvSpPr/>
          <p:nvPr/>
        </p:nvSpPr>
        <p:spPr>
          <a:xfrm>
            <a:off x="4265019" y="974728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572E5B36-FA8D-D241-A4E0-448A943E80DC}"/>
              </a:ext>
            </a:extLst>
          </p:cNvPr>
          <p:cNvSpPr/>
          <p:nvPr/>
        </p:nvSpPr>
        <p:spPr>
          <a:xfrm>
            <a:off x="6198764" y="194632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 Neue"/>
              </a:rPr>
              <a:t>M1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565D7A3C-3F33-5F06-C2E5-C73C5F456861}"/>
              </a:ext>
            </a:extLst>
          </p:cNvPr>
          <p:cNvSpPr/>
          <p:nvPr/>
        </p:nvSpPr>
        <p:spPr>
          <a:xfrm>
            <a:off x="2486385" y="194632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 Neue"/>
              </a:rPr>
              <a:t>M1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3F156C3D-C795-4BB3-DF1E-0265C0C94325}"/>
              </a:ext>
            </a:extLst>
          </p:cNvPr>
          <p:cNvSpPr/>
          <p:nvPr/>
        </p:nvSpPr>
        <p:spPr>
          <a:xfrm>
            <a:off x="3471729" y="283313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 Neue"/>
              </a:rPr>
              <a:t>M2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A01B28D1-071A-782A-AAFB-95A41E8559DC}"/>
              </a:ext>
            </a:extLst>
          </p:cNvPr>
          <p:cNvSpPr/>
          <p:nvPr/>
        </p:nvSpPr>
        <p:spPr>
          <a:xfrm>
            <a:off x="4968453" y="3700234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 Neue"/>
              </a:rPr>
              <a:t>M3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8F5C264-1523-4FEA-8DCF-988505EED1BC}"/>
              </a:ext>
            </a:extLst>
          </p:cNvPr>
          <p:cNvSpPr/>
          <p:nvPr/>
        </p:nvSpPr>
        <p:spPr>
          <a:xfrm>
            <a:off x="2860815" y="3700234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 Neue"/>
              </a:rPr>
              <a:t>M3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0BA80BE0-39A7-FE11-D84A-8DE487AE4644}"/>
              </a:ext>
            </a:extLst>
          </p:cNvPr>
          <p:cNvSpPr/>
          <p:nvPr/>
        </p:nvSpPr>
        <p:spPr>
          <a:xfrm>
            <a:off x="5459254" y="281866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 Neue"/>
              </a:rPr>
              <a:t>M2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26FAD64F-B685-F651-6769-29AFFD8D7EE9}"/>
              </a:ext>
            </a:extLst>
          </p:cNvPr>
          <p:cNvSpPr/>
          <p:nvPr/>
        </p:nvSpPr>
        <p:spPr>
          <a:xfrm>
            <a:off x="7275656" y="281866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 Neue"/>
              </a:rPr>
              <a:t>M2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21C386AD-3206-87F7-9FBE-790D7D82B083}"/>
              </a:ext>
            </a:extLst>
          </p:cNvPr>
          <p:cNvSpPr/>
          <p:nvPr/>
        </p:nvSpPr>
        <p:spPr>
          <a:xfrm>
            <a:off x="8216092" y="375821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 Neue"/>
              </a:rPr>
              <a:t>M3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7C0B7DA2-077F-E897-3CEC-58A4DE532731}"/>
              </a:ext>
            </a:extLst>
          </p:cNvPr>
          <p:cNvSpPr/>
          <p:nvPr/>
        </p:nvSpPr>
        <p:spPr>
          <a:xfrm>
            <a:off x="7283156" y="375821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 Neue"/>
              </a:rPr>
              <a:t>M3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DBF9827F-5B82-25B8-B153-C0F561781F4B}"/>
              </a:ext>
            </a:extLst>
          </p:cNvPr>
          <p:cNvSpPr/>
          <p:nvPr/>
        </p:nvSpPr>
        <p:spPr>
          <a:xfrm>
            <a:off x="1422212" y="2842984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 Neue"/>
              </a:rPr>
              <a:t>M2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D53F1D98-EA35-B752-0273-FEF105F0FCD6}"/>
              </a:ext>
            </a:extLst>
          </p:cNvPr>
          <p:cNvSpPr/>
          <p:nvPr/>
        </p:nvSpPr>
        <p:spPr>
          <a:xfrm>
            <a:off x="880272" y="3700234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 Neue"/>
              </a:rPr>
              <a:t>M3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8FEDD6-D8D4-E506-36DF-0D73F03ECF56}"/>
              </a:ext>
            </a:extLst>
          </p:cNvPr>
          <p:cNvCxnSpPr/>
          <p:nvPr/>
        </p:nvCxnSpPr>
        <p:spPr>
          <a:xfrm flipH="1">
            <a:off x="2998962" y="1435150"/>
            <a:ext cx="1302730" cy="5821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840F72-2E60-08F4-B6F0-90FA5CBF6DCC}"/>
              </a:ext>
            </a:extLst>
          </p:cNvPr>
          <p:cNvCxnSpPr>
            <a:cxnSpLocks/>
          </p:cNvCxnSpPr>
          <p:nvPr/>
        </p:nvCxnSpPr>
        <p:spPr>
          <a:xfrm flipH="1">
            <a:off x="5807546" y="2449144"/>
            <a:ext cx="507390" cy="3731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62A8B38-19B1-16D8-39A0-F6C9DAFEC51E}"/>
              </a:ext>
            </a:extLst>
          </p:cNvPr>
          <p:cNvCxnSpPr>
            <a:cxnSpLocks/>
          </p:cNvCxnSpPr>
          <p:nvPr/>
        </p:nvCxnSpPr>
        <p:spPr>
          <a:xfrm flipH="1">
            <a:off x="3362772" y="3391205"/>
            <a:ext cx="335018" cy="3941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87D1C8-4D90-EAB0-704C-8D4149D3B9E2}"/>
              </a:ext>
            </a:extLst>
          </p:cNvPr>
          <p:cNvCxnSpPr>
            <a:cxnSpLocks/>
          </p:cNvCxnSpPr>
          <p:nvPr/>
        </p:nvCxnSpPr>
        <p:spPr>
          <a:xfrm flipH="1">
            <a:off x="1332958" y="3371497"/>
            <a:ext cx="246339" cy="3645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7C65404-BE40-9176-D582-C523532D2F5B}"/>
              </a:ext>
            </a:extLst>
          </p:cNvPr>
          <p:cNvCxnSpPr>
            <a:cxnSpLocks/>
          </p:cNvCxnSpPr>
          <p:nvPr/>
        </p:nvCxnSpPr>
        <p:spPr>
          <a:xfrm flipH="1">
            <a:off x="1937137" y="2444274"/>
            <a:ext cx="652076" cy="4558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E9E8AE-D6B8-2CC8-C9F8-B4C2C0E95E58}"/>
              </a:ext>
            </a:extLst>
          </p:cNvPr>
          <p:cNvCxnSpPr>
            <a:cxnSpLocks/>
          </p:cNvCxnSpPr>
          <p:nvPr/>
        </p:nvCxnSpPr>
        <p:spPr>
          <a:xfrm>
            <a:off x="2990710" y="2444527"/>
            <a:ext cx="552416" cy="4770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FC65C1C-AE2F-1D9A-521C-E2F877575D16}"/>
              </a:ext>
            </a:extLst>
          </p:cNvPr>
          <p:cNvCxnSpPr>
            <a:cxnSpLocks/>
          </p:cNvCxnSpPr>
          <p:nvPr/>
        </p:nvCxnSpPr>
        <p:spPr>
          <a:xfrm flipH="1">
            <a:off x="5405424" y="3369504"/>
            <a:ext cx="233241" cy="3659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BFAAB95D-4268-E15F-132E-5E1E8F7E73BE}"/>
              </a:ext>
            </a:extLst>
          </p:cNvPr>
          <p:cNvSpPr/>
          <p:nvPr/>
        </p:nvSpPr>
        <p:spPr>
          <a:xfrm>
            <a:off x="1983858" y="369038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 Neue"/>
              </a:rPr>
              <a:t>M3</a:t>
            </a: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898DAA63-5B19-B852-BDDB-9944B5950934}"/>
              </a:ext>
            </a:extLst>
          </p:cNvPr>
          <p:cNvSpPr/>
          <p:nvPr/>
        </p:nvSpPr>
        <p:spPr>
          <a:xfrm>
            <a:off x="4141763" y="3710087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 Neue"/>
              </a:rPr>
              <a:t>M3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09D41B37-2C7D-BA39-4DF8-9C06CED38853}"/>
              </a:ext>
            </a:extLst>
          </p:cNvPr>
          <p:cNvSpPr/>
          <p:nvPr/>
        </p:nvSpPr>
        <p:spPr>
          <a:xfrm>
            <a:off x="5924237" y="3710086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 Neue"/>
              </a:rPr>
              <a:t>M3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C2D33B2-16D7-6BB1-A614-10D1729B5E01}"/>
              </a:ext>
            </a:extLst>
          </p:cNvPr>
          <p:cNvCxnSpPr>
            <a:cxnSpLocks/>
          </p:cNvCxnSpPr>
          <p:nvPr/>
        </p:nvCxnSpPr>
        <p:spPr>
          <a:xfrm>
            <a:off x="1934519" y="3363267"/>
            <a:ext cx="234113" cy="3468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57C5313-23B7-F08C-9C4D-C2EB69FC998F}"/>
              </a:ext>
            </a:extLst>
          </p:cNvPr>
          <p:cNvCxnSpPr>
            <a:cxnSpLocks/>
          </p:cNvCxnSpPr>
          <p:nvPr/>
        </p:nvCxnSpPr>
        <p:spPr>
          <a:xfrm>
            <a:off x="3880512" y="3377735"/>
            <a:ext cx="349859" cy="4192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CECAB3B-4337-35E2-85B0-9C97C3B5BEFF}"/>
              </a:ext>
            </a:extLst>
          </p:cNvPr>
          <p:cNvCxnSpPr>
            <a:cxnSpLocks/>
          </p:cNvCxnSpPr>
          <p:nvPr/>
        </p:nvCxnSpPr>
        <p:spPr>
          <a:xfrm>
            <a:off x="5946862" y="3334330"/>
            <a:ext cx="241347" cy="3758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B2E27E4-C5D4-8218-12EA-AA9711A5A8C1}"/>
              </a:ext>
            </a:extLst>
          </p:cNvPr>
          <p:cNvCxnSpPr>
            <a:cxnSpLocks/>
          </p:cNvCxnSpPr>
          <p:nvPr/>
        </p:nvCxnSpPr>
        <p:spPr>
          <a:xfrm>
            <a:off x="6699221" y="2451760"/>
            <a:ext cx="646461" cy="4698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4C5ED46-F825-4BFD-9181-0F22DCF96289}"/>
              </a:ext>
            </a:extLst>
          </p:cNvPr>
          <p:cNvCxnSpPr>
            <a:cxnSpLocks/>
          </p:cNvCxnSpPr>
          <p:nvPr/>
        </p:nvCxnSpPr>
        <p:spPr>
          <a:xfrm>
            <a:off x="4821399" y="1419634"/>
            <a:ext cx="1492494" cy="6059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FD39FEE-2175-184B-691F-CC767B03A681}"/>
              </a:ext>
            </a:extLst>
          </p:cNvPr>
          <p:cNvSpPr txBox="1"/>
          <p:nvPr/>
        </p:nvSpPr>
        <p:spPr>
          <a:xfrm>
            <a:off x="199688" y="1064172"/>
            <a:ext cx="227963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Helvetica Neue"/>
              </a:rPr>
              <a:t>AFL-Hier</a:t>
            </a: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EFE39367-1ABD-759C-2D27-0DC96FDA4239}"/>
              </a:ext>
            </a:extLst>
          </p:cNvPr>
          <p:cNvSpPr/>
          <p:nvPr/>
        </p:nvSpPr>
        <p:spPr>
          <a:xfrm>
            <a:off x="432297" y="194632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 Neue"/>
              </a:rPr>
              <a:t>M1</a:t>
            </a: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772F99DE-712A-2ECB-3DC3-372FD26E8540}"/>
              </a:ext>
            </a:extLst>
          </p:cNvPr>
          <p:cNvSpPr/>
          <p:nvPr/>
        </p:nvSpPr>
        <p:spPr>
          <a:xfrm>
            <a:off x="8184819" y="194632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 Neue"/>
              </a:rPr>
              <a:t>M1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06D938-0E1D-EB44-E5C0-5C0CC4E94380}"/>
              </a:ext>
            </a:extLst>
          </p:cNvPr>
          <p:cNvSpPr txBox="1"/>
          <p:nvPr/>
        </p:nvSpPr>
        <p:spPr>
          <a:xfrm>
            <a:off x="3735456" y="1855304"/>
            <a:ext cx="17062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…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0562E-5F44-F8FA-7946-23E771E1AF64}"/>
              </a:ext>
            </a:extLst>
          </p:cNvPr>
          <p:cNvSpPr txBox="1"/>
          <p:nvPr/>
        </p:nvSpPr>
        <p:spPr>
          <a:xfrm>
            <a:off x="1946412" y="2774673"/>
            <a:ext cx="17062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…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F4DC85-DE9E-49BA-82BD-1E065C269CD8}"/>
              </a:ext>
            </a:extLst>
          </p:cNvPr>
          <p:cNvSpPr txBox="1"/>
          <p:nvPr/>
        </p:nvSpPr>
        <p:spPr>
          <a:xfrm>
            <a:off x="5714999" y="2799521"/>
            <a:ext cx="17062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…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6889F21-3E4C-4877-C802-363CEBE295BC}"/>
              </a:ext>
            </a:extLst>
          </p:cNvPr>
          <p:cNvCxnSpPr>
            <a:cxnSpLocks/>
          </p:cNvCxnSpPr>
          <p:nvPr/>
        </p:nvCxnSpPr>
        <p:spPr>
          <a:xfrm>
            <a:off x="6534226" y="2519018"/>
            <a:ext cx="19098" cy="5222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1FF4DE2-1E66-E44E-08B7-C27597978109}"/>
              </a:ext>
            </a:extLst>
          </p:cNvPr>
          <p:cNvCxnSpPr>
            <a:cxnSpLocks/>
          </p:cNvCxnSpPr>
          <p:nvPr/>
        </p:nvCxnSpPr>
        <p:spPr>
          <a:xfrm flipH="1">
            <a:off x="2793019" y="2519019"/>
            <a:ext cx="5749" cy="5139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6191859-A767-6EC7-0A74-3D200F1B94F0}"/>
              </a:ext>
            </a:extLst>
          </p:cNvPr>
          <p:cNvCxnSpPr>
            <a:cxnSpLocks/>
          </p:cNvCxnSpPr>
          <p:nvPr/>
        </p:nvCxnSpPr>
        <p:spPr>
          <a:xfrm flipH="1">
            <a:off x="4582062" y="1549953"/>
            <a:ext cx="5749" cy="5139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2C721F19-9591-737A-CC5F-45C71F05333A}"/>
              </a:ext>
            </a:extLst>
          </p:cNvPr>
          <p:cNvSpPr/>
          <p:nvPr/>
        </p:nvSpPr>
        <p:spPr>
          <a:xfrm>
            <a:off x="8216092" y="2822276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 Neue"/>
              </a:rPr>
              <a:t>M2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AD44D27-7D6B-8032-E880-37018F7EAA47}"/>
              </a:ext>
            </a:extLst>
          </p:cNvPr>
          <p:cNvCxnSpPr>
            <a:cxnSpLocks/>
          </p:cNvCxnSpPr>
          <p:nvPr/>
        </p:nvCxnSpPr>
        <p:spPr>
          <a:xfrm>
            <a:off x="8522052" y="3396974"/>
            <a:ext cx="2533" cy="3566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CF8AB79-0F1A-2E89-4A36-B1AEB3C01424}"/>
              </a:ext>
            </a:extLst>
          </p:cNvPr>
          <p:cNvCxnSpPr>
            <a:cxnSpLocks/>
          </p:cNvCxnSpPr>
          <p:nvPr/>
        </p:nvCxnSpPr>
        <p:spPr>
          <a:xfrm>
            <a:off x="8505487" y="2519015"/>
            <a:ext cx="10816" cy="2986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A59FAC67-B872-B229-5131-793A150BDF25}"/>
              </a:ext>
            </a:extLst>
          </p:cNvPr>
          <p:cNvSpPr/>
          <p:nvPr/>
        </p:nvSpPr>
        <p:spPr>
          <a:xfrm>
            <a:off x="74287" y="3749928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 Neue"/>
              </a:rPr>
              <a:t>M3</a:t>
            </a:r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8E9AEBFB-1C12-FBF5-1DB9-C2C6A31FFBAE}"/>
              </a:ext>
            </a:extLst>
          </p:cNvPr>
          <p:cNvSpPr/>
          <p:nvPr/>
        </p:nvSpPr>
        <p:spPr>
          <a:xfrm>
            <a:off x="74287" y="2813993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 Neue"/>
              </a:rPr>
              <a:t>M2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E6C68F2-3BD6-9EBF-9505-91FCD03B1801}"/>
              </a:ext>
            </a:extLst>
          </p:cNvPr>
          <p:cNvCxnSpPr>
            <a:cxnSpLocks/>
          </p:cNvCxnSpPr>
          <p:nvPr/>
        </p:nvCxnSpPr>
        <p:spPr>
          <a:xfrm>
            <a:off x="380247" y="3388691"/>
            <a:ext cx="2533" cy="3566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FEC37BE-E024-88A1-2E90-A8B657D84460}"/>
              </a:ext>
            </a:extLst>
          </p:cNvPr>
          <p:cNvCxnSpPr>
            <a:cxnSpLocks/>
          </p:cNvCxnSpPr>
          <p:nvPr/>
        </p:nvCxnSpPr>
        <p:spPr>
          <a:xfrm flipH="1">
            <a:off x="374497" y="2477601"/>
            <a:ext cx="229379" cy="3483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E53EFB6-FFBA-4352-15B2-E4BCA51726F2}"/>
              </a:ext>
            </a:extLst>
          </p:cNvPr>
          <p:cNvCxnSpPr>
            <a:cxnSpLocks/>
          </p:cNvCxnSpPr>
          <p:nvPr/>
        </p:nvCxnSpPr>
        <p:spPr>
          <a:xfrm flipH="1">
            <a:off x="969723" y="1236368"/>
            <a:ext cx="3298838" cy="7891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30C0862-7FA3-2B29-99F0-C8B543250C4C}"/>
              </a:ext>
            </a:extLst>
          </p:cNvPr>
          <p:cNvCxnSpPr>
            <a:cxnSpLocks/>
          </p:cNvCxnSpPr>
          <p:nvPr/>
        </p:nvCxnSpPr>
        <p:spPr>
          <a:xfrm>
            <a:off x="4887660" y="1237417"/>
            <a:ext cx="3380927" cy="7798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66018E5-4857-70F1-FAA1-AEE291B5A173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“Reinforcement Learning-based Hierarchical Seed Scheduling for </a:t>
            </a:r>
            <a:r>
              <a:rPr lang="en-US" sz="1000" dirty="0" err="1">
                <a:latin typeface="Helvetica Neue"/>
              </a:rPr>
              <a:t>Greybox</a:t>
            </a:r>
            <a:r>
              <a:rPr lang="en-US" sz="1000" dirty="0">
                <a:latin typeface="Helvetica Neue"/>
              </a:rPr>
              <a:t> Fuzzing” ISOC NDSS 2021.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6339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4" grpId="0" animBg="1"/>
      <p:bldP spid="25" grpId="0" animBg="1"/>
      <p:bldP spid="26" grpId="0" animBg="1"/>
      <p:bldP spid="32" grpId="0" animBg="1"/>
      <p:bldP spid="33" grpId="0" animBg="1"/>
      <p:bldP spid="34" grpId="0"/>
      <p:bldP spid="35" grpId="0"/>
      <p:bldP spid="36" grpId="0"/>
      <p:bldP spid="40" grpId="0" animBg="1"/>
      <p:bldP spid="43" grpId="0" animBg="1"/>
      <p:bldP spid="4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26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890528"/>
            <a:ext cx="8837839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endParaRPr lang="en-US" sz="2800">
              <a:latin typeface="Helvetica Neue"/>
            </a:endParaRPr>
          </a:p>
          <a:p>
            <a:pPr algn="ctr"/>
            <a:r>
              <a:rPr lang="en-US" sz="6000" dirty="0">
                <a:latin typeface="Helvetica Neue"/>
              </a:rPr>
              <a:t>Seed Mutation</a:t>
            </a:r>
          </a:p>
          <a:p>
            <a:pPr marL="457200" indent="-457200">
              <a:buAutoNum type="arabicPeriod"/>
            </a:pPr>
            <a:endParaRPr lang="en-US" sz="2800">
              <a:latin typeface="Helvetica Neue"/>
            </a:endParaRPr>
          </a:p>
          <a:p>
            <a:pPr marL="514350" indent="-514350" algn="ctr">
              <a:buAutoNum type="arabicPeriod"/>
            </a:pPr>
            <a:r>
              <a:rPr lang="en-US" sz="3200" dirty="0">
                <a:latin typeface="Helvetica Neue"/>
              </a:rPr>
              <a:t>Which parts of seed should be mutated?</a:t>
            </a:r>
          </a:p>
          <a:p>
            <a:pPr marL="514350" indent="-514350" algn="ctr">
              <a:buAutoNum type="arabicPeriod"/>
            </a:pPr>
            <a:r>
              <a:rPr lang="en-US" sz="3200" dirty="0">
                <a:latin typeface="Helvetica Neue"/>
              </a:rPr>
              <a:t>How to mutate chosen parts of seed?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88033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1FA82698-3861-A832-751F-07D2C382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9174BE0D-0659-3020-9501-864EEE8105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27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0B0A93C5-6A33-66C2-8B3E-8AC9BDEE55B2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43774F1D-2FCE-034A-DB4D-15C967EC1899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8EE61138-91BD-CF5D-81C9-49E0E3893E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104A7DAA-C1CE-4DBF-5F78-45665599CF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26760" cy="603316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Whole seed mutation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48E1A-C8DC-A7A3-B4C8-8BBE15654EFC}"/>
              </a:ext>
            </a:extLst>
          </p:cNvPr>
          <p:cNvSpPr txBox="1"/>
          <p:nvPr/>
        </p:nvSpPr>
        <p:spPr>
          <a:xfrm>
            <a:off x="142874" y="890528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 err="1">
                <a:latin typeface="Helvetica Neue"/>
              </a:rPr>
              <a:t>VUzzer</a:t>
            </a:r>
            <a:r>
              <a:rPr lang="en-US" sz="2800" dirty="0">
                <a:latin typeface="Helvetica Neue"/>
              </a:rPr>
              <a:t>: Genetic algorithms inspired mutation. 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142D44-11D2-577C-9D74-88EEFC612CC1}"/>
              </a:ext>
            </a:extLst>
          </p:cNvPr>
          <p:cNvSpPr txBox="1"/>
          <p:nvPr/>
        </p:nvSpPr>
        <p:spPr>
          <a:xfrm>
            <a:off x="3025008" y="1537137"/>
            <a:ext cx="600075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Fitness value = Σ </a:t>
            </a:r>
            <a:r>
              <a:rPr lang="en-US" sz="2800" dirty="0" err="1">
                <a:latin typeface="Helvetica Neue"/>
              </a:rPr>
              <a:t>w</a:t>
            </a:r>
            <a:r>
              <a:rPr lang="en-US" sz="2800" baseline="-25000" dirty="0" err="1">
                <a:latin typeface="Helvetica Neue"/>
              </a:rPr>
              <a:t>i</a:t>
            </a:r>
            <a:r>
              <a:rPr lang="en-US" sz="2800" dirty="0">
                <a:latin typeface="Helvetica Neue"/>
              </a:rPr>
              <a:t> * f</a:t>
            </a:r>
            <a:r>
              <a:rPr lang="en-US" sz="2800" baseline="-25000" dirty="0">
                <a:latin typeface="Helvetica Neue"/>
              </a:rPr>
              <a:t>i</a:t>
            </a:r>
            <a:endParaRPr lang="en-US" dirty="0"/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f</a:t>
            </a:r>
            <a:r>
              <a:rPr lang="en-US" sz="2800" baseline="-25000" dirty="0">
                <a:latin typeface="Helvetica Neue"/>
              </a:rPr>
              <a:t>i</a:t>
            </a:r>
            <a:r>
              <a:rPr lang="en-US" sz="2800" dirty="0">
                <a:latin typeface="Helvetica Neue"/>
              </a:rPr>
              <a:t> : Number of times block executed by seed.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FBBAF-5828-5280-9FA6-AF0D2FE63002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 err="1"/>
              <a:t>VUzzer</a:t>
            </a:r>
            <a:r>
              <a:rPr lang="en-US" sz="1000" dirty="0"/>
              <a:t>: Application-aware Evolutionary Fuzzing</a:t>
            </a:r>
            <a:r>
              <a:rPr lang="en-US" sz="1000" dirty="0">
                <a:latin typeface="Helvetica Neue"/>
              </a:rPr>
              <a:t>” ISOC NDSS 2017.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32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F80C4EF7-81FD-3DB6-4357-4933DA4E3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C8348A51-C779-9BE7-39DB-22BEBEC539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28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7E6A762-1E8A-DF5F-EA47-8279CA178D0E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044BC103-E987-FBCF-BABD-E905A85EDC64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ABEB0E10-7526-E8A6-4AF5-79F71A834D1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5E5F56B1-210C-ED65-F7E7-30D60296B0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26760" cy="603316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Whole seed mutation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D73CDD-C321-83A6-C435-C50F4356C8DB}"/>
              </a:ext>
            </a:extLst>
          </p:cNvPr>
          <p:cNvSpPr txBox="1"/>
          <p:nvPr/>
        </p:nvSpPr>
        <p:spPr>
          <a:xfrm>
            <a:off x="142874" y="890528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 err="1">
                <a:latin typeface="Helvetica Neue"/>
              </a:rPr>
              <a:t>VUzzer</a:t>
            </a:r>
            <a:r>
              <a:rPr lang="en-US" sz="2800" dirty="0">
                <a:latin typeface="Helvetica Neue"/>
              </a:rPr>
              <a:t>: Genetic algorithms inspired mutation. </a:t>
            </a:r>
            <a:endParaRPr lang="en-US" dirty="0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3D0D3F39-5B5B-52A0-70C0-3FA9CF524103}"/>
              </a:ext>
            </a:extLst>
          </p:cNvPr>
          <p:cNvSpPr/>
          <p:nvPr/>
        </p:nvSpPr>
        <p:spPr>
          <a:xfrm>
            <a:off x="1024504" y="1445223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A</a:t>
            </a:r>
            <a:endParaRPr lang="en-US" sz="2400">
              <a:solidFill>
                <a:schemeClr val="tx1"/>
              </a:solidFill>
              <a:latin typeface="Helvetica Neue"/>
            </a:endParaRP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266757EF-52FC-D6BB-7592-C41F19A8B134}"/>
              </a:ext>
            </a:extLst>
          </p:cNvPr>
          <p:cNvSpPr/>
          <p:nvPr/>
        </p:nvSpPr>
        <p:spPr>
          <a:xfrm>
            <a:off x="1024504" y="2285867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B</a:t>
            </a:r>
            <a:endParaRPr lang="en-US" sz="2400">
              <a:solidFill>
                <a:schemeClr val="tx1"/>
              </a:solidFill>
              <a:latin typeface="Helvetica Neue"/>
            </a:endParaRP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DA8A04E3-5EE7-D540-416F-E1E218CAC8E9}"/>
              </a:ext>
            </a:extLst>
          </p:cNvPr>
          <p:cNvSpPr/>
          <p:nvPr/>
        </p:nvSpPr>
        <p:spPr>
          <a:xfrm>
            <a:off x="1546007" y="3206800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  <a:latin typeface="Helvetica Neue"/>
                <a:cs typeface="Arial"/>
              </a:rPr>
              <a:t>D</a:t>
            </a:r>
            <a:endParaRPr lang="en-US" sz="2400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8946C381-032F-3651-3305-DD6583723E2A}"/>
              </a:ext>
            </a:extLst>
          </p:cNvPr>
          <p:cNvSpPr/>
          <p:nvPr/>
        </p:nvSpPr>
        <p:spPr>
          <a:xfrm>
            <a:off x="610659" y="3206799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  <a:latin typeface="Helvetica Neue"/>
                <a:cs typeface="Arial"/>
              </a:rPr>
              <a:t>C</a:t>
            </a:r>
            <a:endParaRPr lang="en-US" sz="2400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023EBEA1-6ABA-DE17-B482-6EB03693C956}"/>
              </a:ext>
            </a:extLst>
          </p:cNvPr>
          <p:cNvSpPr/>
          <p:nvPr/>
        </p:nvSpPr>
        <p:spPr>
          <a:xfrm>
            <a:off x="216521" y="4194334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  <a:latin typeface="Helvetica Neue"/>
                <a:cs typeface="Arial"/>
              </a:rPr>
              <a:t>E</a:t>
            </a:r>
            <a:endParaRPr lang="en-US" sz="2400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9068FADA-EA75-74C4-DD3C-8E7546AF29FC}"/>
              </a:ext>
            </a:extLst>
          </p:cNvPr>
          <p:cNvSpPr/>
          <p:nvPr/>
        </p:nvSpPr>
        <p:spPr>
          <a:xfrm>
            <a:off x="1024504" y="4204188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  <a:latin typeface="Helvetica Neue"/>
                <a:cs typeface="Arial"/>
              </a:rPr>
              <a:t>F</a:t>
            </a:r>
            <a:endParaRPr lang="en-US" sz="2400">
              <a:solidFill>
                <a:srgbClr val="000000"/>
              </a:solidFill>
              <a:latin typeface="Helvetica Neue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666A4C9-B7A2-4C9B-2671-2F729C00719A}"/>
              </a:ext>
            </a:extLst>
          </p:cNvPr>
          <p:cNvCxnSpPr/>
          <p:nvPr/>
        </p:nvCxnSpPr>
        <p:spPr>
          <a:xfrm flipH="1">
            <a:off x="1326564" y="2014665"/>
            <a:ext cx="1" cy="2700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115A0FE-79AE-E911-DE0F-AF8FA643B935}"/>
              </a:ext>
            </a:extLst>
          </p:cNvPr>
          <p:cNvCxnSpPr/>
          <p:nvPr/>
        </p:nvCxnSpPr>
        <p:spPr>
          <a:xfrm flipH="1">
            <a:off x="1037167" y="2831041"/>
            <a:ext cx="174624" cy="396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79735A-0C36-DFD3-41FB-638F48532A58}"/>
              </a:ext>
            </a:extLst>
          </p:cNvPr>
          <p:cNvCxnSpPr/>
          <p:nvPr/>
        </p:nvCxnSpPr>
        <p:spPr>
          <a:xfrm>
            <a:off x="1460500" y="2831042"/>
            <a:ext cx="243416" cy="4074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5DA6D1-DF21-C750-D38A-DE6763676613}"/>
              </a:ext>
            </a:extLst>
          </p:cNvPr>
          <p:cNvCxnSpPr/>
          <p:nvPr/>
        </p:nvCxnSpPr>
        <p:spPr>
          <a:xfrm flipH="1">
            <a:off x="539750" y="3757083"/>
            <a:ext cx="254000" cy="4339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0E34242-96F5-13D4-72CC-ED97C3C1CFCC}"/>
              </a:ext>
            </a:extLst>
          </p:cNvPr>
          <p:cNvCxnSpPr>
            <a:cxnSpLocks/>
          </p:cNvCxnSpPr>
          <p:nvPr/>
        </p:nvCxnSpPr>
        <p:spPr>
          <a:xfrm>
            <a:off x="1037165" y="3751793"/>
            <a:ext cx="174626" cy="481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57AD85F-EA6C-9B43-078B-F302AC4147C9}"/>
              </a:ext>
            </a:extLst>
          </p:cNvPr>
          <p:cNvSpPr txBox="1"/>
          <p:nvPr/>
        </p:nvSpPr>
        <p:spPr>
          <a:xfrm>
            <a:off x="1552574" y="2285999"/>
            <a:ext cx="6096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latin typeface="Helvetica Neue"/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79B8C5-E3A4-6E85-EFF7-EA6E9F4A0953}"/>
              </a:ext>
            </a:extLst>
          </p:cNvPr>
          <p:cNvSpPr txBox="1"/>
          <p:nvPr/>
        </p:nvSpPr>
        <p:spPr>
          <a:xfrm>
            <a:off x="1543049" y="1466849"/>
            <a:ext cx="6096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latin typeface="Helvetica Neue"/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C6CC62-C1C6-E23A-6967-431CF0DAB853}"/>
              </a:ext>
            </a:extLst>
          </p:cNvPr>
          <p:cNvSpPr txBox="1"/>
          <p:nvPr/>
        </p:nvSpPr>
        <p:spPr>
          <a:xfrm>
            <a:off x="2105024" y="3200399"/>
            <a:ext cx="6096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latin typeface="Helvetica Neue"/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57B933-97E9-6E9D-0416-B27C3EFA8865}"/>
              </a:ext>
            </a:extLst>
          </p:cNvPr>
          <p:cNvSpPr txBox="1"/>
          <p:nvPr/>
        </p:nvSpPr>
        <p:spPr>
          <a:xfrm>
            <a:off x="304799" y="3200399"/>
            <a:ext cx="6096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latin typeface="Helvetica Neue"/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0567D4-A4E9-4742-AA0E-BFE6F8D7CFDF}"/>
              </a:ext>
            </a:extLst>
          </p:cNvPr>
          <p:cNvSpPr txBox="1"/>
          <p:nvPr/>
        </p:nvSpPr>
        <p:spPr>
          <a:xfrm>
            <a:off x="1583154" y="4248650"/>
            <a:ext cx="6096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latin typeface="Helvetica Neue"/>
              </a:rPr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2E86A1-8407-91C2-F69D-E3D36FCABAF2}"/>
              </a:ext>
            </a:extLst>
          </p:cNvPr>
          <p:cNvSpPr txBox="1"/>
          <p:nvPr/>
        </p:nvSpPr>
        <p:spPr>
          <a:xfrm>
            <a:off x="-38101" y="4248149"/>
            <a:ext cx="6096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latin typeface="Helvetica Neue"/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36270D-EC17-0FAB-812E-A842F7053A9D}"/>
              </a:ext>
            </a:extLst>
          </p:cNvPr>
          <p:cNvSpPr txBox="1"/>
          <p:nvPr/>
        </p:nvSpPr>
        <p:spPr>
          <a:xfrm>
            <a:off x="3025008" y="1537137"/>
            <a:ext cx="6000750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Fitness value = Σ </a:t>
            </a:r>
            <a:r>
              <a:rPr lang="en-US" sz="2800" dirty="0" err="1">
                <a:latin typeface="Helvetica Neue"/>
              </a:rPr>
              <a:t>w</a:t>
            </a:r>
            <a:r>
              <a:rPr lang="en-US" sz="2800" baseline="-25000" dirty="0" err="1">
                <a:latin typeface="Helvetica Neue"/>
              </a:rPr>
              <a:t>i</a:t>
            </a:r>
            <a:r>
              <a:rPr lang="en-US" sz="2800" dirty="0">
                <a:latin typeface="Helvetica Neue"/>
              </a:rPr>
              <a:t> * f</a:t>
            </a:r>
            <a:r>
              <a:rPr lang="en-US" sz="2800" baseline="-25000" dirty="0">
                <a:latin typeface="Helvetica Neue"/>
              </a:rPr>
              <a:t>i</a:t>
            </a:r>
            <a:endParaRPr lang="en-US" dirty="0"/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f</a:t>
            </a:r>
            <a:r>
              <a:rPr lang="en-US" sz="2800" baseline="-25000" dirty="0">
                <a:latin typeface="Helvetica Neue"/>
              </a:rPr>
              <a:t>i</a:t>
            </a:r>
            <a:r>
              <a:rPr lang="en-US" sz="2800" dirty="0">
                <a:latin typeface="Helvetica Neue"/>
              </a:rPr>
              <a:t> : Number of times block executed by seed.</a:t>
            </a:r>
            <a:endParaRPr lang="en-US" dirty="0"/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Use standard genetic operations (select, recombine, mutate).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B40116-1F02-D60D-BEB8-1767A4460833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 err="1">
                <a:latin typeface="Helvetica Neue"/>
              </a:rPr>
              <a:t>VUzzer</a:t>
            </a:r>
            <a:r>
              <a:rPr lang="en-US" sz="1000" dirty="0">
                <a:latin typeface="Helvetica Neue"/>
              </a:rPr>
              <a:t>: Application-aware Evolutionary Fuzzing” ISOC NDSS 2017.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19537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9" grpId="0" animBg="1"/>
      <p:bldP spid="10" grpId="0" animBg="1"/>
      <p:bldP spid="25" grpId="0"/>
      <p:bldP spid="26" grpId="0"/>
      <p:bldP spid="27" grpId="0"/>
      <p:bldP spid="28" grpId="0"/>
      <p:bldP spid="30" grpId="0"/>
      <p:bldP spid="3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29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26760" cy="603316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Whole seed mutation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890528"/>
            <a:ext cx="883783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Helvetica Neue"/>
              </a:rPr>
              <a:t>NAUTILUS/GRIMOIRE: Structure-aware mutation using input grammar.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181DC5-3F00-EB8E-D356-B6F2DCC82FDD}"/>
              </a:ext>
            </a:extLst>
          </p:cNvPr>
          <p:cNvSpPr txBox="1"/>
          <p:nvPr/>
        </p:nvSpPr>
        <p:spPr>
          <a:xfrm>
            <a:off x="1195759" y="2051637"/>
            <a:ext cx="11134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STMT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7F5F0-5816-D259-CA8E-A0D59634F441}"/>
              </a:ext>
            </a:extLst>
          </p:cNvPr>
          <p:cNvSpPr txBox="1"/>
          <p:nvPr/>
        </p:nvSpPr>
        <p:spPr>
          <a:xfrm>
            <a:off x="413845" y="2721672"/>
            <a:ext cx="7784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VAR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92A464-FB8D-FC9B-7AA9-26B809630B57}"/>
              </a:ext>
            </a:extLst>
          </p:cNvPr>
          <p:cNvSpPr txBox="1"/>
          <p:nvPr/>
        </p:nvSpPr>
        <p:spPr>
          <a:xfrm>
            <a:off x="1339819" y="2721671"/>
            <a:ext cx="7784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=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1EFDB5-9D3F-5022-F8F4-89A7A668D5B6}"/>
              </a:ext>
            </a:extLst>
          </p:cNvPr>
          <p:cNvSpPr txBox="1"/>
          <p:nvPr/>
        </p:nvSpPr>
        <p:spPr>
          <a:xfrm>
            <a:off x="2316432" y="2699968"/>
            <a:ext cx="97374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EXPR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E30007-7F83-65BB-A88E-6926B2C09FFB}"/>
              </a:ext>
            </a:extLst>
          </p:cNvPr>
          <p:cNvSpPr txBox="1"/>
          <p:nvPr/>
        </p:nvSpPr>
        <p:spPr>
          <a:xfrm>
            <a:off x="2301963" y="3437854"/>
            <a:ext cx="97374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NUM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7E6C12-DA0C-958A-55BD-1233501C7790}"/>
              </a:ext>
            </a:extLst>
          </p:cNvPr>
          <p:cNvSpPr txBox="1"/>
          <p:nvPr/>
        </p:nvSpPr>
        <p:spPr>
          <a:xfrm>
            <a:off x="2273027" y="4248082"/>
            <a:ext cx="97374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1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0E1339-B1FE-14A1-BB78-A8ED628D9BB6}"/>
              </a:ext>
            </a:extLst>
          </p:cNvPr>
          <p:cNvSpPr txBox="1"/>
          <p:nvPr/>
        </p:nvSpPr>
        <p:spPr>
          <a:xfrm>
            <a:off x="413844" y="3401684"/>
            <a:ext cx="7784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a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D3D4DF-66D0-040E-CD67-DB85BA8316F9}"/>
              </a:ext>
            </a:extLst>
          </p:cNvPr>
          <p:cNvCxnSpPr/>
          <p:nvPr/>
        </p:nvCxnSpPr>
        <p:spPr>
          <a:xfrm flipH="1">
            <a:off x="985595" y="2382039"/>
            <a:ext cx="386154" cy="4343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17290E-008D-41E4-FE66-D79D23A7F5BD}"/>
              </a:ext>
            </a:extLst>
          </p:cNvPr>
          <p:cNvCxnSpPr>
            <a:cxnSpLocks/>
          </p:cNvCxnSpPr>
          <p:nvPr/>
        </p:nvCxnSpPr>
        <p:spPr>
          <a:xfrm flipH="1">
            <a:off x="1730715" y="2403741"/>
            <a:ext cx="9975" cy="4777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FC4E157-498C-CF2B-1618-DB5956248115}"/>
              </a:ext>
            </a:extLst>
          </p:cNvPr>
          <p:cNvCxnSpPr>
            <a:cxnSpLocks/>
          </p:cNvCxnSpPr>
          <p:nvPr/>
        </p:nvCxnSpPr>
        <p:spPr>
          <a:xfrm>
            <a:off x="2109634" y="2374805"/>
            <a:ext cx="409607" cy="4270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BC48C3-197E-1590-EE87-5A7B0A409CCD}"/>
              </a:ext>
            </a:extLst>
          </p:cNvPr>
          <p:cNvCxnSpPr>
            <a:cxnSpLocks/>
          </p:cNvCxnSpPr>
          <p:nvPr/>
        </p:nvCxnSpPr>
        <p:spPr>
          <a:xfrm flipH="1">
            <a:off x="2750734" y="3062051"/>
            <a:ext cx="9975" cy="4777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D85171-469B-E372-948F-DBE2BF0447E4}"/>
              </a:ext>
            </a:extLst>
          </p:cNvPr>
          <p:cNvCxnSpPr>
            <a:cxnSpLocks/>
          </p:cNvCxnSpPr>
          <p:nvPr/>
        </p:nvCxnSpPr>
        <p:spPr>
          <a:xfrm flipH="1">
            <a:off x="797505" y="3062050"/>
            <a:ext cx="9975" cy="4777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7906677-0432-A634-6E7C-D58AD21E257E}"/>
              </a:ext>
            </a:extLst>
          </p:cNvPr>
          <p:cNvCxnSpPr>
            <a:cxnSpLocks/>
          </p:cNvCxnSpPr>
          <p:nvPr/>
        </p:nvCxnSpPr>
        <p:spPr>
          <a:xfrm flipH="1">
            <a:off x="2750734" y="3865045"/>
            <a:ext cx="9975" cy="4777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0EC10F2-9512-1B58-FA45-3543322FC242}"/>
              </a:ext>
            </a:extLst>
          </p:cNvPr>
          <p:cNvSpPr/>
          <p:nvPr/>
        </p:nvSpPr>
        <p:spPr>
          <a:xfrm>
            <a:off x="3449080" y="2984222"/>
            <a:ext cx="1576551" cy="689741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92E37C-C114-B8FF-6E78-D839FE361154}"/>
              </a:ext>
            </a:extLst>
          </p:cNvPr>
          <p:cNvSpPr txBox="1"/>
          <p:nvPr/>
        </p:nvSpPr>
        <p:spPr>
          <a:xfrm>
            <a:off x="5905208" y="1364390"/>
            <a:ext cx="11134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STMT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E695C7-8207-C8E7-FC2D-F6B2C418F06A}"/>
              </a:ext>
            </a:extLst>
          </p:cNvPr>
          <p:cNvSpPr txBox="1"/>
          <p:nvPr/>
        </p:nvSpPr>
        <p:spPr>
          <a:xfrm>
            <a:off x="5123294" y="2034425"/>
            <a:ext cx="7784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VAR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7D136A-0C50-8064-B629-C55447FEC63D}"/>
              </a:ext>
            </a:extLst>
          </p:cNvPr>
          <p:cNvSpPr txBox="1"/>
          <p:nvPr/>
        </p:nvSpPr>
        <p:spPr>
          <a:xfrm>
            <a:off x="6049268" y="2034424"/>
            <a:ext cx="7784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=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370E87-6F67-B690-0AAA-4CD96F497A5B}"/>
              </a:ext>
            </a:extLst>
          </p:cNvPr>
          <p:cNvSpPr txBox="1"/>
          <p:nvPr/>
        </p:nvSpPr>
        <p:spPr>
          <a:xfrm>
            <a:off x="7025881" y="2012721"/>
            <a:ext cx="97374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EXPR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A608B8-FDB8-D3F6-9068-A49D3786CBDF}"/>
              </a:ext>
            </a:extLst>
          </p:cNvPr>
          <p:cNvSpPr txBox="1"/>
          <p:nvPr/>
        </p:nvSpPr>
        <p:spPr>
          <a:xfrm>
            <a:off x="6982475" y="2699968"/>
            <a:ext cx="97374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4285F4"/>
                </a:solidFill>
                <a:latin typeface="Helvetica Neue"/>
              </a:rPr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1E6D7F-0D92-D417-C9F0-8148902AEF25}"/>
              </a:ext>
            </a:extLst>
          </p:cNvPr>
          <p:cNvSpPr txBox="1"/>
          <p:nvPr/>
        </p:nvSpPr>
        <p:spPr>
          <a:xfrm>
            <a:off x="5123293" y="2714437"/>
            <a:ext cx="7784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a</a:t>
            </a:r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E10B896-8DF0-FBDE-750B-D6A85C595084}"/>
              </a:ext>
            </a:extLst>
          </p:cNvPr>
          <p:cNvCxnSpPr>
            <a:cxnSpLocks/>
          </p:cNvCxnSpPr>
          <p:nvPr/>
        </p:nvCxnSpPr>
        <p:spPr>
          <a:xfrm flipH="1">
            <a:off x="5695044" y="1694792"/>
            <a:ext cx="386154" cy="4343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B3E4D2C-857E-84B3-219A-EEC5AF51AA93}"/>
              </a:ext>
            </a:extLst>
          </p:cNvPr>
          <p:cNvCxnSpPr>
            <a:cxnSpLocks/>
          </p:cNvCxnSpPr>
          <p:nvPr/>
        </p:nvCxnSpPr>
        <p:spPr>
          <a:xfrm flipH="1">
            <a:off x="6440164" y="1716494"/>
            <a:ext cx="9975" cy="4777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2BD4560-99E3-F26B-5165-A4EFF88DCF87}"/>
              </a:ext>
            </a:extLst>
          </p:cNvPr>
          <p:cNvCxnSpPr>
            <a:cxnSpLocks/>
          </p:cNvCxnSpPr>
          <p:nvPr/>
        </p:nvCxnSpPr>
        <p:spPr>
          <a:xfrm>
            <a:off x="6819083" y="1687558"/>
            <a:ext cx="409607" cy="4270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396FCA5-EFEF-634D-048C-A69B5AE02629}"/>
              </a:ext>
            </a:extLst>
          </p:cNvPr>
          <p:cNvCxnSpPr>
            <a:cxnSpLocks/>
          </p:cNvCxnSpPr>
          <p:nvPr/>
        </p:nvCxnSpPr>
        <p:spPr>
          <a:xfrm flipH="1">
            <a:off x="7460183" y="2374804"/>
            <a:ext cx="9975" cy="4777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8A3E9D-A8DF-D3FE-D68E-7F7C79222DF5}"/>
              </a:ext>
            </a:extLst>
          </p:cNvPr>
          <p:cNvCxnSpPr>
            <a:cxnSpLocks/>
          </p:cNvCxnSpPr>
          <p:nvPr/>
        </p:nvCxnSpPr>
        <p:spPr>
          <a:xfrm flipH="1">
            <a:off x="5506954" y="2374803"/>
            <a:ext cx="9975" cy="4777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738D280-30EF-C8A5-F509-4242B6714159}"/>
              </a:ext>
            </a:extLst>
          </p:cNvPr>
          <p:cNvSpPr txBox="1"/>
          <p:nvPr/>
        </p:nvSpPr>
        <p:spPr>
          <a:xfrm>
            <a:off x="8067602" y="2750606"/>
            <a:ext cx="97374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4285F4"/>
                </a:solidFill>
                <a:latin typeface="Helvetica Neue"/>
              </a:rPr>
              <a:t>EXPR</a:t>
            </a:r>
            <a:endParaRPr lang="en-US" dirty="0">
              <a:solidFill>
                <a:srgbClr val="4285F4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3F04B7-7170-2D4A-65B4-9AE5277622B2}"/>
              </a:ext>
            </a:extLst>
          </p:cNvPr>
          <p:cNvSpPr txBox="1"/>
          <p:nvPr/>
        </p:nvSpPr>
        <p:spPr>
          <a:xfrm>
            <a:off x="8053133" y="3488492"/>
            <a:ext cx="97374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4285F4"/>
                </a:solidFill>
                <a:latin typeface="Helvetica Neue"/>
              </a:rPr>
              <a:t>NUM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7AD53E-21B5-6982-7698-E3DE3097FA04}"/>
              </a:ext>
            </a:extLst>
          </p:cNvPr>
          <p:cNvSpPr txBox="1"/>
          <p:nvPr/>
        </p:nvSpPr>
        <p:spPr>
          <a:xfrm>
            <a:off x="8024197" y="4298720"/>
            <a:ext cx="97374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4285F4"/>
                </a:solidFill>
                <a:latin typeface="Helvetica Neue"/>
              </a:rPr>
              <a:t>2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FF3C8BD-D75F-A407-0BD5-59A70B4D48AE}"/>
              </a:ext>
            </a:extLst>
          </p:cNvPr>
          <p:cNvCxnSpPr>
            <a:cxnSpLocks/>
          </p:cNvCxnSpPr>
          <p:nvPr/>
        </p:nvCxnSpPr>
        <p:spPr>
          <a:xfrm flipH="1">
            <a:off x="8501904" y="3112689"/>
            <a:ext cx="9975" cy="4777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0C08B52-7B35-3579-7BDB-CCEA659B4ECA}"/>
              </a:ext>
            </a:extLst>
          </p:cNvPr>
          <p:cNvCxnSpPr>
            <a:cxnSpLocks/>
          </p:cNvCxnSpPr>
          <p:nvPr/>
        </p:nvCxnSpPr>
        <p:spPr>
          <a:xfrm flipH="1">
            <a:off x="8501904" y="3915683"/>
            <a:ext cx="9975" cy="4777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440368F-A348-6D8D-B085-D9AA9A3E297F}"/>
              </a:ext>
            </a:extLst>
          </p:cNvPr>
          <p:cNvSpPr txBox="1"/>
          <p:nvPr/>
        </p:nvSpPr>
        <p:spPr>
          <a:xfrm>
            <a:off x="5998626" y="2757839"/>
            <a:ext cx="97374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4285F4"/>
                </a:solidFill>
                <a:latin typeface="Helvetica Neue"/>
              </a:rPr>
              <a:t>EXPR</a:t>
            </a:r>
            <a:endParaRPr lang="en-US" dirty="0">
              <a:solidFill>
                <a:srgbClr val="4285F4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23CD4C-DCCD-C9FA-8655-83402D3FD802}"/>
              </a:ext>
            </a:extLst>
          </p:cNvPr>
          <p:cNvSpPr txBox="1"/>
          <p:nvPr/>
        </p:nvSpPr>
        <p:spPr>
          <a:xfrm>
            <a:off x="5984157" y="3495725"/>
            <a:ext cx="97374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4285F4"/>
                </a:solidFill>
                <a:latin typeface="Helvetica Neue"/>
              </a:rPr>
              <a:t>NUM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BC5FD3-88DB-7CB4-CCF8-EAB8F9278715}"/>
              </a:ext>
            </a:extLst>
          </p:cNvPr>
          <p:cNvSpPr txBox="1"/>
          <p:nvPr/>
        </p:nvSpPr>
        <p:spPr>
          <a:xfrm>
            <a:off x="5955221" y="4305953"/>
            <a:ext cx="97374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4285F4"/>
                </a:solidFill>
                <a:latin typeface="Helvetica Neue"/>
              </a:rPr>
              <a:t>1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5599BA9-B57E-75F9-F821-5467DCEE1480}"/>
              </a:ext>
            </a:extLst>
          </p:cNvPr>
          <p:cNvCxnSpPr>
            <a:cxnSpLocks/>
          </p:cNvCxnSpPr>
          <p:nvPr/>
        </p:nvCxnSpPr>
        <p:spPr>
          <a:xfrm flipH="1">
            <a:off x="6432928" y="3119922"/>
            <a:ext cx="9975" cy="4777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247FC89-9746-1D69-3426-EDD1E3D8841B}"/>
              </a:ext>
            </a:extLst>
          </p:cNvPr>
          <p:cNvCxnSpPr>
            <a:cxnSpLocks/>
          </p:cNvCxnSpPr>
          <p:nvPr/>
        </p:nvCxnSpPr>
        <p:spPr>
          <a:xfrm flipH="1">
            <a:off x="6432928" y="3922916"/>
            <a:ext cx="9975" cy="4777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08B8B0C-C03B-BD21-17C9-C324A7C1354C}"/>
              </a:ext>
            </a:extLst>
          </p:cNvPr>
          <p:cNvCxnSpPr>
            <a:cxnSpLocks/>
          </p:cNvCxnSpPr>
          <p:nvPr/>
        </p:nvCxnSpPr>
        <p:spPr>
          <a:xfrm>
            <a:off x="7904210" y="2389273"/>
            <a:ext cx="409607" cy="42706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53D60FE-6A3A-4977-0150-E664C84A0D4A}"/>
              </a:ext>
            </a:extLst>
          </p:cNvPr>
          <p:cNvCxnSpPr>
            <a:cxnSpLocks/>
          </p:cNvCxnSpPr>
          <p:nvPr/>
        </p:nvCxnSpPr>
        <p:spPr>
          <a:xfrm flipH="1">
            <a:off x="6765702" y="2396507"/>
            <a:ext cx="386154" cy="4343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A21936C-A066-C146-D35D-152442DF52A5}"/>
              </a:ext>
            </a:extLst>
          </p:cNvPr>
          <p:cNvSpPr txBox="1"/>
          <p:nvPr/>
        </p:nvSpPr>
        <p:spPr>
          <a:xfrm>
            <a:off x="145772" y="4725693"/>
            <a:ext cx="722721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“NAUTILUS: Fishing for Deep Bugs with Grammars” ISOC NDSS 2019.</a:t>
            </a:r>
          </a:p>
          <a:p>
            <a:r>
              <a:rPr lang="en-US" sz="1000" dirty="0">
                <a:latin typeface="Helvetica Neue"/>
              </a:rPr>
              <a:t>“GRIMOIRE: Synthesizing Structure while Fuzzing” USENIX Security 2019.</a:t>
            </a:r>
          </a:p>
        </p:txBody>
      </p:sp>
    </p:spTree>
    <p:extLst>
      <p:ext uri="{BB962C8B-B14F-4D97-AF65-F5344CB8AC3E}">
        <p14:creationId xmlns:p14="http://schemas.microsoft.com/office/powerpoint/2010/main" val="427851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0" grpId="0"/>
      <p:bldP spid="17" grpId="0" animBg="1"/>
      <p:bldP spid="18" grpId="0"/>
      <p:bldP spid="19" grpId="0"/>
      <p:bldP spid="20" grpId="0"/>
      <p:bldP spid="21" grpId="0"/>
      <p:bldP spid="22" grpId="0"/>
      <p:bldP spid="24" grpId="0"/>
      <p:bldP spid="31" grpId="0"/>
      <p:bldP spid="32" grpId="0"/>
      <p:bldP spid="33" grpId="0"/>
      <p:bldP spid="36" grpId="0"/>
      <p:bldP spid="37" grpId="0"/>
      <p:bldP spid="3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30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Whole seed mutation (cont.)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890528"/>
            <a:ext cx="883783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 err="1">
                <a:latin typeface="Helvetica Neue"/>
              </a:rPr>
              <a:t>Profuzzer</a:t>
            </a:r>
            <a:r>
              <a:rPr lang="en-US" sz="2800" dirty="0">
                <a:latin typeface="Helvetica Neue"/>
              </a:rPr>
              <a:t>/</a:t>
            </a:r>
            <a:r>
              <a:rPr lang="en-US" sz="2800" dirty="0" err="1">
                <a:latin typeface="Helvetica Neue"/>
              </a:rPr>
              <a:t>NestFuzz</a:t>
            </a:r>
            <a:r>
              <a:rPr lang="en-US" sz="2800" dirty="0">
                <a:latin typeface="Helvetica Neue"/>
              </a:rPr>
              <a:t>/AIFORE: Input fields, types and dependencies aware mutation.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AC8F88-CD77-4BC4-ED19-90880E479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631801"/>
              </p:ext>
            </p:extLst>
          </p:nvPr>
        </p:nvGraphicFramePr>
        <p:xfrm>
          <a:off x="75481" y="2426179"/>
          <a:ext cx="89864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95">
                  <a:extLst>
                    <a:ext uri="{9D8B030D-6E8A-4147-A177-3AD203B41FA5}">
                      <a16:colId xmlns:a16="http://schemas.microsoft.com/office/drawing/2014/main" val="3459204964"/>
                    </a:ext>
                  </a:extLst>
                </a:gridCol>
                <a:gridCol w="599095">
                  <a:extLst>
                    <a:ext uri="{9D8B030D-6E8A-4147-A177-3AD203B41FA5}">
                      <a16:colId xmlns:a16="http://schemas.microsoft.com/office/drawing/2014/main" val="435805187"/>
                    </a:ext>
                  </a:extLst>
                </a:gridCol>
                <a:gridCol w="599095">
                  <a:extLst>
                    <a:ext uri="{9D8B030D-6E8A-4147-A177-3AD203B41FA5}">
                      <a16:colId xmlns:a16="http://schemas.microsoft.com/office/drawing/2014/main" val="365799089"/>
                    </a:ext>
                  </a:extLst>
                </a:gridCol>
                <a:gridCol w="599095">
                  <a:extLst>
                    <a:ext uri="{9D8B030D-6E8A-4147-A177-3AD203B41FA5}">
                      <a16:colId xmlns:a16="http://schemas.microsoft.com/office/drawing/2014/main" val="1020516640"/>
                    </a:ext>
                  </a:extLst>
                </a:gridCol>
                <a:gridCol w="599095">
                  <a:extLst>
                    <a:ext uri="{9D8B030D-6E8A-4147-A177-3AD203B41FA5}">
                      <a16:colId xmlns:a16="http://schemas.microsoft.com/office/drawing/2014/main" val="319526133"/>
                    </a:ext>
                  </a:extLst>
                </a:gridCol>
                <a:gridCol w="599095">
                  <a:extLst>
                    <a:ext uri="{9D8B030D-6E8A-4147-A177-3AD203B41FA5}">
                      <a16:colId xmlns:a16="http://schemas.microsoft.com/office/drawing/2014/main" val="1409241397"/>
                    </a:ext>
                  </a:extLst>
                </a:gridCol>
                <a:gridCol w="599095">
                  <a:extLst>
                    <a:ext uri="{9D8B030D-6E8A-4147-A177-3AD203B41FA5}">
                      <a16:colId xmlns:a16="http://schemas.microsoft.com/office/drawing/2014/main" val="3453058704"/>
                    </a:ext>
                  </a:extLst>
                </a:gridCol>
                <a:gridCol w="599095">
                  <a:extLst>
                    <a:ext uri="{9D8B030D-6E8A-4147-A177-3AD203B41FA5}">
                      <a16:colId xmlns:a16="http://schemas.microsoft.com/office/drawing/2014/main" val="3339816550"/>
                    </a:ext>
                  </a:extLst>
                </a:gridCol>
                <a:gridCol w="599095">
                  <a:extLst>
                    <a:ext uri="{9D8B030D-6E8A-4147-A177-3AD203B41FA5}">
                      <a16:colId xmlns:a16="http://schemas.microsoft.com/office/drawing/2014/main" val="1896230967"/>
                    </a:ext>
                  </a:extLst>
                </a:gridCol>
                <a:gridCol w="599095">
                  <a:extLst>
                    <a:ext uri="{9D8B030D-6E8A-4147-A177-3AD203B41FA5}">
                      <a16:colId xmlns:a16="http://schemas.microsoft.com/office/drawing/2014/main" val="3275051956"/>
                    </a:ext>
                  </a:extLst>
                </a:gridCol>
                <a:gridCol w="599095">
                  <a:extLst>
                    <a:ext uri="{9D8B030D-6E8A-4147-A177-3AD203B41FA5}">
                      <a16:colId xmlns:a16="http://schemas.microsoft.com/office/drawing/2014/main" val="1453205061"/>
                    </a:ext>
                  </a:extLst>
                </a:gridCol>
                <a:gridCol w="599095">
                  <a:extLst>
                    <a:ext uri="{9D8B030D-6E8A-4147-A177-3AD203B41FA5}">
                      <a16:colId xmlns:a16="http://schemas.microsoft.com/office/drawing/2014/main" val="1003975039"/>
                    </a:ext>
                  </a:extLst>
                </a:gridCol>
                <a:gridCol w="599095">
                  <a:extLst>
                    <a:ext uri="{9D8B030D-6E8A-4147-A177-3AD203B41FA5}">
                      <a16:colId xmlns:a16="http://schemas.microsoft.com/office/drawing/2014/main" val="1168062724"/>
                    </a:ext>
                  </a:extLst>
                </a:gridCol>
                <a:gridCol w="599095">
                  <a:extLst>
                    <a:ext uri="{9D8B030D-6E8A-4147-A177-3AD203B41FA5}">
                      <a16:colId xmlns:a16="http://schemas.microsoft.com/office/drawing/2014/main" val="2514068713"/>
                    </a:ext>
                  </a:extLst>
                </a:gridCol>
                <a:gridCol w="599095">
                  <a:extLst>
                    <a:ext uri="{9D8B030D-6E8A-4147-A177-3AD203B41FA5}">
                      <a16:colId xmlns:a16="http://schemas.microsoft.com/office/drawing/2014/main" val="2985898593"/>
                    </a:ext>
                  </a:extLst>
                </a:gridCol>
              </a:tblGrid>
              <a:tr h="291689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latin typeface="Helvetica Neue"/>
                        </a:rPr>
                        <a:t>0x25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latin typeface="Helvetica Neue"/>
                        </a:rPr>
                        <a:t>0x50</a:t>
                      </a:r>
                      <a:endParaRPr lang="en-US" sz="1400" b="0">
                        <a:latin typeface="Helvetica Neue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Helvetica Neue"/>
                        </a:rPr>
                        <a:t>0x44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Helvetica Neue"/>
                        </a:rPr>
                        <a:t>0x46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Helvetica Neue"/>
                        </a:rPr>
                        <a:t>0x00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Helvetica Neue"/>
                        </a:rPr>
                        <a:t>0x00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Helvetica Neue"/>
                        </a:rPr>
                        <a:t>0x12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Helvetica Neue"/>
                        </a:rPr>
                        <a:t>0x34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Helvetica Neue"/>
                        </a:rPr>
                        <a:t>0x00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Helvetica Neue"/>
                        </a:rPr>
                        <a:t>0x00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Helvetica Neue"/>
                        </a:rPr>
                        <a:t>0x00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Helvetica Neue"/>
                        </a:rPr>
                        <a:t>0x03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Helvetica Neue"/>
                        </a:rPr>
                        <a:t>0x41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Helvetica Neue"/>
                        </a:rPr>
                        <a:t>0x42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Helvetica Neue"/>
                        </a:rPr>
                        <a:t>0x43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83721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5311097-2BF7-9D1F-1EED-D8BEC4585641}"/>
              </a:ext>
            </a:extLst>
          </p:cNvPr>
          <p:cNvSpPr txBox="1"/>
          <p:nvPr/>
        </p:nvSpPr>
        <p:spPr>
          <a:xfrm>
            <a:off x="145772" y="4602428"/>
            <a:ext cx="722721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 err="1">
                <a:latin typeface="Helvetica Neue"/>
              </a:rPr>
              <a:t>ProFuzzer</a:t>
            </a:r>
            <a:r>
              <a:rPr lang="en-US" sz="1000" dirty="0">
                <a:latin typeface="Helvetica Neue"/>
              </a:rPr>
              <a:t>: On-the-fly Input Type Probing for Better Zero-Day Vulnerability Discovery” IEEE S&amp;P 2019.</a:t>
            </a:r>
            <a:endParaRPr lang="en-US" sz="1000">
              <a:latin typeface="Helvetica Neue"/>
            </a:endParaRPr>
          </a:p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 err="1">
                <a:latin typeface="Helvetica Neue"/>
              </a:rPr>
              <a:t>NestFuzz</a:t>
            </a:r>
            <a:r>
              <a:rPr lang="en-US" sz="1000" dirty="0">
                <a:latin typeface="Helvetica Neue"/>
              </a:rPr>
              <a:t>: Enhancing Fuzzing with Comprehensive Understanding of Input Processing Logic” ACM CCS 2023.</a:t>
            </a:r>
            <a:endParaRPr lang="en-US" sz="1000">
              <a:latin typeface="Helvetica Neue"/>
            </a:endParaRPr>
          </a:p>
          <a:p>
            <a:r>
              <a:rPr lang="en-US" sz="1000" dirty="0">
                <a:latin typeface="Helvetica Neue"/>
              </a:rPr>
              <a:t>“AIFORE: Smart Fuzzing Based on Automatic Input Format Reverse Engineering” USENIX Security 2023.</a:t>
            </a:r>
            <a:endParaRPr lang="en-US" sz="100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10562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A421310B-9FE9-CC39-FA11-AAAC3F70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C08369CC-7F3A-E34D-FFDC-73BBEC085F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31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3E15A13-0E2B-557F-B626-E712F1B1E612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D79B029E-A5B1-CCE1-477B-D4A4A3747B81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320F5389-8C1B-7AF0-51A9-E79D54A7B2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63C77BD2-0A6D-D1A0-0BCB-67204864F3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Whole seed mutation (cont.)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F87ED0-695B-9D7F-88E1-93B6FF87F40C}"/>
              </a:ext>
            </a:extLst>
          </p:cNvPr>
          <p:cNvSpPr txBox="1"/>
          <p:nvPr/>
        </p:nvSpPr>
        <p:spPr>
          <a:xfrm>
            <a:off x="142874" y="890528"/>
            <a:ext cx="883783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 err="1">
                <a:latin typeface="Helvetica Neue"/>
              </a:rPr>
              <a:t>Profuzzer</a:t>
            </a:r>
            <a:r>
              <a:rPr lang="en-US" sz="2800" dirty="0">
                <a:latin typeface="Helvetica Neue"/>
              </a:rPr>
              <a:t>/</a:t>
            </a:r>
            <a:r>
              <a:rPr lang="en-US" sz="2800" dirty="0" err="1">
                <a:latin typeface="Helvetica Neue"/>
              </a:rPr>
              <a:t>NestFuzz</a:t>
            </a:r>
            <a:r>
              <a:rPr lang="en-US" sz="2800" dirty="0">
                <a:latin typeface="Helvetica Neue"/>
              </a:rPr>
              <a:t>/AIFORE: Input fields, types and dependencies aware mutation.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DF50E9-BE3A-50B8-741C-75BE68CFF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089158"/>
              </p:ext>
            </p:extLst>
          </p:nvPr>
        </p:nvGraphicFramePr>
        <p:xfrm>
          <a:off x="233309" y="2446221"/>
          <a:ext cx="68095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969">
                  <a:extLst>
                    <a:ext uri="{9D8B030D-6E8A-4147-A177-3AD203B41FA5}">
                      <a16:colId xmlns:a16="http://schemas.microsoft.com/office/drawing/2014/main" val="3459204964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435805187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365799089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1020516640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319526133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1409241397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3453058704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3339816550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1896230967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3275051956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1453205061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1003975039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1168062724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2514068713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2985898593"/>
                    </a:ext>
                  </a:extLst>
                </a:gridCol>
              </a:tblGrid>
              <a:tr h="404648"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P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D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F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6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6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C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83721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746FFC-0FC7-217E-753C-82F225166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284003"/>
              </p:ext>
            </p:extLst>
          </p:nvPr>
        </p:nvGraphicFramePr>
        <p:xfrm>
          <a:off x="233309" y="1981177"/>
          <a:ext cx="680953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5876">
                  <a:extLst>
                    <a:ext uri="{9D8B030D-6E8A-4147-A177-3AD203B41FA5}">
                      <a16:colId xmlns:a16="http://schemas.microsoft.com/office/drawing/2014/main" val="3459204964"/>
                    </a:ext>
                  </a:extLst>
                </a:gridCol>
                <a:gridCol w="1815876">
                  <a:extLst>
                    <a:ext uri="{9D8B030D-6E8A-4147-A177-3AD203B41FA5}">
                      <a16:colId xmlns:a16="http://schemas.microsoft.com/office/drawing/2014/main" val="319526133"/>
                    </a:ext>
                  </a:extLst>
                </a:gridCol>
                <a:gridCol w="1815876">
                  <a:extLst>
                    <a:ext uri="{9D8B030D-6E8A-4147-A177-3AD203B41FA5}">
                      <a16:colId xmlns:a16="http://schemas.microsoft.com/office/drawing/2014/main" val="1896230967"/>
                    </a:ext>
                  </a:extLst>
                </a:gridCol>
                <a:gridCol w="1361906">
                  <a:extLst>
                    <a:ext uri="{9D8B030D-6E8A-4147-A177-3AD203B41FA5}">
                      <a16:colId xmlns:a16="http://schemas.microsoft.com/office/drawing/2014/main" val="1168062724"/>
                    </a:ext>
                  </a:extLst>
                </a:gridCol>
              </a:tblGrid>
              <a:tr h="404648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Magic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Integer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Length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String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83721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ED6F69-F210-D251-223D-F7375C841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87592"/>
              </p:ext>
            </p:extLst>
          </p:nvPr>
        </p:nvGraphicFramePr>
        <p:xfrm>
          <a:off x="233309" y="3325640"/>
          <a:ext cx="771915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68">
                  <a:extLst>
                    <a:ext uri="{9D8B030D-6E8A-4147-A177-3AD203B41FA5}">
                      <a16:colId xmlns:a16="http://schemas.microsoft.com/office/drawing/2014/main" val="3459204964"/>
                    </a:ext>
                  </a:extLst>
                </a:gridCol>
                <a:gridCol w="454068">
                  <a:extLst>
                    <a:ext uri="{9D8B030D-6E8A-4147-A177-3AD203B41FA5}">
                      <a16:colId xmlns:a16="http://schemas.microsoft.com/office/drawing/2014/main" val="435805187"/>
                    </a:ext>
                  </a:extLst>
                </a:gridCol>
                <a:gridCol w="454068">
                  <a:extLst>
                    <a:ext uri="{9D8B030D-6E8A-4147-A177-3AD203B41FA5}">
                      <a16:colId xmlns:a16="http://schemas.microsoft.com/office/drawing/2014/main" val="365799089"/>
                    </a:ext>
                  </a:extLst>
                </a:gridCol>
                <a:gridCol w="454068">
                  <a:extLst>
                    <a:ext uri="{9D8B030D-6E8A-4147-A177-3AD203B41FA5}">
                      <a16:colId xmlns:a16="http://schemas.microsoft.com/office/drawing/2014/main" val="1020516640"/>
                    </a:ext>
                  </a:extLst>
                </a:gridCol>
                <a:gridCol w="454068">
                  <a:extLst>
                    <a:ext uri="{9D8B030D-6E8A-4147-A177-3AD203B41FA5}">
                      <a16:colId xmlns:a16="http://schemas.microsoft.com/office/drawing/2014/main" val="319526133"/>
                    </a:ext>
                  </a:extLst>
                </a:gridCol>
                <a:gridCol w="454068">
                  <a:extLst>
                    <a:ext uri="{9D8B030D-6E8A-4147-A177-3AD203B41FA5}">
                      <a16:colId xmlns:a16="http://schemas.microsoft.com/office/drawing/2014/main" val="1409241397"/>
                    </a:ext>
                  </a:extLst>
                </a:gridCol>
                <a:gridCol w="454068">
                  <a:extLst>
                    <a:ext uri="{9D8B030D-6E8A-4147-A177-3AD203B41FA5}">
                      <a16:colId xmlns:a16="http://schemas.microsoft.com/office/drawing/2014/main" val="3453058704"/>
                    </a:ext>
                  </a:extLst>
                </a:gridCol>
                <a:gridCol w="454068">
                  <a:extLst>
                    <a:ext uri="{9D8B030D-6E8A-4147-A177-3AD203B41FA5}">
                      <a16:colId xmlns:a16="http://schemas.microsoft.com/office/drawing/2014/main" val="3339816550"/>
                    </a:ext>
                  </a:extLst>
                </a:gridCol>
                <a:gridCol w="454068">
                  <a:extLst>
                    <a:ext uri="{9D8B030D-6E8A-4147-A177-3AD203B41FA5}">
                      <a16:colId xmlns:a16="http://schemas.microsoft.com/office/drawing/2014/main" val="1896230967"/>
                    </a:ext>
                  </a:extLst>
                </a:gridCol>
                <a:gridCol w="454068">
                  <a:extLst>
                    <a:ext uri="{9D8B030D-6E8A-4147-A177-3AD203B41FA5}">
                      <a16:colId xmlns:a16="http://schemas.microsoft.com/office/drawing/2014/main" val="3275051956"/>
                    </a:ext>
                  </a:extLst>
                </a:gridCol>
                <a:gridCol w="454068">
                  <a:extLst>
                    <a:ext uri="{9D8B030D-6E8A-4147-A177-3AD203B41FA5}">
                      <a16:colId xmlns:a16="http://schemas.microsoft.com/office/drawing/2014/main" val="1453205061"/>
                    </a:ext>
                  </a:extLst>
                </a:gridCol>
                <a:gridCol w="454068">
                  <a:extLst>
                    <a:ext uri="{9D8B030D-6E8A-4147-A177-3AD203B41FA5}">
                      <a16:colId xmlns:a16="http://schemas.microsoft.com/office/drawing/2014/main" val="1003975039"/>
                    </a:ext>
                  </a:extLst>
                </a:gridCol>
                <a:gridCol w="454068">
                  <a:extLst>
                    <a:ext uri="{9D8B030D-6E8A-4147-A177-3AD203B41FA5}">
                      <a16:colId xmlns:a16="http://schemas.microsoft.com/office/drawing/2014/main" val="1168062724"/>
                    </a:ext>
                  </a:extLst>
                </a:gridCol>
                <a:gridCol w="454068">
                  <a:extLst>
                    <a:ext uri="{9D8B030D-6E8A-4147-A177-3AD203B41FA5}">
                      <a16:colId xmlns:a16="http://schemas.microsoft.com/office/drawing/2014/main" val="2514068713"/>
                    </a:ext>
                  </a:extLst>
                </a:gridCol>
                <a:gridCol w="454068">
                  <a:extLst>
                    <a:ext uri="{9D8B030D-6E8A-4147-A177-3AD203B41FA5}">
                      <a16:colId xmlns:a16="http://schemas.microsoft.com/office/drawing/2014/main" val="2964413459"/>
                    </a:ext>
                  </a:extLst>
                </a:gridCol>
                <a:gridCol w="454068">
                  <a:extLst>
                    <a:ext uri="{9D8B030D-6E8A-4147-A177-3AD203B41FA5}">
                      <a16:colId xmlns:a16="http://schemas.microsoft.com/office/drawing/2014/main" val="2985898593"/>
                    </a:ext>
                  </a:extLst>
                </a:gridCol>
                <a:gridCol w="454068">
                  <a:extLst>
                    <a:ext uri="{9D8B030D-6E8A-4147-A177-3AD203B41FA5}">
                      <a16:colId xmlns:a16="http://schemas.microsoft.com/office/drawing/2014/main" val="3364552589"/>
                    </a:ext>
                  </a:extLst>
                </a:gridCol>
              </a:tblGrid>
              <a:tr h="404648"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P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D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F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6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6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accent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accent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Helvetica Neue"/>
                        </a:rPr>
                        <a:t>C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Helvetica Neue"/>
                        </a:rPr>
                        <a:t>D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Helvetica Neue"/>
                        </a:rPr>
                        <a:t>E</a:t>
                      </a: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8372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9DBB44C-222C-4738-CB1D-E912EBCF5784}"/>
              </a:ext>
            </a:extLst>
          </p:cNvPr>
          <p:cNvSpPr txBox="1"/>
          <p:nvPr/>
        </p:nvSpPr>
        <p:spPr>
          <a:xfrm>
            <a:off x="145772" y="4602428"/>
            <a:ext cx="722721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 err="1">
                <a:latin typeface="Helvetica Neue"/>
              </a:rPr>
              <a:t>ProFuzzer</a:t>
            </a:r>
            <a:r>
              <a:rPr lang="en-US" sz="1000" dirty="0">
                <a:latin typeface="Helvetica Neue"/>
              </a:rPr>
              <a:t>: On-the-fly Input Type Probing for Better Zero-Day Vulnerability Discovery” IEEE S&amp;P 2019.</a:t>
            </a:r>
          </a:p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 err="1">
                <a:latin typeface="Helvetica Neue"/>
              </a:rPr>
              <a:t>NestFuzz</a:t>
            </a:r>
            <a:r>
              <a:rPr lang="en-US" sz="1000" dirty="0">
                <a:latin typeface="Helvetica Neue"/>
              </a:rPr>
              <a:t>: Enhancing Fuzzing with Comprehensive Understanding of Input Processing Logic” ACM CCS 2023.</a:t>
            </a:r>
          </a:p>
          <a:p>
            <a:r>
              <a:rPr lang="en-US" sz="1000" dirty="0">
                <a:latin typeface="Helvetica Neue"/>
              </a:rPr>
              <a:t>“AIFORE: Smart Fuzzing Based on Automatic Input Format Reverse Engineering” USENIX Security 2023.</a:t>
            </a:r>
          </a:p>
        </p:txBody>
      </p:sp>
    </p:spTree>
    <p:extLst>
      <p:ext uri="{BB962C8B-B14F-4D97-AF65-F5344CB8AC3E}">
        <p14:creationId xmlns:p14="http://schemas.microsoft.com/office/powerpoint/2010/main" val="1560247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32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Whole seed mutation (cont.)</a:t>
            </a:r>
          </a:p>
          <a:p>
            <a:endParaRPr lang="en-US" sz="400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890528"/>
            <a:ext cx="883783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Another dimension: mutation operation scheduling.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A81E3-59F9-FBBF-B134-F18500F19A97}"/>
              </a:ext>
            </a:extLst>
          </p:cNvPr>
          <p:cNvSpPr txBox="1"/>
          <p:nvPr/>
        </p:nvSpPr>
        <p:spPr>
          <a:xfrm>
            <a:off x="145772" y="4602428"/>
            <a:ext cx="722721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“MOPT: Optimized Mutation Scheduling for </a:t>
            </a:r>
            <a:r>
              <a:rPr lang="en-US" sz="1000" dirty="0" err="1">
                <a:latin typeface="Helvetica Neue"/>
              </a:rPr>
              <a:t>Fuzzers</a:t>
            </a:r>
            <a:r>
              <a:rPr lang="en-US" sz="1000" dirty="0">
                <a:latin typeface="Helvetica Neue"/>
              </a:rPr>
              <a:t>” USENIX Security 2019.</a:t>
            </a:r>
            <a:endParaRPr lang="en-US" sz="1000">
              <a:latin typeface="Helvetica Neue"/>
            </a:endParaRPr>
          </a:p>
          <a:p>
            <a:r>
              <a:rPr lang="en-US" sz="1000" dirty="0">
                <a:latin typeface="Helvetica Neue"/>
              </a:rPr>
              <a:t>“EMS: History-Driven Mutation for Coverage-based Fuzzing” ISOC NDSS 2022.</a:t>
            </a:r>
            <a:endParaRPr lang="en-US" sz="1000">
              <a:latin typeface="Helvetica Neue"/>
            </a:endParaRPr>
          </a:p>
          <a:p>
            <a:r>
              <a:rPr lang="en-US" sz="1000" dirty="0">
                <a:latin typeface="Helvetica Neue"/>
              </a:rPr>
              <a:t>“DARWIN: Survival of the Fittest Fuzzing Mutators” ISOC NDSS 2023.</a:t>
            </a:r>
            <a:endParaRPr lang="en-US" sz="100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568181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59B26B48-8FAC-6A05-1CAE-087734B6D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76A6A0C7-1F8F-780F-73F7-A780DD7419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33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D2CD323-DC60-A2B9-0ED0-48F7E9C6D1DE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B0E6739F-0D6B-DBEA-0322-0F825577DAE4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43FCE890-20E2-E38B-BDE3-F9F33AD0E2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B185D454-8E3E-BD9B-96FD-7149B208A5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Whole seed mutation (cont.)</a:t>
            </a:r>
          </a:p>
          <a:p>
            <a:endParaRPr lang="en-US" sz="400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826E75-EF33-1309-EBB0-E24C22857A14}"/>
              </a:ext>
            </a:extLst>
          </p:cNvPr>
          <p:cNvSpPr txBox="1"/>
          <p:nvPr/>
        </p:nvSpPr>
        <p:spPr>
          <a:xfrm>
            <a:off x="142874" y="890528"/>
            <a:ext cx="883783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Another dimension: mutation operation scheduling.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Compute optimal probabilities for mutation operations.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91A00F-60B0-10F3-2887-34BC4962C836}"/>
              </a:ext>
            </a:extLst>
          </p:cNvPr>
          <p:cNvSpPr txBox="1"/>
          <p:nvPr/>
        </p:nvSpPr>
        <p:spPr>
          <a:xfrm>
            <a:off x="145772" y="4602428"/>
            <a:ext cx="722721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“MOPT: Optimized Mutation Scheduling for </a:t>
            </a:r>
            <a:r>
              <a:rPr lang="en-US" sz="1000" dirty="0" err="1">
                <a:latin typeface="Helvetica Neue"/>
              </a:rPr>
              <a:t>Fuzzers</a:t>
            </a:r>
            <a:r>
              <a:rPr lang="en-US" sz="1000" dirty="0">
                <a:latin typeface="Helvetica Neue"/>
              </a:rPr>
              <a:t>” USENIX Security 2019.</a:t>
            </a:r>
            <a:endParaRPr lang="en-US">
              <a:latin typeface="Helvetica Neue"/>
            </a:endParaRPr>
          </a:p>
          <a:p>
            <a:r>
              <a:rPr lang="en-US" sz="1000" dirty="0">
                <a:latin typeface="Helvetica Neue"/>
              </a:rPr>
              <a:t>“EMS: History-Driven Mutation for Coverage-based Fuzzing” ISOC NDSS 2022.</a:t>
            </a:r>
            <a:endParaRPr lang="en-US" dirty="0">
              <a:latin typeface="Helvetica Neue"/>
            </a:endParaRPr>
          </a:p>
          <a:p>
            <a:r>
              <a:rPr lang="en-US" sz="1000" dirty="0">
                <a:latin typeface="Helvetica Neue"/>
              </a:rPr>
              <a:t>“DARWIN: Survival of the Fittest Fuzzing Mutators” ISOC NDSS 2023.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405857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FAEFE66D-BE50-0127-A312-5444DA6B9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1442FCB8-AFFF-BD3D-F3B4-9AD651CE5D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34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1DAFB6E-9611-6EE5-5B5B-4692EC53D423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DB327146-85E7-B9AA-672F-83F63CA2B36F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6D148796-1A24-9B2A-1344-55AFE922425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4E1A1579-EF01-4A9A-F563-0F848CF5B1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Whole seed mutation</a:t>
            </a:r>
          </a:p>
          <a:p>
            <a:endParaRPr lang="en-US" sz="400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FDA77A-66D2-7C4D-416E-397D726FAE0D}"/>
              </a:ext>
            </a:extLst>
          </p:cNvPr>
          <p:cNvSpPr txBox="1"/>
          <p:nvPr/>
        </p:nvSpPr>
        <p:spPr>
          <a:xfrm>
            <a:off x="142874" y="890528"/>
            <a:ext cx="8837839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Another dimension: mutation operation scheduling.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Compute optimal probabilities for mutation operations.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Particle Swarm Optimization (MOPT), Evolution Strategy (DARWIN) and probabilistic model based on mutation history (EMS).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E8026-4556-1EC9-7D51-BE084552086B}"/>
              </a:ext>
            </a:extLst>
          </p:cNvPr>
          <p:cNvSpPr txBox="1"/>
          <p:nvPr/>
        </p:nvSpPr>
        <p:spPr>
          <a:xfrm>
            <a:off x="145772" y="4602428"/>
            <a:ext cx="722721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“MOPT: Optimized Mutation Scheduling for </a:t>
            </a:r>
            <a:r>
              <a:rPr lang="en-US" sz="1000" err="1">
                <a:latin typeface="Helvetica Neue"/>
              </a:rPr>
              <a:t>Fuzzers</a:t>
            </a:r>
            <a:r>
              <a:rPr lang="en-US" sz="1000" dirty="0">
                <a:latin typeface="Helvetica Neue"/>
              </a:rPr>
              <a:t>” USENIX Security 2019.</a:t>
            </a:r>
          </a:p>
          <a:p>
            <a:r>
              <a:rPr lang="en-US" sz="1000" dirty="0">
                <a:latin typeface="Helvetica Neue"/>
              </a:rPr>
              <a:t>“EMS: History-Driven Mutation for Coverage-based Fuzzing” ISOC NDSS 2022.</a:t>
            </a:r>
          </a:p>
          <a:p>
            <a:r>
              <a:rPr lang="en-US" sz="1000" dirty="0">
                <a:latin typeface="Helvetica Neue"/>
              </a:rPr>
              <a:t>“DARWIN: Survival of the Fittest Fuzzing Mutators” ISOC NDSS 2023.</a:t>
            </a:r>
          </a:p>
        </p:txBody>
      </p:sp>
    </p:spTree>
    <p:extLst>
      <p:ext uri="{BB962C8B-B14F-4D97-AF65-F5344CB8AC3E}">
        <p14:creationId xmlns:p14="http://schemas.microsoft.com/office/powerpoint/2010/main" val="34568727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35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Selective seed mutation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800881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Helvetica Neue"/>
              </a:rPr>
              <a:t>Hybrid fuzzing: Symbolic execution aided mutation.</a:t>
            </a:r>
            <a:endParaRPr lang="en-US" dirty="0"/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0DAEEA3D-5EF7-B9F7-1C5E-27FF1DA68936}"/>
              </a:ext>
            </a:extLst>
          </p:cNvPr>
          <p:cNvSpPr/>
          <p:nvPr/>
        </p:nvSpPr>
        <p:spPr>
          <a:xfrm>
            <a:off x="1810883" y="123198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20A82124-C1A7-4E16-4ED3-D8F1972CEF35}"/>
              </a:ext>
            </a:extLst>
          </p:cNvPr>
          <p:cNvSpPr/>
          <p:nvPr/>
        </p:nvSpPr>
        <p:spPr>
          <a:xfrm>
            <a:off x="2796228" y="296285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C2B034F2-985C-E916-344D-49B327836BCE}"/>
              </a:ext>
            </a:extLst>
          </p:cNvPr>
          <p:cNvSpPr/>
          <p:nvPr/>
        </p:nvSpPr>
        <p:spPr>
          <a:xfrm>
            <a:off x="2185313" y="3847540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C9AC930F-9A76-86E1-DADB-C706FBA4F27C}"/>
              </a:ext>
            </a:extLst>
          </p:cNvPr>
          <p:cNvSpPr/>
          <p:nvPr/>
        </p:nvSpPr>
        <p:spPr>
          <a:xfrm>
            <a:off x="746710" y="2972705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8B0B6DF4-B1C3-C9D0-2970-351AD3DE7185}"/>
              </a:ext>
            </a:extLst>
          </p:cNvPr>
          <p:cNvSpPr/>
          <p:nvPr/>
        </p:nvSpPr>
        <p:spPr>
          <a:xfrm>
            <a:off x="204770" y="3847540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BAA0C2F-3FDC-B108-753C-A2743944B3F4}"/>
              </a:ext>
            </a:extLst>
          </p:cNvPr>
          <p:cNvCxnSpPr>
            <a:cxnSpLocks/>
          </p:cNvCxnSpPr>
          <p:nvPr/>
        </p:nvCxnSpPr>
        <p:spPr>
          <a:xfrm flipH="1">
            <a:off x="2687270" y="3538511"/>
            <a:ext cx="335018" cy="3941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7FB03E-6F37-7FA6-8B5D-CC2DF824AD3B}"/>
              </a:ext>
            </a:extLst>
          </p:cNvPr>
          <p:cNvCxnSpPr>
            <a:cxnSpLocks/>
          </p:cNvCxnSpPr>
          <p:nvPr/>
        </p:nvCxnSpPr>
        <p:spPr>
          <a:xfrm flipH="1">
            <a:off x="657457" y="3518803"/>
            <a:ext cx="246339" cy="3645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96D573-60B1-47F8-F185-D6AB3FABD9D7}"/>
              </a:ext>
            </a:extLst>
          </p:cNvPr>
          <p:cNvCxnSpPr>
            <a:cxnSpLocks/>
          </p:cNvCxnSpPr>
          <p:nvPr/>
        </p:nvCxnSpPr>
        <p:spPr>
          <a:xfrm flipH="1">
            <a:off x="1244051" y="1703556"/>
            <a:ext cx="652076" cy="3503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8D0327C-680B-E824-3D84-01B895528FE7}"/>
              </a:ext>
            </a:extLst>
          </p:cNvPr>
          <p:cNvCxnSpPr>
            <a:cxnSpLocks/>
          </p:cNvCxnSpPr>
          <p:nvPr/>
        </p:nvCxnSpPr>
        <p:spPr>
          <a:xfrm>
            <a:off x="2315208" y="1730187"/>
            <a:ext cx="552416" cy="3539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BB0690BA-7D18-62A4-57DC-8C51A2BBC3F4}"/>
              </a:ext>
            </a:extLst>
          </p:cNvPr>
          <p:cNvSpPr/>
          <p:nvPr/>
        </p:nvSpPr>
        <p:spPr>
          <a:xfrm>
            <a:off x="1308356" y="3837687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C60519C8-AFF5-BBBA-5070-8618AF62A519}"/>
              </a:ext>
            </a:extLst>
          </p:cNvPr>
          <p:cNvSpPr/>
          <p:nvPr/>
        </p:nvSpPr>
        <p:spPr>
          <a:xfrm>
            <a:off x="3466261" y="3857393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77AE1B-FFA8-11A2-6EEF-5726EF2A91E3}"/>
              </a:ext>
            </a:extLst>
          </p:cNvPr>
          <p:cNvCxnSpPr>
            <a:cxnSpLocks/>
          </p:cNvCxnSpPr>
          <p:nvPr/>
        </p:nvCxnSpPr>
        <p:spPr>
          <a:xfrm>
            <a:off x="1259017" y="3510573"/>
            <a:ext cx="234113" cy="3468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B491A2-0C5B-9325-F05C-64FB6364A969}"/>
              </a:ext>
            </a:extLst>
          </p:cNvPr>
          <p:cNvCxnSpPr>
            <a:cxnSpLocks/>
          </p:cNvCxnSpPr>
          <p:nvPr/>
        </p:nvCxnSpPr>
        <p:spPr>
          <a:xfrm>
            <a:off x="3205010" y="3533833"/>
            <a:ext cx="349859" cy="4192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7415EA2B-4FAA-BB1B-B6E8-B8687E2632FE}"/>
              </a:ext>
            </a:extLst>
          </p:cNvPr>
          <p:cNvSpPr/>
          <p:nvPr/>
        </p:nvSpPr>
        <p:spPr>
          <a:xfrm>
            <a:off x="746709" y="1996758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7ECB204-DBFD-6579-E6F2-471760F67381}"/>
              </a:ext>
            </a:extLst>
          </p:cNvPr>
          <p:cNvSpPr/>
          <p:nvPr/>
        </p:nvSpPr>
        <p:spPr>
          <a:xfrm>
            <a:off x="2795316" y="1996757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62B8170-1A16-3F43-A5B7-8A5B36AD9172}"/>
              </a:ext>
            </a:extLst>
          </p:cNvPr>
          <p:cNvCxnSpPr>
            <a:cxnSpLocks/>
          </p:cNvCxnSpPr>
          <p:nvPr/>
        </p:nvCxnSpPr>
        <p:spPr>
          <a:xfrm flipH="1">
            <a:off x="1055307" y="2565189"/>
            <a:ext cx="8792" cy="3956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4C3B1A-DF8F-92E6-C3BB-5531296A1F6D}"/>
              </a:ext>
            </a:extLst>
          </p:cNvPr>
          <p:cNvCxnSpPr>
            <a:cxnSpLocks/>
          </p:cNvCxnSpPr>
          <p:nvPr/>
        </p:nvCxnSpPr>
        <p:spPr>
          <a:xfrm flipH="1">
            <a:off x="3103914" y="2573980"/>
            <a:ext cx="8792" cy="3956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602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2" grpId="0" animBg="1"/>
      <p:bldP spid="13" grpId="0" animBg="1"/>
      <p:bldP spid="16" grpId="0" animBg="1"/>
      <p:bldP spid="1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67DA9247-7844-27B7-650E-BE381DCFB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1E75AE93-DBA2-DA60-08C9-FE8D50F20D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36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267DE8E6-2340-47A2-85B3-227AC0C19CF6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0AC7AB75-5107-7ED1-3EF2-CA50AC9CECE3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401B4E56-322B-574E-7FB9-49264BB8E13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F1A7B833-6CEC-364F-1CD6-6AAE51AA31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Selective seed mutation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7BF71E-DBE9-9562-1567-E6B82199BACE}"/>
              </a:ext>
            </a:extLst>
          </p:cNvPr>
          <p:cNvSpPr txBox="1"/>
          <p:nvPr/>
        </p:nvSpPr>
        <p:spPr>
          <a:xfrm>
            <a:off x="142874" y="800881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Helvetica Neue"/>
              </a:rPr>
              <a:t>Hybrid fuzzing: Symbolic execution aided mutation.</a:t>
            </a:r>
            <a:endParaRPr lang="en-US" dirty="0"/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64BA364B-AFE5-A1B0-F3B2-FB8C1C4CEA26}"/>
              </a:ext>
            </a:extLst>
          </p:cNvPr>
          <p:cNvSpPr/>
          <p:nvPr/>
        </p:nvSpPr>
        <p:spPr>
          <a:xfrm>
            <a:off x="1810883" y="123198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2C828498-0AD3-7124-4011-8E60E3CA9F8C}"/>
              </a:ext>
            </a:extLst>
          </p:cNvPr>
          <p:cNvSpPr/>
          <p:nvPr/>
        </p:nvSpPr>
        <p:spPr>
          <a:xfrm>
            <a:off x="2796228" y="296285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34BCA295-4C5B-72C9-C076-4F952A16F8D7}"/>
              </a:ext>
            </a:extLst>
          </p:cNvPr>
          <p:cNvSpPr/>
          <p:nvPr/>
        </p:nvSpPr>
        <p:spPr>
          <a:xfrm>
            <a:off x="2185313" y="3847540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FBCBA13D-B15E-28DE-2A4B-52263012C693}"/>
              </a:ext>
            </a:extLst>
          </p:cNvPr>
          <p:cNvSpPr/>
          <p:nvPr/>
        </p:nvSpPr>
        <p:spPr>
          <a:xfrm>
            <a:off x="746710" y="2972705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E6AC83E-B63A-02B1-41E7-E075EDC68FEF}"/>
              </a:ext>
            </a:extLst>
          </p:cNvPr>
          <p:cNvSpPr/>
          <p:nvPr/>
        </p:nvSpPr>
        <p:spPr>
          <a:xfrm>
            <a:off x="204770" y="3847540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D2E7F2-B25F-2F58-9247-D9FE71C8014D}"/>
              </a:ext>
            </a:extLst>
          </p:cNvPr>
          <p:cNvCxnSpPr>
            <a:cxnSpLocks/>
          </p:cNvCxnSpPr>
          <p:nvPr/>
        </p:nvCxnSpPr>
        <p:spPr>
          <a:xfrm flipH="1">
            <a:off x="2687270" y="3538511"/>
            <a:ext cx="335018" cy="394138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499CE1-8D1E-C684-42B8-89B496E190BF}"/>
              </a:ext>
            </a:extLst>
          </p:cNvPr>
          <p:cNvCxnSpPr>
            <a:cxnSpLocks/>
          </p:cNvCxnSpPr>
          <p:nvPr/>
        </p:nvCxnSpPr>
        <p:spPr>
          <a:xfrm flipH="1">
            <a:off x="657457" y="3518803"/>
            <a:ext cx="246339" cy="364578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877BD9-608C-45E6-A596-0612B270E400}"/>
              </a:ext>
            </a:extLst>
          </p:cNvPr>
          <p:cNvCxnSpPr>
            <a:cxnSpLocks/>
          </p:cNvCxnSpPr>
          <p:nvPr/>
        </p:nvCxnSpPr>
        <p:spPr>
          <a:xfrm flipH="1">
            <a:off x="1244051" y="1703556"/>
            <a:ext cx="652076" cy="350371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54F1D7C-B6B2-3ED8-BDF8-2D20C1A7D716}"/>
              </a:ext>
            </a:extLst>
          </p:cNvPr>
          <p:cNvCxnSpPr>
            <a:cxnSpLocks/>
          </p:cNvCxnSpPr>
          <p:nvPr/>
        </p:nvCxnSpPr>
        <p:spPr>
          <a:xfrm>
            <a:off x="2315208" y="1730187"/>
            <a:ext cx="552416" cy="3539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8C420E75-3C41-2103-17D3-70A53AB278A1}"/>
              </a:ext>
            </a:extLst>
          </p:cNvPr>
          <p:cNvSpPr/>
          <p:nvPr/>
        </p:nvSpPr>
        <p:spPr>
          <a:xfrm>
            <a:off x="1308356" y="3837687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1D0D33FC-BB48-B1E8-1074-859B1596D54C}"/>
              </a:ext>
            </a:extLst>
          </p:cNvPr>
          <p:cNvSpPr/>
          <p:nvPr/>
        </p:nvSpPr>
        <p:spPr>
          <a:xfrm>
            <a:off x="3466261" y="3857393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B26AEB9-65EA-2BE6-1A33-2F53005714FA}"/>
              </a:ext>
            </a:extLst>
          </p:cNvPr>
          <p:cNvCxnSpPr>
            <a:cxnSpLocks/>
          </p:cNvCxnSpPr>
          <p:nvPr/>
        </p:nvCxnSpPr>
        <p:spPr>
          <a:xfrm>
            <a:off x="1259017" y="3510573"/>
            <a:ext cx="234113" cy="346867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64B31D9-B133-F465-E106-03CA544DFFCF}"/>
              </a:ext>
            </a:extLst>
          </p:cNvPr>
          <p:cNvCxnSpPr>
            <a:cxnSpLocks/>
          </p:cNvCxnSpPr>
          <p:nvPr/>
        </p:nvCxnSpPr>
        <p:spPr>
          <a:xfrm>
            <a:off x="3205010" y="3533833"/>
            <a:ext cx="349859" cy="4192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ED474554-F623-4FF4-A84F-937A173274FC}"/>
              </a:ext>
            </a:extLst>
          </p:cNvPr>
          <p:cNvSpPr/>
          <p:nvPr/>
        </p:nvSpPr>
        <p:spPr>
          <a:xfrm>
            <a:off x="746709" y="1996758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CF8706F7-CD6A-7EDF-496D-C7AF7638910D}"/>
              </a:ext>
            </a:extLst>
          </p:cNvPr>
          <p:cNvSpPr/>
          <p:nvPr/>
        </p:nvSpPr>
        <p:spPr>
          <a:xfrm>
            <a:off x="2795316" y="1996757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F560028-7497-DCC9-3CA1-A6EFC48BF972}"/>
              </a:ext>
            </a:extLst>
          </p:cNvPr>
          <p:cNvCxnSpPr>
            <a:cxnSpLocks/>
          </p:cNvCxnSpPr>
          <p:nvPr/>
        </p:nvCxnSpPr>
        <p:spPr>
          <a:xfrm flipH="1">
            <a:off x="1055307" y="2565189"/>
            <a:ext cx="8792" cy="395654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3DE18D3-A3A7-579B-DC92-AADD99DEDA24}"/>
              </a:ext>
            </a:extLst>
          </p:cNvPr>
          <p:cNvCxnSpPr>
            <a:cxnSpLocks/>
          </p:cNvCxnSpPr>
          <p:nvPr/>
        </p:nvCxnSpPr>
        <p:spPr>
          <a:xfrm flipH="1">
            <a:off x="3103914" y="2573980"/>
            <a:ext cx="8792" cy="3956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558440D-466B-C062-E46A-D709EE0F42AD}"/>
              </a:ext>
            </a:extLst>
          </p:cNvPr>
          <p:cNvSpPr txBox="1"/>
          <p:nvPr/>
        </p:nvSpPr>
        <p:spPr>
          <a:xfrm>
            <a:off x="2375287" y="1516268"/>
            <a:ext cx="6154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C</a:t>
            </a:r>
            <a:r>
              <a:rPr lang="en-US" sz="2400" baseline="-25000" dirty="0">
                <a:latin typeface="Helvetica Neue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30A9E7-5CDE-E30F-9DF1-7A6DB1BB7151}"/>
              </a:ext>
            </a:extLst>
          </p:cNvPr>
          <p:cNvSpPr txBox="1"/>
          <p:nvPr/>
        </p:nvSpPr>
        <p:spPr>
          <a:xfrm>
            <a:off x="3224252" y="3396966"/>
            <a:ext cx="6154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C</a:t>
            </a:r>
            <a:r>
              <a:rPr lang="en-US" sz="2400" baseline="-25000" dirty="0">
                <a:latin typeface="Helvetica Neue"/>
              </a:rPr>
              <a:t>2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C57759-1CB4-65E5-898D-14E52A52DB95}"/>
              </a:ext>
            </a:extLst>
          </p:cNvPr>
          <p:cNvSpPr txBox="1"/>
          <p:nvPr/>
        </p:nvSpPr>
        <p:spPr>
          <a:xfrm>
            <a:off x="4072342" y="1240907"/>
            <a:ext cx="490576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2800" dirty="0">
                <a:latin typeface="Helvetica Neue"/>
              </a:rPr>
              <a:t>Path condition: C</a:t>
            </a:r>
            <a:r>
              <a:rPr lang="en-US" sz="2800" baseline="-25000" dirty="0">
                <a:latin typeface="Helvetica Neue"/>
              </a:rPr>
              <a:t>1</a:t>
            </a:r>
            <a:r>
              <a:rPr lang="en-US" sz="2800" dirty="0">
                <a:latin typeface="Helvetica Neue"/>
              </a:rPr>
              <a:t> ∧ C</a:t>
            </a:r>
            <a:r>
              <a:rPr lang="en-US" sz="2800" baseline="-25000" dirty="0">
                <a:latin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38688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378F9E03-6FB1-58F0-76AC-4DE8A8668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EE7BB3C5-23F2-0256-D3D8-AE2AC00B79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37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1BB34CD-A90D-C27F-3541-B8ABD01CA9C0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ED94852C-B9B7-5209-AA1A-1CC3754B7542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F3172309-0F94-48FD-3564-AF8C2563FFB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3577919B-FA40-CEA1-D0A5-C70BC0F690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Selective seed mutation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FA9CB0-192E-7F30-DCCD-B719E35AF41F}"/>
              </a:ext>
            </a:extLst>
          </p:cNvPr>
          <p:cNvSpPr txBox="1"/>
          <p:nvPr/>
        </p:nvSpPr>
        <p:spPr>
          <a:xfrm>
            <a:off x="142874" y="800881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Helvetica Neue"/>
              </a:rPr>
              <a:t>Hybrid fuzzing: Symbolic execution aided mutation.</a:t>
            </a:r>
            <a:endParaRPr lang="en-US" dirty="0"/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4F6C490C-35DF-D72F-E6BB-A94922B55D73}"/>
              </a:ext>
            </a:extLst>
          </p:cNvPr>
          <p:cNvSpPr/>
          <p:nvPr/>
        </p:nvSpPr>
        <p:spPr>
          <a:xfrm>
            <a:off x="1810883" y="123198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6DC38B0B-192A-B536-2DA8-9CB241042C21}"/>
              </a:ext>
            </a:extLst>
          </p:cNvPr>
          <p:cNvSpPr/>
          <p:nvPr/>
        </p:nvSpPr>
        <p:spPr>
          <a:xfrm>
            <a:off x="2796228" y="296285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AB3CFB1E-40D0-9519-7CED-599D7B705EC4}"/>
              </a:ext>
            </a:extLst>
          </p:cNvPr>
          <p:cNvSpPr/>
          <p:nvPr/>
        </p:nvSpPr>
        <p:spPr>
          <a:xfrm>
            <a:off x="2185313" y="3847540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6A3F8BCB-C9F4-E149-5E9B-C9E85144A55A}"/>
              </a:ext>
            </a:extLst>
          </p:cNvPr>
          <p:cNvSpPr/>
          <p:nvPr/>
        </p:nvSpPr>
        <p:spPr>
          <a:xfrm>
            <a:off x="746710" y="2972705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DDDAE89E-9294-AA47-D566-186C41A8E1BD}"/>
              </a:ext>
            </a:extLst>
          </p:cNvPr>
          <p:cNvSpPr/>
          <p:nvPr/>
        </p:nvSpPr>
        <p:spPr>
          <a:xfrm>
            <a:off x="204770" y="3847540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29A803-8A94-4E39-CA70-8E65B0A4CA74}"/>
              </a:ext>
            </a:extLst>
          </p:cNvPr>
          <p:cNvCxnSpPr>
            <a:cxnSpLocks/>
          </p:cNvCxnSpPr>
          <p:nvPr/>
        </p:nvCxnSpPr>
        <p:spPr>
          <a:xfrm flipH="1">
            <a:off x="2687270" y="3538511"/>
            <a:ext cx="335018" cy="394138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FB2460-44E1-71FC-328C-42F263A7033D}"/>
              </a:ext>
            </a:extLst>
          </p:cNvPr>
          <p:cNvCxnSpPr>
            <a:cxnSpLocks/>
          </p:cNvCxnSpPr>
          <p:nvPr/>
        </p:nvCxnSpPr>
        <p:spPr>
          <a:xfrm flipH="1">
            <a:off x="657457" y="3518803"/>
            <a:ext cx="246339" cy="364578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10A4DA1-446F-9F75-DA8D-DC997DD7B1F9}"/>
              </a:ext>
            </a:extLst>
          </p:cNvPr>
          <p:cNvCxnSpPr>
            <a:cxnSpLocks/>
          </p:cNvCxnSpPr>
          <p:nvPr/>
        </p:nvCxnSpPr>
        <p:spPr>
          <a:xfrm flipH="1">
            <a:off x="1244051" y="1703556"/>
            <a:ext cx="652076" cy="350371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4551B47-5917-3754-9765-4B7F1B7AB9D5}"/>
              </a:ext>
            </a:extLst>
          </p:cNvPr>
          <p:cNvCxnSpPr>
            <a:cxnSpLocks/>
          </p:cNvCxnSpPr>
          <p:nvPr/>
        </p:nvCxnSpPr>
        <p:spPr>
          <a:xfrm>
            <a:off x="2315208" y="1730187"/>
            <a:ext cx="552416" cy="3539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73056683-3AAA-1DF4-F74E-C428D67EB3EE}"/>
              </a:ext>
            </a:extLst>
          </p:cNvPr>
          <p:cNvSpPr/>
          <p:nvPr/>
        </p:nvSpPr>
        <p:spPr>
          <a:xfrm>
            <a:off x="1308356" y="3837687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8784421A-3AAB-4A86-B909-AD2FDF995EFB}"/>
              </a:ext>
            </a:extLst>
          </p:cNvPr>
          <p:cNvSpPr/>
          <p:nvPr/>
        </p:nvSpPr>
        <p:spPr>
          <a:xfrm>
            <a:off x="3466261" y="3857393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9314CB-EF4E-FDD9-91E2-FC981C7E5079}"/>
              </a:ext>
            </a:extLst>
          </p:cNvPr>
          <p:cNvCxnSpPr>
            <a:cxnSpLocks/>
          </p:cNvCxnSpPr>
          <p:nvPr/>
        </p:nvCxnSpPr>
        <p:spPr>
          <a:xfrm>
            <a:off x="1259017" y="3510573"/>
            <a:ext cx="234113" cy="346867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B9781B-8FE9-5296-3804-30B56D082852}"/>
              </a:ext>
            </a:extLst>
          </p:cNvPr>
          <p:cNvCxnSpPr>
            <a:cxnSpLocks/>
          </p:cNvCxnSpPr>
          <p:nvPr/>
        </p:nvCxnSpPr>
        <p:spPr>
          <a:xfrm>
            <a:off x="3205010" y="3533833"/>
            <a:ext cx="349859" cy="4192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05B9AECE-B3A2-1A6E-3072-6697C46171C0}"/>
              </a:ext>
            </a:extLst>
          </p:cNvPr>
          <p:cNvSpPr/>
          <p:nvPr/>
        </p:nvSpPr>
        <p:spPr>
          <a:xfrm>
            <a:off x="746709" y="1996758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EB843237-7C6F-8C7B-A926-925FC99D4F70}"/>
              </a:ext>
            </a:extLst>
          </p:cNvPr>
          <p:cNvSpPr/>
          <p:nvPr/>
        </p:nvSpPr>
        <p:spPr>
          <a:xfrm>
            <a:off x="2795316" y="1996757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904B8AA-305F-6451-695F-65E016AA8D90}"/>
              </a:ext>
            </a:extLst>
          </p:cNvPr>
          <p:cNvCxnSpPr>
            <a:cxnSpLocks/>
          </p:cNvCxnSpPr>
          <p:nvPr/>
        </p:nvCxnSpPr>
        <p:spPr>
          <a:xfrm flipH="1">
            <a:off x="1055307" y="2565189"/>
            <a:ext cx="8792" cy="395654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35289EB-CDD4-1156-81D5-1E5C603BF31E}"/>
              </a:ext>
            </a:extLst>
          </p:cNvPr>
          <p:cNvCxnSpPr>
            <a:cxnSpLocks/>
          </p:cNvCxnSpPr>
          <p:nvPr/>
        </p:nvCxnSpPr>
        <p:spPr>
          <a:xfrm flipH="1">
            <a:off x="3103914" y="2573980"/>
            <a:ext cx="8792" cy="3956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61DC72B-7B58-9945-C988-CE8A2FA0211C}"/>
              </a:ext>
            </a:extLst>
          </p:cNvPr>
          <p:cNvSpPr txBox="1"/>
          <p:nvPr/>
        </p:nvSpPr>
        <p:spPr>
          <a:xfrm>
            <a:off x="2375287" y="1516268"/>
            <a:ext cx="6154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C</a:t>
            </a:r>
            <a:r>
              <a:rPr lang="en-US" sz="2400" baseline="-25000" dirty="0">
                <a:latin typeface="Helvetica Neue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769503-A264-A58C-2646-81BAFD240210}"/>
              </a:ext>
            </a:extLst>
          </p:cNvPr>
          <p:cNvSpPr txBox="1"/>
          <p:nvPr/>
        </p:nvSpPr>
        <p:spPr>
          <a:xfrm>
            <a:off x="3224252" y="3396966"/>
            <a:ext cx="6154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C</a:t>
            </a:r>
            <a:r>
              <a:rPr lang="en-US" sz="2400" baseline="-25000" dirty="0">
                <a:latin typeface="Helvetica Neue"/>
              </a:rPr>
              <a:t>2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FE994B-FA2F-535D-B243-247C098FD359}"/>
              </a:ext>
            </a:extLst>
          </p:cNvPr>
          <p:cNvSpPr txBox="1"/>
          <p:nvPr/>
        </p:nvSpPr>
        <p:spPr>
          <a:xfrm>
            <a:off x="4072342" y="1240907"/>
            <a:ext cx="490576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2800" dirty="0">
                <a:latin typeface="Helvetica Neue"/>
              </a:rPr>
              <a:t>Path condition: C</a:t>
            </a:r>
            <a:r>
              <a:rPr lang="en-US" sz="2800" baseline="-25000" dirty="0">
                <a:latin typeface="Helvetica Neue"/>
              </a:rPr>
              <a:t>1</a:t>
            </a:r>
            <a:r>
              <a:rPr lang="en-US" sz="2800" dirty="0">
                <a:latin typeface="Helvetica Neue"/>
              </a:rPr>
              <a:t> ∧ C</a:t>
            </a:r>
            <a:r>
              <a:rPr lang="en-US" sz="2800" baseline="-25000" dirty="0">
                <a:latin typeface="Helvetica Neue"/>
              </a:rPr>
              <a:t>2</a:t>
            </a:r>
          </a:p>
          <a:p>
            <a:pPr marL="285750" indent="-285750">
              <a:buChar char="•"/>
            </a:pPr>
            <a:endParaRPr lang="en-US" sz="2800">
              <a:latin typeface="Helvetica Neue"/>
            </a:endParaRPr>
          </a:p>
          <a:p>
            <a:pPr marL="285750" indent="-285750">
              <a:buChar char="•"/>
            </a:pPr>
            <a:r>
              <a:rPr lang="en-US" sz="2800" dirty="0">
                <a:latin typeface="Helvetica Neue"/>
              </a:rPr>
              <a:t>New inputs: ¬C</a:t>
            </a:r>
            <a:r>
              <a:rPr lang="en-US" sz="2800" baseline="-25000" dirty="0">
                <a:latin typeface="Helvetica Neue"/>
              </a:rPr>
              <a:t>1</a:t>
            </a:r>
            <a:r>
              <a:rPr lang="en-US" sz="2800" dirty="0">
                <a:latin typeface="Helvetica Neue"/>
              </a:rPr>
              <a:t>, C</a:t>
            </a:r>
            <a:r>
              <a:rPr lang="en-US" sz="2800" baseline="-25000" dirty="0">
                <a:latin typeface="Helvetica Neue"/>
              </a:rPr>
              <a:t>1</a:t>
            </a:r>
            <a:r>
              <a:rPr lang="en-US" sz="2800" dirty="0">
                <a:latin typeface="Helvetica Neue"/>
              </a:rPr>
              <a:t> ∧ ¬C</a:t>
            </a:r>
            <a:r>
              <a:rPr lang="en-US" sz="2800" baseline="-25000" dirty="0">
                <a:latin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949376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4633A7D5-2583-3100-97CF-C05D9C45C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3199EBC3-A933-FE75-5F24-12DF1A81CC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38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4ADBF95D-F822-EB71-507E-121159835D9C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04A6566B-2D6B-E193-2968-62E1B88DCC6A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76D133AD-638A-D095-5FF2-221BF93ADA1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D6F70FB5-E3DC-3319-9B3F-C8CD91A6C8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Selective seed mutation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12183A-FD83-B731-A9A2-EBE8BBA3E4F9}"/>
              </a:ext>
            </a:extLst>
          </p:cNvPr>
          <p:cNvSpPr txBox="1"/>
          <p:nvPr/>
        </p:nvSpPr>
        <p:spPr>
          <a:xfrm>
            <a:off x="142874" y="800881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Helvetica Neue"/>
              </a:rPr>
              <a:t>Hybrid fuzzing: Symbolic execution aided mutation.</a:t>
            </a:r>
            <a:endParaRPr lang="en-US" dirty="0"/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143F8155-4BBD-081A-805F-85C57CAF2B60}"/>
              </a:ext>
            </a:extLst>
          </p:cNvPr>
          <p:cNvSpPr/>
          <p:nvPr/>
        </p:nvSpPr>
        <p:spPr>
          <a:xfrm>
            <a:off x="1810883" y="123198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896E5A90-208F-2ED9-1AF6-5ACDC9BB8B1A}"/>
              </a:ext>
            </a:extLst>
          </p:cNvPr>
          <p:cNvSpPr/>
          <p:nvPr/>
        </p:nvSpPr>
        <p:spPr>
          <a:xfrm>
            <a:off x="2796228" y="296285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63F5D64C-59B9-657F-BF00-6EFC56ED7A8A}"/>
              </a:ext>
            </a:extLst>
          </p:cNvPr>
          <p:cNvSpPr/>
          <p:nvPr/>
        </p:nvSpPr>
        <p:spPr>
          <a:xfrm>
            <a:off x="2185313" y="3847540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CA783100-B29A-DB83-E1CF-A94961A86486}"/>
              </a:ext>
            </a:extLst>
          </p:cNvPr>
          <p:cNvSpPr/>
          <p:nvPr/>
        </p:nvSpPr>
        <p:spPr>
          <a:xfrm>
            <a:off x="746710" y="2972705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D725B99C-BB7E-BD34-77AB-29339C5C6D2E}"/>
              </a:ext>
            </a:extLst>
          </p:cNvPr>
          <p:cNvSpPr/>
          <p:nvPr/>
        </p:nvSpPr>
        <p:spPr>
          <a:xfrm>
            <a:off x="204770" y="3847540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7CCA48-2AFB-8B20-ABCC-EE3FCB402F13}"/>
              </a:ext>
            </a:extLst>
          </p:cNvPr>
          <p:cNvCxnSpPr>
            <a:cxnSpLocks/>
          </p:cNvCxnSpPr>
          <p:nvPr/>
        </p:nvCxnSpPr>
        <p:spPr>
          <a:xfrm flipH="1">
            <a:off x="2687270" y="3538511"/>
            <a:ext cx="335018" cy="394138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FA8075-894A-638C-63F6-5EDCB9F009E4}"/>
              </a:ext>
            </a:extLst>
          </p:cNvPr>
          <p:cNvCxnSpPr>
            <a:cxnSpLocks/>
          </p:cNvCxnSpPr>
          <p:nvPr/>
        </p:nvCxnSpPr>
        <p:spPr>
          <a:xfrm flipH="1">
            <a:off x="657457" y="3518803"/>
            <a:ext cx="246339" cy="364578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6FA7A1-7A39-EE37-217E-DC4259E99AD4}"/>
              </a:ext>
            </a:extLst>
          </p:cNvPr>
          <p:cNvCxnSpPr>
            <a:cxnSpLocks/>
          </p:cNvCxnSpPr>
          <p:nvPr/>
        </p:nvCxnSpPr>
        <p:spPr>
          <a:xfrm flipH="1">
            <a:off x="1244051" y="1703556"/>
            <a:ext cx="652076" cy="350371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0241C8-1B4B-667E-C771-376B02B82027}"/>
              </a:ext>
            </a:extLst>
          </p:cNvPr>
          <p:cNvCxnSpPr>
            <a:cxnSpLocks/>
          </p:cNvCxnSpPr>
          <p:nvPr/>
        </p:nvCxnSpPr>
        <p:spPr>
          <a:xfrm>
            <a:off x="2315208" y="1730187"/>
            <a:ext cx="552416" cy="3539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835B121C-3449-3399-7637-D51C00FD8053}"/>
              </a:ext>
            </a:extLst>
          </p:cNvPr>
          <p:cNvSpPr/>
          <p:nvPr/>
        </p:nvSpPr>
        <p:spPr>
          <a:xfrm>
            <a:off x="1308356" y="3837687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DDC6864D-CF48-77AA-E95E-9A22993766CC}"/>
              </a:ext>
            </a:extLst>
          </p:cNvPr>
          <p:cNvSpPr/>
          <p:nvPr/>
        </p:nvSpPr>
        <p:spPr>
          <a:xfrm>
            <a:off x="3466261" y="3857393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89A018-09EA-EFEB-388C-5FF6C567AD15}"/>
              </a:ext>
            </a:extLst>
          </p:cNvPr>
          <p:cNvCxnSpPr>
            <a:cxnSpLocks/>
          </p:cNvCxnSpPr>
          <p:nvPr/>
        </p:nvCxnSpPr>
        <p:spPr>
          <a:xfrm>
            <a:off x="1259017" y="3510573"/>
            <a:ext cx="234113" cy="346867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69720DF-03D6-24E8-D95A-3B990258A936}"/>
              </a:ext>
            </a:extLst>
          </p:cNvPr>
          <p:cNvCxnSpPr>
            <a:cxnSpLocks/>
          </p:cNvCxnSpPr>
          <p:nvPr/>
        </p:nvCxnSpPr>
        <p:spPr>
          <a:xfrm>
            <a:off x="3205010" y="3533833"/>
            <a:ext cx="349859" cy="4192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3EBBD04B-C61B-C57A-BCDB-848BBD468836}"/>
              </a:ext>
            </a:extLst>
          </p:cNvPr>
          <p:cNvSpPr/>
          <p:nvPr/>
        </p:nvSpPr>
        <p:spPr>
          <a:xfrm>
            <a:off x="746709" y="1996758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AE7690C7-B023-6048-2B2C-4513E834C859}"/>
              </a:ext>
            </a:extLst>
          </p:cNvPr>
          <p:cNvSpPr/>
          <p:nvPr/>
        </p:nvSpPr>
        <p:spPr>
          <a:xfrm>
            <a:off x="2795316" y="1996757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1A92E5F-45E9-9205-EDB7-6F4A3EC167AA}"/>
              </a:ext>
            </a:extLst>
          </p:cNvPr>
          <p:cNvCxnSpPr>
            <a:cxnSpLocks/>
          </p:cNvCxnSpPr>
          <p:nvPr/>
        </p:nvCxnSpPr>
        <p:spPr>
          <a:xfrm flipH="1">
            <a:off x="1055307" y="2565189"/>
            <a:ext cx="8792" cy="395654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BD7C5A-87D0-FB77-3139-A42869549FB5}"/>
              </a:ext>
            </a:extLst>
          </p:cNvPr>
          <p:cNvCxnSpPr>
            <a:cxnSpLocks/>
          </p:cNvCxnSpPr>
          <p:nvPr/>
        </p:nvCxnSpPr>
        <p:spPr>
          <a:xfrm flipH="1">
            <a:off x="3103914" y="2573980"/>
            <a:ext cx="8792" cy="3956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C14B25B-3BBD-DA3E-538D-438CE0F9F40B}"/>
              </a:ext>
            </a:extLst>
          </p:cNvPr>
          <p:cNvSpPr txBox="1"/>
          <p:nvPr/>
        </p:nvSpPr>
        <p:spPr>
          <a:xfrm>
            <a:off x="2375287" y="1516268"/>
            <a:ext cx="6154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C</a:t>
            </a:r>
            <a:r>
              <a:rPr lang="en-US" sz="2400" baseline="-25000" dirty="0">
                <a:latin typeface="Helvetica Neue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DDA0C4-18B0-AF63-5A03-455B7305D66A}"/>
              </a:ext>
            </a:extLst>
          </p:cNvPr>
          <p:cNvSpPr txBox="1"/>
          <p:nvPr/>
        </p:nvSpPr>
        <p:spPr>
          <a:xfrm>
            <a:off x="3224252" y="3396966"/>
            <a:ext cx="6154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C</a:t>
            </a:r>
            <a:r>
              <a:rPr lang="en-US" sz="2400" baseline="-25000" dirty="0">
                <a:latin typeface="Helvetica Neue"/>
              </a:rPr>
              <a:t>2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90C7C1-474D-3494-0DE9-AF3186A52519}"/>
              </a:ext>
            </a:extLst>
          </p:cNvPr>
          <p:cNvSpPr txBox="1"/>
          <p:nvPr/>
        </p:nvSpPr>
        <p:spPr>
          <a:xfrm>
            <a:off x="4072342" y="1240907"/>
            <a:ext cx="4905760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2800" dirty="0">
                <a:latin typeface="Helvetica Neue"/>
              </a:rPr>
              <a:t>Path condition: C</a:t>
            </a:r>
            <a:r>
              <a:rPr lang="en-US" sz="2800" baseline="-25000" dirty="0">
                <a:latin typeface="Helvetica Neue"/>
              </a:rPr>
              <a:t>1</a:t>
            </a:r>
            <a:r>
              <a:rPr lang="en-US" sz="2800" dirty="0">
                <a:latin typeface="Helvetica Neue"/>
              </a:rPr>
              <a:t> ∧ C</a:t>
            </a:r>
            <a:r>
              <a:rPr lang="en-US" sz="2800" baseline="-25000" dirty="0">
                <a:latin typeface="Helvetica Neue"/>
              </a:rPr>
              <a:t>2</a:t>
            </a:r>
          </a:p>
          <a:p>
            <a:pPr marL="285750" indent="-285750">
              <a:buChar char="•"/>
            </a:pPr>
            <a:endParaRPr lang="en-US" sz="2800">
              <a:latin typeface="Helvetica Neue"/>
            </a:endParaRPr>
          </a:p>
          <a:p>
            <a:pPr marL="285750" indent="-285750">
              <a:buChar char="•"/>
            </a:pPr>
            <a:r>
              <a:rPr lang="en-US" sz="2800" dirty="0">
                <a:latin typeface="Helvetica Neue"/>
              </a:rPr>
              <a:t>New inputs: ¬C</a:t>
            </a:r>
            <a:r>
              <a:rPr lang="en-US" sz="2800" baseline="-25000" dirty="0">
                <a:latin typeface="Helvetica Neue"/>
              </a:rPr>
              <a:t>1</a:t>
            </a:r>
            <a:r>
              <a:rPr lang="en-US" sz="2800" dirty="0">
                <a:latin typeface="Helvetica Neue"/>
              </a:rPr>
              <a:t>, C</a:t>
            </a:r>
            <a:r>
              <a:rPr lang="en-US" sz="2800" baseline="-25000" dirty="0">
                <a:latin typeface="Helvetica Neue"/>
              </a:rPr>
              <a:t>1</a:t>
            </a:r>
            <a:r>
              <a:rPr lang="en-US" sz="2800" dirty="0">
                <a:latin typeface="Helvetica Neue"/>
              </a:rPr>
              <a:t> ∧ ¬C</a:t>
            </a:r>
            <a:r>
              <a:rPr lang="en-US" sz="2800" baseline="-25000" dirty="0">
                <a:latin typeface="Helvetica Neue"/>
              </a:rPr>
              <a:t>2</a:t>
            </a:r>
          </a:p>
          <a:p>
            <a:pPr marL="285750" indent="-285750">
              <a:buFont typeface="Arial"/>
              <a:buChar char="•"/>
            </a:pPr>
            <a:endParaRPr lang="en-US" sz="2800">
              <a:latin typeface="Helvetica Neue"/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latin typeface="Helvetica Neue"/>
              </a:rPr>
              <a:t>Interpreted (Driller), DBI (QSYM), compiled (</a:t>
            </a:r>
            <a:r>
              <a:rPr lang="en-US" sz="2800" dirty="0" err="1">
                <a:latin typeface="Helvetica Neue"/>
              </a:rPr>
              <a:t>SymCC</a:t>
            </a:r>
            <a:r>
              <a:rPr lang="en-US" sz="2800" dirty="0">
                <a:latin typeface="Helvetica Neue"/>
              </a:rPr>
              <a:t>), JIT (</a:t>
            </a:r>
            <a:r>
              <a:rPr lang="en-US" sz="2800" dirty="0" err="1">
                <a:latin typeface="Helvetica Neue"/>
              </a:rPr>
              <a:t>SymQEMU</a:t>
            </a:r>
            <a:r>
              <a:rPr lang="en-US" sz="2800" dirty="0">
                <a:latin typeface="Helvetica Neue"/>
              </a:rPr>
              <a:t>).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2DF088-5EF1-7003-0606-EF9D6C26E1A6}"/>
              </a:ext>
            </a:extLst>
          </p:cNvPr>
          <p:cNvSpPr txBox="1"/>
          <p:nvPr/>
        </p:nvSpPr>
        <p:spPr>
          <a:xfrm>
            <a:off x="145772" y="4445546"/>
            <a:ext cx="722721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“Driller: Augmenting Fuzzing Through Selective Symbolic Execution” ISOC NDSS 2016.</a:t>
            </a:r>
          </a:p>
          <a:p>
            <a:r>
              <a:rPr lang="en-US" sz="1000" dirty="0">
                <a:latin typeface="Helvetica Neue"/>
              </a:rPr>
              <a:t>“QSYM : A Practical Concolic Execution Engine Tailored for Hybrid Fuzzing” USENIX Security 2018.</a:t>
            </a:r>
          </a:p>
          <a:p>
            <a:r>
              <a:rPr lang="en-US" sz="1000" dirty="0">
                <a:latin typeface="Helvetica Neue"/>
              </a:rPr>
              <a:t>“Symbolic execution with </a:t>
            </a:r>
            <a:r>
              <a:rPr lang="en-US" sz="1000" err="1">
                <a:latin typeface="Helvetica Neue"/>
              </a:rPr>
              <a:t>SymCC</a:t>
            </a:r>
            <a:r>
              <a:rPr lang="en-US" sz="1000" dirty="0">
                <a:latin typeface="Helvetica Neue"/>
              </a:rPr>
              <a:t>: Don’t interpret, compile!” USENIX Security 2020.</a:t>
            </a:r>
          </a:p>
          <a:p>
            <a:r>
              <a:rPr lang="en-US" sz="1000" dirty="0">
                <a:latin typeface="Helvetica Neue"/>
              </a:rPr>
              <a:t>“</a:t>
            </a:r>
            <a:r>
              <a:rPr lang="en-US" sz="1000" err="1">
                <a:latin typeface="Helvetica Neue"/>
              </a:rPr>
              <a:t>SymQEMU</a:t>
            </a:r>
            <a:r>
              <a:rPr lang="en-US" sz="1000" dirty="0">
                <a:latin typeface="Helvetica Neue"/>
              </a:rPr>
              <a:t>: Compilation-based symbolic execution for binaries” ISOC NDSS 2021.</a:t>
            </a:r>
          </a:p>
        </p:txBody>
      </p:sp>
    </p:spTree>
    <p:extLst>
      <p:ext uri="{BB962C8B-B14F-4D97-AF65-F5344CB8AC3E}">
        <p14:creationId xmlns:p14="http://schemas.microsoft.com/office/powerpoint/2010/main" val="22686286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9EBD8B3B-A590-5C82-4649-B855B391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6AB1D976-C464-1BE0-0341-7A61055A9A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39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F2CCAB3-E416-608B-0EBE-0B7B5588BF1B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D0BFC6D0-DE96-F668-FC2C-2DD0E68F24E9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4A4C73A6-007B-884A-02C6-84F13FAB5C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0F7385A8-4E12-CBD7-B019-1A98ABA660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Selective seed mutation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C3D98E-B3DA-0372-C72A-0E09AFCE038D}"/>
              </a:ext>
            </a:extLst>
          </p:cNvPr>
          <p:cNvSpPr txBox="1"/>
          <p:nvPr/>
        </p:nvSpPr>
        <p:spPr>
          <a:xfrm>
            <a:off x="-1" y="861953"/>
            <a:ext cx="92474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Helvetica Neue"/>
              </a:rPr>
              <a:t>Angora/JIGSAW: Solving using gradient descent.</a:t>
            </a:r>
            <a:endParaRPr lang="en-US" dirty="0"/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4A54341E-0DD7-7A52-0B0A-23BC5D664315}"/>
              </a:ext>
            </a:extLst>
          </p:cNvPr>
          <p:cNvSpPr/>
          <p:nvPr/>
        </p:nvSpPr>
        <p:spPr>
          <a:xfrm>
            <a:off x="1791272" y="1412956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A7EEBEC6-D188-C834-1982-D5F625F20173}"/>
              </a:ext>
            </a:extLst>
          </p:cNvPr>
          <p:cNvSpPr/>
          <p:nvPr/>
        </p:nvSpPr>
        <p:spPr>
          <a:xfrm>
            <a:off x="2776617" y="3143827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97C4AB03-4B81-228F-690B-562F65F2877A}"/>
              </a:ext>
            </a:extLst>
          </p:cNvPr>
          <p:cNvSpPr/>
          <p:nvPr/>
        </p:nvSpPr>
        <p:spPr>
          <a:xfrm>
            <a:off x="2165702" y="4028515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6BC9A8E4-0F46-F9C8-6F3E-70654001DFC1}"/>
              </a:ext>
            </a:extLst>
          </p:cNvPr>
          <p:cNvSpPr/>
          <p:nvPr/>
        </p:nvSpPr>
        <p:spPr>
          <a:xfrm>
            <a:off x="727099" y="3153680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D1A82D0F-483B-B967-8CC9-316ADDE88685}"/>
              </a:ext>
            </a:extLst>
          </p:cNvPr>
          <p:cNvSpPr/>
          <p:nvPr/>
        </p:nvSpPr>
        <p:spPr>
          <a:xfrm>
            <a:off x="185159" y="4028515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97E07EF-14C3-F387-F26C-BF345A5D7C63}"/>
              </a:ext>
            </a:extLst>
          </p:cNvPr>
          <p:cNvCxnSpPr>
            <a:cxnSpLocks/>
          </p:cNvCxnSpPr>
          <p:nvPr/>
        </p:nvCxnSpPr>
        <p:spPr>
          <a:xfrm flipH="1">
            <a:off x="2667659" y="3719486"/>
            <a:ext cx="335018" cy="3941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ED10A0-51AC-0D16-09D6-8FB066105EE4}"/>
              </a:ext>
            </a:extLst>
          </p:cNvPr>
          <p:cNvCxnSpPr>
            <a:cxnSpLocks/>
          </p:cNvCxnSpPr>
          <p:nvPr/>
        </p:nvCxnSpPr>
        <p:spPr>
          <a:xfrm flipH="1">
            <a:off x="637846" y="3699778"/>
            <a:ext cx="246339" cy="3645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CBB151-0D38-1C87-312D-A70988FBC2F5}"/>
              </a:ext>
            </a:extLst>
          </p:cNvPr>
          <p:cNvCxnSpPr>
            <a:cxnSpLocks/>
          </p:cNvCxnSpPr>
          <p:nvPr/>
        </p:nvCxnSpPr>
        <p:spPr>
          <a:xfrm flipH="1">
            <a:off x="1224440" y="1884531"/>
            <a:ext cx="652076" cy="3503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4DBB37-13CD-132E-8ABB-2E4E031E4529}"/>
              </a:ext>
            </a:extLst>
          </p:cNvPr>
          <p:cNvCxnSpPr>
            <a:cxnSpLocks/>
          </p:cNvCxnSpPr>
          <p:nvPr/>
        </p:nvCxnSpPr>
        <p:spPr>
          <a:xfrm>
            <a:off x="2295597" y="1911162"/>
            <a:ext cx="552416" cy="3539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A6C29876-0DC1-801F-A8F8-4D03FB10D11B}"/>
              </a:ext>
            </a:extLst>
          </p:cNvPr>
          <p:cNvSpPr/>
          <p:nvPr/>
        </p:nvSpPr>
        <p:spPr>
          <a:xfrm>
            <a:off x="1288745" y="401866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F83F94BB-CAF8-2CA5-A780-6C0E4E522ED6}"/>
              </a:ext>
            </a:extLst>
          </p:cNvPr>
          <p:cNvSpPr/>
          <p:nvPr/>
        </p:nvSpPr>
        <p:spPr>
          <a:xfrm>
            <a:off x="3446650" y="4038368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BEEB33-73ED-37B7-066C-4B186E834B05}"/>
              </a:ext>
            </a:extLst>
          </p:cNvPr>
          <p:cNvCxnSpPr>
            <a:cxnSpLocks/>
          </p:cNvCxnSpPr>
          <p:nvPr/>
        </p:nvCxnSpPr>
        <p:spPr>
          <a:xfrm>
            <a:off x="1239406" y="3691548"/>
            <a:ext cx="234113" cy="3468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8259B8-D952-ABD2-8658-A312C2DBC399}"/>
              </a:ext>
            </a:extLst>
          </p:cNvPr>
          <p:cNvCxnSpPr>
            <a:cxnSpLocks/>
          </p:cNvCxnSpPr>
          <p:nvPr/>
        </p:nvCxnSpPr>
        <p:spPr>
          <a:xfrm>
            <a:off x="3185399" y="3714808"/>
            <a:ext cx="349859" cy="4192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513DCA16-2FC2-B842-298D-3CDF1AC1E383}"/>
              </a:ext>
            </a:extLst>
          </p:cNvPr>
          <p:cNvSpPr/>
          <p:nvPr/>
        </p:nvSpPr>
        <p:spPr>
          <a:xfrm>
            <a:off x="727098" y="2177733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52D51E44-A542-19D2-4088-E432565904E3}"/>
              </a:ext>
            </a:extLst>
          </p:cNvPr>
          <p:cNvSpPr/>
          <p:nvPr/>
        </p:nvSpPr>
        <p:spPr>
          <a:xfrm>
            <a:off x="2775705" y="217773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A1D831-DD41-1F3A-36D0-7BA9A4FAED6F}"/>
              </a:ext>
            </a:extLst>
          </p:cNvPr>
          <p:cNvCxnSpPr>
            <a:cxnSpLocks/>
          </p:cNvCxnSpPr>
          <p:nvPr/>
        </p:nvCxnSpPr>
        <p:spPr>
          <a:xfrm flipH="1">
            <a:off x="1035696" y="2746164"/>
            <a:ext cx="8792" cy="3956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D5D31BD-866F-F4F2-58E6-C4079DB82D46}"/>
              </a:ext>
            </a:extLst>
          </p:cNvPr>
          <p:cNvCxnSpPr>
            <a:cxnSpLocks/>
          </p:cNvCxnSpPr>
          <p:nvPr/>
        </p:nvCxnSpPr>
        <p:spPr>
          <a:xfrm flipH="1">
            <a:off x="3084303" y="2754955"/>
            <a:ext cx="8792" cy="3956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ECD7845-E51A-F332-96FA-907BDCD24F23}"/>
              </a:ext>
            </a:extLst>
          </p:cNvPr>
          <p:cNvSpPr txBox="1"/>
          <p:nvPr/>
        </p:nvSpPr>
        <p:spPr>
          <a:xfrm>
            <a:off x="2339110" y="1713809"/>
            <a:ext cx="615461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C</a:t>
            </a:r>
            <a:r>
              <a:rPr lang="en-US" sz="2400" baseline="-25000">
                <a:latin typeface="Helvetica Neue"/>
              </a:rPr>
              <a:t>1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F7766E9-F718-DBAE-97EE-53B0C3349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257685"/>
              </p:ext>
            </p:extLst>
          </p:nvPr>
        </p:nvGraphicFramePr>
        <p:xfrm>
          <a:off x="3710057" y="2872112"/>
          <a:ext cx="51206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">
                  <a:extLst>
                    <a:ext uri="{9D8B030D-6E8A-4147-A177-3AD203B41FA5}">
                      <a16:colId xmlns:a16="http://schemas.microsoft.com/office/drawing/2014/main" val="133998855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3547847688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3280710382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335872662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572761877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1213649504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72815276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1379390889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1487338049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4251109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259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BE62409-8DAF-7733-AF5B-2C6CC7BB429A}"/>
              </a:ext>
            </a:extLst>
          </p:cNvPr>
          <p:cNvSpPr txBox="1"/>
          <p:nvPr/>
        </p:nvSpPr>
        <p:spPr>
          <a:xfrm rot="16200000">
            <a:off x="4947745" y="2011916"/>
            <a:ext cx="49643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0">
                <a:latin typeface="Helvetica Neue"/>
              </a:rPr>
              <a:t>}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7F94C09-1AA9-D26F-BEC9-972556C33A9F}"/>
              </a:ext>
            </a:extLst>
          </p:cNvPr>
          <p:cNvCxnSpPr/>
          <p:nvPr/>
        </p:nvCxnSpPr>
        <p:spPr>
          <a:xfrm flipH="1">
            <a:off x="2719607" y="1904999"/>
            <a:ext cx="2516130" cy="155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E41BAB9-50D5-44A4-5CE9-355385E97245}"/>
              </a:ext>
            </a:extLst>
          </p:cNvPr>
          <p:cNvCxnSpPr/>
          <p:nvPr/>
        </p:nvCxnSpPr>
        <p:spPr>
          <a:xfrm>
            <a:off x="5238151" y="1898706"/>
            <a:ext cx="8282" cy="604630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0E3F32E-C4A0-7171-8B56-F37154D1CBF3}"/>
              </a:ext>
            </a:extLst>
          </p:cNvPr>
          <p:cNvSpPr txBox="1"/>
          <p:nvPr/>
        </p:nvSpPr>
        <p:spPr>
          <a:xfrm>
            <a:off x="3037914" y="1464608"/>
            <a:ext cx="27908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Helvetica Neue"/>
              </a:rPr>
              <a:t>Taint analysis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1645BA-89D1-B72F-DADD-5F88E8C36EBA}"/>
              </a:ext>
            </a:extLst>
          </p:cNvPr>
          <p:cNvSpPr txBox="1"/>
          <p:nvPr/>
        </p:nvSpPr>
        <p:spPr>
          <a:xfrm>
            <a:off x="145772" y="4725693"/>
            <a:ext cx="722721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“Angora: Efficient Fuzzing by Principled Search” IEEE S&amp;P 2018.</a:t>
            </a:r>
          </a:p>
          <a:p>
            <a:r>
              <a:rPr lang="en-US" sz="1000" dirty="0">
                <a:latin typeface="Helvetica Neue"/>
              </a:rPr>
              <a:t>“JIGSAW: Efficient and Scalable Path Constraints Fuzzing” IEEE S&amp;P 2022.</a:t>
            </a:r>
          </a:p>
        </p:txBody>
      </p:sp>
    </p:spTree>
    <p:extLst>
      <p:ext uri="{BB962C8B-B14F-4D97-AF65-F5344CB8AC3E}">
        <p14:creationId xmlns:p14="http://schemas.microsoft.com/office/powerpoint/2010/main" val="38473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A574A1ED-B483-BFE7-B572-F86D0F0F4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4F95E1F2-4E5E-BBA3-9329-D0955AABAC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40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5450C1CE-1020-0812-4CA3-708FAF3E6C80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4F8665C3-391C-C657-3298-58BCD68C94E7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96D79C2E-FBC5-105F-D8C8-7061F95635A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F33F5B07-DA1E-4902-729F-C76F7C73DB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Selective seed mutation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199E78-0D38-9330-61D2-2CDB5257A9F2}"/>
              </a:ext>
            </a:extLst>
          </p:cNvPr>
          <p:cNvSpPr txBox="1"/>
          <p:nvPr/>
        </p:nvSpPr>
        <p:spPr>
          <a:xfrm>
            <a:off x="-1" y="861953"/>
            <a:ext cx="92474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Helvetica Neue"/>
              </a:rPr>
              <a:t>Matryoshka: Solve all dependent branches together.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D51DCD-A8F7-AA78-9F4C-ACDB44EEA741}"/>
              </a:ext>
            </a:extLst>
          </p:cNvPr>
          <p:cNvSpPr txBox="1"/>
          <p:nvPr/>
        </p:nvSpPr>
        <p:spPr>
          <a:xfrm>
            <a:off x="554690" y="1383927"/>
            <a:ext cx="846604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monospace"/>
              </a:rPr>
              <a:t>void foo ( unsigned x, unsigned y, unsigned z) {</a:t>
            </a:r>
          </a:p>
          <a:p>
            <a:r>
              <a:rPr lang="en-US" sz="2200">
                <a:latin typeface="monospace"/>
              </a:rPr>
              <a:t> if (x &lt; 2) {</a:t>
            </a:r>
          </a:p>
          <a:p>
            <a:r>
              <a:rPr lang="en-US" sz="2200">
                <a:latin typeface="monospace"/>
              </a:rPr>
              <a:t>  if (x + y &lt; 3) {</a:t>
            </a:r>
          </a:p>
          <a:p>
            <a:r>
              <a:rPr lang="en-US" sz="2200">
                <a:latin typeface="monospace"/>
              </a:rPr>
              <a:t>   if (z == 1111) {</a:t>
            </a:r>
          </a:p>
          <a:p>
            <a:r>
              <a:rPr lang="en-US" sz="2200">
                <a:latin typeface="monospace"/>
              </a:rPr>
              <a:t>    if (y &gt; 1) { .... }</a:t>
            </a:r>
          </a:p>
          <a:p>
            <a:r>
              <a:rPr lang="en-US" sz="2200">
                <a:latin typeface="monospace"/>
              </a:rPr>
              <a:t>   }</a:t>
            </a:r>
          </a:p>
          <a:p>
            <a:r>
              <a:rPr lang="en-US" sz="2200">
                <a:latin typeface="monospace"/>
              </a:rPr>
              <a:t>  }</a:t>
            </a:r>
          </a:p>
          <a:p>
            <a:r>
              <a:rPr lang="en-US" sz="2200">
                <a:latin typeface="monospace"/>
              </a:rPr>
              <a:t> }</a:t>
            </a:r>
          </a:p>
          <a:p>
            <a:r>
              <a:rPr lang="en-US" sz="2200">
                <a:latin typeface="monospace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19182E-80C0-1E78-7602-E3D69EA11B0A}"/>
              </a:ext>
            </a:extLst>
          </p:cNvPr>
          <p:cNvSpPr txBox="1"/>
          <p:nvPr/>
        </p:nvSpPr>
        <p:spPr>
          <a:xfrm>
            <a:off x="84044" y="1383926"/>
            <a:ext cx="30816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monospace"/>
              </a:rPr>
              <a:t>123456789</a:t>
            </a:r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59E846D-4ACB-27F9-53CA-1B147B7AA2AD}"/>
              </a:ext>
            </a:extLst>
          </p:cNvPr>
          <p:cNvCxnSpPr>
            <a:cxnSpLocks/>
          </p:cNvCxnSpPr>
          <p:nvPr/>
        </p:nvCxnSpPr>
        <p:spPr>
          <a:xfrm flipH="1" flipV="1">
            <a:off x="2228251" y="1951057"/>
            <a:ext cx="2883888" cy="100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26E205-1FAD-7669-7439-707A26493D04}"/>
              </a:ext>
            </a:extLst>
          </p:cNvPr>
          <p:cNvCxnSpPr/>
          <p:nvPr/>
        </p:nvCxnSpPr>
        <p:spPr>
          <a:xfrm flipH="1">
            <a:off x="2768171" y="2288220"/>
            <a:ext cx="2328665" cy="4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3DE00C-EBB1-C0E9-9E68-D7335FBB49C9}"/>
              </a:ext>
            </a:extLst>
          </p:cNvPr>
          <p:cNvCxnSpPr/>
          <p:nvPr/>
        </p:nvCxnSpPr>
        <p:spPr>
          <a:xfrm flipH="1">
            <a:off x="5092764" y="1947326"/>
            <a:ext cx="2160" cy="99432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846380E-05D3-1C19-50A8-484489A7F09F}"/>
              </a:ext>
            </a:extLst>
          </p:cNvPr>
          <p:cNvCxnSpPr/>
          <p:nvPr/>
        </p:nvCxnSpPr>
        <p:spPr>
          <a:xfrm>
            <a:off x="3558446" y="2951689"/>
            <a:ext cx="1552693" cy="2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E9AE502-4E1A-3D35-3753-B13589171277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“Matryoshka: Fuzzing Deeply Nested Branches” ACM CCS 2019.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1366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3CE6BD20-0642-A419-8977-1ADABE552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8DFDFA87-3EBE-E48E-0726-282BC77147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41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2899C65-4A31-982E-96B4-6E47BC5C6AC0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AE13895F-2FDF-CA4B-946D-F3BAA863FC19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1110D5F9-7502-142B-F5F3-4588F6CB3E7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7A42AFB9-EA08-2C5B-F7E6-A41EF56289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Selective seed mutation (cont.)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414964-3C4F-44B4-2053-CB688264EABD}"/>
              </a:ext>
            </a:extLst>
          </p:cNvPr>
          <p:cNvSpPr txBox="1"/>
          <p:nvPr/>
        </p:nvSpPr>
        <p:spPr>
          <a:xfrm>
            <a:off x="-120462" y="968970"/>
            <a:ext cx="93757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Helvetica Neue"/>
              </a:rPr>
              <a:t>NEUZZ: Model branching behavior as a neural network</a:t>
            </a:r>
          </a:p>
        </p:txBody>
      </p:sp>
      <p:sp>
        <p:nvSpPr>
          <p:cNvPr id="3" name="Flowchart: Data 1">
            <a:extLst>
              <a:ext uri="{FF2B5EF4-FFF2-40B4-BE49-F238E27FC236}">
                <a16:creationId xmlns:a16="http://schemas.microsoft.com/office/drawing/2014/main" id="{ED5788EC-333A-67AD-BADC-2BE604C36DC5}"/>
              </a:ext>
            </a:extLst>
          </p:cNvPr>
          <p:cNvSpPr/>
          <p:nvPr/>
        </p:nvSpPr>
        <p:spPr>
          <a:xfrm>
            <a:off x="878062" y="2805280"/>
            <a:ext cx="1280172" cy="55812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Initial Seeds</a:t>
            </a:r>
          </a:p>
        </p:txBody>
      </p:sp>
      <p:sp>
        <p:nvSpPr>
          <p:cNvPr id="5" name="Flowchart: Data 1">
            <a:extLst>
              <a:ext uri="{FF2B5EF4-FFF2-40B4-BE49-F238E27FC236}">
                <a16:creationId xmlns:a16="http://schemas.microsoft.com/office/drawing/2014/main" id="{E9D07735-8866-79BA-B489-581B1FB0865D}"/>
              </a:ext>
            </a:extLst>
          </p:cNvPr>
          <p:cNvSpPr/>
          <p:nvPr/>
        </p:nvSpPr>
        <p:spPr>
          <a:xfrm>
            <a:off x="650239" y="1726056"/>
            <a:ext cx="1507863" cy="5526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Target Program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E8ED93-67DC-8E4D-1CEE-00C29A88AB76}"/>
              </a:ext>
            </a:extLst>
          </p:cNvPr>
          <p:cNvSpPr/>
          <p:nvPr/>
        </p:nvSpPr>
        <p:spPr>
          <a:xfrm>
            <a:off x="2632088" y="2172648"/>
            <a:ext cx="1119295" cy="55598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</a:rPr>
              <a:t>Execute</a:t>
            </a:r>
          </a:p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</a:rPr>
              <a:t>Program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A41725-ADB4-D2C5-FE09-51C7D3E36CD1}"/>
              </a:ext>
            </a:extLst>
          </p:cNvPr>
          <p:cNvSpPr/>
          <p:nvPr/>
        </p:nvSpPr>
        <p:spPr>
          <a:xfrm>
            <a:off x="6475705" y="2133427"/>
            <a:ext cx="1360221" cy="6064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</a:rPr>
              <a:t>Neural Smoothing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57C110-B6C7-AA35-6A2D-04ADFEC67C4E}"/>
              </a:ext>
            </a:extLst>
          </p:cNvPr>
          <p:cNvSpPr/>
          <p:nvPr/>
        </p:nvSpPr>
        <p:spPr>
          <a:xfrm>
            <a:off x="4509072" y="3618206"/>
            <a:ext cx="1360221" cy="6064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</a:rPr>
              <a:t>Gradient Descent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636BA3-6C1E-1CD5-A8EC-25AE4B00F598}"/>
              </a:ext>
            </a:extLst>
          </p:cNvPr>
          <p:cNvCxnSpPr/>
          <p:nvPr/>
        </p:nvCxnSpPr>
        <p:spPr>
          <a:xfrm flipV="1">
            <a:off x="3753970" y="2465294"/>
            <a:ext cx="2711824" cy="56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3461F3-63D3-86E0-AB92-96B43C2F4B91}"/>
              </a:ext>
            </a:extLst>
          </p:cNvPr>
          <p:cNvCxnSpPr/>
          <p:nvPr/>
        </p:nvCxnSpPr>
        <p:spPr>
          <a:xfrm flipH="1">
            <a:off x="5883087" y="2745441"/>
            <a:ext cx="1227043" cy="11542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81F1C9-75B6-2E94-8674-7BBAB87298CE}"/>
              </a:ext>
            </a:extLst>
          </p:cNvPr>
          <p:cNvCxnSpPr/>
          <p:nvPr/>
        </p:nvCxnSpPr>
        <p:spPr>
          <a:xfrm flipH="1" flipV="1">
            <a:off x="3190591" y="2740679"/>
            <a:ext cx="1318936" cy="12427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B52301F-ABA4-1D4F-6F85-5213456B94E4}"/>
              </a:ext>
            </a:extLst>
          </p:cNvPr>
          <p:cNvCxnSpPr/>
          <p:nvPr/>
        </p:nvCxnSpPr>
        <p:spPr>
          <a:xfrm>
            <a:off x="2026862" y="2162735"/>
            <a:ext cx="609599" cy="171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77DB7A3-B249-E557-51A2-7F0F5161D1EA}"/>
              </a:ext>
            </a:extLst>
          </p:cNvPr>
          <p:cNvCxnSpPr/>
          <p:nvPr/>
        </p:nvCxnSpPr>
        <p:spPr>
          <a:xfrm flipV="1">
            <a:off x="2088776" y="2605646"/>
            <a:ext cx="542925" cy="3524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52DB28E-3980-87B6-31F8-C507F087FAA9}"/>
              </a:ext>
            </a:extLst>
          </p:cNvPr>
          <p:cNvSpPr txBox="1"/>
          <p:nvPr/>
        </p:nvSpPr>
        <p:spPr>
          <a:xfrm>
            <a:off x="4198563" y="2157971"/>
            <a:ext cx="19335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latin typeface="Helvetica Neue"/>
              </a:rPr>
              <a:t>Code Coverage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968A13-66D6-7EAD-24C3-6CFE9F72E84C}"/>
              </a:ext>
            </a:extLst>
          </p:cNvPr>
          <p:cNvSpPr txBox="1"/>
          <p:nvPr/>
        </p:nvSpPr>
        <p:spPr>
          <a:xfrm>
            <a:off x="3165099" y="3139048"/>
            <a:ext cx="852488" cy="6701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latin typeface="Helvetica Neue"/>
              </a:rPr>
              <a:t>New</a:t>
            </a:r>
            <a:endParaRPr lang="en-US"/>
          </a:p>
          <a:p>
            <a:r>
              <a:rPr lang="en-US" sz="1800">
                <a:latin typeface="Helvetica Neue"/>
              </a:rPr>
              <a:t>Seeds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A7B660-9107-C707-857F-B842D321E017}"/>
              </a:ext>
            </a:extLst>
          </p:cNvPr>
          <p:cNvSpPr txBox="1"/>
          <p:nvPr/>
        </p:nvSpPr>
        <p:spPr>
          <a:xfrm>
            <a:off x="6500509" y="3139577"/>
            <a:ext cx="153931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>
                <a:latin typeface="Helvetica Neue"/>
              </a:rPr>
              <a:t>Feedforward</a:t>
            </a:r>
          </a:p>
          <a:p>
            <a:r>
              <a:rPr lang="en-US" sz="1800">
                <a:latin typeface="Helvetica Neue"/>
              </a:rPr>
              <a:t>Neural Network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22537A-E7C5-FECA-7AC8-D04BB22197FD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“NEUZZ: Efficient Fuzzing with Neural Program Smoothing” IEEE S&amp;P 2019.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479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9" grpId="0" animBg="1"/>
      <p:bldP spid="10" grpId="0" animBg="1"/>
      <p:bldP spid="21" grpId="0"/>
      <p:bldP spid="22" grpId="0"/>
      <p:bldP spid="2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93C34479-4FC0-2D8E-4864-266B9A465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91C08DD7-F0AE-F729-0F0A-FD582EEC42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42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F01B93C-21DD-F29C-A3B6-BB96A89668E1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9A7A202E-4CCE-4488-5B03-173434702D30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F30487F3-C758-9FD9-0996-0E2D9DABA5C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54793D93-3BD3-15B0-7E13-5A7559AE91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Selective seed mutation (cont.)</a:t>
            </a:r>
          </a:p>
          <a:p>
            <a:endParaRPr lang="en-US" sz="4000" dirty="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7ADDE7-5539-CDA8-0939-FB655CE8D5B6}"/>
              </a:ext>
            </a:extLst>
          </p:cNvPr>
          <p:cNvSpPr txBox="1"/>
          <p:nvPr/>
        </p:nvSpPr>
        <p:spPr>
          <a:xfrm>
            <a:off x="-1" y="861953"/>
            <a:ext cx="92474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Helvetica Neue"/>
              </a:rPr>
              <a:t>REDQUEEN: Inference based seed mutation.</a:t>
            </a:r>
            <a:endParaRPr lang="en-US" dirty="0"/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E5C66426-EB11-E45E-155B-96AF48F9ACC3}"/>
              </a:ext>
            </a:extLst>
          </p:cNvPr>
          <p:cNvSpPr/>
          <p:nvPr/>
        </p:nvSpPr>
        <p:spPr>
          <a:xfrm>
            <a:off x="1668008" y="1508205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6F1A9812-446C-CB9F-3992-DF4E13076A33}"/>
              </a:ext>
            </a:extLst>
          </p:cNvPr>
          <p:cNvSpPr/>
          <p:nvPr/>
        </p:nvSpPr>
        <p:spPr>
          <a:xfrm>
            <a:off x="2653353" y="3239076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BEB9A22A-1B86-7FED-8E1D-3792655CEB36}"/>
              </a:ext>
            </a:extLst>
          </p:cNvPr>
          <p:cNvSpPr/>
          <p:nvPr/>
        </p:nvSpPr>
        <p:spPr>
          <a:xfrm>
            <a:off x="2042438" y="4123764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2A782FEF-948C-5251-EFBA-2E75ED736F8A}"/>
              </a:ext>
            </a:extLst>
          </p:cNvPr>
          <p:cNvSpPr/>
          <p:nvPr/>
        </p:nvSpPr>
        <p:spPr>
          <a:xfrm>
            <a:off x="603835" y="3248929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E5D6C28-A005-142D-6010-6A62DE1111C2}"/>
              </a:ext>
            </a:extLst>
          </p:cNvPr>
          <p:cNvSpPr/>
          <p:nvPr/>
        </p:nvSpPr>
        <p:spPr>
          <a:xfrm>
            <a:off x="61895" y="4123764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76C6DC2-84A0-466E-2165-AB44816B36F3}"/>
              </a:ext>
            </a:extLst>
          </p:cNvPr>
          <p:cNvCxnSpPr>
            <a:cxnSpLocks/>
          </p:cNvCxnSpPr>
          <p:nvPr/>
        </p:nvCxnSpPr>
        <p:spPr>
          <a:xfrm flipH="1">
            <a:off x="2544395" y="3814735"/>
            <a:ext cx="335018" cy="3941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030B017-A6A5-0516-A313-D2297BC681AE}"/>
              </a:ext>
            </a:extLst>
          </p:cNvPr>
          <p:cNvCxnSpPr>
            <a:cxnSpLocks/>
          </p:cNvCxnSpPr>
          <p:nvPr/>
        </p:nvCxnSpPr>
        <p:spPr>
          <a:xfrm flipH="1">
            <a:off x="514582" y="3795027"/>
            <a:ext cx="246339" cy="3645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1733F5-2B93-524D-694F-4A2AF2ACAD83}"/>
              </a:ext>
            </a:extLst>
          </p:cNvPr>
          <p:cNvCxnSpPr>
            <a:cxnSpLocks/>
          </p:cNvCxnSpPr>
          <p:nvPr/>
        </p:nvCxnSpPr>
        <p:spPr>
          <a:xfrm flipH="1">
            <a:off x="1101176" y="1979780"/>
            <a:ext cx="652076" cy="3503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4446AA-F6BA-232C-7C5D-74E0A6983935}"/>
              </a:ext>
            </a:extLst>
          </p:cNvPr>
          <p:cNvCxnSpPr>
            <a:cxnSpLocks/>
          </p:cNvCxnSpPr>
          <p:nvPr/>
        </p:nvCxnSpPr>
        <p:spPr>
          <a:xfrm>
            <a:off x="2172333" y="2006411"/>
            <a:ext cx="552416" cy="3539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76CF6361-253A-80DB-5A00-CEE125AB4758}"/>
              </a:ext>
            </a:extLst>
          </p:cNvPr>
          <p:cNvSpPr/>
          <p:nvPr/>
        </p:nvSpPr>
        <p:spPr>
          <a:xfrm>
            <a:off x="1165481" y="411391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FAF74EA0-A7F2-0423-3392-2CB08E76D417}"/>
              </a:ext>
            </a:extLst>
          </p:cNvPr>
          <p:cNvSpPr/>
          <p:nvPr/>
        </p:nvSpPr>
        <p:spPr>
          <a:xfrm>
            <a:off x="3323386" y="4133617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B669A7-77D6-3698-13D4-F6BEC7285B4E}"/>
              </a:ext>
            </a:extLst>
          </p:cNvPr>
          <p:cNvCxnSpPr>
            <a:cxnSpLocks/>
          </p:cNvCxnSpPr>
          <p:nvPr/>
        </p:nvCxnSpPr>
        <p:spPr>
          <a:xfrm>
            <a:off x="1116142" y="3786797"/>
            <a:ext cx="234113" cy="3468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DB58BE4-570C-597C-038B-42C42828534B}"/>
              </a:ext>
            </a:extLst>
          </p:cNvPr>
          <p:cNvCxnSpPr>
            <a:cxnSpLocks/>
          </p:cNvCxnSpPr>
          <p:nvPr/>
        </p:nvCxnSpPr>
        <p:spPr>
          <a:xfrm>
            <a:off x="3062135" y="3810057"/>
            <a:ext cx="349859" cy="4192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252F933A-7AC0-0AB7-B227-2A36B3F27105}"/>
              </a:ext>
            </a:extLst>
          </p:cNvPr>
          <p:cNvSpPr/>
          <p:nvPr/>
        </p:nvSpPr>
        <p:spPr>
          <a:xfrm>
            <a:off x="603834" y="227298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D2476798-C99C-8A47-5F00-51EE1509801D}"/>
              </a:ext>
            </a:extLst>
          </p:cNvPr>
          <p:cNvSpPr/>
          <p:nvPr/>
        </p:nvSpPr>
        <p:spPr>
          <a:xfrm>
            <a:off x="2652441" y="227298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E0EB162-31F9-5407-D0D3-EC14215D58AB}"/>
              </a:ext>
            </a:extLst>
          </p:cNvPr>
          <p:cNvCxnSpPr>
            <a:cxnSpLocks/>
          </p:cNvCxnSpPr>
          <p:nvPr/>
        </p:nvCxnSpPr>
        <p:spPr>
          <a:xfrm flipH="1">
            <a:off x="912432" y="2841413"/>
            <a:ext cx="8792" cy="3956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0C1C915-F11E-1419-74D0-CA5C4042091B}"/>
              </a:ext>
            </a:extLst>
          </p:cNvPr>
          <p:cNvCxnSpPr>
            <a:cxnSpLocks/>
          </p:cNvCxnSpPr>
          <p:nvPr/>
        </p:nvCxnSpPr>
        <p:spPr>
          <a:xfrm flipH="1">
            <a:off x="2961039" y="2850204"/>
            <a:ext cx="8792" cy="3956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93AD316-F6F9-71E7-7D66-95D351F73165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“REDQUEEN: Fuzzing with Input-to-State Correspondence” ISOC NDSS 2019.</a:t>
            </a:r>
          </a:p>
        </p:txBody>
      </p:sp>
    </p:spTree>
    <p:extLst>
      <p:ext uri="{BB962C8B-B14F-4D97-AF65-F5344CB8AC3E}">
        <p14:creationId xmlns:p14="http://schemas.microsoft.com/office/powerpoint/2010/main" val="23684496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E211E0B5-4695-33EA-12BF-E2B721C66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7B1E71F8-5C69-A688-AF97-754327BB9D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43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BC36752-5882-3D71-5A9F-F2AA709D95D5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2E5D5760-A07F-151C-452B-A9C037CE96F5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9C5586A3-005B-15D4-1421-EE797F6513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42FCEF4B-5F16-FC33-542F-5FA5EFE9B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Selective seed mutation (cont.)</a:t>
            </a:r>
          </a:p>
          <a:p>
            <a:endParaRPr lang="en-US" sz="4000" dirty="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C69EB763-511A-1EDC-DE85-B0D6A9D67EBD}"/>
              </a:ext>
            </a:extLst>
          </p:cNvPr>
          <p:cNvSpPr/>
          <p:nvPr/>
        </p:nvSpPr>
        <p:spPr>
          <a:xfrm>
            <a:off x="1668008" y="1508205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7EA5B639-05A6-DEA8-2B7B-6ABE18A1C951}"/>
              </a:ext>
            </a:extLst>
          </p:cNvPr>
          <p:cNvSpPr/>
          <p:nvPr/>
        </p:nvSpPr>
        <p:spPr>
          <a:xfrm>
            <a:off x="2653353" y="3239076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34700C95-6124-F6F2-A287-0FFAED493CF6}"/>
              </a:ext>
            </a:extLst>
          </p:cNvPr>
          <p:cNvSpPr/>
          <p:nvPr/>
        </p:nvSpPr>
        <p:spPr>
          <a:xfrm>
            <a:off x="2042438" y="4123764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7C6F9581-2CEE-F8D5-71F9-11CC19D7C45A}"/>
              </a:ext>
            </a:extLst>
          </p:cNvPr>
          <p:cNvSpPr/>
          <p:nvPr/>
        </p:nvSpPr>
        <p:spPr>
          <a:xfrm>
            <a:off x="603835" y="3248929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A54B2F84-7CAB-5D94-DCE9-6274AD1E4687}"/>
              </a:ext>
            </a:extLst>
          </p:cNvPr>
          <p:cNvSpPr/>
          <p:nvPr/>
        </p:nvSpPr>
        <p:spPr>
          <a:xfrm>
            <a:off x="61895" y="4123764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372D1C-4E92-1419-D15C-D59F500D7608}"/>
              </a:ext>
            </a:extLst>
          </p:cNvPr>
          <p:cNvCxnSpPr>
            <a:cxnSpLocks/>
          </p:cNvCxnSpPr>
          <p:nvPr/>
        </p:nvCxnSpPr>
        <p:spPr>
          <a:xfrm flipH="1">
            <a:off x="2544395" y="3814735"/>
            <a:ext cx="335018" cy="394138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D90135-C97A-B23F-420F-9766E48571FC}"/>
              </a:ext>
            </a:extLst>
          </p:cNvPr>
          <p:cNvCxnSpPr>
            <a:cxnSpLocks/>
          </p:cNvCxnSpPr>
          <p:nvPr/>
        </p:nvCxnSpPr>
        <p:spPr>
          <a:xfrm flipH="1">
            <a:off x="514582" y="3795027"/>
            <a:ext cx="246339" cy="364578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4CA617-CF51-7947-53D1-D8D4F75BB366}"/>
              </a:ext>
            </a:extLst>
          </p:cNvPr>
          <p:cNvCxnSpPr>
            <a:cxnSpLocks/>
          </p:cNvCxnSpPr>
          <p:nvPr/>
        </p:nvCxnSpPr>
        <p:spPr>
          <a:xfrm flipH="1">
            <a:off x="1101176" y="1979780"/>
            <a:ext cx="652076" cy="350371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EAC81F4-3067-6DBE-62E1-29E2F7211BEC}"/>
              </a:ext>
            </a:extLst>
          </p:cNvPr>
          <p:cNvCxnSpPr>
            <a:cxnSpLocks/>
          </p:cNvCxnSpPr>
          <p:nvPr/>
        </p:nvCxnSpPr>
        <p:spPr>
          <a:xfrm>
            <a:off x="2172333" y="2006411"/>
            <a:ext cx="552416" cy="3539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2FF87FA4-7EBF-FBE9-65BD-9CF10C3FDE30}"/>
              </a:ext>
            </a:extLst>
          </p:cNvPr>
          <p:cNvSpPr/>
          <p:nvPr/>
        </p:nvSpPr>
        <p:spPr>
          <a:xfrm>
            <a:off x="1165481" y="4113911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AAA624D8-3A0B-40A4-7C73-5CD2E5804134}"/>
              </a:ext>
            </a:extLst>
          </p:cNvPr>
          <p:cNvSpPr/>
          <p:nvPr/>
        </p:nvSpPr>
        <p:spPr>
          <a:xfrm>
            <a:off x="3323386" y="4133617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B66C83-D578-6AC5-4193-19E3FC21C3C0}"/>
              </a:ext>
            </a:extLst>
          </p:cNvPr>
          <p:cNvCxnSpPr>
            <a:cxnSpLocks/>
          </p:cNvCxnSpPr>
          <p:nvPr/>
        </p:nvCxnSpPr>
        <p:spPr>
          <a:xfrm>
            <a:off x="1116142" y="3786797"/>
            <a:ext cx="234113" cy="346867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ECB662-A852-A946-7F23-C59BCE208DFB}"/>
              </a:ext>
            </a:extLst>
          </p:cNvPr>
          <p:cNvCxnSpPr>
            <a:cxnSpLocks/>
          </p:cNvCxnSpPr>
          <p:nvPr/>
        </p:nvCxnSpPr>
        <p:spPr>
          <a:xfrm>
            <a:off x="3062135" y="3810057"/>
            <a:ext cx="349859" cy="4192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7DCA0EB2-A69A-6340-D06C-FCE3261FFB3E}"/>
              </a:ext>
            </a:extLst>
          </p:cNvPr>
          <p:cNvSpPr/>
          <p:nvPr/>
        </p:nvSpPr>
        <p:spPr>
          <a:xfrm>
            <a:off x="603834" y="2272982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1E049DDF-DAD2-9249-D02C-596A42DF5E39}"/>
              </a:ext>
            </a:extLst>
          </p:cNvPr>
          <p:cNvSpPr/>
          <p:nvPr/>
        </p:nvSpPr>
        <p:spPr>
          <a:xfrm>
            <a:off x="2652441" y="227298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49CEC5F-18E1-BDE1-EDDA-5B24E923AE5C}"/>
              </a:ext>
            </a:extLst>
          </p:cNvPr>
          <p:cNvCxnSpPr>
            <a:cxnSpLocks/>
          </p:cNvCxnSpPr>
          <p:nvPr/>
        </p:nvCxnSpPr>
        <p:spPr>
          <a:xfrm flipH="1">
            <a:off x="912432" y="2841413"/>
            <a:ext cx="8792" cy="395654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BFEFB25-5173-925D-181A-5406ED5C2963}"/>
              </a:ext>
            </a:extLst>
          </p:cNvPr>
          <p:cNvCxnSpPr>
            <a:cxnSpLocks/>
          </p:cNvCxnSpPr>
          <p:nvPr/>
        </p:nvCxnSpPr>
        <p:spPr>
          <a:xfrm flipH="1">
            <a:off x="2961039" y="2850204"/>
            <a:ext cx="8792" cy="3956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DBAEA8B-81BB-5853-C41A-C8DFF06DD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715735"/>
              </p:ext>
            </p:extLst>
          </p:nvPr>
        </p:nvGraphicFramePr>
        <p:xfrm>
          <a:off x="3414346" y="2969558"/>
          <a:ext cx="511634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483">
                  <a:extLst>
                    <a:ext uri="{9D8B030D-6E8A-4147-A177-3AD203B41FA5}">
                      <a16:colId xmlns:a16="http://schemas.microsoft.com/office/drawing/2014/main" val="133998855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3547847688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3280710382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572761877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1213649504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272815276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1379390889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1487338049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4251109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</a:rPr>
                        <a:t>AB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</a:rPr>
                        <a:t>CD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259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8E25812D-D392-7750-46B9-9753A09BE54D}"/>
              </a:ext>
            </a:extLst>
          </p:cNvPr>
          <p:cNvSpPr txBox="1"/>
          <p:nvPr/>
        </p:nvSpPr>
        <p:spPr>
          <a:xfrm rot="16200000">
            <a:off x="3710789" y="2143800"/>
            <a:ext cx="49643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0">
                <a:latin typeface="Helvetica Neue"/>
              </a:rPr>
              <a:t>}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E8967E6-DCD7-F0AD-139E-479B01B42DE3}"/>
              </a:ext>
            </a:extLst>
          </p:cNvPr>
          <p:cNvCxnSpPr/>
          <p:nvPr/>
        </p:nvCxnSpPr>
        <p:spPr>
          <a:xfrm flipH="1">
            <a:off x="3981133" y="1870832"/>
            <a:ext cx="2997" cy="7744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9C79D71-7A4D-1B0F-C4FB-B7DED76675BD}"/>
              </a:ext>
            </a:extLst>
          </p:cNvPr>
          <p:cNvSpPr txBox="1"/>
          <p:nvPr/>
        </p:nvSpPr>
        <p:spPr>
          <a:xfrm>
            <a:off x="2181959" y="1457281"/>
            <a:ext cx="312786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latin typeface="Helvetica Neue"/>
              </a:rPr>
              <a:t>var_x</a:t>
            </a:r>
            <a:r>
              <a:rPr lang="en-US" sz="2800">
                <a:latin typeface="Helvetica Neue"/>
              </a:rPr>
              <a:t> = 0xABCD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1FAFD1-2079-735A-0C8B-3A332C9294EF}"/>
              </a:ext>
            </a:extLst>
          </p:cNvPr>
          <p:cNvSpPr txBox="1"/>
          <p:nvPr/>
        </p:nvSpPr>
        <p:spPr>
          <a:xfrm>
            <a:off x="-1" y="861953"/>
            <a:ext cx="92474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Helvetica Neue"/>
              </a:rPr>
              <a:t>REDQUEEN: Inference based seed mutation.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0C99B5-878E-1F66-A2DD-C72E62A35A8E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“REDQUEEN: Fuzzing with Input-to-State Correspondence” ISOC NDSS 2019.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8864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87693C68-DA8A-ED7A-C68A-E2F4A66FF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CE399785-8C80-7D59-726E-0D965A5FED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44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555A57A5-5C30-CFA9-1D24-AD53D6F0FAA1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E57B2CAA-C5E3-FFC2-CD3E-5FA32F82B766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DF817204-053E-9529-592B-88CA29DF385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BB621E49-E980-B746-945E-F0200C9C48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Selective seed mutation (cont.)</a:t>
            </a:r>
          </a:p>
          <a:p>
            <a:endParaRPr lang="en-US" sz="4000" dirty="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732FD1-4E5B-54D3-497C-A9A53E8C518B}"/>
              </a:ext>
            </a:extLst>
          </p:cNvPr>
          <p:cNvSpPr txBox="1"/>
          <p:nvPr/>
        </p:nvSpPr>
        <p:spPr>
          <a:xfrm>
            <a:off x="-1" y="861953"/>
            <a:ext cx="92474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Helvetica Neue"/>
              </a:rPr>
              <a:t>GREYONE: Taint analysis using fuzzing.</a:t>
            </a:r>
            <a:endParaRPr lang="en-US" dirty="0"/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FF88C0F0-30A7-914E-DD2E-2D23AD07B958}"/>
              </a:ext>
            </a:extLst>
          </p:cNvPr>
          <p:cNvSpPr/>
          <p:nvPr/>
        </p:nvSpPr>
        <p:spPr>
          <a:xfrm>
            <a:off x="1668008" y="1508205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51F94067-0F49-E80E-4CFF-366A8F4BF503}"/>
              </a:ext>
            </a:extLst>
          </p:cNvPr>
          <p:cNvSpPr/>
          <p:nvPr/>
        </p:nvSpPr>
        <p:spPr>
          <a:xfrm>
            <a:off x="2653353" y="3239076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6A303C14-7EB6-7020-B53C-7C1E4CEC7F4B}"/>
              </a:ext>
            </a:extLst>
          </p:cNvPr>
          <p:cNvSpPr/>
          <p:nvPr/>
        </p:nvSpPr>
        <p:spPr>
          <a:xfrm>
            <a:off x="2042438" y="4123764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F6F9F50F-41E8-B2C6-4578-15F9EA5E8B2A}"/>
              </a:ext>
            </a:extLst>
          </p:cNvPr>
          <p:cNvSpPr/>
          <p:nvPr/>
        </p:nvSpPr>
        <p:spPr>
          <a:xfrm>
            <a:off x="603835" y="3248929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2AC20960-BA37-D153-410E-67FF124FEDE4}"/>
              </a:ext>
            </a:extLst>
          </p:cNvPr>
          <p:cNvSpPr/>
          <p:nvPr/>
        </p:nvSpPr>
        <p:spPr>
          <a:xfrm>
            <a:off x="61895" y="4123764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30D92FA-7FA8-CAF8-8EBF-90861528A1F1}"/>
              </a:ext>
            </a:extLst>
          </p:cNvPr>
          <p:cNvCxnSpPr>
            <a:cxnSpLocks/>
          </p:cNvCxnSpPr>
          <p:nvPr/>
        </p:nvCxnSpPr>
        <p:spPr>
          <a:xfrm flipH="1">
            <a:off x="2544395" y="3814735"/>
            <a:ext cx="335018" cy="394138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A92602-F716-5F3D-C020-67F7FDD78A10}"/>
              </a:ext>
            </a:extLst>
          </p:cNvPr>
          <p:cNvCxnSpPr>
            <a:cxnSpLocks/>
          </p:cNvCxnSpPr>
          <p:nvPr/>
        </p:nvCxnSpPr>
        <p:spPr>
          <a:xfrm flipH="1">
            <a:off x="514582" y="3795027"/>
            <a:ext cx="246339" cy="364578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35FBD0-D31C-488F-4DFC-1F31FC056732}"/>
              </a:ext>
            </a:extLst>
          </p:cNvPr>
          <p:cNvCxnSpPr>
            <a:cxnSpLocks/>
          </p:cNvCxnSpPr>
          <p:nvPr/>
        </p:nvCxnSpPr>
        <p:spPr>
          <a:xfrm flipH="1">
            <a:off x="1101176" y="1979780"/>
            <a:ext cx="652076" cy="350371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B9C4826-C704-2151-F984-2E1194D124B1}"/>
              </a:ext>
            </a:extLst>
          </p:cNvPr>
          <p:cNvCxnSpPr>
            <a:cxnSpLocks/>
          </p:cNvCxnSpPr>
          <p:nvPr/>
        </p:nvCxnSpPr>
        <p:spPr>
          <a:xfrm>
            <a:off x="2172333" y="2006411"/>
            <a:ext cx="552416" cy="3539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22CC9900-6E17-1FFD-6AC7-1A1C84F26426}"/>
              </a:ext>
            </a:extLst>
          </p:cNvPr>
          <p:cNvSpPr/>
          <p:nvPr/>
        </p:nvSpPr>
        <p:spPr>
          <a:xfrm>
            <a:off x="1165481" y="4113911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18DBACED-A2CE-EAD7-8590-9740644E07A0}"/>
              </a:ext>
            </a:extLst>
          </p:cNvPr>
          <p:cNvSpPr/>
          <p:nvPr/>
        </p:nvSpPr>
        <p:spPr>
          <a:xfrm>
            <a:off x="3323386" y="4133617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7CEB43-2819-AFC6-7421-CFA4A800419A}"/>
              </a:ext>
            </a:extLst>
          </p:cNvPr>
          <p:cNvCxnSpPr>
            <a:cxnSpLocks/>
          </p:cNvCxnSpPr>
          <p:nvPr/>
        </p:nvCxnSpPr>
        <p:spPr>
          <a:xfrm>
            <a:off x="1116142" y="3786797"/>
            <a:ext cx="234113" cy="346867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2514EE3-7787-9DFF-E785-1E6ED2B37CFF}"/>
              </a:ext>
            </a:extLst>
          </p:cNvPr>
          <p:cNvCxnSpPr>
            <a:cxnSpLocks/>
          </p:cNvCxnSpPr>
          <p:nvPr/>
        </p:nvCxnSpPr>
        <p:spPr>
          <a:xfrm>
            <a:off x="3062135" y="3810057"/>
            <a:ext cx="349859" cy="4192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FB8054DE-D134-472C-E94B-D85633BF5D63}"/>
              </a:ext>
            </a:extLst>
          </p:cNvPr>
          <p:cNvSpPr/>
          <p:nvPr/>
        </p:nvSpPr>
        <p:spPr>
          <a:xfrm>
            <a:off x="603834" y="2272982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F65CC98E-908D-A422-2764-8D5E9DB40B8C}"/>
              </a:ext>
            </a:extLst>
          </p:cNvPr>
          <p:cNvSpPr/>
          <p:nvPr/>
        </p:nvSpPr>
        <p:spPr>
          <a:xfrm>
            <a:off x="2652441" y="227298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3BCAAC6-26B3-8415-9F5D-709940D55195}"/>
              </a:ext>
            </a:extLst>
          </p:cNvPr>
          <p:cNvCxnSpPr>
            <a:cxnSpLocks/>
          </p:cNvCxnSpPr>
          <p:nvPr/>
        </p:nvCxnSpPr>
        <p:spPr>
          <a:xfrm flipH="1">
            <a:off x="912432" y="2841413"/>
            <a:ext cx="8792" cy="395654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4996E6E-4886-A239-2746-7120ECB98786}"/>
              </a:ext>
            </a:extLst>
          </p:cNvPr>
          <p:cNvCxnSpPr>
            <a:cxnSpLocks/>
          </p:cNvCxnSpPr>
          <p:nvPr/>
        </p:nvCxnSpPr>
        <p:spPr>
          <a:xfrm flipH="1">
            <a:off x="2961039" y="2850204"/>
            <a:ext cx="8792" cy="3956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C8A2EC3-6058-F36B-83BF-017D20F0F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250080"/>
              </p:ext>
            </p:extLst>
          </p:nvPr>
        </p:nvGraphicFramePr>
        <p:xfrm>
          <a:off x="3414346" y="2969558"/>
          <a:ext cx="511634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483">
                  <a:extLst>
                    <a:ext uri="{9D8B030D-6E8A-4147-A177-3AD203B41FA5}">
                      <a16:colId xmlns:a16="http://schemas.microsoft.com/office/drawing/2014/main" val="133998855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3547847688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3280710382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572761877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1213649504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272815276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1379390889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1487338049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4251109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AB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CD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2593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2C2BCCDC-48D0-39B5-CD44-3E6E95D2542D}"/>
              </a:ext>
            </a:extLst>
          </p:cNvPr>
          <p:cNvSpPr txBox="1"/>
          <p:nvPr/>
        </p:nvSpPr>
        <p:spPr>
          <a:xfrm>
            <a:off x="2181959" y="1457281"/>
            <a:ext cx="312786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latin typeface="Helvetica Neue"/>
              </a:rPr>
              <a:t>var_x</a:t>
            </a:r>
            <a:r>
              <a:rPr lang="en-US" sz="2800">
                <a:latin typeface="Helvetica Neue"/>
              </a:rPr>
              <a:t> = 0xEF90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39C2D5-1DA5-9A0C-E1AA-440113A5DDD8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“GREYONE: Data Flow Sensitive Fuzzing” USENIX Security 2020.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1610528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A080BCAD-F2C4-3D76-1F4C-3337AD32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BB2C348A-65CE-070C-23E5-32491AED42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45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ED9E79B2-4B86-CACA-5DD3-EDD48F195762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920669B9-CD1D-12DF-9B88-3D0D1BB036EB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DC0A1FB9-994E-90EA-E8AF-51C0415048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64AF96F2-CB4A-F709-F95F-E7FE85EF3A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Selective seed mutation (cont.)</a:t>
            </a:r>
          </a:p>
          <a:p>
            <a:endParaRPr lang="en-US" sz="4000" dirty="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F019A5-EF3F-5093-A1A8-18E3F714B339}"/>
              </a:ext>
            </a:extLst>
          </p:cNvPr>
          <p:cNvSpPr txBox="1"/>
          <p:nvPr/>
        </p:nvSpPr>
        <p:spPr>
          <a:xfrm>
            <a:off x="-1" y="861953"/>
            <a:ext cx="92474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Helvetica Neue"/>
              </a:rPr>
              <a:t>GREYONE: Taint analysis using fuzzing.</a:t>
            </a:r>
            <a:endParaRPr lang="en-US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1ED9F70-37D7-7526-6DFB-9BBA23332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658175"/>
              </p:ext>
            </p:extLst>
          </p:nvPr>
        </p:nvGraphicFramePr>
        <p:xfrm>
          <a:off x="3414346" y="2969559"/>
          <a:ext cx="511634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483">
                  <a:extLst>
                    <a:ext uri="{9D8B030D-6E8A-4147-A177-3AD203B41FA5}">
                      <a16:colId xmlns:a16="http://schemas.microsoft.com/office/drawing/2014/main" val="133998855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3547847688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3280710382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572761877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1213649504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272815276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1379390889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1487338049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4251109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23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96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2593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FB2D0293-0376-BA16-E1B9-CED6B4079304}"/>
              </a:ext>
            </a:extLst>
          </p:cNvPr>
          <p:cNvSpPr txBox="1"/>
          <p:nvPr/>
        </p:nvSpPr>
        <p:spPr>
          <a:xfrm>
            <a:off x="2181959" y="1457282"/>
            <a:ext cx="312786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latin typeface="Helvetica Neue"/>
              </a:rPr>
              <a:t>var_x</a:t>
            </a:r>
            <a:r>
              <a:rPr lang="en-US" sz="2800">
                <a:latin typeface="Helvetica Neue"/>
              </a:rPr>
              <a:t> = 0xCFD0</a:t>
            </a:r>
            <a:endParaRPr lang="en-US"/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08D24251-7C02-CA91-0671-EF691CA3B0DC}"/>
              </a:ext>
            </a:extLst>
          </p:cNvPr>
          <p:cNvSpPr/>
          <p:nvPr/>
        </p:nvSpPr>
        <p:spPr>
          <a:xfrm>
            <a:off x="1668008" y="1508206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4F3B79BA-2DF7-2E57-5769-D7F28CB1B512}"/>
              </a:ext>
            </a:extLst>
          </p:cNvPr>
          <p:cNvSpPr/>
          <p:nvPr/>
        </p:nvSpPr>
        <p:spPr>
          <a:xfrm>
            <a:off x="2653353" y="3239077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54EB3F51-DFAC-94F8-9F15-C7E103EF3CD0}"/>
              </a:ext>
            </a:extLst>
          </p:cNvPr>
          <p:cNvSpPr/>
          <p:nvPr/>
        </p:nvSpPr>
        <p:spPr>
          <a:xfrm>
            <a:off x="2042438" y="4123765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63" name="Flowchart: Connector 62">
            <a:extLst>
              <a:ext uri="{FF2B5EF4-FFF2-40B4-BE49-F238E27FC236}">
                <a16:creationId xmlns:a16="http://schemas.microsoft.com/office/drawing/2014/main" id="{6E38C958-4465-B817-718A-B8ECE50FCDC1}"/>
              </a:ext>
            </a:extLst>
          </p:cNvPr>
          <p:cNvSpPr/>
          <p:nvPr/>
        </p:nvSpPr>
        <p:spPr>
          <a:xfrm>
            <a:off x="603835" y="3248930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65" name="Flowchart: Connector 64">
            <a:extLst>
              <a:ext uri="{FF2B5EF4-FFF2-40B4-BE49-F238E27FC236}">
                <a16:creationId xmlns:a16="http://schemas.microsoft.com/office/drawing/2014/main" id="{C271268E-CEA2-3A1C-0B2F-AE4A78727992}"/>
              </a:ext>
            </a:extLst>
          </p:cNvPr>
          <p:cNvSpPr/>
          <p:nvPr/>
        </p:nvSpPr>
        <p:spPr>
          <a:xfrm>
            <a:off x="61895" y="4123765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F5D56B2-A47A-C4F7-D3F5-5F48B1E5C080}"/>
              </a:ext>
            </a:extLst>
          </p:cNvPr>
          <p:cNvCxnSpPr>
            <a:cxnSpLocks/>
          </p:cNvCxnSpPr>
          <p:nvPr/>
        </p:nvCxnSpPr>
        <p:spPr>
          <a:xfrm flipH="1">
            <a:off x="2544395" y="3814736"/>
            <a:ext cx="335018" cy="394138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93AFB43-8F52-D64A-39C5-7F1ECDF94993}"/>
              </a:ext>
            </a:extLst>
          </p:cNvPr>
          <p:cNvCxnSpPr>
            <a:cxnSpLocks/>
          </p:cNvCxnSpPr>
          <p:nvPr/>
        </p:nvCxnSpPr>
        <p:spPr>
          <a:xfrm flipH="1">
            <a:off x="514582" y="3795028"/>
            <a:ext cx="246339" cy="364578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9FE7A47-08B0-C2D5-E523-792A058C28F2}"/>
              </a:ext>
            </a:extLst>
          </p:cNvPr>
          <p:cNvCxnSpPr>
            <a:cxnSpLocks/>
          </p:cNvCxnSpPr>
          <p:nvPr/>
        </p:nvCxnSpPr>
        <p:spPr>
          <a:xfrm flipH="1">
            <a:off x="1101176" y="1979781"/>
            <a:ext cx="652076" cy="350371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6C6002F-F33D-67DC-06E0-3044D7CF4098}"/>
              </a:ext>
            </a:extLst>
          </p:cNvPr>
          <p:cNvCxnSpPr>
            <a:cxnSpLocks/>
          </p:cNvCxnSpPr>
          <p:nvPr/>
        </p:nvCxnSpPr>
        <p:spPr>
          <a:xfrm>
            <a:off x="2172333" y="2006412"/>
            <a:ext cx="552416" cy="3539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58B148C7-4E77-8AED-2D40-C1AA814115E0}"/>
              </a:ext>
            </a:extLst>
          </p:cNvPr>
          <p:cNvSpPr/>
          <p:nvPr/>
        </p:nvSpPr>
        <p:spPr>
          <a:xfrm>
            <a:off x="1165481" y="4113912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AF825BBC-A67F-1ED9-ACA3-23B2D4B1184D}"/>
              </a:ext>
            </a:extLst>
          </p:cNvPr>
          <p:cNvSpPr/>
          <p:nvPr/>
        </p:nvSpPr>
        <p:spPr>
          <a:xfrm>
            <a:off x="3323386" y="4133618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1042E20-8FEB-6D1D-C0CE-10881F8BB5E4}"/>
              </a:ext>
            </a:extLst>
          </p:cNvPr>
          <p:cNvCxnSpPr>
            <a:cxnSpLocks/>
          </p:cNvCxnSpPr>
          <p:nvPr/>
        </p:nvCxnSpPr>
        <p:spPr>
          <a:xfrm>
            <a:off x="1116142" y="3786798"/>
            <a:ext cx="234113" cy="346867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83CFCDB-0B66-2AF9-A063-3E3F778EBF44}"/>
              </a:ext>
            </a:extLst>
          </p:cNvPr>
          <p:cNvCxnSpPr>
            <a:cxnSpLocks/>
          </p:cNvCxnSpPr>
          <p:nvPr/>
        </p:nvCxnSpPr>
        <p:spPr>
          <a:xfrm>
            <a:off x="3062135" y="3810058"/>
            <a:ext cx="349859" cy="4192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131DF5E1-6C2B-561C-0CA2-C04300820577}"/>
              </a:ext>
            </a:extLst>
          </p:cNvPr>
          <p:cNvSpPr/>
          <p:nvPr/>
        </p:nvSpPr>
        <p:spPr>
          <a:xfrm>
            <a:off x="603834" y="2272983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364208D1-98F9-741C-32D6-3A101D547B36}"/>
              </a:ext>
            </a:extLst>
          </p:cNvPr>
          <p:cNvSpPr/>
          <p:nvPr/>
        </p:nvSpPr>
        <p:spPr>
          <a:xfrm>
            <a:off x="2652441" y="227298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3919B70-8B70-C506-F6D8-A5152A43F525}"/>
              </a:ext>
            </a:extLst>
          </p:cNvPr>
          <p:cNvCxnSpPr>
            <a:cxnSpLocks/>
          </p:cNvCxnSpPr>
          <p:nvPr/>
        </p:nvCxnSpPr>
        <p:spPr>
          <a:xfrm flipH="1">
            <a:off x="912432" y="2841414"/>
            <a:ext cx="8792" cy="395654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696975F-BD89-CB35-2032-87352D2D191E}"/>
              </a:ext>
            </a:extLst>
          </p:cNvPr>
          <p:cNvCxnSpPr>
            <a:cxnSpLocks/>
          </p:cNvCxnSpPr>
          <p:nvPr/>
        </p:nvCxnSpPr>
        <p:spPr>
          <a:xfrm flipH="1">
            <a:off x="2961039" y="2850205"/>
            <a:ext cx="8792" cy="3956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44244D8-C6D9-AA29-A293-71973FF305F1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“GREYONE: Data Flow Sensitive Fuzzing” USENIX Security 2020.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16886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AF59B58C-6F6E-8B6C-03FE-AD92E788E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F946491D-1594-0131-E5FC-8E3DDB61CB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46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501C8F0-217A-CC1A-91A9-C9B9F87138E4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4368B0D2-E61D-51D1-3AFB-4FFB2FF68317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56A2AB72-9CE7-879E-C54A-038FB18ED63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542A4FB4-5D4A-CE1D-16F3-E0B3940F5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Selective seed mutation</a:t>
            </a:r>
          </a:p>
          <a:p>
            <a:endParaRPr lang="en-US" sz="4000" dirty="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AB0E9C-909B-5658-B3D8-7969ECD61453}"/>
              </a:ext>
            </a:extLst>
          </p:cNvPr>
          <p:cNvSpPr txBox="1"/>
          <p:nvPr/>
        </p:nvSpPr>
        <p:spPr>
          <a:xfrm>
            <a:off x="-1" y="861953"/>
            <a:ext cx="92474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Helvetica Neue"/>
              </a:rPr>
              <a:t>GREYONE: Taint analysis using fuzzing.</a:t>
            </a:r>
            <a:endParaRPr lang="en-US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F2E4B6B-CFB1-4F74-63C9-342CD3679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527773"/>
              </p:ext>
            </p:extLst>
          </p:nvPr>
        </p:nvGraphicFramePr>
        <p:xfrm>
          <a:off x="3414346" y="2969559"/>
          <a:ext cx="511634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483">
                  <a:extLst>
                    <a:ext uri="{9D8B030D-6E8A-4147-A177-3AD203B41FA5}">
                      <a16:colId xmlns:a16="http://schemas.microsoft.com/office/drawing/2014/main" val="133998855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3547847688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3280710382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572761877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1213649504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272815276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1379390889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1487338049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4251109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47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35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259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5CDC562-303E-B3DE-5600-66C2D28548E4}"/>
              </a:ext>
            </a:extLst>
          </p:cNvPr>
          <p:cNvSpPr txBox="1"/>
          <p:nvPr/>
        </p:nvSpPr>
        <p:spPr>
          <a:xfrm rot="16200000">
            <a:off x="3710789" y="2143801"/>
            <a:ext cx="49643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0">
                <a:latin typeface="Helvetica Neue"/>
              </a:rPr>
              <a:t>}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36816B0-F80A-059D-BEE4-B183637C2518}"/>
              </a:ext>
            </a:extLst>
          </p:cNvPr>
          <p:cNvCxnSpPr/>
          <p:nvPr/>
        </p:nvCxnSpPr>
        <p:spPr>
          <a:xfrm flipH="1">
            <a:off x="3981133" y="1870833"/>
            <a:ext cx="2997" cy="7744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6A0014A-11C4-59CC-8077-FB384DD2D56B}"/>
              </a:ext>
            </a:extLst>
          </p:cNvPr>
          <p:cNvSpPr txBox="1"/>
          <p:nvPr/>
        </p:nvSpPr>
        <p:spPr>
          <a:xfrm>
            <a:off x="2181959" y="1457282"/>
            <a:ext cx="312786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latin typeface="Helvetica Neue"/>
              </a:rPr>
              <a:t>var_x</a:t>
            </a:r>
            <a:r>
              <a:rPr lang="en-US" sz="2800">
                <a:latin typeface="Helvetica Neue"/>
              </a:rPr>
              <a:t> = 0x31C0</a:t>
            </a:r>
            <a:endParaRPr lang="en-US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6C6A7AAE-E248-5B51-73DF-003673ABDEFD}"/>
              </a:ext>
            </a:extLst>
          </p:cNvPr>
          <p:cNvSpPr/>
          <p:nvPr/>
        </p:nvSpPr>
        <p:spPr>
          <a:xfrm>
            <a:off x="1668008" y="1508206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4EF9D14B-63BF-75CC-0889-2E693904C52F}"/>
              </a:ext>
            </a:extLst>
          </p:cNvPr>
          <p:cNvSpPr/>
          <p:nvPr/>
        </p:nvSpPr>
        <p:spPr>
          <a:xfrm>
            <a:off x="2653353" y="3239077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CF954122-B60B-36C4-6733-DF5A9D58CA98}"/>
              </a:ext>
            </a:extLst>
          </p:cNvPr>
          <p:cNvSpPr/>
          <p:nvPr/>
        </p:nvSpPr>
        <p:spPr>
          <a:xfrm>
            <a:off x="2042438" y="4123765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165ED81C-4062-23D5-D900-D532BFD6F16C}"/>
              </a:ext>
            </a:extLst>
          </p:cNvPr>
          <p:cNvSpPr/>
          <p:nvPr/>
        </p:nvSpPr>
        <p:spPr>
          <a:xfrm>
            <a:off x="603835" y="3248930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6169E468-3375-D53E-5FBC-B890A7F3A39F}"/>
              </a:ext>
            </a:extLst>
          </p:cNvPr>
          <p:cNvSpPr/>
          <p:nvPr/>
        </p:nvSpPr>
        <p:spPr>
          <a:xfrm>
            <a:off x="61895" y="4123765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87E233A-0769-AFA2-5C2B-52AFB36672A2}"/>
              </a:ext>
            </a:extLst>
          </p:cNvPr>
          <p:cNvCxnSpPr>
            <a:cxnSpLocks/>
          </p:cNvCxnSpPr>
          <p:nvPr/>
        </p:nvCxnSpPr>
        <p:spPr>
          <a:xfrm flipH="1">
            <a:off x="2544395" y="3814736"/>
            <a:ext cx="335018" cy="394138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B7F70A7-47DD-A429-B6CB-8C7839194A8B}"/>
              </a:ext>
            </a:extLst>
          </p:cNvPr>
          <p:cNvCxnSpPr>
            <a:cxnSpLocks/>
          </p:cNvCxnSpPr>
          <p:nvPr/>
        </p:nvCxnSpPr>
        <p:spPr>
          <a:xfrm flipH="1">
            <a:off x="514582" y="3795028"/>
            <a:ext cx="246339" cy="364578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3DDFEA0-B901-5FD7-BE04-9FA253F67B98}"/>
              </a:ext>
            </a:extLst>
          </p:cNvPr>
          <p:cNvCxnSpPr>
            <a:cxnSpLocks/>
          </p:cNvCxnSpPr>
          <p:nvPr/>
        </p:nvCxnSpPr>
        <p:spPr>
          <a:xfrm flipH="1">
            <a:off x="1101176" y="1979781"/>
            <a:ext cx="652076" cy="350371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71A6C6F-12FB-CC41-30DC-A5A9FE209A4D}"/>
              </a:ext>
            </a:extLst>
          </p:cNvPr>
          <p:cNvCxnSpPr>
            <a:cxnSpLocks/>
          </p:cNvCxnSpPr>
          <p:nvPr/>
        </p:nvCxnSpPr>
        <p:spPr>
          <a:xfrm>
            <a:off x="2172333" y="2006412"/>
            <a:ext cx="552416" cy="3539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8D52A1AA-4AB9-E149-85D4-97396BCF1F56}"/>
              </a:ext>
            </a:extLst>
          </p:cNvPr>
          <p:cNvSpPr/>
          <p:nvPr/>
        </p:nvSpPr>
        <p:spPr>
          <a:xfrm>
            <a:off x="1165481" y="4113912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EAA4042A-A8AF-490A-E17F-4495DB45FE50}"/>
              </a:ext>
            </a:extLst>
          </p:cNvPr>
          <p:cNvSpPr/>
          <p:nvPr/>
        </p:nvSpPr>
        <p:spPr>
          <a:xfrm>
            <a:off x="3323386" y="4133618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B822F32-080D-4DC3-0A74-840F89A705AB}"/>
              </a:ext>
            </a:extLst>
          </p:cNvPr>
          <p:cNvCxnSpPr>
            <a:cxnSpLocks/>
          </p:cNvCxnSpPr>
          <p:nvPr/>
        </p:nvCxnSpPr>
        <p:spPr>
          <a:xfrm>
            <a:off x="1116142" y="3786798"/>
            <a:ext cx="234113" cy="346867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D12C230-B9C1-C3A7-BAC3-D03FD037608A}"/>
              </a:ext>
            </a:extLst>
          </p:cNvPr>
          <p:cNvCxnSpPr>
            <a:cxnSpLocks/>
          </p:cNvCxnSpPr>
          <p:nvPr/>
        </p:nvCxnSpPr>
        <p:spPr>
          <a:xfrm>
            <a:off x="3062135" y="3810058"/>
            <a:ext cx="349859" cy="4192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F9D4D207-9F80-33BA-DAB0-59E6BF9A61D1}"/>
              </a:ext>
            </a:extLst>
          </p:cNvPr>
          <p:cNvSpPr/>
          <p:nvPr/>
        </p:nvSpPr>
        <p:spPr>
          <a:xfrm>
            <a:off x="603834" y="2272983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AAE7A74A-825D-D4CA-A679-11634D7A20C4}"/>
              </a:ext>
            </a:extLst>
          </p:cNvPr>
          <p:cNvSpPr/>
          <p:nvPr/>
        </p:nvSpPr>
        <p:spPr>
          <a:xfrm>
            <a:off x="2652441" y="227298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1237470-9914-4F63-6261-D8861806C16A}"/>
              </a:ext>
            </a:extLst>
          </p:cNvPr>
          <p:cNvCxnSpPr>
            <a:cxnSpLocks/>
          </p:cNvCxnSpPr>
          <p:nvPr/>
        </p:nvCxnSpPr>
        <p:spPr>
          <a:xfrm flipH="1">
            <a:off x="912432" y="2841414"/>
            <a:ext cx="8792" cy="395654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D1F3320-2920-1893-55FC-B006800E08E2}"/>
              </a:ext>
            </a:extLst>
          </p:cNvPr>
          <p:cNvCxnSpPr>
            <a:cxnSpLocks/>
          </p:cNvCxnSpPr>
          <p:nvPr/>
        </p:nvCxnSpPr>
        <p:spPr>
          <a:xfrm flipH="1">
            <a:off x="2961039" y="2850205"/>
            <a:ext cx="8792" cy="3956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C9B7F11-901C-3187-160F-08701E0467AA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“GREYONE: Data Flow Sensitive Fuzzing” USENIX Security 2020.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2316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29CE8C47-979B-53E1-1A87-27E5B4252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9E0FD206-2EC1-4A38-16EE-52FAF2C945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47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0B2B37D-74C5-0768-6781-4E4976532C28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FF824D03-D44D-D617-9265-F40F15DE0A2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393D69-37FD-3EB9-0496-4CB6E1EFDAA7}"/>
              </a:ext>
            </a:extLst>
          </p:cNvPr>
          <p:cNvSpPr txBox="1"/>
          <p:nvPr/>
        </p:nvSpPr>
        <p:spPr>
          <a:xfrm>
            <a:off x="154660" y="1545965"/>
            <a:ext cx="8837839" cy="24314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dirty="0">
                <a:latin typeface="Helvetica Neue"/>
              </a:rPr>
              <a:t>Filtering Inputs</a:t>
            </a:r>
            <a:endParaRPr lang="en-US" dirty="0"/>
          </a:p>
          <a:p>
            <a:pPr marL="457200" indent="-457200">
              <a:buAutoNum type="arabicPeriod"/>
            </a:pPr>
            <a:endParaRPr lang="en-US" sz="2800">
              <a:latin typeface="Helvetica Neue"/>
            </a:endParaRPr>
          </a:p>
          <a:p>
            <a:pPr marL="514350" indent="-514350" algn="ctr">
              <a:buAutoNum type="arabicPeriod"/>
            </a:pPr>
            <a:r>
              <a:rPr lang="en-US" sz="3200" dirty="0">
                <a:latin typeface="Helvetica Neue"/>
              </a:rPr>
              <a:t>Does seed expose a vulnerability?</a:t>
            </a:r>
          </a:p>
          <a:p>
            <a:pPr marL="514350" indent="-514350" algn="ctr">
              <a:buAutoNum type="arabicPeriod"/>
            </a:pPr>
            <a:r>
              <a:rPr lang="en-US" sz="3200" dirty="0">
                <a:latin typeface="Helvetica Neue"/>
              </a:rPr>
              <a:t>Is the seed interesting?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5050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48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Detecting vulnerabilities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989919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Signals during program execution (</a:t>
            </a:r>
            <a:r>
              <a:rPr lang="en-US" sz="2800" err="1">
                <a:latin typeface="Helvetica Neue"/>
              </a:rPr>
              <a:t>eg</a:t>
            </a:r>
            <a:r>
              <a:rPr lang="en-US" sz="2800">
                <a:latin typeface="Helvetica Neue"/>
              </a:rPr>
              <a:t>: SIGSEGV).</a:t>
            </a:r>
          </a:p>
        </p:txBody>
      </p:sp>
    </p:spTree>
    <p:extLst>
      <p:ext uri="{BB962C8B-B14F-4D97-AF65-F5344CB8AC3E}">
        <p14:creationId xmlns:p14="http://schemas.microsoft.com/office/powerpoint/2010/main" val="31872075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5B5933D0-C6D3-5C84-067A-BF8C1BF5C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71261E5F-2522-7C43-A133-183FD5F8B8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49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5F996801-38FC-AA7D-B676-ECA496BF4697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5007C27A-365F-8BC8-7396-6A38ECF99EBA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43CF2323-B257-7826-15B7-6D78B76AB26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6365B77E-C9C0-A398-9948-6F5BE0BF4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Detecting vulnerabilities (cont.)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8FF553-6C30-B49B-5FAA-7875ABBCDF3D}"/>
              </a:ext>
            </a:extLst>
          </p:cNvPr>
          <p:cNvSpPr txBox="1"/>
          <p:nvPr/>
        </p:nvSpPr>
        <p:spPr>
          <a:xfrm>
            <a:off x="142874" y="989919"/>
            <a:ext cx="8837839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Signals during program execution (</a:t>
            </a:r>
            <a:r>
              <a:rPr lang="en-US" sz="2800" dirty="0" err="1">
                <a:latin typeface="Helvetica Neue"/>
              </a:rPr>
              <a:t>eg</a:t>
            </a:r>
            <a:r>
              <a:rPr lang="en-US" sz="2800" dirty="0">
                <a:latin typeface="Helvetica Neue"/>
              </a:rPr>
              <a:t>: SIGSEGV).</a:t>
            </a:r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Sanitizers: Fine-grained vulnerability detection using special instrumentation.</a:t>
            </a:r>
          </a:p>
        </p:txBody>
      </p:sp>
    </p:spTree>
    <p:extLst>
      <p:ext uri="{BB962C8B-B14F-4D97-AF65-F5344CB8AC3E}">
        <p14:creationId xmlns:p14="http://schemas.microsoft.com/office/powerpoint/2010/main" val="7875176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4FF6D2C7-A4D2-36C9-D270-3167A09E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0CB3E16F-46D2-D3F7-8909-6CD94B7026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50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04D7C68-3833-DCE1-7F43-508DA303F80D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13665BFF-3E04-4D34-56EA-42A68A705AB4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38F48335-721C-7BCC-13E1-9CBBC612A07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A4C2FD41-7DB1-B027-9374-C0C0D1B9C4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Detecting vulnerabilities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EB0139-26D8-205F-2819-68AA221E5A1D}"/>
              </a:ext>
            </a:extLst>
          </p:cNvPr>
          <p:cNvSpPr txBox="1"/>
          <p:nvPr/>
        </p:nvSpPr>
        <p:spPr>
          <a:xfrm>
            <a:off x="142874" y="989919"/>
            <a:ext cx="8837839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Signals during program execution (</a:t>
            </a:r>
            <a:r>
              <a:rPr lang="en-US" sz="2800" dirty="0" err="1">
                <a:latin typeface="Helvetica Neue"/>
              </a:rPr>
              <a:t>eg</a:t>
            </a:r>
            <a:r>
              <a:rPr lang="en-US" sz="2800" dirty="0">
                <a:latin typeface="Helvetica Neue"/>
              </a:rPr>
              <a:t>: SIGSEGV).</a:t>
            </a:r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Sanitizers: Fine-grained vulnerability detection using special instrumentation.</a:t>
            </a:r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Detect memory misuse (ASAN, ASAN--, MSAN) and data races (TSAN).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201C22-21D6-1113-5D6F-17B08016CEC2}"/>
              </a:ext>
            </a:extLst>
          </p:cNvPr>
          <p:cNvSpPr txBox="1"/>
          <p:nvPr/>
        </p:nvSpPr>
        <p:spPr>
          <a:xfrm>
            <a:off x="145772" y="4434340"/>
            <a:ext cx="722721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 err="1">
                <a:latin typeface="Helvetica Neue"/>
              </a:rPr>
              <a:t>AddressSanitizer</a:t>
            </a:r>
            <a:r>
              <a:rPr lang="en-US" sz="1000" dirty="0">
                <a:latin typeface="Helvetica Neue"/>
              </a:rPr>
              <a:t>: A Fast Address Sanity Checker” USENIX ATC 2012.</a:t>
            </a:r>
          </a:p>
          <a:p>
            <a:r>
              <a:rPr lang="en-US" sz="1000" dirty="0">
                <a:latin typeface="Helvetica Neue"/>
              </a:rPr>
              <a:t>“ThreadSanitizer – data race detection in practice” Workshop on Binary Instrumentation and Applications 2009.</a:t>
            </a:r>
          </a:p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 err="1">
                <a:latin typeface="Helvetica Neue"/>
              </a:rPr>
              <a:t>MemorySanitizer</a:t>
            </a:r>
            <a:r>
              <a:rPr lang="en-US" sz="1000" dirty="0">
                <a:latin typeface="Helvetica Neue"/>
              </a:rPr>
              <a:t>: fast detector of uninitialized memory use in C++” IEEE/ACM CGO 2015.</a:t>
            </a:r>
          </a:p>
          <a:p>
            <a:r>
              <a:rPr lang="en-US" sz="1000" dirty="0">
                <a:latin typeface="Helvetica Neue"/>
              </a:rPr>
              <a:t>“Debloating Address Sanitizer” USENIX Security 2022.</a:t>
            </a:r>
          </a:p>
        </p:txBody>
      </p:sp>
    </p:spTree>
    <p:extLst>
      <p:ext uri="{BB962C8B-B14F-4D97-AF65-F5344CB8AC3E}">
        <p14:creationId xmlns:p14="http://schemas.microsoft.com/office/powerpoint/2010/main" val="39012336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9F26366F-B150-4668-D88F-6CA3BA21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EEE64CE0-267A-50F1-3398-17237738B3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51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F5FF94A1-439A-9660-E217-19EBAAB18D72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44519C1A-BB1F-E0C9-892F-81B8ACAB5038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BE5F5B4E-379C-2C01-45D5-A2B34486732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F5EBD4DF-FF36-3206-735E-AD34076671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Identifying interesting inputs</a:t>
            </a:r>
          </a:p>
          <a:p>
            <a:endParaRPr lang="en-US" sz="400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880749B-1873-A79C-9734-98D04DCAE079}"/>
              </a:ext>
            </a:extLst>
          </p:cNvPr>
          <p:cNvSpPr/>
          <p:nvPr/>
        </p:nvSpPr>
        <p:spPr>
          <a:xfrm>
            <a:off x="1104130" y="3267213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366117C-EC8B-2358-39A5-E33BC9093088}"/>
              </a:ext>
            </a:extLst>
          </p:cNvPr>
          <p:cNvSpPr/>
          <p:nvPr/>
        </p:nvSpPr>
        <p:spPr>
          <a:xfrm>
            <a:off x="1592913" y="4237258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95174D3-5117-E31A-84FE-D879AEC8EA5A}"/>
              </a:ext>
            </a:extLst>
          </p:cNvPr>
          <p:cNvSpPr/>
          <p:nvPr/>
        </p:nvSpPr>
        <p:spPr>
          <a:xfrm>
            <a:off x="600307" y="4237258"/>
            <a:ext cx="491517" cy="477616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793F68-55CB-1732-B8EA-8A76F828B074}"/>
              </a:ext>
            </a:extLst>
          </p:cNvPr>
          <p:cNvCxnSpPr/>
          <p:nvPr/>
        </p:nvCxnSpPr>
        <p:spPr>
          <a:xfrm flipH="1">
            <a:off x="874091" y="3758786"/>
            <a:ext cx="491543" cy="475800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0E8E37-B87E-A1AA-AD87-2AF757CF5907}"/>
              </a:ext>
            </a:extLst>
          </p:cNvPr>
          <p:cNvCxnSpPr>
            <a:cxnSpLocks/>
          </p:cNvCxnSpPr>
          <p:nvPr/>
        </p:nvCxnSpPr>
        <p:spPr>
          <a:xfrm>
            <a:off x="1360707" y="3763714"/>
            <a:ext cx="454388" cy="47087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BC35FD4-8092-3A2D-354E-4EDC68CE9B63}"/>
              </a:ext>
            </a:extLst>
          </p:cNvPr>
          <p:cNvCxnSpPr/>
          <p:nvPr/>
        </p:nvCxnSpPr>
        <p:spPr>
          <a:xfrm>
            <a:off x="1336689" y="2621654"/>
            <a:ext cx="8659" cy="64077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25AA016-2559-FFE7-AB11-CDE84E5947C4}"/>
              </a:ext>
            </a:extLst>
          </p:cNvPr>
          <p:cNvSpPr txBox="1"/>
          <p:nvPr/>
        </p:nvSpPr>
        <p:spPr>
          <a:xfrm>
            <a:off x="485592" y="3058710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1000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516A7E-D700-D835-8031-73270D1BBB06}"/>
              </a:ext>
            </a:extLst>
          </p:cNvPr>
          <p:cNvSpPr txBox="1"/>
          <p:nvPr/>
        </p:nvSpPr>
        <p:spPr>
          <a:xfrm>
            <a:off x="-78388" y="4276908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3000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80AC25-3B2C-96FF-C8C8-0CDDCB6E44F8}"/>
              </a:ext>
            </a:extLst>
          </p:cNvPr>
          <p:cNvSpPr txBox="1"/>
          <p:nvPr/>
        </p:nvSpPr>
        <p:spPr>
          <a:xfrm>
            <a:off x="2012099" y="4276907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2000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DF75C0-74DD-B267-3D00-E64F16D91A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42963"/>
              </p:ext>
            </p:extLst>
          </p:nvPr>
        </p:nvGraphicFramePr>
        <p:xfrm>
          <a:off x="2721892" y="3240437"/>
          <a:ext cx="584282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804">
                  <a:extLst>
                    <a:ext uri="{9D8B030D-6E8A-4147-A177-3AD203B41FA5}">
                      <a16:colId xmlns:a16="http://schemas.microsoft.com/office/drawing/2014/main" val="2897525110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93725097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187200332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08388686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1866910143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16189300"/>
                    </a:ext>
                  </a:extLst>
                </a:gridCol>
              </a:tblGrid>
              <a:tr h="3518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81101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E6EFAE-B31B-0A7D-A2EF-0A96178DFCE5}"/>
              </a:ext>
            </a:extLst>
          </p:cNvPr>
          <p:cNvCxnSpPr/>
          <p:nvPr/>
        </p:nvCxnSpPr>
        <p:spPr>
          <a:xfrm>
            <a:off x="6072871" y="2841447"/>
            <a:ext cx="2310" cy="394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4F49769-324D-C3B8-BEA8-6778C7BDD9EA}"/>
              </a:ext>
            </a:extLst>
          </p:cNvPr>
          <p:cNvCxnSpPr/>
          <p:nvPr/>
        </p:nvCxnSpPr>
        <p:spPr>
          <a:xfrm flipV="1">
            <a:off x="2518429" y="2844511"/>
            <a:ext cx="3559111" cy="104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55C9C4-355F-16CE-0693-E2A9372BF98E}"/>
              </a:ext>
            </a:extLst>
          </p:cNvPr>
          <p:cNvCxnSpPr/>
          <p:nvPr/>
        </p:nvCxnSpPr>
        <p:spPr>
          <a:xfrm flipH="1">
            <a:off x="1565691" y="2856379"/>
            <a:ext cx="954792" cy="10708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D3BFB06-BC1A-6263-49D0-D1119B161E13}"/>
              </a:ext>
            </a:extLst>
          </p:cNvPr>
          <p:cNvSpPr txBox="1"/>
          <p:nvPr/>
        </p:nvSpPr>
        <p:spPr>
          <a:xfrm>
            <a:off x="2869532" y="2522119"/>
            <a:ext cx="260483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Helvetica Neue"/>
              </a:rPr>
              <a:t>1000 ⊕ 2000 = 1080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BD3672-8097-9CB3-5272-41C73CCC11D7}"/>
              </a:ext>
            </a:extLst>
          </p:cNvPr>
          <p:cNvSpPr txBox="1"/>
          <p:nvPr/>
        </p:nvSpPr>
        <p:spPr>
          <a:xfrm>
            <a:off x="2785311" y="2919161"/>
            <a:ext cx="83017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1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6142EA-F099-F1F5-E530-063908B83B0C}"/>
              </a:ext>
            </a:extLst>
          </p:cNvPr>
          <p:cNvSpPr txBox="1"/>
          <p:nvPr/>
        </p:nvSpPr>
        <p:spPr>
          <a:xfrm>
            <a:off x="7655092" y="2928184"/>
            <a:ext cx="92041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65536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E20329D-6EE0-C278-13A7-241BB7EE7A12}"/>
              </a:ext>
            </a:extLst>
          </p:cNvPr>
          <p:cNvSpPr/>
          <p:nvPr/>
        </p:nvSpPr>
        <p:spPr>
          <a:xfrm>
            <a:off x="1089091" y="2131732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E152429-3FAD-7012-EA75-FD39FEC0B486}"/>
              </a:ext>
            </a:extLst>
          </p:cNvPr>
          <p:cNvCxnSpPr/>
          <p:nvPr/>
        </p:nvCxnSpPr>
        <p:spPr>
          <a:xfrm flipV="1">
            <a:off x="-4836" y="1944923"/>
            <a:ext cx="3618604" cy="1235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70CB751-F1AB-24F0-DDBF-4479017E1C43}"/>
              </a:ext>
            </a:extLst>
          </p:cNvPr>
          <p:cNvSpPr txBox="1"/>
          <p:nvPr/>
        </p:nvSpPr>
        <p:spPr>
          <a:xfrm>
            <a:off x="-17187" y="1284799"/>
            <a:ext cx="142445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function 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119F07-1CA9-F1BD-BDE7-9049CB6CE905}"/>
              </a:ext>
            </a:extLst>
          </p:cNvPr>
          <p:cNvSpPr txBox="1"/>
          <p:nvPr/>
        </p:nvSpPr>
        <p:spPr>
          <a:xfrm>
            <a:off x="1727391" y="1284799"/>
            <a:ext cx="142445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function 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8D2FE1-6A60-594E-4F9F-26829534D5DD}"/>
              </a:ext>
            </a:extLst>
          </p:cNvPr>
          <p:cNvCxnSpPr/>
          <p:nvPr/>
        </p:nvCxnSpPr>
        <p:spPr>
          <a:xfrm>
            <a:off x="603729" y="1601703"/>
            <a:ext cx="587075" cy="566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1EA6E39-2425-E95E-2D0D-969525DBB721}"/>
              </a:ext>
            </a:extLst>
          </p:cNvPr>
          <p:cNvCxnSpPr/>
          <p:nvPr/>
        </p:nvCxnSpPr>
        <p:spPr>
          <a:xfrm flipH="1">
            <a:off x="1467961" y="1604389"/>
            <a:ext cx="750360" cy="5612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77B56F4-947D-4637-51FB-0BFDE85CEFB2}"/>
              </a:ext>
            </a:extLst>
          </p:cNvPr>
          <p:cNvSpPr txBox="1"/>
          <p:nvPr/>
        </p:nvSpPr>
        <p:spPr>
          <a:xfrm>
            <a:off x="1798291" y="2094246"/>
            <a:ext cx="23740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Helvetica Neue"/>
              </a:rPr>
              <a:t>Current function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025744-BB26-5FB8-777E-105FB9389693}"/>
              </a:ext>
            </a:extLst>
          </p:cNvPr>
          <p:cNvSpPr txBox="1"/>
          <p:nvPr/>
        </p:nvSpPr>
        <p:spPr>
          <a:xfrm>
            <a:off x="6845882" y="2218740"/>
            <a:ext cx="229560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Helvetica Neue"/>
              </a:rPr>
              <a:t>Edge execution counts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2D908C-E8AD-CDF9-16A4-275766222822}"/>
              </a:ext>
            </a:extLst>
          </p:cNvPr>
          <p:cNvSpPr txBox="1"/>
          <p:nvPr/>
        </p:nvSpPr>
        <p:spPr>
          <a:xfrm>
            <a:off x="178044" y="849242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Helvetica Neue"/>
              </a:rPr>
              <a:t>Angora: Same code executed in different call paths.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4E5173-D317-F61B-B72A-06FE11D18F94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“Angora: Efficient Fuzzing by Principled Search” IEEE S&amp;P 2018.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60322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28" grpId="0"/>
      <p:bldP spid="3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406F5193-F745-8465-F0EA-94E87D8E9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56712D6E-A9DD-6C11-FF31-50D8E981EF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52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8504C12-A9D9-8232-E1DE-C443B3C83783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D2310E8D-69E3-7CCB-A769-EE2FFAC6E26B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C12400BC-C52F-E395-F127-AC119493E3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B667334C-EB67-87D3-5180-BAFED428B9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Identifying interesting inputs (cont.)</a:t>
            </a:r>
            <a:endParaRPr lang="en-US" dirty="0">
              <a:solidFill>
                <a:schemeClr val="lt1"/>
              </a:solidFill>
            </a:endParaRPr>
          </a:p>
          <a:p>
            <a:endParaRPr lang="en-US" sz="400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1A13DA6-9959-3263-B52D-A5538433A32A}"/>
              </a:ext>
            </a:extLst>
          </p:cNvPr>
          <p:cNvSpPr/>
          <p:nvPr/>
        </p:nvSpPr>
        <p:spPr>
          <a:xfrm>
            <a:off x="1104130" y="3267213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13849E9-68EC-05C8-493A-CB1B7137808A}"/>
              </a:ext>
            </a:extLst>
          </p:cNvPr>
          <p:cNvSpPr/>
          <p:nvPr/>
        </p:nvSpPr>
        <p:spPr>
          <a:xfrm>
            <a:off x="1592913" y="4237258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C08E29B-A7D0-048C-B8FF-2343B6EB905D}"/>
              </a:ext>
            </a:extLst>
          </p:cNvPr>
          <p:cNvSpPr/>
          <p:nvPr/>
        </p:nvSpPr>
        <p:spPr>
          <a:xfrm>
            <a:off x="600307" y="4237258"/>
            <a:ext cx="491517" cy="477616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5A6203-61A9-3650-DFCA-E3C9443BE1A6}"/>
              </a:ext>
            </a:extLst>
          </p:cNvPr>
          <p:cNvCxnSpPr/>
          <p:nvPr/>
        </p:nvCxnSpPr>
        <p:spPr>
          <a:xfrm flipH="1">
            <a:off x="874091" y="3758786"/>
            <a:ext cx="491543" cy="475800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99C24B-A2B6-9BBD-6167-A96D29716328}"/>
              </a:ext>
            </a:extLst>
          </p:cNvPr>
          <p:cNvCxnSpPr>
            <a:cxnSpLocks/>
          </p:cNvCxnSpPr>
          <p:nvPr/>
        </p:nvCxnSpPr>
        <p:spPr>
          <a:xfrm>
            <a:off x="1360707" y="3763714"/>
            <a:ext cx="454388" cy="47087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4A88E6-8A39-0DA9-C393-1EE0FA30DBDA}"/>
              </a:ext>
            </a:extLst>
          </p:cNvPr>
          <p:cNvCxnSpPr/>
          <p:nvPr/>
        </p:nvCxnSpPr>
        <p:spPr>
          <a:xfrm>
            <a:off x="1336689" y="2621654"/>
            <a:ext cx="8659" cy="64077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02D3B14-96C9-F423-F261-9160E42B3EB0}"/>
              </a:ext>
            </a:extLst>
          </p:cNvPr>
          <p:cNvSpPr txBox="1"/>
          <p:nvPr/>
        </p:nvSpPr>
        <p:spPr>
          <a:xfrm>
            <a:off x="485592" y="3058710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1000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403E40-86A8-DE75-F449-773E2E3F1A78}"/>
              </a:ext>
            </a:extLst>
          </p:cNvPr>
          <p:cNvSpPr txBox="1"/>
          <p:nvPr/>
        </p:nvSpPr>
        <p:spPr>
          <a:xfrm>
            <a:off x="-78388" y="4276908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3000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3F89F4-4259-556D-35CD-6B476452AED2}"/>
              </a:ext>
            </a:extLst>
          </p:cNvPr>
          <p:cNvSpPr txBox="1"/>
          <p:nvPr/>
        </p:nvSpPr>
        <p:spPr>
          <a:xfrm>
            <a:off x="2012099" y="4276907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2000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026009-BE99-4DBB-97B1-9B8F9CD57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515240"/>
              </p:ext>
            </p:extLst>
          </p:nvPr>
        </p:nvGraphicFramePr>
        <p:xfrm>
          <a:off x="2721892" y="3240437"/>
          <a:ext cx="584282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804">
                  <a:extLst>
                    <a:ext uri="{9D8B030D-6E8A-4147-A177-3AD203B41FA5}">
                      <a16:colId xmlns:a16="http://schemas.microsoft.com/office/drawing/2014/main" val="2897525110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93725097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187200332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08388686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1866910143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16189300"/>
                    </a:ext>
                  </a:extLst>
                </a:gridCol>
              </a:tblGrid>
              <a:tr h="3518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81101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F09544-C2DD-A02A-BCFC-9DF56D2637C8}"/>
              </a:ext>
            </a:extLst>
          </p:cNvPr>
          <p:cNvCxnSpPr/>
          <p:nvPr/>
        </p:nvCxnSpPr>
        <p:spPr>
          <a:xfrm flipH="1">
            <a:off x="5171380" y="2855054"/>
            <a:ext cx="2225" cy="3768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A8AAF8-25C8-6E80-613C-4B7CFC11E228}"/>
              </a:ext>
            </a:extLst>
          </p:cNvPr>
          <p:cNvCxnSpPr/>
          <p:nvPr/>
        </p:nvCxnSpPr>
        <p:spPr>
          <a:xfrm flipV="1">
            <a:off x="2517505" y="2854580"/>
            <a:ext cx="2658298" cy="57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A8F721-A2F2-281C-6856-B9F43A763FED}"/>
              </a:ext>
            </a:extLst>
          </p:cNvPr>
          <p:cNvCxnSpPr/>
          <p:nvPr/>
        </p:nvCxnSpPr>
        <p:spPr>
          <a:xfrm flipH="1">
            <a:off x="1565691" y="2856379"/>
            <a:ext cx="954792" cy="10708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FF61C51-FF36-0B6D-146C-8EA56A9B4A49}"/>
              </a:ext>
            </a:extLst>
          </p:cNvPr>
          <p:cNvSpPr txBox="1"/>
          <p:nvPr/>
        </p:nvSpPr>
        <p:spPr>
          <a:xfrm>
            <a:off x="1939100" y="2531282"/>
            <a:ext cx="371023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latin typeface="Helvetica Neue"/>
              </a:rPr>
              <a:t>functionA_PC</a:t>
            </a:r>
            <a:r>
              <a:rPr lang="en-US" sz="2000">
                <a:latin typeface="Helvetica Neue"/>
              </a:rPr>
              <a:t> ⊕ 1000 ⊕ 2000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17DB4B-B451-D61C-48CD-2A32DD8A899F}"/>
              </a:ext>
            </a:extLst>
          </p:cNvPr>
          <p:cNvSpPr txBox="1"/>
          <p:nvPr/>
        </p:nvSpPr>
        <p:spPr>
          <a:xfrm>
            <a:off x="2785311" y="2919161"/>
            <a:ext cx="83017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1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134E1C-4796-651F-9207-962FA398C68A}"/>
              </a:ext>
            </a:extLst>
          </p:cNvPr>
          <p:cNvSpPr txBox="1"/>
          <p:nvPr/>
        </p:nvSpPr>
        <p:spPr>
          <a:xfrm>
            <a:off x="7655092" y="2928184"/>
            <a:ext cx="92041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65536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74F2A0-73F1-515A-D365-7442A6C94493}"/>
              </a:ext>
            </a:extLst>
          </p:cNvPr>
          <p:cNvSpPr txBox="1"/>
          <p:nvPr/>
        </p:nvSpPr>
        <p:spPr>
          <a:xfrm>
            <a:off x="6845882" y="2218740"/>
            <a:ext cx="229560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Helvetica Neue"/>
              </a:rPr>
              <a:t>Edge execution counts</a:t>
            </a:r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4605152-1ADA-EA1E-5958-2FAE2E8E697B}"/>
              </a:ext>
            </a:extLst>
          </p:cNvPr>
          <p:cNvSpPr/>
          <p:nvPr/>
        </p:nvSpPr>
        <p:spPr>
          <a:xfrm>
            <a:off x="1089091" y="2131732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8EED2B9-F3D6-2992-8A4E-612BF4290C37}"/>
              </a:ext>
            </a:extLst>
          </p:cNvPr>
          <p:cNvCxnSpPr/>
          <p:nvPr/>
        </p:nvCxnSpPr>
        <p:spPr>
          <a:xfrm flipV="1">
            <a:off x="-4836" y="1944923"/>
            <a:ext cx="3618604" cy="1235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9096B1E-2E3F-266F-24BA-FB58AE4D9DBA}"/>
              </a:ext>
            </a:extLst>
          </p:cNvPr>
          <p:cNvSpPr txBox="1"/>
          <p:nvPr/>
        </p:nvSpPr>
        <p:spPr>
          <a:xfrm>
            <a:off x="-17187" y="1284799"/>
            <a:ext cx="142445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function 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EC0292-4A65-9D41-DDEE-4A3927F0D559}"/>
              </a:ext>
            </a:extLst>
          </p:cNvPr>
          <p:cNvSpPr txBox="1"/>
          <p:nvPr/>
        </p:nvSpPr>
        <p:spPr>
          <a:xfrm>
            <a:off x="1727391" y="1284799"/>
            <a:ext cx="142445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solidFill>
                  <a:srgbClr val="9B9B9B"/>
                </a:solidFill>
                <a:latin typeface="Helvetica Neue"/>
              </a:rPr>
              <a:t>function 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015710-8C9D-92F7-58D1-47FE12E9009D}"/>
              </a:ext>
            </a:extLst>
          </p:cNvPr>
          <p:cNvCxnSpPr/>
          <p:nvPr/>
        </p:nvCxnSpPr>
        <p:spPr>
          <a:xfrm>
            <a:off x="603729" y="1601703"/>
            <a:ext cx="587075" cy="5661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21F84E2-FE54-F09F-4528-AFF499580C9D}"/>
              </a:ext>
            </a:extLst>
          </p:cNvPr>
          <p:cNvCxnSpPr/>
          <p:nvPr/>
        </p:nvCxnSpPr>
        <p:spPr>
          <a:xfrm flipH="1">
            <a:off x="1467961" y="1604389"/>
            <a:ext cx="750360" cy="561293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F3488D6-0349-711F-B39D-65808ADC6754}"/>
              </a:ext>
            </a:extLst>
          </p:cNvPr>
          <p:cNvSpPr txBox="1"/>
          <p:nvPr/>
        </p:nvSpPr>
        <p:spPr>
          <a:xfrm>
            <a:off x="1798291" y="2094246"/>
            <a:ext cx="23740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Helvetica Neue"/>
              </a:rPr>
              <a:t>Current function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64A9FF-64E0-C059-866F-AD3BB29F3B4E}"/>
              </a:ext>
            </a:extLst>
          </p:cNvPr>
          <p:cNvSpPr txBox="1"/>
          <p:nvPr/>
        </p:nvSpPr>
        <p:spPr>
          <a:xfrm>
            <a:off x="178044" y="849242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Helvetica Neue"/>
              </a:rPr>
              <a:t>Angora: Same code executed in different call paths.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72BE07-3DD5-9023-6137-9AE7F4A99919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“Angora: Efficient Fuzzing by Principled Search” IEEE S&amp;P 2018.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988671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EC82D5EC-39BC-A9C4-7D24-4A7EEC6AB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90FDA0EE-0B69-79D5-6603-78325589B0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53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8FAE6D2-D3AF-5458-E6B3-8EC8970546E4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3625E600-51A1-1BC7-4968-7DD2E3A4DA29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4FAC335F-5999-5F40-DCC6-394AF07A8F5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40C8E309-68EE-287B-0D51-A10F67E741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Identifying interesting inputs (cont.)</a:t>
            </a:r>
            <a:endParaRPr lang="en-US" dirty="0">
              <a:solidFill>
                <a:schemeClr val="lt1"/>
              </a:solidFill>
            </a:endParaRPr>
          </a:p>
          <a:p>
            <a:endParaRPr lang="en-US" sz="400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A84EA4E-5544-7C4C-2E8D-592F3E607CDE}"/>
              </a:ext>
            </a:extLst>
          </p:cNvPr>
          <p:cNvSpPr/>
          <p:nvPr/>
        </p:nvSpPr>
        <p:spPr>
          <a:xfrm>
            <a:off x="1104130" y="3267213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5ABCA38-B608-6A9E-6356-C9474EBB84DC}"/>
              </a:ext>
            </a:extLst>
          </p:cNvPr>
          <p:cNvSpPr/>
          <p:nvPr/>
        </p:nvSpPr>
        <p:spPr>
          <a:xfrm>
            <a:off x="1592913" y="4237258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D91E06-C6F2-89FE-25AF-1BA100C83968}"/>
              </a:ext>
            </a:extLst>
          </p:cNvPr>
          <p:cNvSpPr/>
          <p:nvPr/>
        </p:nvSpPr>
        <p:spPr>
          <a:xfrm>
            <a:off x="600307" y="4237258"/>
            <a:ext cx="491517" cy="477616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C39932-56C0-C9ED-3314-AAE50DA00B96}"/>
              </a:ext>
            </a:extLst>
          </p:cNvPr>
          <p:cNvCxnSpPr/>
          <p:nvPr/>
        </p:nvCxnSpPr>
        <p:spPr>
          <a:xfrm flipH="1">
            <a:off x="874091" y="3758786"/>
            <a:ext cx="491543" cy="475800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204319-F1E8-6F38-1C16-AEDB843F9821}"/>
              </a:ext>
            </a:extLst>
          </p:cNvPr>
          <p:cNvCxnSpPr>
            <a:cxnSpLocks/>
          </p:cNvCxnSpPr>
          <p:nvPr/>
        </p:nvCxnSpPr>
        <p:spPr>
          <a:xfrm>
            <a:off x="1360707" y="3763714"/>
            <a:ext cx="454388" cy="47087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3282AC-32BC-25CE-91D9-F96DB7211DD5}"/>
              </a:ext>
            </a:extLst>
          </p:cNvPr>
          <p:cNvCxnSpPr/>
          <p:nvPr/>
        </p:nvCxnSpPr>
        <p:spPr>
          <a:xfrm>
            <a:off x="1336689" y="2621654"/>
            <a:ext cx="8659" cy="64077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83221E7-E9CA-F303-58BE-B078AAADA585}"/>
              </a:ext>
            </a:extLst>
          </p:cNvPr>
          <p:cNvSpPr txBox="1"/>
          <p:nvPr/>
        </p:nvSpPr>
        <p:spPr>
          <a:xfrm>
            <a:off x="485592" y="3058710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1000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D9740E-3B27-21DE-A685-715EEAE31388}"/>
              </a:ext>
            </a:extLst>
          </p:cNvPr>
          <p:cNvSpPr txBox="1"/>
          <p:nvPr/>
        </p:nvSpPr>
        <p:spPr>
          <a:xfrm>
            <a:off x="-78388" y="4276908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3000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F70D23-8EB6-4546-97AE-3E01D01342C5}"/>
              </a:ext>
            </a:extLst>
          </p:cNvPr>
          <p:cNvSpPr txBox="1"/>
          <p:nvPr/>
        </p:nvSpPr>
        <p:spPr>
          <a:xfrm>
            <a:off x="2012099" y="4276907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2000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A111C7-D0B1-28F7-A863-8487A6C17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626882"/>
              </p:ext>
            </p:extLst>
          </p:nvPr>
        </p:nvGraphicFramePr>
        <p:xfrm>
          <a:off x="2721892" y="3240437"/>
          <a:ext cx="584282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804">
                  <a:extLst>
                    <a:ext uri="{9D8B030D-6E8A-4147-A177-3AD203B41FA5}">
                      <a16:colId xmlns:a16="http://schemas.microsoft.com/office/drawing/2014/main" val="2897525110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93725097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187200332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08388686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1866910143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16189300"/>
                    </a:ext>
                  </a:extLst>
                </a:gridCol>
              </a:tblGrid>
              <a:tr h="3518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81101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3C9E73-678A-9756-16C4-C464CE44D244}"/>
              </a:ext>
            </a:extLst>
          </p:cNvPr>
          <p:cNvCxnSpPr/>
          <p:nvPr/>
        </p:nvCxnSpPr>
        <p:spPr>
          <a:xfrm flipH="1">
            <a:off x="7069975" y="2868283"/>
            <a:ext cx="2225" cy="3768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B92954-AB3D-C532-2196-343BE98D2D0F}"/>
              </a:ext>
            </a:extLst>
          </p:cNvPr>
          <p:cNvCxnSpPr/>
          <p:nvPr/>
        </p:nvCxnSpPr>
        <p:spPr>
          <a:xfrm>
            <a:off x="2521125" y="2855086"/>
            <a:ext cx="4553273" cy="924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F6A37F-25D4-0D0B-E1C1-B88078958512}"/>
              </a:ext>
            </a:extLst>
          </p:cNvPr>
          <p:cNvCxnSpPr/>
          <p:nvPr/>
        </p:nvCxnSpPr>
        <p:spPr>
          <a:xfrm flipH="1">
            <a:off x="1565691" y="2856379"/>
            <a:ext cx="954792" cy="10708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D43151F-4762-13AA-7658-0BA8149BCD75}"/>
              </a:ext>
            </a:extLst>
          </p:cNvPr>
          <p:cNvSpPr txBox="1"/>
          <p:nvPr/>
        </p:nvSpPr>
        <p:spPr>
          <a:xfrm>
            <a:off x="2785311" y="2919161"/>
            <a:ext cx="83017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1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3A1312-FE41-E9ED-9E4F-C396D5878EEC}"/>
              </a:ext>
            </a:extLst>
          </p:cNvPr>
          <p:cNvSpPr txBox="1"/>
          <p:nvPr/>
        </p:nvSpPr>
        <p:spPr>
          <a:xfrm>
            <a:off x="7655092" y="2928184"/>
            <a:ext cx="92041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65536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2903E1-1C0C-EC8A-66FC-10B94B2702E0}"/>
              </a:ext>
            </a:extLst>
          </p:cNvPr>
          <p:cNvSpPr txBox="1"/>
          <p:nvPr/>
        </p:nvSpPr>
        <p:spPr>
          <a:xfrm>
            <a:off x="6845882" y="2218740"/>
            <a:ext cx="229560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Helvetica Neue"/>
              </a:rPr>
              <a:t>Edge execution counts</a:t>
            </a:r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541AB8D-5A0C-5B06-412F-E36C6147FC5B}"/>
              </a:ext>
            </a:extLst>
          </p:cNvPr>
          <p:cNvSpPr/>
          <p:nvPr/>
        </p:nvSpPr>
        <p:spPr>
          <a:xfrm>
            <a:off x="1089091" y="2131732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A294125-4D10-520C-7502-8E148E9B4C7A}"/>
              </a:ext>
            </a:extLst>
          </p:cNvPr>
          <p:cNvCxnSpPr/>
          <p:nvPr/>
        </p:nvCxnSpPr>
        <p:spPr>
          <a:xfrm flipV="1">
            <a:off x="-4836" y="1944923"/>
            <a:ext cx="3618604" cy="1235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D5DC978-764A-2292-DD71-E67344AD1D03}"/>
              </a:ext>
            </a:extLst>
          </p:cNvPr>
          <p:cNvSpPr txBox="1"/>
          <p:nvPr/>
        </p:nvSpPr>
        <p:spPr>
          <a:xfrm>
            <a:off x="-17187" y="1284799"/>
            <a:ext cx="142445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solidFill>
                  <a:schemeClr val="bg2">
                    <a:lumMod val="60000"/>
                    <a:lumOff val="40000"/>
                  </a:schemeClr>
                </a:solidFill>
                <a:latin typeface="Helvetica Neue"/>
              </a:rPr>
              <a:t>function 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51FA4D-7834-FC76-1531-F905ED300CD8}"/>
              </a:ext>
            </a:extLst>
          </p:cNvPr>
          <p:cNvSpPr txBox="1"/>
          <p:nvPr/>
        </p:nvSpPr>
        <p:spPr>
          <a:xfrm>
            <a:off x="1727391" y="1284799"/>
            <a:ext cx="142445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function 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0C5B863-0F5C-28DD-7CB2-7DA661C16567}"/>
              </a:ext>
            </a:extLst>
          </p:cNvPr>
          <p:cNvCxnSpPr/>
          <p:nvPr/>
        </p:nvCxnSpPr>
        <p:spPr>
          <a:xfrm>
            <a:off x="603729" y="1601703"/>
            <a:ext cx="587075" cy="566128"/>
          </a:xfrm>
          <a:prstGeom prst="straightConnector1">
            <a:avLst/>
          </a:prstGeom>
          <a:ln w="5715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959F10B-2DF8-4937-1A83-51446FAD8C76}"/>
              </a:ext>
            </a:extLst>
          </p:cNvPr>
          <p:cNvCxnSpPr/>
          <p:nvPr/>
        </p:nvCxnSpPr>
        <p:spPr>
          <a:xfrm flipH="1">
            <a:off x="1467961" y="1604389"/>
            <a:ext cx="750360" cy="56129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6178FEC-226A-AE88-F80C-8D6D2EC988C9}"/>
              </a:ext>
            </a:extLst>
          </p:cNvPr>
          <p:cNvSpPr txBox="1"/>
          <p:nvPr/>
        </p:nvSpPr>
        <p:spPr>
          <a:xfrm>
            <a:off x="1798291" y="2094246"/>
            <a:ext cx="23740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Helvetica Neue"/>
              </a:rPr>
              <a:t>Current function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C75237-B6C9-E895-24B6-44C41B3F4298}"/>
              </a:ext>
            </a:extLst>
          </p:cNvPr>
          <p:cNvSpPr txBox="1"/>
          <p:nvPr/>
        </p:nvSpPr>
        <p:spPr>
          <a:xfrm>
            <a:off x="178044" y="849242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Helvetica Neue"/>
              </a:rPr>
              <a:t>Angora: Same code executed in different call paths.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F5D593-3195-3C2C-6636-140A072FF6AE}"/>
              </a:ext>
            </a:extLst>
          </p:cNvPr>
          <p:cNvSpPr txBox="1"/>
          <p:nvPr/>
        </p:nvSpPr>
        <p:spPr>
          <a:xfrm>
            <a:off x="1939100" y="2531282"/>
            <a:ext cx="371023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latin typeface="Helvetica Neue"/>
              </a:rPr>
              <a:t>functionB_PC</a:t>
            </a:r>
            <a:r>
              <a:rPr lang="en-US" sz="2000">
                <a:latin typeface="Helvetica Neue"/>
              </a:rPr>
              <a:t> ⊕ 1000 ⊕ 2000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3FCFE6-2E2E-E648-B451-6293E80BE2E1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“Angora: Efficient Fuzzing by Principled Search” IEEE S&amp;P 2018.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837813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F05E41C9-55CB-7DA6-DC0E-6A647FF2C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44ADBCC0-AC90-B06F-F41D-C6AFEAA9EB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54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E04E359B-3A6B-390D-3BE2-3B924F84F34D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8687F6B5-CF5F-E85B-4418-65B780C97087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4DC3F46A-AB3B-EAA2-6E7C-68AD217BB24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6A5F4564-D9B3-ACD4-FD6F-7E65E39267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Identifying interesting inputs (cont.)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30D108-EE4D-6920-1030-A75CFD8D8648}"/>
              </a:ext>
            </a:extLst>
          </p:cNvPr>
          <p:cNvSpPr txBox="1"/>
          <p:nvPr/>
        </p:nvSpPr>
        <p:spPr>
          <a:xfrm>
            <a:off x="1414" y="950698"/>
            <a:ext cx="914339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 err="1">
                <a:latin typeface="Helvetica Neue"/>
              </a:rPr>
              <a:t>PCSFuzzing</a:t>
            </a:r>
            <a:r>
              <a:rPr lang="en-US" sz="2800" dirty="0">
                <a:latin typeface="Helvetica Neue"/>
              </a:rPr>
              <a:t>: Clone functions with multiple callers.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6A8378F-FD2B-5E74-6712-86B3444B0339}"/>
              </a:ext>
            </a:extLst>
          </p:cNvPr>
          <p:cNvSpPr/>
          <p:nvPr/>
        </p:nvSpPr>
        <p:spPr>
          <a:xfrm>
            <a:off x="929601" y="1664857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0055D9B-FCBD-5301-E08E-6614175BF1DD}"/>
              </a:ext>
            </a:extLst>
          </p:cNvPr>
          <p:cNvSpPr/>
          <p:nvPr/>
        </p:nvSpPr>
        <p:spPr>
          <a:xfrm>
            <a:off x="210982" y="2479669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6B0378A-5CD3-BB41-FEB6-78D329BE3389}"/>
              </a:ext>
            </a:extLst>
          </p:cNvPr>
          <p:cNvSpPr/>
          <p:nvPr/>
        </p:nvSpPr>
        <p:spPr>
          <a:xfrm>
            <a:off x="1653877" y="2479668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6E2C1D-D542-3DE8-B13F-55883B18A0A9}"/>
              </a:ext>
            </a:extLst>
          </p:cNvPr>
          <p:cNvSpPr/>
          <p:nvPr/>
        </p:nvSpPr>
        <p:spPr>
          <a:xfrm>
            <a:off x="929600" y="3294480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C488D6-8087-CC51-D7F1-698BEA1901E2}"/>
              </a:ext>
            </a:extLst>
          </p:cNvPr>
          <p:cNvSpPr/>
          <p:nvPr/>
        </p:nvSpPr>
        <p:spPr>
          <a:xfrm>
            <a:off x="929600" y="4120608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4EABF62-05B7-085C-498F-B1D0AA5BCB4B}"/>
              </a:ext>
            </a:extLst>
          </p:cNvPr>
          <p:cNvSpPr/>
          <p:nvPr/>
        </p:nvSpPr>
        <p:spPr>
          <a:xfrm>
            <a:off x="929599" y="2479668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9559710-7137-A144-50BC-2E627D5D3CA2}"/>
              </a:ext>
            </a:extLst>
          </p:cNvPr>
          <p:cNvCxnSpPr/>
          <p:nvPr/>
        </p:nvCxnSpPr>
        <p:spPr>
          <a:xfrm flipH="1">
            <a:off x="598737" y="2085070"/>
            <a:ext cx="407406" cy="4356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6B10DC-E6D2-DD9B-8EEA-618073DEF069}"/>
              </a:ext>
            </a:extLst>
          </p:cNvPr>
          <p:cNvCxnSpPr>
            <a:cxnSpLocks/>
          </p:cNvCxnSpPr>
          <p:nvPr/>
        </p:nvCxnSpPr>
        <p:spPr>
          <a:xfrm>
            <a:off x="1339989" y="2085069"/>
            <a:ext cx="407405" cy="4356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AB85CE-359D-27BF-267C-9426CD2A26D4}"/>
              </a:ext>
            </a:extLst>
          </p:cNvPr>
          <p:cNvCxnSpPr>
            <a:cxnSpLocks/>
          </p:cNvCxnSpPr>
          <p:nvPr/>
        </p:nvCxnSpPr>
        <p:spPr>
          <a:xfrm flipH="1">
            <a:off x="1175895" y="2141655"/>
            <a:ext cx="0" cy="333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229B96F-DE91-42BF-CE22-3A22B4BE9814}"/>
              </a:ext>
            </a:extLst>
          </p:cNvPr>
          <p:cNvCxnSpPr>
            <a:cxnSpLocks/>
          </p:cNvCxnSpPr>
          <p:nvPr/>
        </p:nvCxnSpPr>
        <p:spPr>
          <a:xfrm flipH="1">
            <a:off x="1175895" y="3782595"/>
            <a:ext cx="0" cy="333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BB76235-3674-D825-BE49-78184D2C0F2A}"/>
              </a:ext>
            </a:extLst>
          </p:cNvPr>
          <p:cNvCxnSpPr>
            <a:cxnSpLocks/>
          </p:cNvCxnSpPr>
          <p:nvPr/>
        </p:nvCxnSpPr>
        <p:spPr>
          <a:xfrm flipH="1">
            <a:off x="1175895" y="2956466"/>
            <a:ext cx="0" cy="333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D8FAE2E-59AA-4E16-0094-F74749C2D8B8}"/>
              </a:ext>
            </a:extLst>
          </p:cNvPr>
          <p:cNvCxnSpPr/>
          <p:nvPr/>
        </p:nvCxnSpPr>
        <p:spPr>
          <a:xfrm>
            <a:off x="553471" y="2950807"/>
            <a:ext cx="447014" cy="401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97A6459-D5B2-AD7E-15D5-84C02C9BD3C5}"/>
              </a:ext>
            </a:extLst>
          </p:cNvPr>
          <p:cNvCxnSpPr>
            <a:cxnSpLocks/>
          </p:cNvCxnSpPr>
          <p:nvPr/>
        </p:nvCxnSpPr>
        <p:spPr>
          <a:xfrm flipH="1">
            <a:off x="1351307" y="2950807"/>
            <a:ext cx="554525" cy="401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CF34DB7-0BA0-C075-5281-FB0A88ECDECF}"/>
              </a:ext>
            </a:extLst>
          </p:cNvPr>
          <p:cNvSpPr txBox="1"/>
          <p:nvPr/>
        </p:nvSpPr>
        <p:spPr>
          <a:xfrm>
            <a:off x="1362348" y="3313557"/>
            <a:ext cx="18106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process_obj</a:t>
            </a:r>
            <a:r>
              <a:rPr lang="en-US"/>
              <a:t>(Obj *a)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2A3F99-1832-5035-224B-D21815D422C7}"/>
              </a:ext>
            </a:extLst>
          </p:cNvPr>
          <p:cNvSpPr txBox="1"/>
          <p:nvPr/>
        </p:nvSpPr>
        <p:spPr>
          <a:xfrm>
            <a:off x="1351309" y="4161709"/>
            <a:ext cx="18502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process_str</a:t>
            </a:r>
            <a:r>
              <a:rPr lang="en-US"/>
              <a:t>(char *s)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8EEE7D2-1DC2-6C93-66E6-D4020D14634D}"/>
              </a:ext>
            </a:extLst>
          </p:cNvPr>
          <p:cNvSpPr/>
          <p:nvPr/>
        </p:nvSpPr>
        <p:spPr>
          <a:xfrm>
            <a:off x="6191927" y="1642223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C1C0A54-D27F-1BCC-8B40-F452AB66EF0C}"/>
              </a:ext>
            </a:extLst>
          </p:cNvPr>
          <p:cNvSpPr/>
          <p:nvPr/>
        </p:nvSpPr>
        <p:spPr>
          <a:xfrm>
            <a:off x="5473308" y="2457035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D0FE0AA-4CC6-A822-3AA5-B39CC66D9D63}"/>
              </a:ext>
            </a:extLst>
          </p:cNvPr>
          <p:cNvSpPr/>
          <p:nvPr/>
        </p:nvSpPr>
        <p:spPr>
          <a:xfrm>
            <a:off x="6916203" y="2457034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9E66ED7-3F3D-F2B2-9DA7-1FE612DEE450}"/>
              </a:ext>
            </a:extLst>
          </p:cNvPr>
          <p:cNvSpPr/>
          <p:nvPr/>
        </p:nvSpPr>
        <p:spPr>
          <a:xfrm>
            <a:off x="6191926" y="3271846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781E704-C9CF-254F-DC59-81403C521A12}"/>
              </a:ext>
            </a:extLst>
          </p:cNvPr>
          <p:cNvSpPr/>
          <p:nvPr/>
        </p:nvSpPr>
        <p:spPr>
          <a:xfrm>
            <a:off x="6191926" y="4097974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A6C77F3-3C62-93D2-D1DF-4AF972CD5663}"/>
              </a:ext>
            </a:extLst>
          </p:cNvPr>
          <p:cNvSpPr/>
          <p:nvPr/>
        </p:nvSpPr>
        <p:spPr>
          <a:xfrm>
            <a:off x="6191925" y="2457034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D12D111-ABFD-834B-B173-1B64034F922C}"/>
              </a:ext>
            </a:extLst>
          </p:cNvPr>
          <p:cNvCxnSpPr>
            <a:cxnSpLocks/>
          </p:cNvCxnSpPr>
          <p:nvPr/>
        </p:nvCxnSpPr>
        <p:spPr>
          <a:xfrm flipH="1">
            <a:off x="5861063" y="2062436"/>
            <a:ext cx="407406" cy="4356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30BE9CA-4581-E32A-CFA2-620D60EF66E1}"/>
              </a:ext>
            </a:extLst>
          </p:cNvPr>
          <p:cNvCxnSpPr>
            <a:cxnSpLocks/>
          </p:cNvCxnSpPr>
          <p:nvPr/>
        </p:nvCxnSpPr>
        <p:spPr>
          <a:xfrm>
            <a:off x="6602315" y="2062435"/>
            <a:ext cx="407405" cy="4356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6D7FE6E-3547-5A57-2E2F-B802174781AE}"/>
              </a:ext>
            </a:extLst>
          </p:cNvPr>
          <p:cNvCxnSpPr>
            <a:cxnSpLocks/>
          </p:cNvCxnSpPr>
          <p:nvPr/>
        </p:nvCxnSpPr>
        <p:spPr>
          <a:xfrm flipH="1">
            <a:off x="6438221" y="2119021"/>
            <a:ext cx="0" cy="333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FF9C056-7DFF-AECC-0794-96F507BBB021}"/>
              </a:ext>
            </a:extLst>
          </p:cNvPr>
          <p:cNvCxnSpPr>
            <a:cxnSpLocks/>
          </p:cNvCxnSpPr>
          <p:nvPr/>
        </p:nvCxnSpPr>
        <p:spPr>
          <a:xfrm flipH="1">
            <a:off x="6438221" y="3759961"/>
            <a:ext cx="0" cy="333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B23DD9A-A247-A57D-0A27-90C42E4A9BF2}"/>
              </a:ext>
            </a:extLst>
          </p:cNvPr>
          <p:cNvCxnSpPr>
            <a:cxnSpLocks/>
          </p:cNvCxnSpPr>
          <p:nvPr/>
        </p:nvCxnSpPr>
        <p:spPr>
          <a:xfrm flipH="1">
            <a:off x="6438221" y="2933832"/>
            <a:ext cx="0" cy="333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9BF6D3D-ED0C-B57C-1A92-B0ECD608972C}"/>
              </a:ext>
            </a:extLst>
          </p:cNvPr>
          <p:cNvCxnSpPr>
            <a:cxnSpLocks/>
          </p:cNvCxnSpPr>
          <p:nvPr/>
        </p:nvCxnSpPr>
        <p:spPr>
          <a:xfrm>
            <a:off x="5838430" y="3731669"/>
            <a:ext cx="452673" cy="4074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E429FE9-3FE5-C0D9-4352-3D64D0A480EF}"/>
              </a:ext>
            </a:extLst>
          </p:cNvPr>
          <p:cNvCxnSpPr>
            <a:cxnSpLocks/>
          </p:cNvCxnSpPr>
          <p:nvPr/>
        </p:nvCxnSpPr>
        <p:spPr>
          <a:xfrm flipH="1">
            <a:off x="6596658" y="3748643"/>
            <a:ext cx="554525" cy="401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DBCAED6-0971-D007-FBA3-767C48BF1511}"/>
              </a:ext>
            </a:extLst>
          </p:cNvPr>
          <p:cNvSpPr txBox="1"/>
          <p:nvPr/>
        </p:nvSpPr>
        <p:spPr>
          <a:xfrm>
            <a:off x="7349228" y="3295970"/>
            <a:ext cx="177674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process_obj</a:t>
            </a:r>
            <a:r>
              <a:rPr lang="en-US"/>
              <a:t>(Obj *a)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55EAFF-D999-8F8D-3146-EE875A519773}"/>
              </a:ext>
            </a:extLst>
          </p:cNvPr>
          <p:cNvSpPr txBox="1"/>
          <p:nvPr/>
        </p:nvSpPr>
        <p:spPr>
          <a:xfrm>
            <a:off x="6607976" y="4122100"/>
            <a:ext cx="17767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process_str</a:t>
            </a:r>
            <a:r>
              <a:rPr lang="en-US"/>
              <a:t>(char *s)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FB16E4E-3814-E819-676B-30495AFE4C56}"/>
              </a:ext>
            </a:extLst>
          </p:cNvPr>
          <p:cNvSpPr/>
          <p:nvPr/>
        </p:nvSpPr>
        <p:spPr>
          <a:xfrm>
            <a:off x="5473308" y="3271846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347F066-0861-863A-2595-AAD1D038ECD7}"/>
              </a:ext>
            </a:extLst>
          </p:cNvPr>
          <p:cNvSpPr/>
          <p:nvPr/>
        </p:nvSpPr>
        <p:spPr>
          <a:xfrm>
            <a:off x="6916202" y="3266187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93E9330-EE73-FF88-3A12-FBE3A810F264}"/>
              </a:ext>
            </a:extLst>
          </p:cNvPr>
          <p:cNvCxnSpPr>
            <a:cxnSpLocks/>
          </p:cNvCxnSpPr>
          <p:nvPr/>
        </p:nvCxnSpPr>
        <p:spPr>
          <a:xfrm flipH="1">
            <a:off x="5719602" y="2939490"/>
            <a:ext cx="0" cy="333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35AC40F-BB4F-E247-29E7-2733DA3A5524}"/>
              </a:ext>
            </a:extLst>
          </p:cNvPr>
          <p:cNvCxnSpPr>
            <a:cxnSpLocks/>
          </p:cNvCxnSpPr>
          <p:nvPr/>
        </p:nvCxnSpPr>
        <p:spPr>
          <a:xfrm flipH="1">
            <a:off x="7190790" y="2939490"/>
            <a:ext cx="0" cy="333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82BC76A2-E009-3ACA-E95A-9A1E5B267AB8}"/>
              </a:ext>
            </a:extLst>
          </p:cNvPr>
          <p:cNvSpPr/>
          <p:nvPr/>
        </p:nvSpPr>
        <p:spPr>
          <a:xfrm>
            <a:off x="2675377" y="2356674"/>
            <a:ext cx="2269024" cy="71861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5BF4C2-2684-1302-057A-F42D7494D4C1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“Predictive Context-sensitive Fuzzing” ISOC NDSS 2024.</a:t>
            </a:r>
          </a:p>
        </p:txBody>
      </p:sp>
    </p:spTree>
    <p:extLst>
      <p:ext uri="{BB962C8B-B14F-4D97-AF65-F5344CB8AC3E}">
        <p14:creationId xmlns:p14="http://schemas.microsoft.com/office/powerpoint/2010/main" val="61495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6" grpId="0"/>
      <p:bldP spid="37" grpId="0"/>
      <p:bldP spid="38" grpId="0" animBg="1"/>
      <p:bldP spid="39" grpId="0" animBg="1"/>
      <p:bldP spid="4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55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Identifying interesting inputs (cont.)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989919"/>
            <a:ext cx="883783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 err="1">
                <a:latin typeface="Helvetica Neue"/>
              </a:rPr>
              <a:t>ParmeSan</a:t>
            </a:r>
            <a:r>
              <a:rPr lang="en-US" sz="2800" dirty="0">
                <a:latin typeface="Helvetica Neue"/>
              </a:rPr>
              <a:t>: Prioritize fuzzing code regions with instrumented by sanitizers.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A45BCD-AA3E-BC5C-C9E2-E76D48145207}"/>
              </a:ext>
            </a:extLst>
          </p:cNvPr>
          <p:cNvSpPr txBox="1"/>
          <p:nvPr/>
        </p:nvSpPr>
        <p:spPr>
          <a:xfrm>
            <a:off x="145772" y="4725693"/>
            <a:ext cx="722721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</a:t>
            </a:r>
            <a:r>
              <a:rPr lang="en-US" sz="1000" err="1">
                <a:latin typeface="Helvetica Neue"/>
              </a:rPr>
              <a:t>ParmeSan</a:t>
            </a:r>
            <a:r>
              <a:rPr lang="en-US" sz="1000" dirty="0">
                <a:latin typeface="Helvetica Neue"/>
              </a:rPr>
              <a:t>: Sanitizer-guided </a:t>
            </a:r>
            <a:r>
              <a:rPr lang="en-US" sz="1000" err="1">
                <a:latin typeface="Helvetica Neue"/>
              </a:rPr>
              <a:t>Greybox</a:t>
            </a:r>
            <a:r>
              <a:rPr lang="en-US" sz="1000" dirty="0">
                <a:latin typeface="Helvetica Neue"/>
              </a:rPr>
              <a:t> Fuzzing” USENIX Security 2020.</a:t>
            </a:r>
          </a:p>
          <a:p>
            <a:endParaRPr lang="en-US" sz="1000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505682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3218CAA3-AE1D-DE4F-F2DA-4BB233713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1219C5A5-41E2-66B0-9A23-A017BC3F39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56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5B0B96B-9120-1C79-EAC8-559E1B17B710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B88CDD86-D2CA-563A-397A-10434EBE012C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D520983F-BB21-0D53-9592-CC0688B9CB0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E1E7FEC6-9FEC-D434-C1A1-5F475E7578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Identifying interesting inputs (cont.)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1FEA14-BE7B-0538-29DC-8CD4B4B0B13B}"/>
              </a:ext>
            </a:extLst>
          </p:cNvPr>
          <p:cNvSpPr txBox="1"/>
          <p:nvPr/>
        </p:nvSpPr>
        <p:spPr>
          <a:xfrm>
            <a:off x="142874" y="989919"/>
            <a:ext cx="8837839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 err="1">
                <a:latin typeface="Helvetica Neue"/>
              </a:rPr>
              <a:t>ParmeSan</a:t>
            </a:r>
            <a:r>
              <a:rPr lang="en-US" sz="2800" dirty="0">
                <a:latin typeface="Helvetica Neue"/>
              </a:rPr>
              <a:t>: Prioritize fuzzing code regions with instrumented by sanitizers.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IJON: Human annotations to indicate (un)interesting code and states to </a:t>
            </a:r>
            <a:r>
              <a:rPr lang="en-US" sz="2800" dirty="0" err="1">
                <a:latin typeface="Helvetica Neue"/>
              </a:rPr>
              <a:t>fuzzer</a:t>
            </a:r>
            <a:r>
              <a:rPr lang="en-US" sz="2800" dirty="0">
                <a:latin typeface="Helvetica Neue"/>
              </a:rPr>
              <a:t>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CACD7B-8FD9-A724-22D5-E228B97FF93F}"/>
              </a:ext>
            </a:extLst>
          </p:cNvPr>
          <p:cNvSpPr txBox="1"/>
          <p:nvPr/>
        </p:nvSpPr>
        <p:spPr>
          <a:xfrm>
            <a:off x="145772" y="4725693"/>
            <a:ext cx="722721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</a:t>
            </a:r>
            <a:r>
              <a:rPr lang="en-US" sz="1000" err="1">
                <a:latin typeface="Helvetica Neue"/>
              </a:rPr>
              <a:t>ParmeSan</a:t>
            </a:r>
            <a:r>
              <a:rPr lang="en-US" sz="1000" dirty="0">
                <a:latin typeface="Helvetica Neue"/>
              </a:rPr>
              <a:t>: Sanitizer-guided </a:t>
            </a:r>
            <a:r>
              <a:rPr lang="en-US" sz="1000" err="1">
                <a:latin typeface="Helvetica Neue"/>
              </a:rPr>
              <a:t>Greybox</a:t>
            </a:r>
            <a:r>
              <a:rPr lang="en-US" sz="1000" dirty="0">
                <a:latin typeface="Helvetica Neue"/>
              </a:rPr>
              <a:t> Fuzzing” USENIX Security 2020.</a:t>
            </a:r>
          </a:p>
          <a:p>
            <a:r>
              <a:rPr lang="en-US" sz="1000" dirty="0">
                <a:latin typeface="Helvetica Neue"/>
              </a:rPr>
              <a:t>“IJON: Exploring Deep State Spaces via Fuzzing” IEEE S&amp;P 2020.</a:t>
            </a:r>
          </a:p>
        </p:txBody>
      </p:sp>
    </p:spTree>
    <p:extLst>
      <p:ext uri="{BB962C8B-B14F-4D97-AF65-F5344CB8AC3E}">
        <p14:creationId xmlns:p14="http://schemas.microsoft.com/office/powerpoint/2010/main" val="30638816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756F7BED-8F43-8593-175A-1A67098B7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C5958ACD-7BAB-2F24-E267-8B5E00C21F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57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3CD78F0-80D6-DA65-9029-319F793C7A76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C2E0CD37-1BD3-D0EF-C0F4-69CB8FE11BC3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C5E2AC23-8370-5459-C47A-E0F370DAA9C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5AFB9719-B28B-A610-C782-B5DD318A1E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Identifying interesting inputs (cont.)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79F372-012E-FFEB-7A06-DE8350A1648D}"/>
              </a:ext>
            </a:extLst>
          </p:cNvPr>
          <p:cNvSpPr txBox="1"/>
          <p:nvPr/>
        </p:nvSpPr>
        <p:spPr>
          <a:xfrm>
            <a:off x="142874" y="884643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err="1">
                <a:latin typeface="Helvetica Neue"/>
              </a:rPr>
              <a:t>UnTracer</a:t>
            </a:r>
            <a:r>
              <a:rPr lang="en-US" sz="2800" dirty="0">
                <a:latin typeface="Helvetica Neue"/>
              </a:rPr>
              <a:t>: Prune uninteresting inputs quickly.</a:t>
            </a:r>
            <a:endParaRPr lang="en-US" dirty="0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3D8B3964-5C12-B886-B389-7ED28492B781}"/>
              </a:ext>
            </a:extLst>
          </p:cNvPr>
          <p:cNvSpPr/>
          <p:nvPr/>
        </p:nvSpPr>
        <p:spPr>
          <a:xfrm>
            <a:off x="1668008" y="1492134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FE7AE883-2DF5-3B47-53E0-5E1B7405CDB4}"/>
              </a:ext>
            </a:extLst>
          </p:cNvPr>
          <p:cNvSpPr/>
          <p:nvPr/>
        </p:nvSpPr>
        <p:spPr>
          <a:xfrm>
            <a:off x="2653353" y="3223005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4FD76FEE-4A21-E1EC-AE3B-82C130473FBD}"/>
              </a:ext>
            </a:extLst>
          </p:cNvPr>
          <p:cNvSpPr/>
          <p:nvPr/>
        </p:nvSpPr>
        <p:spPr>
          <a:xfrm>
            <a:off x="2042438" y="4107693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6D6B67B-9E7A-3093-D115-0446F216689C}"/>
              </a:ext>
            </a:extLst>
          </p:cNvPr>
          <p:cNvSpPr/>
          <p:nvPr/>
        </p:nvSpPr>
        <p:spPr>
          <a:xfrm>
            <a:off x="603835" y="3232858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86393C99-00AD-C0C2-27F2-FADB3A546565}"/>
              </a:ext>
            </a:extLst>
          </p:cNvPr>
          <p:cNvSpPr/>
          <p:nvPr/>
        </p:nvSpPr>
        <p:spPr>
          <a:xfrm>
            <a:off x="61895" y="4107693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50DF4D-DB7F-7F96-D1CE-C5DB4CA0355A}"/>
              </a:ext>
            </a:extLst>
          </p:cNvPr>
          <p:cNvCxnSpPr>
            <a:cxnSpLocks/>
          </p:cNvCxnSpPr>
          <p:nvPr/>
        </p:nvCxnSpPr>
        <p:spPr>
          <a:xfrm flipH="1">
            <a:off x="2544395" y="3798664"/>
            <a:ext cx="335018" cy="3941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06E8F9-E264-8B4D-792F-1E6C3657B007}"/>
              </a:ext>
            </a:extLst>
          </p:cNvPr>
          <p:cNvCxnSpPr>
            <a:cxnSpLocks/>
          </p:cNvCxnSpPr>
          <p:nvPr/>
        </p:nvCxnSpPr>
        <p:spPr>
          <a:xfrm flipH="1">
            <a:off x="514582" y="3778956"/>
            <a:ext cx="246339" cy="3645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843C53-6493-01A6-43D7-0E7DE39828EE}"/>
              </a:ext>
            </a:extLst>
          </p:cNvPr>
          <p:cNvCxnSpPr>
            <a:cxnSpLocks/>
          </p:cNvCxnSpPr>
          <p:nvPr/>
        </p:nvCxnSpPr>
        <p:spPr>
          <a:xfrm flipH="1">
            <a:off x="1101176" y="1963709"/>
            <a:ext cx="652076" cy="3503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74346C-8093-2312-F2B9-1B77E4179F26}"/>
              </a:ext>
            </a:extLst>
          </p:cNvPr>
          <p:cNvCxnSpPr>
            <a:cxnSpLocks/>
          </p:cNvCxnSpPr>
          <p:nvPr/>
        </p:nvCxnSpPr>
        <p:spPr>
          <a:xfrm>
            <a:off x="2172333" y="1990340"/>
            <a:ext cx="552416" cy="3539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52B84D9E-68CB-128B-29B4-ADFBCA08847E}"/>
              </a:ext>
            </a:extLst>
          </p:cNvPr>
          <p:cNvSpPr/>
          <p:nvPr/>
        </p:nvSpPr>
        <p:spPr>
          <a:xfrm>
            <a:off x="1165481" y="4097840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0999C755-1D42-0E3C-43A5-780C4F61FEF5}"/>
              </a:ext>
            </a:extLst>
          </p:cNvPr>
          <p:cNvSpPr/>
          <p:nvPr/>
        </p:nvSpPr>
        <p:spPr>
          <a:xfrm>
            <a:off x="3323386" y="4117546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6FDD5C-20D1-7E4D-E1E5-AD7669B110E3}"/>
              </a:ext>
            </a:extLst>
          </p:cNvPr>
          <p:cNvCxnSpPr>
            <a:cxnSpLocks/>
          </p:cNvCxnSpPr>
          <p:nvPr/>
        </p:nvCxnSpPr>
        <p:spPr>
          <a:xfrm>
            <a:off x="1116142" y="3770726"/>
            <a:ext cx="234113" cy="3468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88AC353-AC80-D409-1956-4D130ABE21EC}"/>
              </a:ext>
            </a:extLst>
          </p:cNvPr>
          <p:cNvCxnSpPr>
            <a:cxnSpLocks/>
          </p:cNvCxnSpPr>
          <p:nvPr/>
        </p:nvCxnSpPr>
        <p:spPr>
          <a:xfrm>
            <a:off x="3062135" y="3793986"/>
            <a:ext cx="349859" cy="4192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BD111F91-837C-D81D-6AA4-21DE6CED913B}"/>
              </a:ext>
            </a:extLst>
          </p:cNvPr>
          <p:cNvSpPr/>
          <p:nvPr/>
        </p:nvSpPr>
        <p:spPr>
          <a:xfrm>
            <a:off x="603834" y="225691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1F2904C6-29E7-D1B3-87F7-EBA26877DE2C}"/>
              </a:ext>
            </a:extLst>
          </p:cNvPr>
          <p:cNvSpPr/>
          <p:nvPr/>
        </p:nvSpPr>
        <p:spPr>
          <a:xfrm>
            <a:off x="2652441" y="2256910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6802A47-717D-A837-1E86-E5CF0124B9B7}"/>
              </a:ext>
            </a:extLst>
          </p:cNvPr>
          <p:cNvCxnSpPr>
            <a:cxnSpLocks/>
          </p:cNvCxnSpPr>
          <p:nvPr/>
        </p:nvCxnSpPr>
        <p:spPr>
          <a:xfrm flipH="1">
            <a:off x="912432" y="2825342"/>
            <a:ext cx="8792" cy="3956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AC27C59-E576-E4D1-8AA1-1E3F137DE121}"/>
              </a:ext>
            </a:extLst>
          </p:cNvPr>
          <p:cNvCxnSpPr>
            <a:cxnSpLocks/>
          </p:cNvCxnSpPr>
          <p:nvPr/>
        </p:nvCxnSpPr>
        <p:spPr>
          <a:xfrm flipH="1">
            <a:off x="2961039" y="2834133"/>
            <a:ext cx="8792" cy="3956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C60D520-6465-F644-F70F-D7BAB312EF3A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“Full-Speed Fuzzing: Reducing Fuzzing Overhead through Coverage-Guided Tracing” IEEE S&amp;P 2019.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0618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10" grpId="0" animBg="1"/>
      <p:bldP spid="12" grpId="0" animBg="1"/>
      <p:bldP spid="22" grpId="0" animBg="1"/>
      <p:bldP spid="24" grpId="0" animBg="1"/>
      <p:bldP spid="30" grpId="0" animBg="1"/>
      <p:bldP spid="3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09BECC3D-E218-CE95-701C-8F12563D6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4017ACCB-6243-AAF0-67D0-C64520AEF5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58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2AA13508-BE3D-ECE1-D056-94D28A2B5CF8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1C0F13DA-3313-3421-0858-FA0241C25B23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1CF3A2EA-6B80-5734-0F93-156A7AD5E5D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2CEDF5C5-FAA7-C154-E61E-6BA45B316D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Identifying interesting inputs (cont.)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F788BC42-F588-2C3E-5868-D3FBC85CA7D4}"/>
              </a:ext>
            </a:extLst>
          </p:cNvPr>
          <p:cNvSpPr/>
          <p:nvPr/>
        </p:nvSpPr>
        <p:spPr>
          <a:xfrm>
            <a:off x="1668008" y="1475325"/>
            <a:ext cx="612913" cy="571499"/>
          </a:xfrm>
          <a:prstGeom prst="flowChartConnecto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A21EA009-DEA2-C619-D5F2-E283B2B8E12A}"/>
              </a:ext>
            </a:extLst>
          </p:cNvPr>
          <p:cNvSpPr/>
          <p:nvPr/>
        </p:nvSpPr>
        <p:spPr>
          <a:xfrm>
            <a:off x="2653353" y="3206196"/>
            <a:ext cx="612913" cy="571499"/>
          </a:xfrm>
          <a:prstGeom prst="flowChartConnecto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F310B94D-7C3F-5B3F-8324-6E0B4117BA3B}"/>
              </a:ext>
            </a:extLst>
          </p:cNvPr>
          <p:cNvSpPr/>
          <p:nvPr/>
        </p:nvSpPr>
        <p:spPr>
          <a:xfrm>
            <a:off x="2042438" y="4090884"/>
            <a:ext cx="612913" cy="571499"/>
          </a:xfrm>
          <a:prstGeom prst="flowChartConnecto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B8EC5BE6-022B-669A-447C-183C76C75FAE}"/>
              </a:ext>
            </a:extLst>
          </p:cNvPr>
          <p:cNvSpPr/>
          <p:nvPr/>
        </p:nvSpPr>
        <p:spPr>
          <a:xfrm>
            <a:off x="603835" y="3216049"/>
            <a:ext cx="612913" cy="571499"/>
          </a:xfrm>
          <a:prstGeom prst="flowChartConnecto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EF88BA5F-C9C6-649D-E9EE-833DF2731BC5}"/>
              </a:ext>
            </a:extLst>
          </p:cNvPr>
          <p:cNvSpPr/>
          <p:nvPr/>
        </p:nvSpPr>
        <p:spPr>
          <a:xfrm>
            <a:off x="61895" y="4090884"/>
            <a:ext cx="612913" cy="571499"/>
          </a:xfrm>
          <a:prstGeom prst="flowChartConnecto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2BFAFF-55A7-557A-431B-978B96365C74}"/>
              </a:ext>
            </a:extLst>
          </p:cNvPr>
          <p:cNvCxnSpPr>
            <a:cxnSpLocks/>
          </p:cNvCxnSpPr>
          <p:nvPr/>
        </p:nvCxnSpPr>
        <p:spPr>
          <a:xfrm flipH="1">
            <a:off x="2544395" y="3781855"/>
            <a:ext cx="335018" cy="3941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CA93209-7E50-75CF-47E7-DE0420429599}"/>
              </a:ext>
            </a:extLst>
          </p:cNvPr>
          <p:cNvCxnSpPr>
            <a:cxnSpLocks/>
          </p:cNvCxnSpPr>
          <p:nvPr/>
        </p:nvCxnSpPr>
        <p:spPr>
          <a:xfrm flipH="1">
            <a:off x="514582" y="3762147"/>
            <a:ext cx="246339" cy="3645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4820883-D23F-0B93-12CC-E82FDBFCC035}"/>
              </a:ext>
            </a:extLst>
          </p:cNvPr>
          <p:cNvCxnSpPr>
            <a:cxnSpLocks/>
          </p:cNvCxnSpPr>
          <p:nvPr/>
        </p:nvCxnSpPr>
        <p:spPr>
          <a:xfrm flipH="1">
            <a:off x="1101176" y="1946900"/>
            <a:ext cx="652076" cy="3503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4FBDC8-8E55-E09E-DF18-2410C5026903}"/>
              </a:ext>
            </a:extLst>
          </p:cNvPr>
          <p:cNvCxnSpPr>
            <a:cxnSpLocks/>
          </p:cNvCxnSpPr>
          <p:nvPr/>
        </p:nvCxnSpPr>
        <p:spPr>
          <a:xfrm>
            <a:off x="2172333" y="1973531"/>
            <a:ext cx="552416" cy="3539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DAD06163-D9BF-2E35-578F-8321D9F98966}"/>
              </a:ext>
            </a:extLst>
          </p:cNvPr>
          <p:cNvSpPr/>
          <p:nvPr/>
        </p:nvSpPr>
        <p:spPr>
          <a:xfrm>
            <a:off x="1165481" y="4081031"/>
            <a:ext cx="612913" cy="571499"/>
          </a:xfrm>
          <a:prstGeom prst="flowChartConnecto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2EEBE565-8A56-8084-25AD-7AC94FEBB960}"/>
              </a:ext>
            </a:extLst>
          </p:cNvPr>
          <p:cNvSpPr/>
          <p:nvPr/>
        </p:nvSpPr>
        <p:spPr>
          <a:xfrm>
            <a:off x="3323386" y="4100737"/>
            <a:ext cx="612913" cy="571499"/>
          </a:xfrm>
          <a:prstGeom prst="flowChartConnecto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23DF3D5-7B4E-E94C-8229-97F7647142CC}"/>
              </a:ext>
            </a:extLst>
          </p:cNvPr>
          <p:cNvCxnSpPr>
            <a:cxnSpLocks/>
          </p:cNvCxnSpPr>
          <p:nvPr/>
        </p:nvCxnSpPr>
        <p:spPr>
          <a:xfrm>
            <a:off x="1116142" y="3753917"/>
            <a:ext cx="234113" cy="3468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EDE0A4A-6A47-1C05-24B5-D3CDC5E8AAC7}"/>
              </a:ext>
            </a:extLst>
          </p:cNvPr>
          <p:cNvCxnSpPr>
            <a:cxnSpLocks/>
          </p:cNvCxnSpPr>
          <p:nvPr/>
        </p:nvCxnSpPr>
        <p:spPr>
          <a:xfrm>
            <a:off x="3062135" y="3777177"/>
            <a:ext cx="349859" cy="4192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BC1A4424-287E-C2C4-DE01-4CEC8889A07B}"/>
              </a:ext>
            </a:extLst>
          </p:cNvPr>
          <p:cNvSpPr/>
          <p:nvPr/>
        </p:nvSpPr>
        <p:spPr>
          <a:xfrm>
            <a:off x="603834" y="2240102"/>
            <a:ext cx="612913" cy="571499"/>
          </a:xfrm>
          <a:prstGeom prst="flowChartConnecto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83E2B42C-18AC-D69A-CE68-D6F20085E58E}"/>
              </a:ext>
            </a:extLst>
          </p:cNvPr>
          <p:cNvSpPr/>
          <p:nvPr/>
        </p:nvSpPr>
        <p:spPr>
          <a:xfrm>
            <a:off x="2652441" y="2240101"/>
            <a:ext cx="612913" cy="571499"/>
          </a:xfrm>
          <a:prstGeom prst="flowChartConnecto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3687D8C-96D0-789E-C5DD-2C7D524B105A}"/>
              </a:ext>
            </a:extLst>
          </p:cNvPr>
          <p:cNvCxnSpPr>
            <a:cxnSpLocks/>
          </p:cNvCxnSpPr>
          <p:nvPr/>
        </p:nvCxnSpPr>
        <p:spPr>
          <a:xfrm flipH="1">
            <a:off x="912432" y="2808533"/>
            <a:ext cx="8792" cy="3956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AF8E9C2-E2AF-4DC4-0F3A-7C1E08481ABE}"/>
              </a:ext>
            </a:extLst>
          </p:cNvPr>
          <p:cNvCxnSpPr>
            <a:cxnSpLocks/>
          </p:cNvCxnSpPr>
          <p:nvPr/>
        </p:nvCxnSpPr>
        <p:spPr>
          <a:xfrm flipH="1">
            <a:off x="2961039" y="2817324"/>
            <a:ext cx="8792" cy="3956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C4CBB62B-437E-5AA9-8394-26A7017EDB12}"/>
              </a:ext>
            </a:extLst>
          </p:cNvPr>
          <p:cNvSpPr/>
          <p:nvPr/>
        </p:nvSpPr>
        <p:spPr>
          <a:xfrm>
            <a:off x="5187245" y="219073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E69646-0D96-7F64-6501-3C565CAEF666}"/>
              </a:ext>
            </a:extLst>
          </p:cNvPr>
          <p:cNvSpPr txBox="1"/>
          <p:nvPr/>
        </p:nvSpPr>
        <p:spPr>
          <a:xfrm>
            <a:off x="5844886" y="2054940"/>
            <a:ext cx="248720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>
                <a:latin typeface="Helvetica Neue"/>
              </a:rPr>
              <a:t>Uninstrumented</a:t>
            </a:r>
            <a:r>
              <a:rPr lang="en-US" sz="2400">
                <a:latin typeface="Helvetica Neue"/>
              </a:rPr>
              <a:t> block</a:t>
            </a:r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DC7C77D3-A015-A4AD-B958-43C911F7E92E}"/>
              </a:ext>
            </a:extLst>
          </p:cNvPr>
          <p:cNvSpPr/>
          <p:nvPr/>
        </p:nvSpPr>
        <p:spPr>
          <a:xfrm>
            <a:off x="5187245" y="3258534"/>
            <a:ext cx="612913" cy="571499"/>
          </a:xfrm>
          <a:prstGeom prst="flowChartConnecto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6B95A-00E8-6686-886E-633E02F55A9E}"/>
              </a:ext>
            </a:extLst>
          </p:cNvPr>
          <p:cNvSpPr txBox="1"/>
          <p:nvPr/>
        </p:nvSpPr>
        <p:spPr>
          <a:xfrm>
            <a:off x="5844886" y="3130262"/>
            <a:ext cx="248720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Instrumented block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6E22B8-9D4E-D362-9BFF-27392660423B}"/>
              </a:ext>
            </a:extLst>
          </p:cNvPr>
          <p:cNvSpPr txBox="1"/>
          <p:nvPr/>
        </p:nvSpPr>
        <p:spPr>
          <a:xfrm>
            <a:off x="142874" y="884643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err="1">
                <a:latin typeface="Helvetica Neue"/>
              </a:rPr>
              <a:t>UnTracer</a:t>
            </a:r>
            <a:r>
              <a:rPr lang="en-US" sz="2800" dirty="0">
                <a:latin typeface="Helvetica Neue"/>
              </a:rPr>
              <a:t>: Prune uninteresting inputs quickly.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8BEB98-BE99-7756-E8A7-2C23CD5BB6AC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“Full-Speed Fuzzing: Reducing Fuzzing Overhead through Coverage-Guided Tracing” IEEE S&amp;P 2019.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0974765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218E3392-C5C4-FA3B-B48A-A0A368110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7C824C-810E-55E3-AD80-F41D70922844}"/>
              </a:ext>
            </a:extLst>
          </p:cNvPr>
          <p:cNvCxnSpPr>
            <a:cxnSpLocks/>
          </p:cNvCxnSpPr>
          <p:nvPr/>
        </p:nvCxnSpPr>
        <p:spPr>
          <a:xfrm flipH="1">
            <a:off x="2544395" y="3776252"/>
            <a:ext cx="335018" cy="394138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B475BE8-9A49-6E74-E099-FB358A4592C6}"/>
              </a:ext>
            </a:extLst>
          </p:cNvPr>
          <p:cNvCxnSpPr>
            <a:cxnSpLocks/>
          </p:cNvCxnSpPr>
          <p:nvPr/>
        </p:nvCxnSpPr>
        <p:spPr>
          <a:xfrm flipH="1">
            <a:off x="1101176" y="1941297"/>
            <a:ext cx="652076" cy="350371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6C1C2789-487D-3D07-27CC-67E85F6270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59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12D94DD-98AB-FC3E-5786-E7B70D358321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D7D15910-751D-EA80-AA48-B8DE0D20CCDE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7042007C-2133-CC43-8495-CE4BA8E143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DC1F4477-A1A0-FE60-78A5-8CB47F8AC2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Identifying interesting inputs (cont.)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621E98F4-09C6-91F5-97AA-92221E871C11}"/>
              </a:ext>
            </a:extLst>
          </p:cNvPr>
          <p:cNvSpPr/>
          <p:nvPr/>
        </p:nvSpPr>
        <p:spPr>
          <a:xfrm>
            <a:off x="1668008" y="1469722"/>
            <a:ext cx="612913" cy="571499"/>
          </a:xfrm>
          <a:prstGeom prst="flowChartConnecto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416832D3-3C03-89E3-A615-059578B1FB53}"/>
              </a:ext>
            </a:extLst>
          </p:cNvPr>
          <p:cNvSpPr/>
          <p:nvPr/>
        </p:nvSpPr>
        <p:spPr>
          <a:xfrm>
            <a:off x="2653353" y="3200593"/>
            <a:ext cx="612913" cy="571499"/>
          </a:xfrm>
          <a:prstGeom prst="flowChartConnecto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F997477C-3E65-2145-BF71-1EB786281D12}"/>
              </a:ext>
            </a:extLst>
          </p:cNvPr>
          <p:cNvSpPr/>
          <p:nvPr/>
        </p:nvSpPr>
        <p:spPr>
          <a:xfrm>
            <a:off x="2042438" y="4085281"/>
            <a:ext cx="612913" cy="571499"/>
          </a:xfrm>
          <a:prstGeom prst="flowChartConnector">
            <a:avLst/>
          </a:prstGeom>
          <a:noFill/>
          <a:ln w="571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524001D6-90F7-6E00-CA31-0B2E342B0C24}"/>
              </a:ext>
            </a:extLst>
          </p:cNvPr>
          <p:cNvSpPr/>
          <p:nvPr/>
        </p:nvSpPr>
        <p:spPr>
          <a:xfrm>
            <a:off x="603835" y="3210446"/>
            <a:ext cx="612913" cy="571499"/>
          </a:xfrm>
          <a:prstGeom prst="flowChartConnector">
            <a:avLst/>
          </a:prstGeom>
          <a:noFill/>
          <a:ln w="571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F482E5C3-8659-A2F8-4575-9199801EB8A5}"/>
              </a:ext>
            </a:extLst>
          </p:cNvPr>
          <p:cNvSpPr/>
          <p:nvPr/>
        </p:nvSpPr>
        <p:spPr>
          <a:xfrm>
            <a:off x="61895" y="4085281"/>
            <a:ext cx="612913" cy="571499"/>
          </a:xfrm>
          <a:prstGeom prst="flowChartConnector">
            <a:avLst/>
          </a:prstGeom>
          <a:noFill/>
          <a:ln w="571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2B4D72-6A74-243C-F479-197B75D93E67}"/>
              </a:ext>
            </a:extLst>
          </p:cNvPr>
          <p:cNvCxnSpPr>
            <a:cxnSpLocks/>
          </p:cNvCxnSpPr>
          <p:nvPr/>
        </p:nvCxnSpPr>
        <p:spPr>
          <a:xfrm flipH="1">
            <a:off x="514582" y="3756544"/>
            <a:ext cx="246339" cy="364578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00E6CA-EE0E-381B-22F9-EA53BD2E4AF0}"/>
              </a:ext>
            </a:extLst>
          </p:cNvPr>
          <p:cNvCxnSpPr>
            <a:cxnSpLocks/>
          </p:cNvCxnSpPr>
          <p:nvPr/>
        </p:nvCxnSpPr>
        <p:spPr>
          <a:xfrm>
            <a:off x="2172333" y="1967928"/>
            <a:ext cx="552416" cy="3539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121017E3-B2FF-0F3F-5946-9D0B495ED855}"/>
              </a:ext>
            </a:extLst>
          </p:cNvPr>
          <p:cNvSpPr/>
          <p:nvPr/>
        </p:nvSpPr>
        <p:spPr>
          <a:xfrm>
            <a:off x="1165481" y="4075428"/>
            <a:ext cx="612913" cy="571499"/>
          </a:xfrm>
          <a:prstGeom prst="flowChartConnector">
            <a:avLst/>
          </a:prstGeom>
          <a:noFill/>
          <a:ln w="571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A5A5DEFF-1437-47C4-1AD2-D017B7B5F8B7}"/>
              </a:ext>
            </a:extLst>
          </p:cNvPr>
          <p:cNvSpPr/>
          <p:nvPr/>
        </p:nvSpPr>
        <p:spPr>
          <a:xfrm>
            <a:off x="3323386" y="4095134"/>
            <a:ext cx="612913" cy="571499"/>
          </a:xfrm>
          <a:prstGeom prst="flowChartConnecto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8AF6281-D879-44B6-D337-76A20C9B1270}"/>
              </a:ext>
            </a:extLst>
          </p:cNvPr>
          <p:cNvCxnSpPr>
            <a:cxnSpLocks/>
          </p:cNvCxnSpPr>
          <p:nvPr/>
        </p:nvCxnSpPr>
        <p:spPr>
          <a:xfrm>
            <a:off x="1116142" y="3748314"/>
            <a:ext cx="234113" cy="346867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CA976A0-E290-9A47-5843-F07C7E3A47FF}"/>
              </a:ext>
            </a:extLst>
          </p:cNvPr>
          <p:cNvCxnSpPr>
            <a:cxnSpLocks/>
          </p:cNvCxnSpPr>
          <p:nvPr/>
        </p:nvCxnSpPr>
        <p:spPr>
          <a:xfrm>
            <a:off x="3062135" y="3771574"/>
            <a:ext cx="349859" cy="4192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3BB01B4C-2B09-4CE9-4F11-8F390C7D5812}"/>
              </a:ext>
            </a:extLst>
          </p:cNvPr>
          <p:cNvSpPr/>
          <p:nvPr/>
        </p:nvSpPr>
        <p:spPr>
          <a:xfrm>
            <a:off x="603834" y="2234499"/>
            <a:ext cx="612913" cy="571499"/>
          </a:xfrm>
          <a:prstGeom prst="flowChartConnector">
            <a:avLst/>
          </a:prstGeom>
          <a:noFill/>
          <a:ln w="571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13A3907B-44E8-F91E-E34D-40259A72CEFB}"/>
              </a:ext>
            </a:extLst>
          </p:cNvPr>
          <p:cNvSpPr/>
          <p:nvPr/>
        </p:nvSpPr>
        <p:spPr>
          <a:xfrm>
            <a:off x="2652441" y="2234498"/>
            <a:ext cx="612913" cy="571499"/>
          </a:xfrm>
          <a:prstGeom prst="flowChartConnecto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825451B-35E0-3777-56A2-6E0A80C32A77}"/>
              </a:ext>
            </a:extLst>
          </p:cNvPr>
          <p:cNvCxnSpPr>
            <a:cxnSpLocks/>
          </p:cNvCxnSpPr>
          <p:nvPr/>
        </p:nvCxnSpPr>
        <p:spPr>
          <a:xfrm flipH="1">
            <a:off x="912432" y="2802930"/>
            <a:ext cx="8792" cy="395654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65A4190-1DC4-E3E1-142E-132C5F6372B5}"/>
              </a:ext>
            </a:extLst>
          </p:cNvPr>
          <p:cNvCxnSpPr>
            <a:cxnSpLocks/>
          </p:cNvCxnSpPr>
          <p:nvPr/>
        </p:nvCxnSpPr>
        <p:spPr>
          <a:xfrm flipH="1">
            <a:off x="2961039" y="2811721"/>
            <a:ext cx="8792" cy="3956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871E166A-90D1-8D59-936A-7C647ED3416D}"/>
              </a:ext>
            </a:extLst>
          </p:cNvPr>
          <p:cNvSpPr/>
          <p:nvPr/>
        </p:nvSpPr>
        <p:spPr>
          <a:xfrm>
            <a:off x="5187245" y="219073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EBF866-48BB-8069-AD9B-6F76181EC118}"/>
              </a:ext>
            </a:extLst>
          </p:cNvPr>
          <p:cNvSpPr txBox="1"/>
          <p:nvPr/>
        </p:nvSpPr>
        <p:spPr>
          <a:xfrm>
            <a:off x="5844886" y="2054940"/>
            <a:ext cx="248720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>
                <a:latin typeface="Helvetica Neue"/>
              </a:rPr>
              <a:t>Uninstrumented</a:t>
            </a:r>
            <a:r>
              <a:rPr lang="en-US" sz="2400">
                <a:latin typeface="Helvetica Neue"/>
              </a:rPr>
              <a:t> block</a:t>
            </a:r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8C11DAA5-B6CF-BFBC-2151-7BA1C99B9C53}"/>
              </a:ext>
            </a:extLst>
          </p:cNvPr>
          <p:cNvSpPr/>
          <p:nvPr/>
        </p:nvSpPr>
        <p:spPr>
          <a:xfrm>
            <a:off x="5187245" y="3258534"/>
            <a:ext cx="612913" cy="571499"/>
          </a:xfrm>
          <a:prstGeom prst="flowChartConnecto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1520D-762A-972D-413F-B19174281E36}"/>
              </a:ext>
            </a:extLst>
          </p:cNvPr>
          <p:cNvSpPr txBox="1"/>
          <p:nvPr/>
        </p:nvSpPr>
        <p:spPr>
          <a:xfrm>
            <a:off x="5844886" y="3130262"/>
            <a:ext cx="248720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Instrumented block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00AA67-0015-9F7F-FA7D-ECA806CBCDBB}"/>
              </a:ext>
            </a:extLst>
          </p:cNvPr>
          <p:cNvSpPr txBox="1"/>
          <p:nvPr/>
        </p:nvSpPr>
        <p:spPr>
          <a:xfrm>
            <a:off x="142874" y="884643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err="1">
                <a:latin typeface="Helvetica Neue"/>
              </a:rPr>
              <a:t>UnTracer</a:t>
            </a:r>
            <a:r>
              <a:rPr lang="en-US" sz="2800" dirty="0">
                <a:latin typeface="Helvetica Neue"/>
              </a:rPr>
              <a:t>: Prune uninteresting inputs quickly.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DE144E-5F7F-A4A1-0594-63A138B42330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“Full-Speed Fuzzing: Reducing Fuzzing Overhead through Coverage-Guided Tracing” IEEE S&amp;P 2019.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690319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5A6CE344-4F6F-4DB3-190A-58DC8137C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52CB357-793E-E45D-58B3-FE21DF3916CC}"/>
              </a:ext>
            </a:extLst>
          </p:cNvPr>
          <p:cNvCxnSpPr>
            <a:cxnSpLocks/>
          </p:cNvCxnSpPr>
          <p:nvPr/>
        </p:nvCxnSpPr>
        <p:spPr>
          <a:xfrm flipH="1">
            <a:off x="2544395" y="3776252"/>
            <a:ext cx="335018" cy="394138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944DD08-0F5F-F408-6CE0-5D05EE6F92F9}"/>
              </a:ext>
            </a:extLst>
          </p:cNvPr>
          <p:cNvCxnSpPr>
            <a:cxnSpLocks/>
          </p:cNvCxnSpPr>
          <p:nvPr/>
        </p:nvCxnSpPr>
        <p:spPr>
          <a:xfrm flipH="1">
            <a:off x="1101176" y="1941297"/>
            <a:ext cx="652076" cy="350371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367CA3AB-A6E7-55BC-E5A4-B642ADAA2D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60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9974A16-E127-CB36-E390-6A5AC3B2B007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264F0CC8-2BD0-36FE-ADF0-8DD4FAF40D6B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6DE65172-C563-1D30-2A1C-B0661CE442B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B7225F3A-C006-2CFC-1F1A-B5A4AD6C4C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Identifying interesting inputs (cont.)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5626DFA5-80E3-CDE4-1D45-E7EA5E26A8BC}"/>
              </a:ext>
            </a:extLst>
          </p:cNvPr>
          <p:cNvSpPr/>
          <p:nvPr/>
        </p:nvSpPr>
        <p:spPr>
          <a:xfrm>
            <a:off x="1668008" y="146972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9E122555-25C7-8B9D-5036-193890F7540D}"/>
              </a:ext>
            </a:extLst>
          </p:cNvPr>
          <p:cNvSpPr/>
          <p:nvPr/>
        </p:nvSpPr>
        <p:spPr>
          <a:xfrm>
            <a:off x="2653353" y="3200593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E6CBD0FA-271D-4BC1-9F36-036226EC614D}"/>
              </a:ext>
            </a:extLst>
          </p:cNvPr>
          <p:cNvSpPr/>
          <p:nvPr/>
        </p:nvSpPr>
        <p:spPr>
          <a:xfrm>
            <a:off x="2042438" y="4085281"/>
            <a:ext cx="612913" cy="571499"/>
          </a:xfrm>
          <a:prstGeom prst="flowChartConnector">
            <a:avLst/>
          </a:prstGeom>
          <a:noFill/>
          <a:ln w="571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C1710C91-B67C-BBCF-3128-F33E404CEDAB}"/>
              </a:ext>
            </a:extLst>
          </p:cNvPr>
          <p:cNvSpPr/>
          <p:nvPr/>
        </p:nvSpPr>
        <p:spPr>
          <a:xfrm>
            <a:off x="603835" y="3210446"/>
            <a:ext cx="612913" cy="571499"/>
          </a:xfrm>
          <a:prstGeom prst="flowChartConnector">
            <a:avLst/>
          </a:prstGeom>
          <a:noFill/>
          <a:ln w="571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865CF5CF-007F-0639-0FFD-CBEA4836CCDD}"/>
              </a:ext>
            </a:extLst>
          </p:cNvPr>
          <p:cNvSpPr/>
          <p:nvPr/>
        </p:nvSpPr>
        <p:spPr>
          <a:xfrm>
            <a:off x="61895" y="4085281"/>
            <a:ext cx="612913" cy="571499"/>
          </a:xfrm>
          <a:prstGeom prst="flowChartConnector">
            <a:avLst/>
          </a:prstGeom>
          <a:noFill/>
          <a:ln w="571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B1EB089-0B92-25FF-5F71-C9FD1CC22FC8}"/>
              </a:ext>
            </a:extLst>
          </p:cNvPr>
          <p:cNvCxnSpPr>
            <a:cxnSpLocks/>
          </p:cNvCxnSpPr>
          <p:nvPr/>
        </p:nvCxnSpPr>
        <p:spPr>
          <a:xfrm flipH="1">
            <a:off x="514582" y="3756544"/>
            <a:ext cx="246339" cy="364578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9662D3-0D79-6D2E-4DCF-4D55DA6B6455}"/>
              </a:ext>
            </a:extLst>
          </p:cNvPr>
          <p:cNvCxnSpPr>
            <a:cxnSpLocks/>
          </p:cNvCxnSpPr>
          <p:nvPr/>
        </p:nvCxnSpPr>
        <p:spPr>
          <a:xfrm>
            <a:off x="2172333" y="1967928"/>
            <a:ext cx="552416" cy="3539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DBC99C64-DA8B-9A2A-A841-B3CF2D90A2E4}"/>
              </a:ext>
            </a:extLst>
          </p:cNvPr>
          <p:cNvSpPr/>
          <p:nvPr/>
        </p:nvSpPr>
        <p:spPr>
          <a:xfrm>
            <a:off x="1165481" y="4075428"/>
            <a:ext cx="612913" cy="571499"/>
          </a:xfrm>
          <a:prstGeom prst="flowChartConnector">
            <a:avLst/>
          </a:prstGeom>
          <a:noFill/>
          <a:ln w="571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16F5D60C-E863-32FF-FAEC-6A9F9B003F42}"/>
              </a:ext>
            </a:extLst>
          </p:cNvPr>
          <p:cNvSpPr/>
          <p:nvPr/>
        </p:nvSpPr>
        <p:spPr>
          <a:xfrm>
            <a:off x="3323386" y="4095134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AC3FB2C-3B64-4A28-95E9-B882546A485B}"/>
              </a:ext>
            </a:extLst>
          </p:cNvPr>
          <p:cNvCxnSpPr>
            <a:cxnSpLocks/>
          </p:cNvCxnSpPr>
          <p:nvPr/>
        </p:nvCxnSpPr>
        <p:spPr>
          <a:xfrm>
            <a:off x="1116142" y="3748314"/>
            <a:ext cx="234113" cy="346867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601A85F-7C2D-A0AD-7741-008E5B6FAB56}"/>
              </a:ext>
            </a:extLst>
          </p:cNvPr>
          <p:cNvCxnSpPr>
            <a:cxnSpLocks/>
          </p:cNvCxnSpPr>
          <p:nvPr/>
        </p:nvCxnSpPr>
        <p:spPr>
          <a:xfrm>
            <a:off x="3062135" y="3771574"/>
            <a:ext cx="349859" cy="4192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4D1D2695-0E12-7DF8-5AA3-9C0F4621AA34}"/>
              </a:ext>
            </a:extLst>
          </p:cNvPr>
          <p:cNvSpPr/>
          <p:nvPr/>
        </p:nvSpPr>
        <p:spPr>
          <a:xfrm>
            <a:off x="603834" y="2234499"/>
            <a:ext cx="612913" cy="571499"/>
          </a:xfrm>
          <a:prstGeom prst="flowChartConnector">
            <a:avLst/>
          </a:prstGeom>
          <a:noFill/>
          <a:ln w="571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7A5707DA-734C-63A3-9ACF-138A103AA07A}"/>
              </a:ext>
            </a:extLst>
          </p:cNvPr>
          <p:cNvSpPr/>
          <p:nvPr/>
        </p:nvSpPr>
        <p:spPr>
          <a:xfrm>
            <a:off x="2652441" y="2234498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26C4B99-591A-A8F8-3C3E-9523CCF8B017}"/>
              </a:ext>
            </a:extLst>
          </p:cNvPr>
          <p:cNvCxnSpPr>
            <a:cxnSpLocks/>
          </p:cNvCxnSpPr>
          <p:nvPr/>
        </p:nvCxnSpPr>
        <p:spPr>
          <a:xfrm flipH="1">
            <a:off x="912432" y="2802930"/>
            <a:ext cx="8792" cy="395654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FB4225C-C1D5-3CAC-BBE3-9F5DD2AC675E}"/>
              </a:ext>
            </a:extLst>
          </p:cNvPr>
          <p:cNvCxnSpPr>
            <a:cxnSpLocks/>
          </p:cNvCxnSpPr>
          <p:nvPr/>
        </p:nvCxnSpPr>
        <p:spPr>
          <a:xfrm flipH="1">
            <a:off x="2961039" y="2811721"/>
            <a:ext cx="8792" cy="3956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AEDBACAD-984E-7CF9-C683-B028E038125D}"/>
              </a:ext>
            </a:extLst>
          </p:cNvPr>
          <p:cNvSpPr/>
          <p:nvPr/>
        </p:nvSpPr>
        <p:spPr>
          <a:xfrm>
            <a:off x="5187245" y="219073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718A79-7B0B-888E-5BA9-FEDC05B7E9AA}"/>
              </a:ext>
            </a:extLst>
          </p:cNvPr>
          <p:cNvSpPr txBox="1"/>
          <p:nvPr/>
        </p:nvSpPr>
        <p:spPr>
          <a:xfrm>
            <a:off x="5844886" y="2054940"/>
            <a:ext cx="248720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>
                <a:latin typeface="Helvetica Neue"/>
              </a:rPr>
              <a:t>Uninstrumented</a:t>
            </a:r>
            <a:r>
              <a:rPr lang="en-US" sz="2400">
                <a:latin typeface="Helvetica Neue"/>
              </a:rPr>
              <a:t> block</a:t>
            </a:r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796063BC-4991-F6FA-B384-F4B2CAA6AB68}"/>
              </a:ext>
            </a:extLst>
          </p:cNvPr>
          <p:cNvSpPr/>
          <p:nvPr/>
        </p:nvSpPr>
        <p:spPr>
          <a:xfrm>
            <a:off x="5187245" y="3258534"/>
            <a:ext cx="612913" cy="571499"/>
          </a:xfrm>
          <a:prstGeom prst="flowChartConnecto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44F20-2556-2BB1-BBD3-743D87880210}"/>
              </a:ext>
            </a:extLst>
          </p:cNvPr>
          <p:cNvSpPr txBox="1"/>
          <p:nvPr/>
        </p:nvSpPr>
        <p:spPr>
          <a:xfrm>
            <a:off x="5844886" y="3130262"/>
            <a:ext cx="248720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Instrumented block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244BA8-0360-DBC6-4553-75C22381A349}"/>
              </a:ext>
            </a:extLst>
          </p:cNvPr>
          <p:cNvSpPr txBox="1"/>
          <p:nvPr/>
        </p:nvSpPr>
        <p:spPr>
          <a:xfrm>
            <a:off x="142874" y="884643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err="1">
                <a:latin typeface="Helvetica Neue"/>
              </a:rPr>
              <a:t>UnTracer</a:t>
            </a:r>
            <a:r>
              <a:rPr lang="en-US" sz="2800" dirty="0">
                <a:latin typeface="Helvetica Neue"/>
              </a:rPr>
              <a:t>: Prune uninteresting inputs quickly.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A1249D-E45E-8E8C-51C0-BFBDE8B8C258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“Full-Speed Fuzzing: Reducing Fuzzing Overhead through Coverage-Guided Tracing” IEEE S&amp;P 2019.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477591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6CD84EBB-BA66-E022-7314-66E3A4EF9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09EE13-EA7F-D363-B766-2CECA686A395}"/>
              </a:ext>
            </a:extLst>
          </p:cNvPr>
          <p:cNvCxnSpPr>
            <a:cxnSpLocks/>
          </p:cNvCxnSpPr>
          <p:nvPr/>
        </p:nvCxnSpPr>
        <p:spPr>
          <a:xfrm flipH="1">
            <a:off x="2544395" y="3776252"/>
            <a:ext cx="335018" cy="3941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5B2C35F-FBB6-5A48-9BD8-EA02C4088EE0}"/>
              </a:ext>
            </a:extLst>
          </p:cNvPr>
          <p:cNvCxnSpPr>
            <a:cxnSpLocks/>
          </p:cNvCxnSpPr>
          <p:nvPr/>
        </p:nvCxnSpPr>
        <p:spPr>
          <a:xfrm flipH="1">
            <a:off x="1101176" y="1941297"/>
            <a:ext cx="652076" cy="350371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23D07A32-89CA-A89D-BAC4-DA7BFE1D2F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61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FF4224B-EE72-BF02-545B-8CFA0C85BCA5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7BD91B38-3D54-4A38-0285-C192E3ADB7AA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F8E3E861-D9DC-1E10-E8A5-83731B517B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CE851339-9FC5-2589-0D43-D5381FBCD8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Identifying interesting inputs</a:t>
            </a:r>
            <a:endParaRPr lang="en-US" dirty="0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B707402F-AC6D-448B-9518-BB614F872BC1}"/>
              </a:ext>
            </a:extLst>
          </p:cNvPr>
          <p:cNvSpPr/>
          <p:nvPr/>
        </p:nvSpPr>
        <p:spPr>
          <a:xfrm>
            <a:off x="1668008" y="146972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40AF592D-7419-FF7A-A722-EB42A9058AF2}"/>
              </a:ext>
            </a:extLst>
          </p:cNvPr>
          <p:cNvSpPr/>
          <p:nvPr/>
        </p:nvSpPr>
        <p:spPr>
          <a:xfrm>
            <a:off x="2653353" y="3200593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CAD5A5D4-52DF-28D3-B9D2-1EB4CDC31D37}"/>
              </a:ext>
            </a:extLst>
          </p:cNvPr>
          <p:cNvSpPr/>
          <p:nvPr/>
        </p:nvSpPr>
        <p:spPr>
          <a:xfrm>
            <a:off x="2042438" y="4085281"/>
            <a:ext cx="612913" cy="571499"/>
          </a:xfrm>
          <a:prstGeom prst="flowChartConnecto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CA714200-62B2-D71E-603A-3FAD8DF794A4}"/>
              </a:ext>
            </a:extLst>
          </p:cNvPr>
          <p:cNvSpPr/>
          <p:nvPr/>
        </p:nvSpPr>
        <p:spPr>
          <a:xfrm>
            <a:off x="603835" y="3210446"/>
            <a:ext cx="612913" cy="571499"/>
          </a:xfrm>
          <a:prstGeom prst="flowChartConnector">
            <a:avLst/>
          </a:prstGeom>
          <a:noFill/>
          <a:ln w="571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77806604-D5DE-E101-7CF8-B6A66BBAFC42}"/>
              </a:ext>
            </a:extLst>
          </p:cNvPr>
          <p:cNvSpPr/>
          <p:nvPr/>
        </p:nvSpPr>
        <p:spPr>
          <a:xfrm>
            <a:off x="61895" y="4085281"/>
            <a:ext cx="612913" cy="571499"/>
          </a:xfrm>
          <a:prstGeom prst="flowChartConnector">
            <a:avLst/>
          </a:prstGeom>
          <a:noFill/>
          <a:ln w="571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AAE1E87-1A80-46C8-53E5-DBD35B7FF8B2}"/>
              </a:ext>
            </a:extLst>
          </p:cNvPr>
          <p:cNvCxnSpPr>
            <a:cxnSpLocks/>
          </p:cNvCxnSpPr>
          <p:nvPr/>
        </p:nvCxnSpPr>
        <p:spPr>
          <a:xfrm flipH="1">
            <a:off x="514582" y="3756544"/>
            <a:ext cx="246339" cy="364578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9E53BDD-E089-7938-5911-1F89FBD20C3C}"/>
              </a:ext>
            </a:extLst>
          </p:cNvPr>
          <p:cNvCxnSpPr>
            <a:cxnSpLocks/>
          </p:cNvCxnSpPr>
          <p:nvPr/>
        </p:nvCxnSpPr>
        <p:spPr>
          <a:xfrm>
            <a:off x="2172333" y="1967928"/>
            <a:ext cx="552416" cy="3539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030D74BF-1A53-FB51-0502-6C5F124C2199}"/>
              </a:ext>
            </a:extLst>
          </p:cNvPr>
          <p:cNvSpPr/>
          <p:nvPr/>
        </p:nvSpPr>
        <p:spPr>
          <a:xfrm>
            <a:off x="1165481" y="4075428"/>
            <a:ext cx="612913" cy="571499"/>
          </a:xfrm>
          <a:prstGeom prst="flowChartConnector">
            <a:avLst/>
          </a:prstGeom>
          <a:noFill/>
          <a:ln w="571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A8E98153-E892-7158-AA1A-276E1FE5D943}"/>
              </a:ext>
            </a:extLst>
          </p:cNvPr>
          <p:cNvSpPr/>
          <p:nvPr/>
        </p:nvSpPr>
        <p:spPr>
          <a:xfrm>
            <a:off x="3323386" y="4095134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E157527-0C0E-EB06-3A1F-961523F35F82}"/>
              </a:ext>
            </a:extLst>
          </p:cNvPr>
          <p:cNvCxnSpPr>
            <a:cxnSpLocks/>
          </p:cNvCxnSpPr>
          <p:nvPr/>
        </p:nvCxnSpPr>
        <p:spPr>
          <a:xfrm>
            <a:off x="1116142" y="3748314"/>
            <a:ext cx="234113" cy="346867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56ECF1-E982-F256-108C-EA66D30DB4A9}"/>
              </a:ext>
            </a:extLst>
          </p:cNvPr>
          <p:cNvCxnSpPr>
            <a:cxnSpLocks/>
          </p:cNvCxnSpPr>
          <p:nvPr/>
        </p:nvCxnSpPr>
        <p:spPr>
          <a:xfrm>
            <a:off x="3062135" y="3771574"/>
            <a:ext cx="349859" cy="419208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A4CAD016-E138-2762-87E2-2EF10B4ADEF7}"/>
              </a:ext>
            </a:extLst>
          </p:cNvPr>
          <p:cNvSpPr/>
          <p:nvPr/>
        </p:nvSpPr>
        <p:spPr>
          <a:xfrm>
            <a:off x="603834" y="2234499"/>
            <a:ext cx="612913" cy="571499"/>
          </a:xfrm>
          <a:prstGeom prst="flowChartConnector">
            <a:avLst/>
          </a:prstGeom>
          <a:noFill/>
          <a:ln w="571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7A09540E-F05B-876C-0710-93F17ADBA765}"/>
              </a:ext>
            </a:extLst>
          </p:cNvPr>
          <p:cNvSpPr/>
          <p:nvPr/>
        </p:nvSpPr>
        <p:spPr>
          <a:xfrm>
            <a:off x="2652441" y="2234498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1BA4042-251D-A16A-E3BE-F47D371F9F73}"/>
              </a:ext>
            </a:extLst>
          </p:cNvPr>
          <p:cNvCxnSpPr>
            <a:cxnSpLocks/>
          </p:cNvCxnSpPr>
          <p:nvPr/>
        </p:nvCxnSpPr>
        <p:spPr>
          <a:xfrm flipH="1">
            <a:off x="912432" y="2802930"/>
            <a:ext cx="8792" cy="395654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46107BA-3D76-A875-7E11-5972A6B944AF}"/>
              </a:ext>
            </a:extLst>
          </p:cNvPr>
          <p:cNvCxnSpPr>
            <a:cxnSpLocks/>
          </p:cNvCxnSpPr>
          <p:nvPr/>
        </p:nvCxnSpPr>
        <p:spPr>
          <a:xfrm flipH="1">
            <a:off x="2961039" y="2811721"/>
            <a:ext cx="8792" cy="3956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0F2E19AD-1C68-2A9C-8D2B-97FD15992DD9}"/>
              </a:ext>
            </a:extLst>
          </p:cNvPr>
          <p:cNvSpPr/>
          <p:nvPr/>
        </p:nvSpPr>
        <p:spPr>
          <a:xfrm>
            <a:off x="5187245" y="219073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A41A4-984F-A7D1-717A-E127A6C6539A}"/>
              </a:ext>
            </a:extLst>
          </p:cNvPr>
          <p:cNvSpPr txBox="1"/>
          <p:nvPr/>
        </p:nvSpPr>
        <p:spPr>
          <a:xfrm>
            <a:off x="5844886" y="2054940"/>
            <a:ext cx="248720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>
                <a:latin typeface="Helvetica Neue"/>
              </a:rPr>
              <a:t>Uninstrumented</a:t>
            </a:r>
            <a:r>
              <a:rPr lang="en-US" sz="2400">
                <a:latin typeface="Helvetica Neue"/>
              </a:rPr>
              <a:t> block</a:t>
            </a:r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321F6731-9BA1-9522-1532-04567A8A9EE7}"/>
              </a:ext>
            </a:extLst>
          </p:cNvPr>
          <p:cNvSpPr/>
          <p:nvPr/>
        </p:nvSpPr>
        <p:spPr>
          <a:xfrm>
            <a:off x="5187245" y="3258534"/>
            <a:ext cx="612913" cy="571499"/>
          </a:xfrm>
          <a:prstGeom prst="flowChartConnecto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B362A6-E097-0591-D46D-0A52570E5254}"/>
              </a:ext>
            </a:extLst>
          </p:cNvPr>
          <p:cNvSpPr txBox="1"/>
          <p:nvPr/>
        </p:nvSpPr>
        <p:spPr>
          <a:xfrm>
            <a:off x="5844886" y="3130262"/>
            <a:ext cx="248720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Instrumented block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1A9AB7-E343-DE6F-9F8A-F6616FBBD7A6}"/>
              </a:ext>
            </a:extLst>
          </p:cNvPr>
          <p:cNvSpPr txBox="1"/>
          <p:nvPr/>
        </p:nvSpPr>
        <p:spPr>
          <a:xfrm>
            <a:off x="142874" y="884643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err="1">
                <a:latin typeface="Helvetica Neue"/>
              </a:rPr>
              <a:t>UnTracer</a:t>
            </a:r>
            <a:r>
              <a:rPr lang="en-US" sz="2800" dirty="0">
                <a:latin typeface="Helvetica Neue"/>
              </a:rPr>
              <a:t>: Prune uninteresting inputs quickly.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FC297B-51B8-C3B6-5389-09670947F3CC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“Full-Speed Fuzzing: Reducing Fuzzing Overhead through Coverage-Guided Tracing” IEEE S&amp;P 2019.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329902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810B30DF-3137-E185-E377-349450111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63A3C14C-D301-E428-CA1F-E6FD6D08DE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62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648F647-56B6-9BA8-1B84-E8A7AA140E2E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D288E837-CAEA-97EC-95A9-E9AF1780D026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44AC835D-17A3-2443-EB34-EB72CEEA831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7C92EBD1-5647-2148-F5ED-4C6C8C3A83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Identifying interesting inputs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EC869B-3A55-FD9B-0E6F-047688AE0065}"/>
              </a:ext>
            </a:extLst>
          </p:cNvPr>
          <p:cNvSpPr txBox="1"/>
          <p:nvPr/>
        </p:nvSpPr>
        <p:spPr>
          <a:xfrm>
            <a:off x="142874" y="956301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Helvetica Neue"/>
              </a:rPr>
              <a:t>T-Fuzz: Remove non-critical, hard to satisfy checks.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F1BB8C-F72E-5D49-5B49-E46968820860}"/>
              </a:ext>
            </a:extLst>
          </p:cNvPr>
          <p:cNvSpPr txBox="1"/>
          <p:nvPr/>
        </p:nvSpPr>
        <p:spPr>
          <a:xfrm>
            <a:off x="142874" y="1449161"/>
            <a:ext cx="879701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monospace"/>
              </a:rPr>
              <a:t>int decompress(int </a:t>
            </a:r>
            <a:r>
              <a:rPr lang="en-US" sz="1800" err="1">
                <a:latin typeface="monospace"/>
              </a:rPr>
              <a:t>infd</a:t>
            </a:r>
            <a:r>
              <a:rPr lang="en-US" sz="1800" dirty="0">
                <a:latin typeface="monospace"/>
              </a:rPr>
              <a:t>, int </a:t>
            </a:r>
            <a:r>
              <a:rPr lang="en-US" sz="1800" err="1">
                <a:latin typeface="monospace"/>
              </a:rPr>
              <a:t>outfd</a:t>
            </a:r>
            <a:r>
              <a:rPr lang="en-US" sz="1800" dirty="0">
                <a:latin typeface="monospace"/>
              </a:rPr>
              <a:t>) {</a:t>
            </a:r>
          </a:p>
          <a:p>
            <a:r>
              <a:rPr lang="en-US" sz="1800" dirty="0">
                <a:latin typeface="monospace"/>
              </a:rPr>
              <a:t> ...</a:t>
            </a:r>
          </a:p>
          <a:p>
            <a:r>
              <a:rPr lang="en-US" sz="1800" dirty="0">
                <a:latin typeface="monospace"/>
              </a:rPr>
              <a:t> unsigned int </a:t>
            </a:r>
            <a:r>
              <a:rPr lang="en-US" sz="1800" err="1">
                <a:latin typeface="monospace"/>
              </a:rPr>
              <a:t>in_len</a:t>
            </a:r>
            <a:r>
              <a:rPr lang="en-US" sz="1800" dirty="0">
                <a:latin typeface="monospace"/>
              </a:rPr>
              <a:t> = </a:t>
            </a:r>
            <a:r>
              <a:rPr lang="en-US" sz="1800" err="1">
                <a:latin typeface="monospace"/>
              </a:rPr>
              <a:t>read_len</a:t>
            </a:r>
            <a:r>
              <a:rPr lang="en-US" sz="1800" dirty="0">
                <a:latin typeface="monospace"/>
              </a:rPr>
              <a:t>(</a:t>
            </a:r>
            <a:r>
              <a:rPr lang="en-US" sz="1800" err="1">
                <a:latin typeface="monospace"/>
              </a:rPr>
              <a:t>infd</a:t>
            </a:r>
            <a:r>
              <a:rPr lang="en-US" sz="1800" dirty="0">
                <a:latin typeface="monospace"/>
              </a:rPr>
              <a:t>);</a:t>
            </a:r>
          </a:p>
          <a:p>
            <a:r>
              <a:rPr lang="en-US" sz="1800" dirty="0">
                <a:latin typeface="monospace"/>
              </a:rPr>
              <a:t> char *in = (char *) malloc(</a:t>
            </a:r>
            <a:r>
              <a:rPr lang="en-US" sz="1800" err="1">
                <a:latin typeface="monospace"/>
              </a:rPr>
              <a:t>in_len</a:t>
            </a:r>
            <a:r>
              <a:rPr lang="en-US" sz="1800" dirty="0">
                <a:latin typeface="monospace"/>
              </a:rPr>
              <a:t>);</a:t>
            </a:r>
          </a:p>
          <a:p>
            <a:r>
              <a:rPr lang="en-US" sz="1800" dirty="0">
                <a:latin typeface="monospace"/>
              </a:rPr>
              <a:t> read(</a:t>
            </a:r>
            <a:r>
              <a:rPr lang="en-US" sz="1800" err="1">
                <a:latin typeface="monospace"/>
              </a:rPr>
              <a:t>infd</a:t>
            </a:r>
            <a:r>
              <a:rPr lang="en-US" sz="1800" dirty="0">
                <a:latin typeface="monospace"/>
              </a:rPr>
              <a:t>, in, </a:t>
            </a:r>
            <a:r>
              <a:rPr lang="en-US" sz="1800" err="1">
                <a:latin typeface="monospace"/>
              </a:rPr>
              <a:t>in_len</a:t>
            </a:r>
            <a:r>
              <a:rPr lang="en-US" sz="1800" dirty="0">
                <a:latin typeface="monospace"/>
              </a:rPr>
              <a:t>);</a:t>
            </a:r>
          </a:p>
          <a:p>
            <a:r>
              <a:rPr lang="en-US" sz="1800" dirty="0">
                <a:latin typeface="monospace"/>
              </a:rPr>
              <a:t> unsigned int </a:t>
            </a:r>
            <a:r>
              <a:rPr lang="en-US" sz="1800" err="1">
                <a:latin typeface="monospace"/>
              </a:rPr>
              <a:t>crc</a:t>
            </a:r>
            <a:r>
              <a:rPr lang="en-US" sz="1800" dirty="0">
                <a:latin typeface="monospace"/>
              </a:rPr>
              <a:t> = </a:t>
            </a:r>
            <a:r>
              <a:rPr lang="en-US" sz="1800" err="1">
                <a:latin typeface="monospace"/>
              </a:rPr>
              <a:t>read_checksum</a:t>
            </a:r>
            <a:r>
              <a:rPr lang="en-US" sz="1800" dirty="0">
                <a:latin typeface="monospace"/>
              </a:rPr>
              <a:t>(</a:t>
            </a:r>
            <a:r>
              <a:rPr lang="en-US" sz="1800" err="1">
                <a:latin typeface="monospace"/>
              </a:rPr>
              <a:t>infd</a:t>
            </a:r>
            <a:r>
              <a:rPr lang="en-US" sz="1800" dirty="0">
                <a:latin typeface="monospace"/>
              </a:rPr>
              <a:t>);</a:t>
            </a:r>
          </a:p>
          <a:p>
            <a:r>
              <a:rPr lang="en-US" sz="1800" dirty="0">
                <a:latin typeface="monospace"/>
              </a:rPr>
              <a:t> </a:t>
            </a:r>
            <a:r>
              <a:rPr lang="en-US" sz="1800" dirty="0">
                <a:solidFill>
                  <a:srgbClr val="FF0000"/>
                </a:solidFill>
                <a:latin typeface="monospace"/>
              </a:rPr>
              <a:t>if (</a:t>
            </a:r>
            <a:r>
              <a:rPr lang="en-US" sz="1800" err="1">
                <a:solidFill>
                  <a:srgbClr val="FF0000"/>
                </a:solidFill>
                <a:latin typeface="monospace"/>
              </a:rPr>
              <a:t>crc</a:t>
            </a:r>
            <a:r>
              <a:rPr lang="en-US" sz="1800" dirty="0">
                <a:solidFill>
                  <a:srgbClr val="FF0000"/>
                </a:solidFill>
                <a:latin typeface="monospace"/>
              </a:rPr>
              <a:t> != </a:t>
            </a:r>
            <a:r>
              <a:rPr lang="en-US" sz="1800" err="1">
                <a:solidFill>
                  <a:srgbClr val="FF0000"/>
                </a:solidFill>
                <a:latin typeface="monospace"/>
              </a:rPr>
              <a:t>compute_crc</a:t>
            </a:r>
            <a:r>
              <a:rPr lang="en-US" sz="1800" dirty="0">
                <a:solidFill>
                  <a:srgbClr val="FF0000"/>
                </a:solidFill>
                <a:latin typeface="monospace"/>
              </a:rPr>
              <a:t>(in, </a:t>
            </a:r>
            <a:r>
              <a:rPr lang="en-US" sz="1800" err="1">
                <a:solidFill>
                  <a:srgbClr val="FF0000"/>
                </a:solidFill>
                <a:latin typeface="monospace"/>
              </a:rPr>
              <a:t>in_len</a:t>
            </a:r>
            <a:r>
              <a:rPr lang="en-US" sz="1800" dirty="0">
                <a:solidFill>
                  <a:srgbClr val="FF0000"/>
                </a:solidFill>
                <a:latin typeface="monospace"/>
              </a:rPr>
              <a:t>)) { // non-critical check</a:t>
            </a:r>
          </a:p>
          <a:p>
            <a:r>
              <a:rPr lang="en-US" sz="1800" dirty="0">
                <a:solidFill>
                  <a:srgbClr val="FF0000"/>
                </a:solidFill>
                <a:latin typeface="monospace"/>
              </a:rPr>
              <a:t>  return ERROR;</a:t>
            </a:r>
          </a:p>
          <a:p>
            <a:r>
              <a:rPr lang="en-US" sz="1800" dirty="0">
                <a:solidFill>
                  <a:srgbClr val="FF0000"/>
                </a:solidFill>
                <a:latin typeface="monospace"/>
              </a:rPr>
              <a:t> }</a:t>
            </a:r>
          </a:p>
          <a:p>
            <a:r>
              <a:rPr lang="en-US" sz="1800" dirty="0">
                <a:latin typeface="monospace"/>
              </a:rPr>
              <a:t> </a:t>
            </a:r>
            <a:r>
              <a:rPr lang="en-US" sz="1800" b="1" dirty="0">
                <a:solidFill>
                  <a:srgbClr val="00B050"/>
                </a:solidFill>
                <a:latin typeface="monospace"/>
              </a:rPr>
              <a:t>decompress(in, </a:t>
            </a:r>
            <a:r>
              <a:rPr lang="en-US" sz="1800" b="1" err="1">
                <a:solidFill>
                  <a:srgbClr val="00B050"/>
                </a:solidFill>
                <a:latin typeface="monospace"/>
              </a:rPr>
              <a:t>in_len</a:t>
            </a:r>
            <a:r>
              <a:rPr lang="en-US" sz="1800" b="1" dirty="0">
                <a:solidFill>
                  <a:srgbClr val="00B050"/>
                </a:solidFill>
                <a:latin typeface="monospace"/>
              </a:rPr>
              <a:t>, keys, &amp;out, &amp;</a:t>
            </a:r>
            <a:r>
              <a:rPr lang="en-US" sz="1800" b="1" err="1">
                <a:solidFill>
                  <a:srgbClr val="00B050"/>
                </a:solidFill>
                <a:latin typeface="monospace"/>
              </a:rPr>
              <a:t>out_len</a:t>
            </a:r>
            <a:r>
              <a:rPr lang="en-US" sz="1800" b="1" dirty="0">
                <a:solidFill>
                  <a:srgbClr val="00B050"/>
                </a:solidFill>
                <a:latin typeface="monospace"/>
              </a:rPr>
              <a:t>); // vulnerable code</a:t>
            </a:r>
          </a:p>
          <a:p>
            <a:r>
              <a:rPr lang="en-US" sz="1800" dirty="0">
                <a:latin typeface="monospace"/>
              </a:rPr>
              <a:t> ...</a:t>
            </a:r>
          </a:p>
          <a:p>
            <a:r>
              <a:rPr lang="en-US" sz="1800" dirty="0">
                <a:latin typeface="monospace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626A32-A1D4-071B-C2F4-6366B3FA37E4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/>
              <a:t>T-Fuzz: fuzzing by program transformation</a:t>
            </a:r>
            <a:r>
              <a:rPr lang="en-US" sz="1000" dirty="0">
                <a:latin typeface="Helvetica Neue"/>
              </a:rPr>
              <a:t>” IEEE S&amp;P 2018.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6222406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FB46A150-54CB-9E28-EC79-9C1F6A5C8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660C80BB-D9C5-3BA9-05B0-32157A1F74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63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D436952E-E843-0E32-E1D8-99061058A85A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1EDAC0B4-258F-64DA-303F-B579FC4736C8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4C6FE3FC-A82B-13E4-AE11-244B0202E13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211FB024-6A9A-37B6-3BB9-83A509DB9C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Identifying interesting inputs (cont.)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CD2E15-35D6-0AC6-2E2B-014EE56D2E28}"/>
              </a:ext>
            </a:extLst>
          </p:cNvPr>
          <p:cNvSpPr txBox="1"/>
          <p:nvPr/>
        </p:nvSpPr>
        <p:spPr>
          <a:xfrm>
            <a:off x="142874" y="872257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Helvetica Neue"/>
              </a:rPr>
              <a:t>LAF-Intel: Transform code for finer feedback.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B9894D-76BE-41D2-5D8D-ADBFE6B64F44}"/>
              </a:ext>
            </a:extLst>
          </p:cNvPr>
          <p:cNvSpPr txBox="1"/>
          <p:nvPr/>
        </p:nvSpPr>
        <p:spPr>
          <a:xfrm>
            <a:off x="237447" y="1417765"/>
            <a:ext cx="378654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solidFill>
                  <a:srgbClr val="008000"/>
                </a:solidFill>
                <a:latin typeface="monospace"/>
              </a:rPr>
              <a:t>if</a:t>
            </a:r>
            <a:r>
              <a:rPr lang="en-US" sz="1800" dirty="0">
                <a:latin typeface="monospace"/>
              </a:rPr>
              <a:t> (input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==</a:t>
            </a:r>
            <a:r>
              <a:rPr lang="en-US" sz="1800" dirty="0">
                <a:latin typeface="monospace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0xabad1dea</a:t>
            </a:r>
            <a:r>
              <a:rPr lang="en-US" sz="1800" dirty="0">
                <a:latin typeface="monospace"/>
              </a:rPr>
              <a:t>) {
  </a:t>
            </a:r>
            <a:r>
              <a:rPr lang="en-US" sz="1800" i="1" dirty="0">
                <a:solidFill>
                  <a:srgbClr val="408080"/>
                </a:solidFill>
                <a:latin typeface="monospace"/>
              </a:rPr>
              <a:t>/* terribly buggy code */</a:t>
            </a:r>
            <a:r>
              <a:rPr lang="en-US" sz="1800" dirty="0">
                <a:latin typeface="monospace"/>
              </a:rPr>
              <a:t>
} </a:t>
            </a:r>
            <a:r>
              <a:rPr lang="en-US" sz="1800" b="1" dirty="0">
                <a:solidFill>
                  <a:srgbClr val="008000"/>
                </a:solidFill>
                <a:latin typeface="monospace"/>
              </a:rPr>
              <a:t>else</a:t>
            </a:r>
            <a:r>
              <a:rPr lang="en-US" sz="1800" dirty="0">
                <a:latin typeface="monospace"/>
              </a:rPr>
              <a:t> {
  </a:t>
            </a:r>
            <a:r>
              <a:rPr lang="en-US" sz="1800" i="1" dirty="0">
                <a:solidFill>
                  <a:srgbClr val="408080"/>
                </a:solidFill>
                <a:latin typeface="monospace"/>
              </a:rPr>
              <a:t>/* secure code */</a:t>
            </a:r>
            <a:r>
              <a:rPr lang="en-US" sz="1800" dirty="0">
                <a:latin typeface="monospace"/>
              </a:rPr>
              <a:t>
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A02ED7-7F18-98EE-1C17-9E8F629F1370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/>
              <a:t>Circumventing Fuzzing Roadblocks with Compiler Transformations</a:t>
            </a:r>
            <a:r>
              <a:rPr lang="en-US" sz="1000" dirty="0">
                <a:latin typeface="Helvetica Neue"/>
              </a:rPr>
              <a:t>” 2016.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963DF7-2DE8-6BE6-BCC6-DAB5F0067485}"/>
              </a:ext>
            </a:extLst>
          </p:cNvPr>
          <p:cNvSpPr txBox="1"/>
          <p:nvPr/>
        </p:nvSpPr>
        <p:spPr>
          <a:xfrm>
            <a:off x="4722310" y="1417766"/>
            <a:ext cx="476695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solidFill>
                  <a:srgbClr val="008000"/>
                </a:solidFill>
                <a:latin typeface="monospace"/>
              </a:rPr>
              <a:t>if</a:t>
            </a:r>
            <a:r>
              <a:rPr lang="en-US" sz="1800" dirty="0">
                <a:latin typeface="monospace"/>
              </a:rPr>
              <a:t> (input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&gt;&gt;</a:t>
            </a:r>
            <a:r>
              <a:rPr lang="en-US" sz="1800" dirty="0">
                <a:latin typeface="monospace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24</a:t>
            </a:r>
            <a:r>
              <a:rPr lang="en-US" sz="1800" dirty="0">
                <a:latin typeface="monospace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==</a:t>
            </a:r>
            <a:r>
              <a:rPr lang="en-US" sz="1800" dirty="0">
                <a:latin typeface="monospace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0xab</a:t>
            </a:r>
            <a:r>
              <a:rPr lang="en-US" sz="1800" dirty="0">
                <a:latin typeface="monospace"/>
              </a:rPr>
              <a:t>){
  </a:t>
            </a:r>
            <a:r>
              <a:rPr lang="en-US" sz="1800" b="1" dirty="0">
                <a:solidFill>
                  <a:srgbClr val="008000"/>
                </a:solidFill>
                <a:latin typeface="monospace"/>
              </a:rPr>
              <a:t>if</a:t>
            </a:r>
            <a:r>
              <a:rPr lang="en-US" sz="1800" dirty="0">
                <a:latin typeface="monospace"/>
              </a:rPr>
              <a:t> ((input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&amp;</a:t>
            </a:r>
            <a:r>
              <a:rPr lang="en-US" sz="1800" dirty="0">
                <a:latin typeface="monospace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0xff0000</a:t>
            </a:r>
            <a:r>
              <a:rPr lang="en-US" sz="1800" dirty="0">
                <a:latin typeface="monospace"/>
              </a:rPr>
              <a:t>)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&gt;&gt;</a:t>
            </a:r>
            <a:r>
              <a:rPr lang="en-US" sz="1800" dirty="0">
                <a:latin typeface="monospace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16</a:t>
            </a:r>
            <a:r>
              <a:rPr lang="en-US" sz="1800" dirty="0">
                <a:latin typeface="monospace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==</a:t>
            </a:r>
            <a:r>
              <a:rPr lang="en-US" sz="1800" dirty="0">
                <a:latin typeface="monospace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0xad</a:t>
            </a:r>
            <a:r>
              <a:rPr lang="en-US" sz="1800" dirty="0">
                <a:latin typeface="monospace"/>
              </a:rPr>
              <a:t>) {
    </a:t>
            </a:r>
            <a:r>
              <a:rPr lang="en-US" sz="1800" b="1" dirty="0">
                <a:solidFill>
                  <a:srgbClr val="008000"/>
                </a:solidFill>
                <a:latin typeface="monospace"/>
              </a:rPr>
              <a:t>if</a:t>
            </a:r>
            <a:r>
              <a:rPr lang="en-US" sz="1800" dirty="0">
                <a:latin typeface="monospace"/>
              </a:rPr>
              <a:t> ((input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&amp;</a:t>
            </a:r>
            <a:r>
              <a:rPr lang="en-US" sz="1800" dirty="0">
                <a:latin typeface="monospace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0xff00</a:t>
            </a:r>
            <a:r>
              <a:rPr lang="en-US" sz="1800" dirty="0">
                <a:latin typeface="monospace"/>
              </a:rPr>
              <a:t>)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&gt;&gt;</a:t>
            </a:r>
            <a:r>
              <a:rPr lang="en-US" sz="1800" dirty="0">
                <a:latin typeface="monospace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8</a:t>
            </a:r>
            <a:r>
              <a:rPr lang="en-US" sz="1800" dirty="0">
                <a:latin typeface="monospace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==</a:t>
            </a:r>
            <a:r>
              <a:rPr lang="en-US" sz="1800" dirty="0">
                <a:latin typeface="monospace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0x1d</a:t>
            </a:r>
            <a:r>
              <a:rPr lang="en-US" sz="1800" dirty="0">
                <a:latin typeface="monospace"/>
              </a:rPr>
              <a:t>) {
      </a:t>
            </a:r>
            <a:r>
              <a:rPr lang="en-US" sz="1800" b="1" dirty="0">
                <a:solidFill>
                  <a:srgbClr val="008000"/>
                </a:solidFill>
                <a:latin typeface="monospace"/>
              </a:rPr>
              <a:t>if</a:t>
            </a:r>
            <a:r>
              <a:rPr lang="en-US" sz="1800" dirty="0">
                <a:latin typeface="monospace"/>
              </a:rPr>
              <a:t> ((input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&amp;</a:t>
            </a:r>
            <a:r>
              <a:rPr lang="en-US" sz="1800" dirty="0">
                <a:latin typeface="monospace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0xff</a:t>
            </a:r>
            <a:r>
              <a:rPr lang="en-US" sz="1800" dirty="0">
                <a:latin typeface="monospace"/>
              </a:rPr>
              <a:t>)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==</a:t>
            </a:r>
            <a:r>
              <a:rPr lang="en-US" sz="1800" dirty="0">
                <a:latin typeface="monospace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monospace"/>
              </a:rPr>
              <a:t>0xea</a:t>
            </a:r>
            <a:r>
              <a:rPr lang="en-US" sz="1800" dirty="0">
                <a:latin typeface="monospace"/>
              </a:rPr>
              <a:t>) {
        </a:t>
            </a:r>
            <a:r>
              <a:rPr lang="en-US" sz="1800" i="1" dirty="0">
                <a:solidFill>
                  <a:srgbClr val="408080"/>
                </a:solidFill>
                <a:latin typeface="monospace"/>
              </a:rPr>
              <a:t>/* terribly buggy code */
</a:t>
            </a:r>
            <a:r>
              <a:rPr lang="en-US" sz="1800" dirty="0">
                <a:latin typeface="monospace"/>
              </a:rPr>
              <a:t>        </a:t>
            </a:r>
            <a:r>
              <a:rPr lang="en-US" sz="1800" b="1" dirty="0" err="1">
                <a:solidFill>
                  <a:srgbClr val="008000"/>
                </a:solidFill>
                <a:latin typeface="monospace"/>
              </a:rPr>
              <a:t>goto</a:t>
            </a:r>
            <a:r>
              <a:rPr lang="en-US" sz="1800" dirty="0">
                <a:latin typeface="monospace"/>
              </a:rPr>
              <a:t> end;
      }
    }
  }
}
</a:t>
            </a:r>
            <a:r>
              <a:rPr lang="en-US" sz="1800" i="1" dirty="0">
                <a:solidFill>
                  <a:srgbClr val="408080"/>
                </a:solidFill>
                <a:latin typeface="monospace"/>
              </a:rPr>
              <a:t>/* secure code */</a:t>
            </a:r>
            <a:r>
              <a:rPr lang="en-US" sz="1800" dirty="0">
                <a:latin typeface="monospace"/>
              </a:rPr>
              <a:t>
</a:t>
            </a:r>
            <a:r>
              <a:rPr lang="en-US" sz="1800" dirty="0">
                <a:solidFill>
                  <a:srgbClr val="A0A000"/>
                </a:solidFill>
                <a:latin typeface="monospace"/>
              </a:rPr>
              <a:t>end:</a:t>
            </a:r>
            <a:endParaRPr lang="en-US" sz="1800" dirty="0">
              <a:latin typeface="monospace"/>
            </a:endParaRPr>
          </a:p>
        </p:txBody>
      </p:sp>
    </p:spTree>
    <p:extLst>
      <p:ext uri="{BB962C8B-B14F-4D97-AF65-F5344CB8AC3E}">
        <p14:creationId xmlns:p14="http://schemas.microsoft.com/office/powerpoint/2010/main" val="317586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3D2B45BE-6486-D873-0748-F621CC83C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7999DE22-A69F-D520-6551-0E3865CD5C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64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BC9473C-12F8-0780-F0AF-4FA54FD8FF13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4C354670-CBC0-F45A-0FED-283D81477245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C26CDE13-2C95-9288-3D0C-728EB91496B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BF5B0CBA-21AF-2BD7-A80A-33132E310B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Identifying interesting inputs (cont.)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D116C5-7F4B-10EA-6F81-EDDEFD39863F}"/>
              </a:ext>
            </a:extLst>
          </p:cNvPr>
          <p:cNvSpPr txBox="1"/>
          <p:nvPr/>
        </p:nvSpPr>
        <p:spPr>
          <a:xfrm>
            <a:off x="142874" y="989919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 err="1">
                <a:latin typeface="Helvetica Neue"/>
              </a:rPr>
              <a:t>WingFuzz</a:t>
            </a:r>
            <a:r>
              <a:rPr lang="en-US" sz="2800" dirty="0">
                <a:latin typeface="Helvetica Neue"/>
              </a:rPr>
              <a:t>: Code coverage and data coverage.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3E99EC0-9D69-8426-3421-1A30ABD71035}"/>
              </a:ext>
            </a:extLst>
          </p:cNvPr>
          <p:cNvSpPr/>
          <p:nvPr/>
        </p:nvSpPr>
        <p:spPr>
          <a:xfrm>
            <a:off x="1104130" y="2410700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5749720-9482-C3E5-C7C3-9E3BA12F6F40}"/>
              </a:ext>
            </a:extLst>
          </p:cNvPr>
          <p:cNvSpPr/>
          <p:nvPr/>
        </p:nvSpPr>
        <p:spPr>
          <a:xfrm>
            <a:off x="1592913" y="3380745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B352D4D-DF94-4C8A-0CF9-0E5262EE45F4}"/>
              </a:ext>
            </a:extLst>
          </p:cNvPr>
          <p:cNvSpPr/>
          <p:nvPr/>
        </p:nvSpPr>
        <p:spPr>
          <a:xfrm>
            <a:off x="600307" y="3380745"/>
            <a:ext cx="491517" cy="477616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3D5B9C-41EA-C99E-5D72-656D716475B8}"/>
              </a:ext>
            </a:extLst>
          </p:cNvPr>
          <p:cNvCxnSpPr/>
          <p:nvPr/>
        </p:nvCxnSpPr>
        <p:spPr>
          <a:xfrm flipH="1">
            <a:off x="874091" y="2902273"/>
            <a:ext cx="491543" cy="475800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ACA62C3-EF1C-5053-9FE6-093391A222C8}"/>
              </a:ext>
            </a:extLst>
          </p:cNvPr>
          <p:cNvCxnSpPr>
            <a:cxnSpLocks/>
          </p:cNvCxnSpPr>
          <p:nvPr/>
        </p:nvCxnSpPr>
        <p:spPr>
          <a:xfrm>
            <a:off x="1360707" y="2907201"/>
            <a:ext cx="454388" cy="47087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C54EBB-6CBA-CD1F-2372-72A6BBF439BC}"/>
              </a:ext>
            </a:extLst>
          </p:cNvPr>
          <p:cNvCxnSpPr/>
          <p:nvPr/>
        </p:nvCxnSpPr>
        <p:spPr>
          <a:xfrm>
            <a:off x="1336689" y="1765141"/>
            <a:ext cx="8659" cy="64077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E20EAA9-BFAE-85A0-22F3-4B2F3B80AA53}"/>
              </a:ext>
            </a:extLst>
          </p:cNvPr>
          <p:cNvCxnSpPr>
            <a:cxnSpLocks/>
          </p:cNvCxnSpPr>
          <p:nvPr/>
        </p:nvCxnSpPr>
        <p:spPr>
          <a:xfrm>
            <a:off x="1832991" y="3863148"/>
            <a:ext cx="8659" cy="64077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10631B-4AFB-B53E-3057-3646CA237E59}"/>
              </a:ext>
            </a:extLst>
          </p:cNvPr>
          <p:cNvCxnSpPr>
            <a:cxnSpLocks/>
          </p:cNvCxnSpPr>
          <p:nvPr/>
        </p:nvCxnSpPr>
        <p:spPr>
          <a:xfrm>
            <a:off x="840386" y="3863147"/>
            <a:ext cx="8659" cy="640772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A83E285-63E4-6F5C-0E29-021A3AC5EDED}"/>
              </a:ext>
            </a:extLst>
          </p:cNvPr>
          <p:cNvSpPr txBox="1"/>
          <p:nvPr/>
        </p:nvSpPr>
        <p:spPr>
          <a:xfrm>
            <a:off x="485592" y="2202197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1000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A547D6-C739-023D-BC8C-021ED384F2FD}"/>
              </a:ext>
            </a:extLst>
          </p:cNvPr>
          <p:cNvSpPr txBox="1"/>
          <p:nvPr/>
        </p:nvSpPr>
        <p:spPr>
          <a:xfrm>
            <a:off x="-78388" y="3420395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3000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FCC6B1-B775-4C6E-B9C3-089FFB0A1004}"/>
              </a:ext>
            </a:extLst>
          </p:cNvPr>
          <p:cNvSpPr txBox="1"/>
          <p:nvPr/>
        </p:nvSpPr>
        <p:spPr>
          <a:xfrm>
            <a:off x="2012099" y="3420394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2000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B7BBCE5-55CA-8666-A3C3-FD1AACE866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2917"/>
              </p:ext>
            </p:extLst>
          </p:nvPr>
        </p:nvGraphicFramePr>
        <p:xfrm>
          <a:off x="2721892" y="2383924"/>
          <a:ext cx="584282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804">
                  <a:extLst>
                    <a:ext uri="{9D8B030D-6E8A-4147-A177-3AD203B41FA5}">
                      <a16:colId xmlns:a16="http://schemas.microsoft.com/office/drawing/2014/main" val="2897525110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93725097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187200332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08388686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1866910143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16189300"/>
                    </a:ext>
                  </a:extLst>
                </a:gridCol>
              </a:tblGrid>
              <a:tr h="3518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811010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D594E14-2861-B84A-554D-BAED67FE98EB}"/>
              </a:ext>
            </a:extLst>
          </p:cNvPr>
          <p:cNvCxnSpPr/>
          <p:nvPr/>
        </p:nvCxnSpPr>
        <p:spPr>
          <a:xfrm>
            <a:off x="6072871" y="1984934"/>
            <a:ext cx="2310" cy="394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6D10239-0D4F-7780-C984-8F786D8F76F4}"/>
              </a:ext>
            </a:extLst>
          </p:cNvPr>
          <p:cNvCxnSpPr/>
          <p:nvPr/>
        </p:nvCxnSpPr>
        <p:spPr>
          <a:xfrm flipV="1">
            <a:off x="2518429" y="1987998"/>
            <a:ext cx="3559111" cy="104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829D2EC-3247-A1C8-E92E-92B7C3FB7EB4}"/>
              </a:ext>
            </a:extLst>
          </p:cNvPr>
          <p:cNvCxnSpPr/>
          <p:nvPr/>
        </p:nvCxnSpPr>
        <p:spPr>
          <a:xfrm flipH="1">
            <a:off x="1565691" y="1999866"/>
            <a:ext cx="954792" cy="10708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4781975-E872-9806-29CE-9CB96EDC57F2}"/>
              </a:ext>
            </a:extLst>
          </p:cNvPr>
          <p:cNvSpPr txBox="1"/>
          <p:nvPr/>
        </p:nvSpPr>
        <p:spPr>
          <a:xfrm>
            <a:off x="2520525" y="1661243"/>
            <a:ext cx="3429366" cy="4088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Helvetica Neue"/>
              </a:rPr>
              <a:t>1000 ⊕ 2000 = 1080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A5537F-F5D5-8833-25B7-F02839472F52}"/>
              </a:ext>
            </a:extLst>
          </p:cNvPr>
          <p:cNvSpPr txBox="1"/>
          <p:nvPr/>
        </p:nvSpPr>
        <p:spPr>
          <a:xfrm>
            <a:off x="2785311" y="2062648"/>
            <a:ext cx="83017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1</a:t>
            </a:r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05A9CD-3894-85FC-7357-D38C29AFFF6C}"/>
              </a:ext>
            </a:extLst>
          </p:cNvPr>
          <p:cNvSpPr txBox="1"/>
          <p:nvPr/>
        </p:nvSpPr>
        <p:spPr>
          <a:xfrm>
            <a:off x="7655092" y="2071671"/>
            <a:ext cx="92041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65536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3FC3BD-FA90-71CD-13B7-5C87EF018465}"/>
              </a:ext>
            </a:extLst>
          </p:cNvPr>
          <p:cNvSpPr txBox="1"/>
          <p:nvPr/>
        </p:nvSpPr>
        <p:spPr>
          <a:xfrm>
            <a:off x="5243672" y="1750549"/>
            <a:ext cx="432593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Helvetica Neue"/>
              </a:rPr>
              <a:t>Edge execution counts</a:t>
            </a:r>
            <a:endParaRPr lang="en-US" dirty="0"/>
          </a:p>
        </p:txBody>
      </p:sp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FAA29566-2066-998C-E679-B016BF9CB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933018"/>
              </p:ext>
            </p:extLst>
          </p:nvPr>
        </p:nvGraphicFramePr>
        <p:xfrm>
          <a:off x="2712023" y="3767463"/>
          <a:ext cx="584282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804">
                  <a:extLst>
                    <a:ext uri="{9D8B030D-6E8A-4147-A177-3AD203B41FA5}">
                      <a16:colId xmlns:a16="http://schemas.microsoft.com/office/drawing/2014/main" val="2897525110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93725097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187200332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08388686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1866910143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16189300"/>
                    </a:ext>
                  </a:extLst>
                </a:gridCol>
              </a:tblGrid>
              <a:tr h="3518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811010"/>
                  </a:ext>
                </a:extLst>
              </a:tr>
            </a:tbl>
          </a:graphicData>
        </a:graphic>
      </p:graphicFrame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07EEB9E-4AB8-6F81-67A5-41BA9A1451E8}"/>
              </a:ext>
            </a:extLst>
          </p:cNvPr>
          <p:cNvCxnSpPr/>
          <p:nvPr/>
        </p:nvCxnSpPr>
        <p:spPr>
          <a:xfrm>
            <a:off x="2058169" y="2763541"/>
            <a:ext cx="3114971" cy="60756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387A2F6-3066-B1EE-2449-D6486A7D29C6}"/>
              </a:ext>
            </a:extLst>
          </p:cNvPr>
          <p:cNvCxnSpPr/>
          <p:nvPr/>
        </p:nvCxnSpPr>
        <p:spPr>
          <a:xfrm>
            <a:off x="5172134" y="3368473"/>
            <a:ext cx="2310" cy="394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8A7BAD9-AA1A-BFE6-A6C7-4D2F72FA44A3}"/>
              </a:ext>
            </a:extLst>
          </p:cNvPr>
          <p:cNvCxnSpPr/>
          <p:nvPr/>
        </p:nvCxnSpPr>
        <p:spPr>
          <a:xfrm flipH="1">
            <a:off x="1673267" y="2762986"/>
            <a:ext cx="388896" cy="42090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F772AD26-9438-781E-B16B-433DBCE1AAFD}"/>
              </a:ext>
            </a:extLst>
          </p:cNvPr>
          <p:cNvSpPr txBox="1"/>
          <p:nvPr/>
        </p:nvSpPr>
        <p:spPr>
          <a:xfrm>
            <a:off x="3956825" y="2782013"/>
            <a:ext cx="2669908" cy="4791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(0x1000, 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865C65-B296-AA56-48C5-59165772E284}"/>
              </a:ext>
            </a:extLst>
          </p:cNvPr>
          <p:cNvSpPr txBox="1"/>
          <p:nvPr/>
        </p:nvSpPr>
        <p:spPr>
          <a:xfrm>
            <a:off x="5107112" y="3444072"/>
            <a:ext cx="432593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Helvetica Neue"/>
              </a:rPr>
              <a:t>Data access counts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F7AFAA-28A3-A673-3917-E20E34075632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“Data Coverage for Guided Fuzzing” USENIX Security 2024.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767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20" grpId="0"/>
      <p:bldP spid="22" grpId="0"/>
      <p:bldP spid="24" grpId="0"/>
      <p:bldP spid="34" grpId="0"/>
      <p:bldP spid="36" grpId="0"/>
      <p:bldP spid="38" grpId="0"/>
      <p:bldP spid="40" grpId="0"/>
      <p:bldP spid="92" grpId="0"/>
      <p:bldP spid="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937D32B5-2777-BCCC-7A43-FFAD09267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D83EF368-74D0-B6E1-92A8-3994FEA5C4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65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0D274619-DAB2-B6D5-B0DE-E895093A82C1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A357CC8A-8B3F-FF0A-4801-1DE8C6368268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A0ECC76C-99D8-E5D1-7088-BCA68E36A4D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05A790C4-1060-E4B3-EE5E-0CE44DC372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Identifying interesting inputs (cont.)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418E77-7D8F-A3E7-4286-227AF447E975}"/>
              </a:ext>
            </a:extLst>
          </p:cNvPr>
          <p:cNvSpPr txBox="1"/>
          <p:nvPr/>
        </p:nvSpPr>
        <p:spPr>
          <a:xfrm>
            <a:off x="142874" y="945095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Helvetica Neue"/>
              </a:rPr>
              <a:t>INSCOV: Violation of current invariants as feedback.</a:t>
            </a:r>
            <a:endParaRPr lang="en-US" dirty="0"/>
          </a:p>
        </p:txBody>
      </p:sp>
      <p:sp>
        <p:nvSpPr>
          <p:cNvPr id="38" name="Flowchart: Data 1">
            <a:extLst>
              <a:ext uri="{FF2B5EF4-FFF2-40B4-BE49-F238E27FC236}">
                <a16:creationId xmlns:a16="http://schemas.microsoft.com/office/drawing/2014/main" id="{52B2EA63-3C76-C153-31C3-ADCA68D8C8F8}"/>
              </a:ext>
            </a:extLst>
          </p:cNvPr>
          <p:cNvSpPr/>
          <p:nvPr/>
        </p:nvSpPr>
        <p:spPr>
          <a:xfrm>
            <a:off x="76109" y="2001697"/>
            <a:ext cx="1331610" cy="83047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Seed Pool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494E4D-ED02-069C-5A1F-BD80F9DC757F}"/>
              </a:ext>
            </a:extLst>
          </p:cNvPr>
          <p:cNvSpPr txBox="1"/>
          <p:nvPr/>
        </p:nvSpPr>
        <p:spPr>
          <a:xfrm>
            <a:off x="2599765" y="1998849"/>
            <a:ext cx="158183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Invariant Extractor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55B0455-7F70-78B5-9737-C9478F89D09F}"/>
              </a:ext>
            </a:extLst>
          </p:cNvPr>
          <p:cNvCxnSpPr/>
          <p:nvPr/>
        </p:nvCxnSpPr>
        <p:spPr>
          <a:xfrm>
            <a:off x="1415943" y="2417268"/>
            <a:ext cx="11838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Data 1">
            <a:extLst>
              <a:ext uri="{FF2B5EF4-FFF2-40B4-BE49-F238E27FC236}">
                <a16:creationId xmlns:a16="http://schemas.microsoft.com/office/drawing/2014/main" id="{72A5412E-A2D0-9018-0FB8-E26AA4603D6E}"/>
              </a:ext>
            </a:extLst>
          </p:cNvPr>
          <p:cNvSpPr/>
          <p:nvPr/>
        </p:nvSpPr>
        <p:spPr>
          <a:xfrm>
            <a:off x="4270510" y="1491428"/>
            <a:ext cx="1790065" cy="835186"/>
          </a:xfrm>
          <a:prstGeom prst="flowChartMulti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Invariants</a:t>
            </a:r>
            <a:endParaRPr lang="en-US"/>
          </a:p>
        </p:txBody>
      </p:sp>
      <p:sp>
        <p:nvSpPr>
          <p:cNvPr id="42" name="Flowchart: Data 1">
            <a:extLst>
              <a:ext uri="{FF2B5EF4-FFF2-40B4-BE49-F238E27FC236}">
                <a16:creationId xmlns:a16="http://schemas.microsoft.com/office/drawing/2014/main" id="{714E5F5B-4A2C-862F-BAF4-0327B10B71F2}"/>
              </a:ext>
            </a:extLst>
          </p:cNvPr>
          <p:cNvSpPr/>
          <p:nvPr/>
        </p:nvSpPr>
        <p:spPr>
          <a:xfrm>
            <a:off x="6974930" y="3440652"/>
            <a:ext cx="2045984" cy="82027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Target Program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3D3CE3-D4CC-BD46-2C02-98417AFD53FA}"/>
              </a:ext>
            </a:extLst>
          </p:cNvPr>
          <p:cNvSpPr txBox="1"/>
          <p:nvPr/>
        </p:nvSpPr>
        <p:spPr>
          <a:xfrm>
            <a:off x="6100202" y="1988643"/>
            <a:ext cx="158183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Code Generator</a:t>
            </a:r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C246284-E499-BE06-BEDD-F01FB9FB3092}"/>
              </a:ext>
            </a:extLst>
          </p:cNvPr>
          <p:cNvCxnSpPr>
            <a:cxnSpLocks/>
          </p:cNvCxnSpPr>
          <p:nvPr/>
        </p:nvCxnSpPr>
        <p:spPr>
          <a:xfrm>
            <a:off x="4181594" y="2356036"/>
            <a:ext cx="191860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89B0A4C-3F7D-BAF1-75F7-AD1183E22ABE}"/>
              </a:ext>
            </a:extLst>
          </p:cNvPr>
          <p:cNvSpPr txBox="1"/>
          <p:nvPr/>
        </p:nvSpPr>
        <p:spPr>
          <a:xfrm>
            <a:off x="3640313" y="3510641"/>
            <a:ext cx="164346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Instrument</a:t>
            </a:r>
            <a:endParaRPr lang="en-US"/>
          </a:p>
        </p:txBody>
      </p:sp>
      <p:sp>
        <p:nvSpPr>
          <p:cNvPr id="47" name="Flowchart: Data 1">
            <a:extLst>
              <a:ext uri="{FF2B5EF4-FFF2-40B4-BE49-F238E27FC236}">
                <a16:creationId xmlns:a16="http://schemas.microsoft.com/office/drawing/2014/main" id="{2105FAA7-6C77-BA3D-988F-C85AA3263877}"/>
              </a:ext>
            </a:extLst>
          </p:cNvPr>
          <p:cNvSpPr/>
          <p:nvPr/>
        </p:nvSpPr>
        <p:spPr>
          <a:xfrm>
            <a:off x="100721" y="3223939"/>
            <a:ext cx="1954136" cy="108561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New Target Program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B5BBCA-9319-FC2D-6A36-ADACCE7F2649}"/>
              </a:ext>
            </a:extLst>
          </p:cNvPr>
          <p:cNvCxnSpPr/>
          <p:nvPr/>
        </p:nvCxnSpPr>
        <p:spPr>
          <a:xfrm flipH="1">
            <a:off x="2052880" y="3751771"/>
            <a:ext cx="15818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D10F8ED-870B-398D-497A-7C83B8D33143}"/>
              </a:ext>
            </a:extLst>
          </p:cNvPr>
          <p:cNvCxnSpPr>
            <a:cxnSpLocks/>
          </p:cNvCxnSpPr>
          <p:nvPr/>
        </p:nvCxnSpPr>
        <p:spPr>
          <a:xfrm flipH="1" flipV="1">
            <a:off x="5279174" y="3835818"/>
            <a:ext cx="169409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C905E3E-B4E7-8548-3BF7-9ACE1FED5150}"/>
              </a:ext>
            </a:extLst>
          </p:cNvPr>
          <p:cNvCxnSpPr/>
          <p:nvPr/>
        </p:nvCxnSpPr>
        <p:spPr>
          <a:xfrm flipH="1">
            <a:off x="6829385" y="2815277"/>
            <a:ext cx="10205" cy="75519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0EFB2DD-B528-A2C4-196E-AD70C42F1035}"/>
              </a:ext>
            </a:extLst>
          </p:cNvPr>
          <p:cNvCxnSpPr>
            <a:cxnSpLocks/>
          </p:cNvCxnSpPr>
          <p:nvPr/>
        </p:nvCxnSpPr>
        <p:spPr>
          <a:xfrm flipH="1" flipV="1">
            <a:off x="5288378" y="3570479"/>
            <a:ext cx="154101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EC4EBE3-96D6-1720-1252-9991A7550B2C}"/>
              </a:ext>
            </a:extLst>
          </p:cNvPr>
          <p:cNvSpPr txBox="1"/>
          <p:nvPr/>
        </p:nvSpPr>
        <p:spPr>
          <a:xfrm>
            <a:off x="4844945" y="2866303"/>
            <a:ext cx="300037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Invariants as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B4379C-E1C6-A4BA-141A-19351F2F9EE2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“The Use of Likely Invariants as Feedback for </a:t>
            </a:r>
            <a:r>
              <a:rPr lang="en-US" sz="1000" dirty="0" err="1">
                <a:latin typeface="Helvetica Neue"/>
              </a:rPr>
              <a:t>Fuzzers</a:t>
            </a:r>
            <a:r>
              <a:rPr lang="en-US" sz="1000" dirty="0">
                <a:latin typeface="Helvetica Neue"/>
              </a:rPr>
              <a:t>” USENIX Security 2021.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38392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1" grpId="0" animBg="1"/>
      <p:bldP spid="42" grpId="0" animBg="1"/>
      <p:bldP spid="44" grpId="0" animBg="1"/>
      <p:bldP spid="46" grpId="0" animBg="1"/>
      <p:bldP spid="47" grpId="0" animBg="1"/>
      <p:bldP spid="5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D35D80D1-8CFE-6DD0-23F6-F48B6963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6A68A0E0-EC13-07F5-A30F-5F89B8D471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66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C32984A6-65E0-2303-CC70-8266F84BC178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54122CA4-C529-4BCA-48D9-95443BABA60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EDF360-95E1-17EB-C8FF-B2E273914B8C}"/>
              </a:ext>
            </a:extLst>
          </p:cNvPr>
          <p:cNvSpPr txBox="1"/>
          <p:nvPr/>
        </p:nvSpPr>
        <p:spPr>
          <a:xfrm>
            <a:off x="157342" y="1462028"/>
            <a:ext cx="8837839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endParaRPr lang="en-US" sz="2800">
              <a:latin typeface="Helvetica Neue"/>
            </a:endParaRPr>
          </a:p>
          <a:p>
            <a:pPr algn="ctr"/>
            <a:r>
              <a:rPr lang="en-US" sz="6000">
                <a:latin typeface="Helvetica Neue"/>
              </a:rPr>
              <a:t>Evaluating </a:t>
            </a:r>
            <a:r>
              <a:rPr lang="en-US" sz="6000" err="1">
                <a:latin typeface="Helvetica Neue"/>
              </a:rPr>
              <a:t>Fuzzers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4099862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2F12C2F4-744E-AD1F-C4ED-BB88E9ED7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34B089F8-9A23-AD21-EA7E-954F67054E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67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DE90C019-F2A4-43E2-254A-306E839E11B4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49C55667-8B1E-B9BA-06A5-3CB27F589DE2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696DF214-2BB5-D346-79A8-BC7D9F62A35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C26EF7DC-0F51-CAAF-9E2B-BB290B55E6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err="1">
                <a:solidFill>
                  <a:schemeClr val="lt1"/>
                </a:solidFill>
                <a:latin typeface="Helvetica Neue"/>
              </a:rPr>
              <a:t>Fuzzer</a:t>
            </a:r>
            <a:r>
              <a:rPr lang="en-US" sz="4000">
                <a:solidFill>
                  <a:schemeClr val="lt1"/>
                </a:solidFill>
                <a:latin typeface="Helvetica Neue"/>
              </a:rPr>
              <a:t> evaluation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86E617-C69F-5DC4-1E2B-22EAD5254994}"/>
              </a:ext>
            </a:extLst>
          </p:cNvPr>
          <p:cNvSpPr txBox="1"/>
          <p:nvPr/>
        </p:nvSpPr>
        <p:spPr>
          <a:xfrm>
            <a:off x="148476" y="798911"/>
            <a:ext cx="8916281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MAGMA, </a:t>
            </a:r>
            <a:r>
              <a:rPr lang="en-US" sz="2800" dirty="0" err="1">
                <a:latin typeface="Helvetica Neue"/>
              </a:rPr>
              <a:t>Fuzzbench</a:t>
            </a:r>
            <a:r>
              <a:rPr lang="en-US" sz="2800" dirty="0">
                <a:latin typeface="Helvetica Neue"/>
              </a:rPr>
              <a:t>, </a:t>
            </a:r>
            <a:r>
              <a:rPr lang="en-US" sz="2800" dirty="0" err="1">
                <a:latin typeface="Helvetica Neue"/>
              </a:rPr>
              <a:t>UniFuzz</a:t>
            </a:r>
            <a:r>
              <a:rPr lang="en-US" sz="2800" dirty="0">
                <a:latin typeface="Helvetica Neue"/>
              </a:rPr>
              <a:t> – Dataset of fuzzing targets with seeds.</a:t>
            </a:r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DD8219-6ACB-6F63-2B64-F04F7158AC4E}"/>
              </a:ext>
            </a:extLst>
          </p:cNvPr>
          <p:cNvSpPr txBox="1"/>
          <p:nvPr/>
        </p:nvSpPr>
        <p:spPr>
          <a:xfrm>
            <a:off x="145772" y="4199017"/>
            <a:ext cx="722721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“Magma: A Ground-Truth Fuzzing Benchmark” ACM Measurement and Analysis of Computing Systems 2020.</a:t>
            </a:r>
            <a:endParaRPr lang="en-US" dirty="0"/>
          </a:p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 err="1">
                <a:latin typeface="Helvetica Neue"/>
              </a:rPr>
              <a:t>FuzzBench</a:t>
            </a:r>
            <a:r>
              <a:rPr lang="en-US" sz="1000" dirty="0">
                <a:latin typeface="Helvetica Neue"/>
              </a:rPr>
              <a:t>: An Open </a:t>
            </a:r>
            <a:r>
              <a:rPr lang="en-US" sz="1000" dirty="0" err="1">
                <a:latin typeface="Helvetica Neue"/>
              </a:rPr>
              <a:t>Fuzzer</a:t>
            </a:r>
            <a:r>
              <a:rPr lang="en-US" sz="1000" dirty="0">
                <a:latin typeface="Helvetica Neue"/>
              </a:rPr>
              <a:t> Benchmarking Platform and Service” ACM FSE 2021.</a:t>
            </a:r>
            <a:endParaRPr lang="en-US"/>
          </a:p>
          <a:p>
            <a:r>
              <a:rPr lang="en-US" sz="1000" dirty="0">
                <a:latin typeface="Helvetica Neue"/>
              </a:rPr>
              <a:t>“UNIFUZZ: A Holistic and Pragmatic Metrics-Driven Platform for Evaluating </a:t>
            </a:r>
            <a:r>
              <a:rPr lang="en-US" sz="1000" dirty="0" err="1">
                <a:latin typeface="Helvetica Neue"/>
              </a:rPr>
              <a:t>Fuzzers</a:t>
            </a:r>
            <a:r>
              <a:rPr lang="en-US" sz="1000" dirty="0">
                <a:latin typeface="Helvetica Neue"/>
              </a:rPr>
              <a:t>” USENIX Security 2021.</a:t>
            </a:r>
          </a:p>
        </p:txBody>
      </p:sp>
    </p:spTree>
    <p:extLst>
      <p:ext uri="{BB962C8B-B14F-4D97-AF65-F5344CB8AC3E}">
        <p14:creationId xmlns:p14="http://schemas.microsoft.com/office/powerpoint/2010/main" val="15042687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9AE4DC9B-E5FD-1EAA-822B-9DB19A70A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36AFB743-5F0B-F446-9B01-06A527657F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68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FCC52F5-51F9-F8FA-5ECE-DC3AA0469D45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E4D6ECDF-C142-E012-F37B-583DA0C25B1C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D3AA4911-4011-1204-C9F6-CBB50923265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8D0D131C-CB43-9815-364C-88EF61198E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 err="1">
                <a:solidFill>
                  <a:schemeClr val="lt1"/>
                </a:solidFill>
                <a:latin typeface="Helvetica Neue"/>
              </a:rPr>
              <a:t>Fuzzer</a:t>
            </a:r>
            <a:r>
              <a:rPr lang="en-US" sz="4000" dirty="0">
                <a:solidFill>
                  <a:schemeClr val="lt1"/>
                </a:solidFill>
                <a:latin typeface="Helvetica Neue"/>
              </a:rPr>
              <a:t> evaluation (cont.)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11462-E2FC-97E8-8ACB-2AC91819D4A8}"/>
              </a:ext>
            </a:extLst>
          </p:cNvPr>
          <p:cNvSpPr txBox="1"/>
          <p:nvPr/>
        </p:nvSpPr>
        <p:spPr>
          <a:xfrm>
            <a:off x="148476" y="798911"/>
            <a:ext cx="8916281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MAGMA, </a:t>
            </a:r>
            <a:r>
              <a:rPr lang="en-US" sz="2800" dirty="0" err="1">
                <a:latin typeface="Helvetica Neue"/>
              </a:rPr>
              <a:t>Fuzzbench</a:t>
            </a:r>
            <a:r>
              <a:rPr lang="en-US" sz="2800" dirty="0">
                <a:latin typeface="Helvetica Neue"/>
              </a:rPr>
              <a:t>, </a:t>
            </a:r>
            <a:r>
              <a:rPr lang="en-US" sz="2800" dirty="0" err="1">
                <a:latin typeface="Helvetica Neue"/>
              </a:rPr>
              <a:t>UniFuzz</a:t>
            </a:r>
            <a:r>
              <a:rPr lang="en-US" sz="2800" dirty="0">
                <a:latin typeface="Helvetica Neue"/>
              </a:rPr>
              <a:t> – Dataset of fuzzing targets with seeds.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LAVA – Dynamically inject bugs into targets.</a:t>
            </a:r>
          </a:p>
          <a:p>
            <a:endParaRPr lang="en-US" sz="2800" dirty="0">
              <a:latin typeface="Helvetica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940E19-21E5-2393-291E-D83FEE40CA9B}"/>
              </a:ext>
            </a:extLst>
          </p:cNvPr>
          <p:cNvSpPr txBox="1"/>
          <p:nvPr/>
        </p:nvSpPr>
        <p:spPr>
          <a:xfrm>
            <a:off x="145772" y="4199017"/>
            <a:ext cx="722721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“Magma: A Ground-Truth Fuzzing Benchmark” ACM Measurement and Analysis of Computing Systems 2020.</a:t>
            </a:r>
            <a:endParaRPr lang="en-US" dirty="0"/>
          </a:p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 err="1">
                <a:latin typeface="Helvetica Neue"/>
              </a:rPr>
              <a:t>FuzzBench</a:t>
            </a:r>
            <a:r>
              <a:rPr lang="en-US" sz="1000" dirty="0">
                <a:latin typeface="Helvetica Neue"/>
              </a:rPr>
              <a:t>: An Open </a:t>
            </a:r>
            <a:r>
              <a:rPr lang="en-US" sz="1000" dirty="0" err="1">
                <a:latin typeface="Helvetica Neue"/>
              </a:rPr>
              <a:t>Fuzzer</a:t>
            </a:r>
            <a:r>
              <a:rPr lang="en-US" sz="1000" dirty="0">
                <a:latin typeface="Helvetica Neue"/>
              </a:rPr>
              <a:t> Benchmarking Platform and Service” ACM FSE 2021.</a:t>
            </a:r>
            <a:endParaRPr lang="en-US"/>
          </a:p>
          <a:p>
            <a:r>
              <a:rPr lang="en-US" sz="1000" dirty="0">
                <a:latin typeface="Helvetica Neue"/>
              </a:rPr>
              <a:t>“UNIFUZZ: A Holistic and Pragmatic Metrics-Driven Platform for Evaluating </a:t>
            </a:r>
            <a:r>
              <a:rPr lang="en-US" sz="1000" dirty="0" err="1">
                <a:latin typeface="Helvetica Neue"/>
              </a:rPr>
              <a:t>Fuzzers</a:t>
            </a:r>
            <a:r>
              <a:rPr lang="en-US" sz="1000" dirty="0">
                <a:latin typeface="Helvetica Neue"/>
              </a:rPr>
              <a:t>” USENIX Security 2021.</a:t>
            </a:r>
          </a:p>
          <a:p>
            <a:r>
              <a:rPr lang="en-US" sz="1000" dirty="0">
                <a:latin typeface="Helvetica Neue"/>
              </a:rPr>
              <a:t>“LAVA: Large-Scale Automated Vulnerability Addition”, IEEE S&amp;P 2016.</a:t>
            </a:r>
          </a:p>
        </p:txBody>
      </p:sp>
    </p:spTree>
    <p:extLst>
      <p:ext uri="{BB962C8B-B14F-4D97-AF65-F5344CB8AC3E}">
        <p14:creationId xmlns:p14="http://schemas.microsoft.com/office/powerpoint/2010/main" val="40231145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61DBE0A4-4232-8322-132E-8EA67F665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38716EC6-29F8-10E7-769F-4CD7905B24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69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7B9CC10-2DB9-940B-4BB9-9B7127FEA6E6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AABE4C7E-9A1A-D704-2C81-FD080AF18369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C7F1E50B-F8A4-6B37-8598-CFECA6067D6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8C2E2359-150D-9853-C119-08772989DE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 err="1">
                <a:solidFill>
                  <a:schemeClr val="lt1"/>
                </a:solidFill>
                <a:latin typeface="Helvetica Neue"/>
              </a:rPr>
              <a:t>Fuzzer</a:t>
            </a:r>
            <a:r>
              <a:rPr lang="en-US" sz="4000" dirty="0">
                <a:solidFill>
                  <a:schemeClr val="lt1"/>
                </a:solidFill>
                <a:latin typeface="Helvetica Neue"/>
              </a:rPr>
              <a:t> evaluation (cont.)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29F470-C96C-FC18-3FC7-826A87AC89D7}"/>
              </a:ext>
            </a:extLst>
          </p:cNvPr>
          <p:cNvSpPr txBox="1"/>
          <p:nvPr/>
        </p:nvSpPr>
        <p:spPr>
          <a:xfrm>
            <a:off x="148476" y="798911"/>
            <a:ext cx="8916281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MAGMA, </a:t>
            </a:r>
            <a:r>
              <a:rPr lang="en-US" sz="2800" dirty="0" err="1">
                <a:latin typeface="Helvetica Neue"/>
              </a:rPr>
              <a:t>Fuzzbench</a:t>
            </a:r>
            <a:r>
              <a:rPr lang="en-US" sz="2800" dirty="0">
                <a:latin typeface="Helvetica Neue"/>
              </a:rPr>
              <a:t>, </a:t>
            </a:r>
            <a:r>
              <a:rPr lang="en-US" sz="2800" dirty="0" err="1">
                <a:latin typeface="Helvetica Neue"/>
              </a:rPr>
              <a:t>UniFuzz</a:t>
            </a:r>
            <a:r>
              <a:rPr lang="en-US" sz="2800" dirty="0">
                <a:latin typeface="Helvetica Neue"/>
              </a:rPr>
              <a:t> – Dataset of fuzzing targets with seeds.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LAVA – Dynamically inject bugs into targets.</a:t>
            </a:r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Font typeface="Arial,Sans-Serif"/>
              <a:buChar char="•"/>
            </a:pPr>
            <a:r>
              <a:rPr lang="en-US" sz="2800" dirty="0" err="1"/>
              <a:t>Görz</a:t>
            </a:r>
            <a:r>
              <a:rPr lang="en-US" sz="2800" dirty="0"/>
              <a:t> et al (USENIX ‘23) – Program mutation testing.</a:t>
            </a:r>
          </a:p>
          <a:p>
            <a:endParaRPr lang="en-US" sz="2800">
              <a:latin typeface="Helvetica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5DB32A-78F7-6BD0-793A-D62B1613CA1A}"/>
              </a:ext>
            </a:extLst>
          </p:cNvPr>
          <p:cNvSpPr txBox="1"/>
          <p:nvPr/>
        </p:nvSpPr>
        <p:spPr>
          <a:xfrm>
            <a:off x="145772" y="4199017"/>
            <a:ext cx="722721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“Magma: A Ground-Truth Fuzzing Benchmark” ACM Measurement and Analysis of Computing Systems 2020.</a:t>
            </a:r>
            <a:endParaRPr lang="en-US" dirty="0"/>
          </a:p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 err="1">
                <a:latin typeface="Helvetica Neue"/>
              </a:rPr>
              <a:t>FuzzBench</a:t>
            </a:r>
            <a:r>
              <a:rPr lang="en-US" sz="1000" dirty="0">
                <a:latin typeface="Helvetica Neue"/>
              </a:rPr>
              <a:t>: An Open </a:t>
            </a:r>
            <a:r>
              <a:rPr lang="en-US" sz="1000" dirty="0" err="1">
                <a:latin typeface="Helvetica Neue"/>
              </a:rPr>
              <a:t>Fuzzer</a:t>
            </a:r>
            <a:r>
              <a:rPr lang="en-US" sz="1000" dirty="0">
                <a:latin typeface="Helvetica Neue"/>
              </a:rPr>
              <a:t> Benchmarking Platform and Service” ACM FSE 2021.</a:t>
            </a:r>
            <a:endParaRPr lang="en-US"/>
          </a:p>
          <a:p>
            <a:r>
              <a:rPr lang="en-US" sz="1000" dirty="0">
                <a:latin typeface="Helvetica Neue"/>
              </a:rPr>
              <a:t>“UNIFUZZ: A Holistic and Pragmatic Metrics-Driven Platform for Evaluating </a:t>
            </a:r>
            <a:r>
              <a:rPr lang="en-US" sz="1000" dirty="0" err="1">
                <a:latin typeface="Helvetica Neue"/>
              </a:rPr>
              <a:t>Fuzzers</a:t>
            </a:r>
            <a:r>
              <a:rPr lang="en-US" sz="1000" dirty="0">
                <a:latin typeface="Helvetica Neue"/>
              </a:rPr>
              <a:t>” USENIX Security 2021.</a:t>
            </a:r>
          </a:p>
          <a:p>
            <a:r>
              <a:rPr lang="en-US" sz="1000" dirty="0">
                <a:latin typeface="Helvetica Neue"/>
              </a:rPr>
              <a:t>“LAVA: Large-Scale Automated Vulnerability Addition”, IEEE S&amp;P 2016.</a:t>
            </a:r>
          </a:p>
          <a:p>
            <a:r>
              <a:rPr lang="en-US" sz="1000" dirty="0">
                <a:latin typeface="Helvetica Neue"/>
              </a:rPr>
              <a:t>“Systematic Assessment of </a:t>
            </a:r>
            <a:r>
              <a:rPr lang="en-US" sz="1000" dirty="0" err="1">
                <a:latin typeface="Helvetica Neue"/>
              </a:rPr>
              <a:t>Fuzzers</a:t>
            </a:r>
            <a:r>
              <a:rPr lang="en-US" sz="1000" dirty="0">
                <a:latin typeface="Helvetica Neue"/>
              </a:rPr>
              <a:t> using Mutation Analysis” USENIX Security 2023.</a:t>
            </a:r>
          </a:p>
        </p:txBody>
      </p:sp>
    </p:spTree>
    <p:extLst>
      <p:ext uri="{BB962C8B-B14F-4D97-AF65-F5344CB8AC3E}">
        <p14:creationId xmlns:p14="http://schemas.microsoft.com/office/powerpoint/2010/main" val="23122829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7957BB0D-113D-7E20-21E6-69685EAD4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3A7B3D61-B774-D1A4-C5F4-C6CBB3C0A3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70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24C528E4-52AA-5ED9-F04C-A8F72229A32A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D7BF93EF-7F1A-A970-8A52-AB546996BE94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FC41C39-E015-D105-584C-CB3022D26D1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904F5FB4-9957-5413-6B76-A95106A686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 err="1">
                <a:solidFill>
                  <a:schemeClr val="lt1"/>
                </a:solidFill>
                <a:latin typeface="Helvetica Neue"/>
              </a:rPr>
              <a:t>Fuzzer</a:t>
            </a:r>
            <a:r>
              <a:rPr lang="en-US" sz="4000" dirty="0">
                <a:solidFill>
                  <a:schemeClr val="lt1"/>
                </a:solidFill>
                <a:latin typeface="Helvetica Neue"/>
              </a:rPr>
              <a:t> evaluation (cont.)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F8F53C-C730-5B12-D8E0-D8A8BDF92F85}"/>
              </a:ext>
            </a:extLst>
          </p:cNvPr>
          <p:cNvSpPr txBox="1"/>
          <p:nvPr/>
        </p:nvSpPr>
        <p:spPr>
          <a:xfrm>
            <a:off x="148476" y="798911"/>
            <a:ext cx="8916281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MAGMA, </a:t>
            </a:r>
            <a:r>
              <a:rPr lang="en-US" sz="2800" err="1">
                <a:latin typeface="Helvetica Neue"/>
              </a:rPr>
              <a:t>Fuzzbench</a:t>
            </a:r>
            <a:r>
              <a:rPr lang="en-US" sz="2800" dirty="0">
                <a:latin typeface="Helvetica Neue"/>
              </a:rPr>
              <a:t>, </a:t>
            </a:r>
            <a:r>
              <a:rPr lang="en-US" sz="2800" err="1">
                <a:latin typeface="Helvetica Neue"/>
              </a:rPr>
              <a:t>UniFuzz</a:t>
            </a:r>
            <a:r>
              <a:rPr lang="en-US" sz="2800" dirty="0">
                <a:latin typeface="Helvetica Neue"/>
              </a:rPr>
              <a:t> – Dataset of fuzzing targets with seeds.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LAVA – Dynamically inject bugs into targets.</a:t>
            </a:r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Font typeface="Arial,Sans-Serif"/>
              <a:buChar char="•"/>
            </a:pPr>
            <a:r>
              <a:rPr lang="en-US" sz="2800" dirty="0" err="1"/>
              <a:t>Görz</a:t>
            </a:r>
            <a:r>
              <a:rPr lang="en-US" sz="2800" dirty="0"/>
              <a:t> et al (USENIX ‘23) – Program mutation testing.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 err="1">
                <a:latin typeface="Helvetica Neue"/>
              </a:rPr>
              <a:t>Fixreverter</a:t>
            </a:r>
            <a:r>
              <a:rPr lang="en-US" sz="2800" dirty="0">
                <a:latin typeface="Helvetica Neue"/>
              </a:rPr>
              <a:t> – Port bugs to new versions.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C2DBE3-A702-07BD-92DB-C32FD595647E}"/>
              </a:ext>
            </a:extLst>
          </p:cNvPr>
          <p:cNvSpPr txBox="1"/>
          <p:nvPr/>
        </p:nvSpPr>
        <p:spPr>
          <a:xfrm>
            <a:off x="145772" y="4199017"/>
            <a:ext cx="72272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“Magma: A Ground-Truth Fuzzing Benchmark” ACM Measurement and Analysis of Computing Systems 2020.</a:t>
            </a:r>
            <a:endParaRPr lang="en-US" dirty="0"/>
          </a:p>
          <a:p>
            <a:r>
              <a:rPr lang="en-US" sz="1000">
                <a:latin typeface="Helvetica Neue"/>
              </a:rPr>
              <a:t>“</a:t>
            </a:r>
            <a:r>
              <a:rPr lang="en-US" sz="1000" err="1">
                <a:latin typeface="Helvetica Neue"/>
              </a:rPr>
              <a:t>FuzzBench</a:t>
            </a:r>
            <a:r>
              <a:rPr lang="en-US" sz="1000">
                <a:latin typeface="Helvetica Neue"/>
              </a:rPr>
              <a:t>: An Open </a:t>
            </a:r>
            <a:r>
              <a:rPr lang="en-US" sz="1000" err="1">
                <a:latin typeface="Helvetica Neue"/>
              </a:rPr>
              <a:t>Fuzzer</a:t>
            </a:r>
            <a:r>
              <a:rPr lang="en-US" sz="1000" dirty="0">
                <a:latin typeface="Helvetica Neue"/>
              </a:rPr>
              <a:t> Benchmarking Platform and Service” ACM FSE 2021.</a:t>
            </a:r>
            <a:endParaRPr lang="en-US"/>
          </a:p>
          <a:p>
            <a:r>
              <a:rPr lang="en-US" sz="1000" dirty="0">
                <a:latin typeface="Helvetica Neue"/>
              </a:rPr>
              <a:t>“UNIFUZZ: A Holistic and Pragmatic Metrics-Driven Platform for Evaluating </a:t>
            </a:r>
            <a:r>
              <a:rPr lang="en-US" sz="1000" dirty="0" err="1">
                <a:latin typeface="Helvetica Neue"/>
              </a:rPr>
              <a:t>Fuzzers</a:t>
            </a:r>
            <a:r>
              <a:rPr lang="en-US" sz="1000" dirty="0">
                <a:latin typeface="Helvetica Neue"/>
              </a:rPr>
              <a:t>” USENIX Security 2021.</a:t>
            </a:r>
          </a:p>
          <a:p>
            <a:r>
              <a:rPr lang="en-US" sz="1000" dirty="0">
                <a:latin typeface="Helvetica Neue"/>
              </a:rPr>
              <a:t>“LAVA: Large-Scale Automated Vulnerability Addition”, IEEE S&amp;P 2016.</a:t>
            </a:r>
          </a:p>
          <a:p>
            <a:r>
              <a:rPr lang="en-US" sz="1000" dirty="0">
                <a:latin typeface="Helvetica Neue"/>
              </a:rPr>
              <a:t>“Systematic Assessment of </a:t>
            </a:r>
            <a:r>
              <a:rPr lang="en-US" sz="1000" dirty="0" err="1">
                <a:latin typeface="Helvetica Neue"/>
              </a:rPr>
              <a:t>Fuzzers</a:t>
            </a:r>
            <a:r>
              <a:rPr lang="en-US" sz="1000" dirty="0">
                <a:latin typeface="Helvetica Neue"/>
              </a:rPr>
              <a:t> using Mutation Analysis” USENIX Security 2023.</a:t>
            </a:r>
          </a:p>
          <a:p>
            <a:r>
              <a:rPr lang="en-US" sz="1000" dirty="0">
                <a:latin typeface="Helvetica Neue"/>
              </a:rPr>
              <a:t>“FIXREVERTER: A Realistic Bug Injection Methodology for Benchmarking Fuzz Testing” USENIX Security 2022.</a:t>
            </a:r>
          </a:p>
        </p:txBody>
      </p:sp>
    </p:spTree>
    <p:extLst>
      <p:ext uri="{BB962C8B-B14F-4D97-AF65-F5344CB8AC3E}">
        <p14:creationId xmlns:p14="http://schemas.microsoft.com/office/powerpoint/2010/main" val="327447883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71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err="1">
                <a:solidFill>
                  <a:schemeClr val="lt1"/>
                </a:solidFill>
                <a:latin typeface="Helvetica Neue"/>
              </a:rPr>
              <a:t>Fuzzer</a:t>
            </a:r>
            <a:r>
              <a:rPr lang="en-US" sz="4000">
                <a:solidFill>
                  <a:schemeClr val="lt1"/>
                </a:solidFill>
                <a:latin typeface="Helvetica Neue"/>
              </a:rPr>
              <a:t> evaluation (cont.)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989919"/>
            <a:ext cx="883783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/>
              <a:t>Klees et al (CCS ‘18) – Guidelines for evaluating </a:t>
            </a:r>
            <a:r>
              <a:rPr lang="en-US" sz="2800" dirty="0" err="1"/>
              <a:t>fuzzers</a:t>
            </a:r>
            <a:r>
              <a:rPr lang="en-US" sz="2800" dirty="0"/>
              <a:t>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FFDDB0-F597-6B84-5C2C-F064C9CCF0D0}"/>
              </a:ext>
            </a:extLst>
          </p:cNvPr>
          <p:cNvSpPr txBox="1"/>
          <p:nvPr/>
        </p:nvSpPr>
        <p:spPr>
          <a:xfrm>
            <a:off x="151375" y="4680870"/>
            <a:ext cx="722721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“Evaluating Fuzz Testing” ACM CCS 2018.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583032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2A1132FA-BB0B-529D-737D-8338B5A19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A741C2F0-468C-7B45-AF17-0560D814D7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72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20080F4C-1455-8ED3-92B8-E6EAA6A4F384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84851518-A4EA-1459-4410-E58F3EFA6E21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7D67CCC-F0A7-2B43-3F35-0A2FA0C8EE3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5320BFC5-B248-12AB-9E0B-5E5531C38B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 err="1">
                <a:solidFill>
                  <a:schemeClr val="lt1"/>
                </a:solidFill>
                <a:latin typeface="Helvetica Neue"/>
              </a:rPr>
              <a:t>Fuzzer</a:t>
            </a:r>
            <a:r>
              <a:rPr lang="en-US" sz="4000" dirty="0">
                <a:solidFill>
                  <a:schemeClr val="lt1"/>
                </a:solidFill>
                <a:latin typeface="Helvetica Neue"/>
              </a:rPr>
              <a:t> evaluation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232AE6-98D8-4F09-01E9-1C1D108978BE}"/>
              </a:ext>
            </a:extLst>
          </p:cNvPr>
          <p:cNvSpPr txBox="1"/>
          <p:nvPr/>
        </p:nvSpPr>
        <p:spPr>
          <a:xfrm>
            <a:off x="142874" y="989919"/>
            <a:ext cx="8837839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/>
              <a:t>Klees et al (CCS ‘18) – Guidelines for evaluating </a:t>
            </a:r>
            <a:r>
              <a:rPr lang="en-US" sz="2800" dirty="0" err="1"/>
              <a:t>fuzzers</a:t>
            </a:r>
            <a:r>
              <a:rPr lang="en-US" sz="2800" dirty="0"/>
              <a:t>.</a:t>
            </a:r>
            <a:endParaRPr lang="en-US" dirty="0"/>
          </a:p>
          <a:p>
            <a:pPr marL="457200" indent="-457200">
              <a:buChar char="•"/>
            </a:pPr>
            <a:endParaRPr lang="en-US" sz="2800"/>
          </a:p>
          <a:p>
            <a:pPr marL="457200" indent="-457200">
              <a:buChar char="•"/>
            </a:pPr>
            <a:r>
              <a:rPr lang="en-US" sz="2800" dirty="0"/>
              <a:t>Schloegel et al (S&amp;P ‘24) – Discovered flaws in existing </a:t>
            </a:r>
            <a:r>
              <a:rPr lang="en-US" sz="2800" dirty="0" err="1"/>
              <a:t>fuzzer</a:t>
            </a:r>
            <a:r>
              <a:rPr lang="en-US" sz="2800" dirty="0"/>
              <a:t> evaluation.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BE07DF-1392-5E2F-0E6C-BEC4C9324734}"/>
              </a:ext>
            </a:extLst>
          </p:cNvPr>
          <p:cNvSpPr txBox="1"/>
          <p:nvPr/>
        </p:nvSpPr>
        <p:spPr>
          <a:xfrm>
            <a:off x="151375" y="4680870"/>
            <a:ext cx="722721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“Evaluating Fuzz Testing” ACM CCS 2018.</a:t>
            </a:r>
          </a:p>
          <a:p>
            <a:r>
              <a:rPr lang="en-US" sz="1000" dirty="0"/>
              <a:t>“</a:t>
            </a:r>
            <a:r>
              <a:rPr lang="en-US" sz="1000" dirty="0" err="1"/>
              <a:t>SoK</a:t>
            </a:r>
            <a:r>
              <a:rPr lang="en-US" sz="1000" dirty="0"/>
              <a:t>: Prudent Evaluation Practices for Fuzzing” IEEE S&amp;P 2024.</a:t>
            </a:r>
          </a:p>
        </p:txBody>
      </p:sp>
    </p:spTree>
    <p:extLst>
      <p:ext uri="{BB962C8B-B14F-4D97-AF65-F5344CB8AC3E}">
        <p14:creationId xmlns:p14="http://schemas.microsoft.com/office/powerpoint/2010/main" val="203706183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D4A0C4D2-F97B-5145-CFA6-6F635D303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31734F4E-FE19-D892-7AC9-D3B2A378B1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73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EDE16F34-D1BA-E6E9-C981-DBEF2AA13B0F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B48C69D1-217B-AC94-1429-4C620F07967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35A0D2-639B-47EB-A001-734C3B65145E}"/>
              </a:ext>
            </a:extLst>
          </p:cNvPr>
          <p:cNvSpPr txBox="1"/>
          <p:nvPr/>
        </p:nvSpPr>
        <p:spPr>
          <a:xfrm>
            <a:off x="153079" y="2061482"/>
            <a:ext cx="883783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dirty="0">
                <a:latin typeface="Helvetica Neue"/>
              </a:rPr>
              <a:t>What next in fuzzing?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88465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8EA2C854-A4BC-44FD-1630-619794C60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DCA6D75F-003D-EC8E-7D5A-78A93298DB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74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1BA382E-1E95-208C-90D3-E9D747BFAB31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81359A0F-88B2-DE0A-F6F1-FF420D49B753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B0185116-F839-AC3E-D81C-F2990B5E01A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67477906-9170-5626-AE7C-5A8A38B416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What next in fuzzing?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DD5DD-698B-113C-2329-B72EE030A326}"/>
              </a:ext>
            </a:extLst>
          </p:cNvPr>
          <p:cNvSpPr txBox="1"/>
          <p:nvPr/>
        </p:nvSpPr>
        <p:spPr>
          <a:xfrm>
            <a:off x="142874" y="890528"/>
            <a:ext cx="883783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Human aspects: selecting fuzz target, optimal fuzzing configuration, </a:t>
            </a:r>
            <a:r>
              <a:rPr lang="en-US" sz="2800" dirty="0" err="1">
                <a:latin typeface="Helvetica Neue"/>
              </a:rPr>
              <a:t>fuzzer</a:t>
            </a:r>
            <a:r>
              <a:rPr lang="en-US" sz="2800" dirty="0">
                <a:latin typeface="Helvetica Neue"/>
              </a:rPr>
              <a:t> introspection.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66BDB-EED5-C7ED-330B-92FB018A366C}"/>
              </a:ext>
            </a:extLst>
          </p:cNvPr>
          <p:cNvSpPr txBox="1"/>
          <p:nvPr/>
        </p:nvSpPr>
        <p:spPr>
          <a:xfrm>
            <a:off x="151375" y="4813892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“The Human Side of Fuzzing: Challenges Faced by Developers during Fuzzing Activities” ACM TOSEM 2023.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7008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B3C868BA-8E85-FC8C-A2A6-AB442BE5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389796C6-B34F-5056-4514-D6D646C7B0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75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54E81B4-98B9-4477-62AB-056BB9049E0B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326BB1BA-AE1C-BAA3-779A-E1AE99CA6BD3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7E9243A8-BE96-7F95-F517-77431FC9C4C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714FDA47-F340-D02F-ABC5-84C0C0E48C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What next in fuzzing?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B47202-2A71-A1FD-13C1-C72C616FBAA1}"/>
              </a:ext>
            </a:extLst>
          </p:cNvPr>
          <p:cNvSpPr txBox="1"/>
          <p:nvPr/>
        </p:nvSpPr>
        <p:spPr>
          <a:xfrm>
            <a:off x="142874" y="890528"/>
            <a:ext cx="8837839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Human aspects: selecting fuzz target, optimal fuzzing configuration, </a:t>
            </a:r>
            <a:r>
              <a:rPr lang="en-US" sz="2800" dirty="0" err="1">
                <a:latin typeface="Helvetica Neue"/>
              </a:rPr>
              <a:t>fuzzer</a:t>
            </a:r>
            <a:r>
              <a:rPr lang="en-US" sz="2800" dirty="0">
                <a:latin typeface="Helvetica Neue"/>
              </a:rPr>
              <a:t> introspection.</a:t>
            </a:r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Evaluation: Component level evaluation, full fuzzing reproducibility.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42A01-D515-8E42-197E-618C938A4033}"/>
              </a:ext>
            </a:extLst>
          </p:cNvPr>
          <p:cNvSpPr txBox="1"/>
          <p:nvPr/>
        </p:nvSpPr>
        <p:spPr>
          <a:xfrm>
            <a:off x="151375" y="4813892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“The Human Side of Fuzzing: Challenges Faced by Developers during Fuzzing Activities” ACM TOSEM 2023.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50196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FBF87A30-6D5D-D7B8-B370-81CDF3C5C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8947E0B8-A173-FD8C-5900-0DA6ED37F0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76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A8AE775-3416-7A6B-463E-36FF9E978641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6D8647B0-6D82-D772-47D0-1AA503520DA2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3314938-F04A-1667-893F-A3BBEC6D313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E2C89E21-E9EF-53E1-BF9A-B68053DFFF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What next in fuzzing?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73A886-A407-6B01-FCC8-333EADA8D7B2}"/>
              </a:ext>
            </a:extLst>
          </p:cNvPr>
          <p:cNvSpPr txBox="1"/>
          <p:nvPr/>
        </p:nvSpPr>
        <p:spPr>
          <a:xfrm>
            <a:off x="142874" y="890528"/>
            <a:ext cx="8837839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Human aspects: selecting fuzz target, optimal fuzzing configuration, </a:t>
            </a:r>
            <a:r>
              <a:rPr lang="en-US" sz="2800" dirty="0" err="1">
                <a:latin typeface="Helvetica Neue"/>
              </a:rPr>
              <a:t>fuzzer</a:t>
            </a:r>
            <a:r>
              <a:rPr lang="en-US" sz="2800" dirty="0">
                <a:latin typeface="Helvetica Neue"/>
              </a:rPr>
              <a:t> introspection.</a:t>
            </a:r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Evaluation: Component level evaluation, full fuzzing reproducibility.</a:t>
            </a:r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Performance: Deeper integration with other techniques.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7152B3-FF0B-9F50-2BEC-260A75E9904A}"/>
              </a:ext>
            </a:extLst>
          </p:cNvPr>
          <p:cNvSpPr txBox="1"/>
          <p:nvPr/>
        </p:nvSpPr>
        <p:spPr>
          <a:xfrm>
            <a:off x="151375" y="4813892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“The Human Side of Fuzzing: Challenges Faced by Developers during Fuzzing Activities” ACM TOSEM 2023.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7166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38646A26-EBBD-328D-C5F8-3B962FB6F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2BB44935-E52E-8D48-66F2-955E31F4B7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77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05D560E5-72B3-772E-7E45-8262A04A5646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C836F24A-296B-957E-E251-5A5BA9286C4E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D96127BB-0BAB-BFE9-AC05-4A9DDE6A699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EC6CD881-63AB-B5BD-6FC8-E50DA0F985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Conclusion</a:t>
            </a:r>
          </a:p>
        </p:txBody>
      </p:sp>
      <p:sp>
        <p:nvSpPr>
          <p:cNvPr id="2" name="Flowchart: Data 1">
            <a:extLst>
              <a:ext uri="{FF2B5EF4-FFF2-40B4-BE49-F238E27FC236}">
                <a16:creationId xmlns:a16="http://schemas.microsoft.com/office/drawing/2014/main" id="{40B36BF4-55E2-B9EC-9240-4D12B2EE471A}"/>
              </a:ext>
            </a:extLst>
          </p:cNvPr>
          <p:cNvSpPr/>
          <p:nvPr/>
        </p:nvSpPr>
        <p:spPr>
          <a:xfrm>
            <a:off x="384870" y="3840062"/>
            <a:ext cx="1229556" cy="62636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Seed Pool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3ED2BE90-293C-66EB-5264-5EBC923F37B0}"/>
              </a:ext>
            </a:extLst>
          </p:cNvPr>
          <p:cNvSpPr/>
          <p:nvPr/>
        </p:nvSpPr>
        <p:spPr>
          <a:xfrm>
            <a:off x="2731036" y="3863444"/>
            <a:ext cx="1162015" cy="631918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Schedule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04DEE56B-B52E-6700-679E-50F9F321EC03}"/>
              </a:ext>
            </a:extLst>
          </p:cNvPr>
          <p:cNvSpPr/>
          <p:nvPr/>
        </p:nvSpPr>
        <p:spPr>
          <a:xfrm>
            <a:off x="4055262" y="3490212"/>
            <a:ext cx="1055865" cy="626369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Seed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lowchart: Data 4">
            <a:extLst>
              <a:ext uri="{FF2B5EF4-FFF2-40B4-BE49-F238E27FC236}">
                <a16:creationId xmlns:a16="http://schemas.microsoft.com/office/drawing/2014/main" id="{D5B2B13B-66B1-51FE-88BE-E44F080645C3}"/>
              </a:ext>
            </a:extLst>
          </p:cNvPr>
          <p:cNvSpPr/>
          <p:nvPr/>
        </p:nvSpPr>
        <p:spPr>
          <a:xfrm>
            <a:off x="7020710" y="3300204"/>
            <a:ext cx="1049315" cy="814457"/>
          </a:xfrm>
          <a:prstGeom prst="flowChartMulti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New Seeds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lowchart: Data 1">
            <a:extLst>
              <a:ext uri="{FF2B5EF4-FFF2-40B4-BE49-F238E27FC236}">
                <a16:creationId xmlns:a16="http://schemas.microsoft.com/office/drawing/2014/main" id="{44C2CB2A-37D6-93B3-7DA1-597E4CB68787}"/>
              </a:ext>
            </a:extLst>
          </p:cNvPr>
          <p:cNvSpPr/>
          <p:nvPr/>
        </p:nvSpPr>
        <p:spPr>
          <a:xfrm>
            <a:off x="370219" y="1278639"/>
            <a:ext cx="1571335" cy="68800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Target Program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7FB887F0-50B7-30E0-5307-24C5B32358BD}"/>
              </a:ext>
            </a:extLst>
          </p:cNvPr>
          <p:cNvSpPr/>
          <p:nvPr/>
        </p:nvSpPr>
        <p:spPr>
          <a:xfrm>
            <a:off x="5852834" y="1336658"/>
            <a:ext cx="1164540" cy="556140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Instrument</a:t>
            </a:r>
            <a:endParaRPr lang="en-US"/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A1C9E416-2BD9-367F-2FFE-59BBF7FFEDCA}"/>
              </a:ext>
            </a:extLst>
          </p:cNvPr>
          <p:cNvSpPr/>
          <p:nvPr/>
        </p:nvSpPr>
        <p:spPr>
          <a:xfrm>
            <a:off x="6175512" y="2490345"/>
            <a:ext cx="929895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Execute</a:t>
            </a:r>
            <a:endParaRPr lang="en-US"/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7F0A3464-F39F-0C01-C1DB-A8041CC9B93B}"/>
              </a:ext>
            </a:extLst>
          </p:cNvPr>
          <p:cNvSpPr/>
          <p:nvPr/>
        </p:nvSpPr>
        <p:spPr>
          <a:xfrm>
            <a:off x="2640651" y="2474470"/>
            <a:ext cx="1168310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Helvetica Neue"/>
                <a:cs typeface="Arial"/>
              </a:rPr>
              <a:t>Filter</a:t>
            </a:r>
            <a:br>
              <a:rPr lang="en-US" sz="1600" dirty="0">
                <a:latin typeface="Helvetica Neue"/>
                <a:cs typeface="Arial"/>
              </a:rPr>
            </a:br>
            <a:r>
              <a:rPr lang="en-US" sz="1600" dirty="0">
                <a:solidFill>
                  <a:schemeClr val="tx1"/>
                </a:solidFill>
                <a:latin typeface="Helvetica Neue"/>
                <a:cs typeface="Arial"/>
              </a:rPr>
              <a:t>Seeds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lowchart: Data 1">
            <a:extLst>
              <a:ext uri="{FF2B5EF4-FFF2-40B4-BE49-F238E27FC236}">
                <a16:creationId xmlns:a16="http://schemas.microsoft.com/office/drawing/2014/main" id="{AF89522C-557D-FCF6-4095-5BDDF2863E52}"/>
              </a:ext>
            </a:extLst>
          </p:cNvPr>
          <p:cNvSpPr/>
          <p:nvPr/>
        </p:nvSpPr>
        <p:spPr>
          <a:xfrm>
            <a:off x="4178262" y="2106977"/>
            <a:ext cx="1756231" cy="626369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Execution data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0D7F7AB-C061-8F85-6460-0F2F15E51958}"/>
              </a:ext>
            </a:extLst>
          </p:cNvPr>
          <p:cNvCxnSpPr>
            <a:cxnSpLocks/>
          </p:cNvCxnSpPr>
          <p:nvPr/>
        </p:nvCxnSpPr>
        <p:spPr>
          <a:xfrm flipV="1">
            <a:off x="1613467" y="4155570"/>
            <a:ext cx="1116605" cy="25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8EDF5E7-91DA-A64D-E170-1CF3717AF2FB}"/>
              </a:ext>
            </a:extLst>
          </p:cNvPr>
          <p:cNvCxnSpPr>
            <a:cxnSpLocks/>
          </p:cNvCxnSpPr>
          <p:nvPr/>
        </p:nvCxnSpPr>
        <p:spPr>
          <a:xfrm flipH="1">
            <a:off x="3811077" y="2753537"/>
            <a:ext cx="2345267" cy="44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A1F75F3-82A9-4C71-96A1-20FA512EBD09}"/>
              </a:ext>
            </a:extLst>
          </p:cNvPr>
          <p:cNvCxnSpPr/>
          <p:nvPr/>
        </p:nvCxnSpPr>
        <p:spPr>
          <a:xfrm flipH="1">
            <a:off x="8390014" y="1630656"/>
            <a:ext cx="626" cy="2522198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BEDF577-1C83-6E52-1DC0-6F554A817659}"/>
              </a:ext>
            </a:extLst>
          </p:cNvPr>
          <p:cNvCxnSpPr>
            <a:cxnSpLocks/>
          </p:cNvCxnSpPr>
          <p:nvPr/>
        </p:nvCxnSpPr>
        <p:spPr>
          <a:xfrm flipH="1" flipV="1">
            <a:off x="7113156" y="2754124"/>
            <a:ext cx="1281094" cy="136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9F75EE2E-E71B-11B0-8B99-740F21C30014}"/>
              </a:ext>
            </a:extLst>
          </p:cNvPr>
          <p:cNvSpPr/>
          <p:nvPr/>
        </p:nvSpPr>
        <p:spPr>
          <a:xfrm>
            <a:off x="2937197" y="1326806"/>
            <a:ext cx="1164540" cy="556140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Helvetica Neue"/>
                <a:cs typeface="Arial"/>
              </a:rPr>
              <a:t>Create Driver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B6B93B6-E937-F887-0887-F10F24F14816}"/>
              </a:ext>
            </a:extLst>
          </p:cNvPr>
          <p:cNvCxnSpPr>
            <a:cxnSpLocks/>
          </p:cNvCxnSpPr>
          <p:nvPr/>
        </p:nvCxnSpPr>
        <p:spPr>
          <a:xfrm flipV="1">
            <a:off x="4108730" y="1624945"/>
            <a:ext cx="1753372" cy="72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7A7AA9E-9333-5933-F3F9-4E991E30A766}"/>
              </a:ext>
            </a:extLst>
          </p:cNvPr>
          <p:cNvCxnSpPr>
            <a:cxnSpLocks/>
          </p:cNvCxnSpPr>
          <p:nvPr/>
        </p:nvCxnSpPr>
        <p:spPr>
          <a:xfrm>
            <a:off x="1940643" y="1631914"/>
            <a:ext cx="1000897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A43C34FF-D35A-60E4-81AF-34E72AEA177D}"/>
              </a:ext>
            </a:extLst>
          </p:cNvPr>
          <p:cNvSpPr/>
          <p:nvPr/>
        </p:nvSpPr>
        <p:spPr>
          <a:xfrm>
            <a:off x="5383749" y="3841218"/>
            <a:ext cx="1162015" cy="631918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Mutate</a:t>
            </a:r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76AC077-F061-EE0D-D30D-E79A0E5D8C96}"/>
              </a:ext>
            </a:extLst>
          </p:cNvPr>
          <p:cNvCxnSpPr>
            <a:cxnSpLocks/>
          </p:cNvCxnSpPr>
          <p:nvPr/>
        </p:nvCxnSpPr>
        <p:spPr>
          <a:xfrm flipV="1">
            <a:off x="3893116" y="4157158"/>
            <a:ext cx="1481730" cy="104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0C46CD-9348-351C-07C2-D41D7E0CD9AD}"/>
              </a:ext>
            </a:extLst>
          </p:cNvPr>
          <p:cNvCxnSpPr/>
          <p:nvPr/>
        </p:nvCxnSpPr>
        <p:spPr>
          <a:xfrm>
            <a:off x="6534897" y="4150565"/>
            <a:ext cx="1849718" cy="233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Data 1">
            <a:extLst>
              <a:ext uri="{FF2B5EF4-FFF2-40B4-BE49-F238E27FC236}">
                <a16:creationId xmlns:a16="http://schemas.microsoft.com/office/drawing/2014/main" id="{CF352A37-30F5-AD1C-8213-0ABB085CE866}"/>
              </a:ext>
            </a:extLst>
          </p:cNvPr>
          <p:cNvSpPr/>
          <p:nvPr/>
        </p:nvSpPr>
        <p:spPr>
          <a:xfrm>
            <a:off x="4321137" y="930942"/>
            <a:ext cx="1327606" cy="657113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Fuzz Driver</a:t>
            </a:r>
            <a:endParaRPr lang="en-US"/>
          </a:p>
        </p:txBody>
      </p:sp>
      <p:sp>
        <p:nvSpPr>
          <p:cNvPr id="26" name="Flowchart: Data 1">
            <a:extLst>
              <a:ext uri="{FF2B5EF4-FFF2-40B4-BE49-F238E27FC236}">
                <a16:creationId xmlns:a16="http://schemas.microsoft.com/office/drawing/2014/main" id="{A2EFABC5-CE5E-25EA-ADF0-8C6C7B4FD18B}"/>
              </a:ext>
            </a:extLst>
          </p:cNvPr>
          <p:cNvSpPr/>
          <p:nvPr/>
        </p:nvSpPr>
        <p:spPr>
          <a:xfrm>
            <a:off x="7188162" y="867642"/>
            <a:ext cx="1792401" cy="720413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Instrumented Program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B23ED34-2FA1-1799-F6FF-46041D16C6FA}"/>
              </a:ext>
            </a:extLst>
          </p:cNvPr>
          <p:cNvCxnSpPr/>
          <p:nvPr/>
        </p:nvCxnSpPr>
        <p:spPr>
          <a:xfrm>
            <a:off x="7021511" y="1628775"/>
            <a:ext cx="1371600" cy="0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2A3C9928-9FF5-B83F-DBEC-99D286F2F69C}"/>
              </a:ext>
            </a:extLst>
          </p:cNvPr>
          <p:cNvSpPr/>
          <p:nvPr/>
        </p:nvSpPr>
        <p:spPr>
          <a:xfrm>
            <a:off x="2638810" y="1176205"/>
            <a:ext cx="1695860" cy="87804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52947E-8947-7B1D-2DB9-FF2F3C1E406B}"/>
              </a:ext>
            </a:extLst>
          </p:cNvPr>
          <p:cNvSpPr/>
          <p:nvPr/>
        </p:nvSpPr>
        <p:spPr>
          <a:xfrm>
            <a:off x="2443486" y="2290266"/>
            <a:ext cx="1587348" cy="10082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1939CF9-0FD4-F3E3-C1BD-E4D5F26C9849}"/>
              </a:ext>
            </a:extLst>
          </p:cNvPr>
          <p:cNvSpPr/>
          <p:nvPr/>
        </p:nvSpPr>
        <p:spPr>
          <a:xfrm>
            <a:off x="2566466" y="3628588"/>
            <a:ext cx="1486070" cy="10806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C3E8E64-53B7-590A-8916-CA1B81305F2E}"/>
              </a:ext>
            </a:extLst>
          </p:cNvPr>
          <p:cNvSpPr/>
          <p:nvPr/>
        </p:nvSpPr>
        <p:spPr>
          <a:xfrm>
            <a:off x="5214175" y="3614119"/>
            <a:ext cx="1486070" cy="10806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4A8D829-515B-E51A-5563-D7A885F65360}"/>
              </a:ext>
            </a:extLst>
          </p:cNvPr>
          <p:cNvCxnSpPr/>
          <p:nvPr/>
        </p:nvCxnSpPr>
        <p:spPr>
          <a:xfrm>
            <a:off x="953042" y="2980702"/>
            <a:ext cx="411" cy="8656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C048506-E929-D34E-FD68-7E81DBD60413}"/>
              </a:ext>
            </a:extLst>
          </p:cNvPr>
          <p:cNvCxnSpPr/>
          <p:nvPr/>
        </p:nvCxnSpPr>
        <p:spPr>
          <a:xfrm flipV="1">
            <a:off x="957482" y="2976874"/>
            <a:ext cx="1689397" cy="87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Data 4">
            <a:extLst>
              <a:ext uri="{FF2B5EF4-FFF2-40B4-BE49-F238E27FC236}">
                <a16:creationId xmlns:a16="http://schemas.microsoft.com/office/drawing/2014/main" id="{BB72242A-4982-C5DB-92F0-0EA71DE996AF}"/>
              </a:ext>
            </a:extLst>
          </p:cNvPr>
          <p:cNvSpPr/>
          <p:nvPr/>
        </p:nvSpPr>
        <p:spPr>
          <a:xfrm>
            <a:off x="999816" y="3021250"/>
            <a:ext cx="1574232" cy="683519"/>
          </a:xfrm>
          <a:prstGeom prst="flowChartMulti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Helvetica Neue"/>
                <a:cs typeface="Arial"/>
              </a:rPr>
              <a:t>Interesting Seeds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04C55AC-3C4D-ECE7-7E02-C6EA8CAAB9AD}"/>
              </a:ext>
            </a:extLst>
          </p:cNvPr>
          <p:cNvCxnSpPr/>
          <p:nvPr/>
        </p:nvCxnSpPr>
        <p:spPr>
          <a:xfrm flipH="1">
            <a:off x="835127" y="2704577"/>
            <a:ext cx="1805886" cy="3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Data 4">
            <a:extLst>
              <a:ext uri="{FF2B5EF4-FFF2-40B4-BE49-F238E27FC236}">
                <a16:creationId xmlns:a16="http://schemas.microsoft.com/office/drawing/2014/main" id="{F71A4D83-35C5-0D3C-2866-7671103CBBC4}"/>
              </a:ext>
            </a:extLst>
          </p:cNvPr>
          <p:cNvSpPr/>
          <p:nvPr/>
        </p:nvSpPr>
        <p:spPr>
          <a:xfrm>
            <a:off x="1054009" y="2006345"/>
            <a:ext cx="1574232" cy="683519"/>
          </a:xfrm>
          <a:prstGeom prst="flowChartMulti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Helvetica Neue"/>
                <a:cs typeface="Arial"/>
              </a:rPr>
              <a:t>Crashing Seeds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Flowchart: Process 43">
            <a:extLst>
              <a:ext uri="{FF2B5EF4-FFF2-40B4-BE49-F238E27FC236}">
                <a16:creationId xmlns:a16="http://schemas.microsoft.com/office/drawing/2014/main" id="{9039850A-A79E-4B36-21B3-DDF56F72EBEF}"/>
              </a:ext>
            </a:extLst>
          </p:cNvPr>
          <p:cNvSpPr/>
          <p:nvPr/>
        </p:nvSpPr>
        <p:spPr>
          <a:xfrm>
            <a:off x="4525" y="2385461"/>
            <a:ext cx="833293" cy="669453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Save to disk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35891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5EAFC133-05CD-3B24-635C-BB2B869BD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BB629578-A8A8-0DD5-025B-EB026DDEB7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78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46C172F-E412-D5E2-F334-6095B7E419D8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9C9E3913-0164-F9E2-6E2D-6E6BB56474B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78E7A9-E10E-D520-8C89-7A51BF413608}"/>
              </a:ext>
            </a:extLst>
          </p:cNvPr>
          <p:cNvSpPr txBox="1"/>
          <p:nvPr/>
        </p:nvSpPr>
        <p:spPr>
          <a:xfrm>
            <a:off x="153079" y="2061482"/>
            <a:ext cx="883783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dirty="0">
                <a:latin typeface="Helvetica Neue"/>
              </a:rPr>
              <a:t>Extra slides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02881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79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Harnessing target</a:t>
            </a:r>
            <a:endParaRPr lang="en-US"/>
          </a:p>
        </p:txBody>
      </p:sp>
      <p:sp>
        <p:nvSpPr>
          <p:cNvPr id="3" name="Flowchart: Data 4">
            <a:extLst>
              <a:ext uri="{FF2B5EF4-FFF2-40B4-BE49-F238E27FC236}">
                <a16:creationId xmlns:a16="http://schemas.microsoft.com/office/drawing/2014/main" id="{FE260EF1-ACC5-9002-47F0-0031437DA3B8}"/>
              </a:ext>
            </a:extLst>
          </p:cNvPr>
          <p:cNvSpPr/>
          <p:nvPr/>
        </p:nvSpPr>
        <p:spPr>
          <a:xfrm>
            <a:off x="292549" y="1361568"/>
            <a:ext cx="1055865" cy="626369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Seed</a:t>
            </a:r>
            <a:endParaRPr lang="en-US" sz="2400">
              <a:solidFill>
                <a:schemeClr val="tx1"/>
              </a:solidFill>
              <a:cs typeface="Arial"/>
            </a:endParaRP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45326DD7-BFC6-CF4A-3635-72D12EB59FD7}"/>
              </a:ext>
            </a:extLst>
          </p:cNvPr>
          <p:cNvSpPr/>
          <p:nvPr/>
        </p:nvSpPr>
        <p:spPr>
          <a:xfrm>
            <a:off x="2084568" y="1096592"/>
            <a:ext cx="4407180" cy="1185075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indent="-342900" algn="ctr">
              <a:buAutoNum type="arabicPeriod"/>
            </a:pPr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Initialize fuzz target state</a:t>
            </a:r>
          </a:p>
          <a:p>
            <a:pPr marL="342900" indent="-342900" algn="ctr">
              <a:buAutoNum type="arabicPeriod"/>
            </a:pPr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Run fuzz target with seed</a:t>
            </a:r>
          </a:p>
          <a:p>
            <a:pPr marL="342900" indent="-342900" algn="ctr">
              <a:buAutoNum type="arabicPeriod"/>
            </a:pPr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Terminate execution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D96BDA62-E018-69E6-5E38-B31C7BD34E50}"/>
              </a:ext>
            </a:extLst>
          </p:cNvPr>
          <p:cNvSpPr/>
          <p:nvPr/>
        </p:nvSpPr>
        <p:spPr>
          <a:xfrm>
            <a:off x="7221355" y="1243653"/>
            <a:ext cx="1636648" cy="862595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Program under test</a:t>
            </a:r>
            <a:endParaRPr lang="en-US" sz="2400">
              <a:solidFill>
                <a:schemeClr val="tx1"/>
              </a:solidFill>
              <a:latin typeface="Helvetica Neue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5B1F2D-216F-69E6-5464-6858A39104C3}"/>
              </a:ext>
            </a:extLst>
          </p:cNvPr>
          <p:cNvCxnSpPr>
            <a:cxnSpLocks/>
          </p:cNvCxnSpPr>
          <p:nvPr/>
        </p:nvCxnSpPr>
        <p:spPr>
          <a:xfrm flipV="1">
            <a:off x="1353611" y="1624835"/>
            <a:ext cx="734476" cy="27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B29EBC6-5D2E-FAAA-A7C5-7FEEC6E660ED}"/>
              </a:ext>
            </a:extLst>
          </p:cNvPr>
          <p:cNvCxnSpPr>
            <a:cxnSpLocks/>
          </p:cNvCxnSpPr>
          <p:nvPr/>
        </p:nvCxnSpPr>
        <p:spPr>
          <a:xfrm flipV="1">
            <a:off x="6488827" y="1624834"/>
            <a:ext cx="734476" cy="27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45332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ED9B7188-FF6B-D943-713A-13C65705D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5A51C926-1AD1-CEA1-8B72-A1F137474D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80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FD9EABC4-FFC6-BF1F-640A-570DADDE72BF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EA45C0CD-1A05-1D9D-9F45-9209C573739D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648C95E3-F9EE-B534-D8C5-5012A815059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096B3121-8C45-69D4-783F-2D3FD330A0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Harnessing target</a:t>
            </a:r>
            <a:endParaRPr lang="en-US"/>
          </a:p>
        </p:txBody>
      </p:sp>
      <p:sp>
        <p:nvSpPr>
          <p:cNvPr id="3" name="Flowchart: Data 4">
            <a:extLst>
              <a:ext uri="{FF2B5EF4-FFF2-40B4-BE49-F238E27FC236}">
                <a16:creationId xmlns:a16="http://schemas.microsoft.com/office/drawing/2014/main" id="{61768253-FEF9-BD29-E5D4-32CA7B665200}"/>
              </a:ext>
            </a:extLst>
          </p:cNvPr>
          <p:cNvSpPr/>
          <p:nvPr/>
        </p:nvSpPr>
        <p:spPr>
          <a:xfrm>
            <a:off x="292549" y="1361568"/>
            <a:ext cx="1055865" cy="626369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Seed</a:t>
            </a:r>
            <a:endParaRPr lang="en-US" sz="2400">
              <a:solidFill>
                <a:schemeClr val="tx1"/>
              </a:solidFill>
              <a:cs typeface="Arial"/>
            </a:endParaRP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9DAC1909-1C1C-B4F4-6BE8-C0A37844F0ED}"/>
              </a:ext>
            </a:extLst>
          </p:cNvPr>
          <p:cNvSpPr/>
          <p:nvPr/>
        </p:nvSpPr>
        <p:spPr>
          <a:xfrm>
            <a:off x="2084568" y="1096592"/>
            <a:ext cx="4407180" cy="1185075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indent="-342900" algn="ctr">
              <a:buAutoNum type="arabicPeriod"/>
            </a:pPr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Initialize fuzz target state</a:t>
            </a:r>
          </a:p>
          <a:p>
            <a:pPr marL="342900" indent="-342900" algn="ctr">
              <a:buAutoNum type="arabicPeriod"/>
            </a:pPr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Run fuzz target with seed</a:t>
            </a:r>
          </a:p>
          <a:p>
            <a:pPr marL="342900" indent="-342900" algn="ctr">
              <a:buAutoNum type="arabicPeriod"/>
            </a:pPr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Terminate execution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752F656A-7171-E44F-E85C-490B9245721E}"/>
              </a:ext>
            </a:extLst>
          </p:cNvPr>
          <p:cNvSpPr/>
          <p:nvPr/>
        </p:nvSpPr>
        <p:spPr>
          <a:xfrm>
            <a:off x="7221355" y="1243653"/>
            <a:ext cx="1636648" cy="862595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Program under test</a:t>
            </a:r>
            <a:endParaRPr lang="en-US" sz="2400">
              <a:solidFill>
                <a:schemeClr val="tx1"/>
              </a:solidFill>
              <a:latin typeface="Helvetica Neue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FE94B0-C767-BB3F-E35D-9E9656129126}"/>
              </a:ext>
            </a:extLst>
          </p:cNvPr>
          <p:cNvCxnSpPr>
            <a:cxnSpLocks/>
          </p:cNvCxnSpPr>
          <p:nvPr/>
        </p:nvCxnSpPr>
        <p:spPr>
          <a:xfrm flipV="1">
            <a:off x="1353611" y="1624835"/>
            <a:ext cx="734476" cy="27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C5857A4-FEEF-75C8-C3C6-0ECD39DFD07F}"/>
              </a:ext>
            </a:extLst>
          </p:cNvPr>
          <p:cNvSpPr txBox="1"/>
          <p:nvPr/>
        </p:nvSpPr>
        <p:spPr>
          <a:xfrm>
            <a:off x="74546" y="2575890"/>
            <a:ext cx="898662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2400" dirty="0">
                <a:latin typeface="Helvetica Neue"/>
              </a:rPr>
              <a:t>Two operation modes: </a:t>
            </a:r>
            <a:r>
              <a:rPr lang="en-US" sz="2400" dirty="0" err="1">
                <a:latin typeface="Helvetica Neue"/>
              </a:rPr>
              <a:t>forkserver</a:t>
            </a:r>
            <a:r>
              <a:rPr lang="en-US" sz="2400" dirty="0">
                <a:latin typeface="Helvetica Neue"/>
              </a:rPr>
              <a:t> mode and persistent mode.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490D34-7BD5-6F4A-EC60-4CBF0D3E8B16}"/>
              </a:ext>
            </a:extLst>
          </p:cNvPr>
          <p:cNvCxnSpPr>
            <a:cxnSpLocks/>
          </p:cNvCxnSpPr>
          <p:nvPr/>
        </p:nvCxnSpPr>
        <p:spPr>
          <a:xfrm flipV="1">
            <a:off x="6488827" y="1624834"/>
            <a:ext cx="734476" cy="27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66937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9E445317-1CA5-5FFC-89BC-4F84B793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992A48B8-BEF9-4729-F30A-EBCA83A8FE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81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7D11541-13E5-D2CF-2D22-4C6080B23EAA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EDC16192-BFA8-E563-D0B6-10EE19FA5A88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30E5E1C1-3B83-3307-8F97-714D6774C3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2E996EC4-F42A-E6F0-1762-4EB2D86422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Harnessing target</a:t>
            </a:r>
            <a:endParaRPr lang="en-US"/>
          </a:p>
        </p:txBody>
      </p:sp>
      <p:sp>
        <p:nvSpPr>
          <p:cNvPr id="3" name="Flowchart: Data 4">
            <a:extLst>
              <a:ext uri="{FF2B5EF4-FFF2-40B4-BE49-F238E27FC236}">
                <a16:creationId xmlns:a16="http://schemas.microsoft.com/office/drawing/2014/main" id="{BAB71AB4-3547-397C-B165-CA5FB50FA86D}"/>
              </a:ext>
            </a:extLst>
          </p:cNvPr>
          <p:cNvSpPr/>
          <p:nvPr/>
        </p:nvSpPr>
        <p:spPr>
          <a:xfrm>
            <a:off x="292549" y="1361568"/>
            <a:ext cx="1055865" cy="626369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Seed</a:t>
            </a:r>
            <a:endParaRPr lang="en-US" sz="2400">
              <a:solidFill>
                <a:schemeClr val="tx1"/>
              </a:solidFill>
              <a:cs typeface="Arial"/>
            </a:endParaRP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66222EC0-51E5-BEF9-0F42-6664DDFE10F8}"/>
              </a:ext>
            </a:extLst>
          </p:cNvPr>
          <p:cNvSpPr/>
          <p:nvPr/>
        </p:nvSpPr>
        <p:spPr>
          <a:xfrm>
            <a:off x="2084568" y="1096592"/>
            <a:ext cx="4407180" cy="1185075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indent="-342900" algn="ctr">
              <a:buAutoNum type="arabicPeriod"/>
            </a:pPr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Initialize fuzz target state</a:t>
            </a:r>
          </a:p>
          <a:p>
            <a:pPr marL="342900" indent="-342900" algn="ctr">
              <a:buAutoNum type="arabicPeriod"/>
            </a:pPr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Run fuzz target with seed</a:t>
            </a:r>
          </a:p>
          <a:p>
            <a:pPr marL="342900" indent="-342900" algn="ctr">
              <a:buAutoNum type="arabicPeriod"/>
            </a:pPr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Terminate execution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27A9E134-AC2A-A9ED-1337-55E590DE26F7}"/>
              </a:ext>
            </a:extLst>
          </p:cNvPr>
          <p:cNvSpPr/>
          <p:nvPr/>
        </p:nvSpPr>
        <p:spPr>
          <a:xfrm>
            <a:off x="7221355" y="1243653"/>
            <a:ext cx="1636648" cy="862595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Program under test</a:t>
            </a:r>
            <a:endParaRPr lang="en-US" sz="2400">
              <a:solidFill>
                <a:schemeClr val="tx1"/>
              </a:solidFill>
              <a:latin typeface="Helvetica Neue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E48656-CEAE-E179-C196-1F5EC768855B}"/>
              </a:ext>
            </a:extLst>
          </p:cNvPr>
          <p:cNvCxnSpPr>
            <a:cxnSpLocks/>
          </p:cNvCxnSpPr>
          <p:nvPr/>
        </p:nvCxnSpPr>
        <p:spPr>
          <a:xfrm flipV="1">
            <a:off x="1353611" y="1624835"/>
            <a:ext cx="734476" cy="27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1AD91E7-C297-F8FB-1541-81349D0FEDEA}"/>
              </a:ext>
            </a:extLst>
          </p:cNvPr>
          <p:cNvSpPr txBox="1"/>
          <p:nvPr/>
        </p:nvSpPr>
        <p:spPr>
          <a:xfrm>
            <a:off x="74546" y="2575890"/>
            <a:ext cx="898662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2400" dirty="0">
                <a:latin typeface="Helvetica Neue"/>
              </a:rPr>
              <a:t>Two operation modes: </a:t>
            </a:r>
            <a:r>
              <a:rPr lang="en-US" sz="2400" dirty="0" err="1">
                <a:latin typeface="Helvetica Neue"/>
              </a:rPr>
              <a:t>forkserver</a:t>
            </a:r>
            <a:r>
              <a:rPr lang="en-US" sz="2400" dirty="0">
                <a:latin typeface="Helvetica Neue"/>
              </a:rPr>
              <a:t> mode and persistent mode.</a:t>
            </a:r>
          </a:p>
          <a:p>
            <a:pPr marL="285750" indent="-285750">
              <a:buChar char="•"/>
            </a:pPr>
            <a:endParaRPr lang="en-US" sz="2400">
              <a:latin typeface="Helvetica Neue"/>
            </a:endParaRPr>
          </a:p>
          <a:p>
            <a:pPr marL="285750" indent="-285750">
              <a:buChar char="•"/>
            </a:pPr>
            <a:r>
              <a:rPr lang="en-US" sz="2400" dirty="0">
                <a:latin typeface="Helvetica Neue"/>
              </a:rPr>
              <a:t>Forkserver mode: Run fuzz target in new, </a:t>
            </a:r>
            <a:r>
              <a:rPr lang="en-US" sz="2400" dirty="0" err="1">
                <a:latin typeface="Helvetica Neue"/>
              </a:rPr>
              <a:t>fork'd</a:t>
            </a:r>
            <a:r>
              <a:rPr lang="en-US" sz="2400" dirty="0">
                <a:latin typeface="Helvetica Neue"/>
              </a:rPr>
              <a:t> process.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F6ED945-9184-6E3C-FA6D-04C0FB03952C}"/>
              </a:ext>
            </a:extLst>
          </p:cNvPr>
          <p:cNvCxnSpPr>
            <a:cxnSpLocks/>
          </p:cNvCxnSpPr>
          <p:nvPr/>
        </p:nvCxnSpPr>
        <p:spPr>
          <a:xfrm flipV="1">
            <a:off x="6488827" y="1624834"/>
            <a:ext cx="734476" cy="27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07967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61454634-5787-50B5-E3D1-2B6D8F8EC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32F1EDF3-D24E-BAAE-452E-7E909166A9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82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49B9F6DE-2390-B8F4-1855-F9E4DA291FA2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A395DA16-A1D7-663C-B056-32E03B31797A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8EDA9AEC-9D4E-2FFF-91DE-4251BBA6FAB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BD7B18A5-CA40-3AA6-AADB-45460EF941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Harnessing target</a:t>
            </a:r>
            <a:endParaRPr lang="en-US"/>
          </a:p>
        </p:txBody>
      </p:sp>
      <p:sp>
        <p:nvSpPr>
          <p:cNvPr id="3" name="Flowchart: Data 4">
            <a:extLst>
              <a:ext uri="{FF2B5EF4-FFF2-40B4-BE49-F238E27FC236}">
                <a16:creationId xmlns:a16="http://schemas.microsoft.com/office/drawing/2014/main" id="{EC696340-44CC-1F64-5C86-D9E02F50D0B6}"/>
              </a:ext>
            </a:extLst>
          </p:cNvPr>
          <p:cNvSpPr/>
          <p:nvPr/>
        </p:nvSpPr>
        <p:spPr>
          <a:xfrm>
            <a:off x="292549" y="1361568"/>
            <a:ext cx="1055865" cy="626369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Seed</a:t>
            </a:r>
            <a:endParaRPr lang="en-US" sz="2400">
              <a:solidFill>
                <a:schemeClr val="tx1"/>
              </a:solidFill>
              <a:cs typeface="Arial"/>
            </a:endParaRP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2204D836-D5EC-EFD4-28FE-AC1241B1D255}"/>
              </a:ext>
            </a:extLst>
          </p:cNvPr>
          <p:cNvSpPr/>
          <p:nvPr/>
        </p:nvSpPr>
        <p:spPr>
          <a:xfrm>
            <a:off x="2084568" y="1096592"/>
            <a:ext cx="4407180" cy="1185075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indent="-342900" algn="ctr">
              <a:buAutoNum type="arabicPeriod"/>
            </a:pPr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Initialize fuzz target state</a:t>
            </a:r>
          </a:p>
          <a:p>
            <a:pPr marL="342900" indent="-342900" algn="ctr">
              <a:buAutoNum type="arabicPeriod"/>
            </a:pPr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Run fuzz target with seed</a:t>
            </a:r>
          </a:p>
          <a:p>
            <a:pPr marL="342900" indent="-342900" algn="ctr">
              <a:buAutoNum type="arabicPeriod"/>
            </a:pPr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Terminate execution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A5D2ECF0-BD48-4B72-1CE0-80FEE58D52CA}"/>
              </a:ext>
            </a:extLst>
          </p:cNvPr>
          <p:cNvSpPr/>
          <p:nvPr/>
        </p:nvSpPr>
        <p:spPr>
          <a:xfrm>
            <a:off x="7221355" y="1243653"/>
            <a:ext cx="1636648" cy="862595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Helvetica Neue"/>
                <a:cs typeface="Arial"/>
              </a:rPr>
              <a:t>Program under test</a:t>
            </a:r>
            <a:endParaRPr lang="en-US" sz="2400">
              <a:solidFill>
                <a:schemeClr val="tx1"/>
              </a:solidFill>
              <a:latin typeface="Helvetica Neue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6C179A7-B647-78C6-9C2F-5E7DB32C65B5}"/>
              </a:ext>
            </a:extLst>
          </p:cNvPr>
          <p:cNvCxnSpPr>
            <a:cxnSpLocks/>
          </p:cNvCxnSpPr>
          <p:nvPr/>
        </p:nvCxnSpPr>
        <p:spPr>
          <a:xfrm flipV="1">
            <a:off x="1353611" y="1624835"/>
            <a:ext cx="734476" cy="27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23B8E99-6BE1-7522-1F59-AB48F24A505B}"/>
              </a:ext>
            </a:extLst>
          </p:cNvPr>
          <p:cNvSpPr txBox="1"/>
          <p:nvPr/>
        </p:nvSpPr>
        <p:spPr>
          <a:xfrm>
            <a:off x="74546" y="2575890"/>
            <a:ext cx="898662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2400">
                <a:latin typeface="Helvetica Neue"/>
              </a:rPr>
              <a:t>Two operation modes: </a:t>
            </a:r>
            <a:r>
              <a:rPr lang="en-US" sz="2400" err="1">
                <a:latin typeface="Helvetica Neue"/>
              </a:rPr>
              <a:t>forkserver</a:t>
            </a:r>
            <a:r>
              <a:rPr lang="en-US" sz="2400">
                <a:latin typeface="Helvetica Neue"/>
              </a:rPr>
              <a:t> mode and persistent mode.</a:t>
            </a:r>
          </a:p>
          <a:p>
            <a:pPr marL="285750" indent="-285750">
              <a:buChar char="•"/>
            </a:pPr>
            <a:endParaRPr lang="en-US" sz="2400">
              <a:latin typeface="Helvetica Neue"/>
            </a:endParaRPr>
          </a:p>
          <a:p>
            <a:pPr marL="285750" indent="-285750">
              <a:buChar char="•"/>
            </a:pPr>
            <a:r>
              <a:rPr lang="en-US" sz="2400">
                <a:latin typeface="Helvetica Neue"/>
              </a:rPr>
              <a:t>Forkserver mode: Run fuzz target in new, </a:t>
            </a:r>
            <a:r>
              <a:rPr lang="en-US" sz="2400" err="1">
                <a:latin typeface="Helvetica Neue"/>
              </a:rPr>
              <a:t>fork'd</a:t>
            </a:r>
            <a:r>
              <a:rPr lang="en-US" sz="2400">
                <a:latin typeface="Helvetica Neue"/>
              </a:rPr>
              <a:t> process.</a:t>
            </a:r>
          </a:p>
          <a:p>
            <a:pPr marL="285750" indent="-285750">
              <a:buChar char="•"/>
            </a:pPr>
            <a:endParaRPr lang="en-US" sz="2400">
              <a:latin typeface="Helvetica Neue"/>
            </a:endParaRPr>
          </a:p>
          <a:p>
            <a:pPr marL="285750" indent="-285750">
              <a:buChar char="•"/>
            </a:pPr>
            <a:r>
              <a:rPr lang="en-US" sz="2400">
                <a:latin typeface="Helvetica Neue"/>
              </a:rPr>
              <a:t>Persistent mode: Run fuzz target in same process.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2DE8C73-30E5-70CE-DD47-3E24EEA8AFB5}"/>
              </a:ext>
            </a:extLst>
          </p:cNvPr>
          <p:cNvCxnSpPr>
            <a:cxnSpLocks/>
          </p:cNvCxnSpPr>
          <p:nvPr/>
        </p:nvCxnSpPr>
        <p:spPr>
          <a:xfrm flipV="1">
            <a:off x="6488827" y="1624834"/>
            <a:ext cx="734476" cy="27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50649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83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Measuring coverage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966A0E2-DE72-1446-F7D1-1AB6E9FD3498}"/>
              </a:ext>
            </a:extLst>
          </p:cNvPr>
          <p:cNvSpPr/>
          <p:nvPr/>
        </p:nvSpPr>
        <p:spPr>
          <a:xfrm>
            <a:off x="1104130" y="1665509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A665FF-300F-34FB-A24F-0A88AE97AA35}"/>
              </a:ext>
            </a:extLst>
          </p:cNvPr>
          <p:cNvSpPr/>
          <p:nvPr/>
        </p:nvSpPr>
        <p:spPr>
          <a:xfrm>
            <a:off x="1592913" y="2635554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12AD52-BC1F-9D35-E9AA-2B3BC976FFA9}"/>
              </a:ext>
            </a:extLst>
          </p:cNvPr>
          <p:cNvSpPr/>
          <p:nvPr/>
        </p:nvSpPr>
        <p:spPr>
          <a:xfrm>
            <a:off x="600307" y="2635554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DB2CF32-21BD-B606-2CB1-A502CB20AE15}"/>
              </a:ext>
            </a:extLst>
          </p:cNvPr>
          <p:cNvCxnSpPr/>
          <p:nvPr/>
        </p:nvCxnSpPr>
        <p:spPr>
          <a:xfrm flipH="1">
            <a:off x="874091" y="2157082"/>
            <a:ext cx="491543" cy="475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C4EEC0-D198-1BB3-F8A4-3844A975F110}"/>
              </a:ext>
            </a:extLst>
          </p:cNvPr>
          <p:cNvCxnSpPr>
            <a:cxnSpLocks/>
          </p:cNvCxnSpPr>
          <p:nvPr/>
        </p:nvCxnSpPr>
        <p:spPr>
          <a:xfrm>
            <a:off x="1360707" y="2162010"/>
            <a:ext cx="454388" cy="47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DDD0F9-0A83-7EA9-EF23-70456E76F593}"/>
              </a:ext>
            </a:extLst>
          </p:cNvPr>
          <p:cNvCxnSpPr/>
          <p:nvPr/>
        </p:nvCxnSpPr>
        <p:spPr>
          <a:xfrm>
            <a:off x="1336689" y="1019950"/>
            <a:ext cx="8659" cy="6407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870BDA-AF3A-BDAD-C265-77E2CA488D01}"/>
              </a:ext>
            </a:extLst>
          </p:cNvPr>
          <p:cNvCxnSpPr>
            <a:cxnSpLocks/>
          </p:cNvCxnSpPr>
          <p:nvPr/>
        </p:nvCxnSpPr>
        <p:spPr>
          <a:xfrm>
            <a:off x="1832991" y="3117957"/>
            <a:ext cx="8659" cy="6407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FA226B-6134-E691-0905-E0C27A94E617}"/>
              </a:ext>
            </a:extLst>
          </p:cNvPr>
          <p:cNvCxnSpPr>
            <a:cxnSpLocks/>
          </p:cNvCxnSpPr>
          <p:nvPr/>
        </p:nvCxnSpPr>
        <p:spPr>
          <a:xfrm>
            <a:off x="840386" y="3117956"/>
            <a:ext cx="8659" cy="6407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C7294DF-7C71-1EB8-1748-B9CC2BF6690A}"/>
              </a:ext>
            </a:extLst>
          </p:cNvPr>
          <p:cNvSpPr txBox="1"/>
          <p:nvPr/>
        </p:nvSpPr>
        <p:spPr>
          <a:xfrm>
            <a:off x="485592" y="1457006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1000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79778C-A89A-0D34-60AF-92956E86A915}"/>
              </a:ext>
            </a:extLst>
          </p:cNvPr>
          <p:cNvSpPr txBox="1"/>
          <p:nvPr/>
        </p:nvSpPr>
        <p:spPr>
          <a:xfrm>
            <a:off x="-78388" y="2675204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3000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B72341-DA0B-7489-E3C1-684EA071AF63}"/>
              </a:ext>
            </a:extLst>
          </p:cNvPr>
          <p:cNvSpPr txBox="1"/>
          <p:nvPr/>
        </p:nvSpPr>
        <p:spPr>
          <a:xfrm>
            <a:off x="2012099" y="2675203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2000</a:t>
            </a:r>
          </a:p>
        </p:txBody>
      </p:sp>
    </p:spTree>
    <p:extLst>
      <p:ext uri="{BB962C8B-B14F-4D97-AF65-F5344CB8AC3E}">
        <p14:creationId xmlns:p14="http://schemas.microsoft.com/office/powerpoint/2010/main" val="357300965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84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Measuring coverage</a:t>
            </a:r>
          </a:p>
          <a:p>
            <a:endParaRPr lang="en-US" sz="400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966A0E2-DE72-1446-F7D1-1AB6E9FD3498}"/>
              </a:ext>
            </a:extLst>
          </p:cNvPr>
          <p:cNvSpPr/>
          <p:nvPr/>
        </p:nvSpPr>
        <p:spPr>
          <a:xfrm>
            <a:off x="1104130" y="1665509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A665FF-300F-34FB-A24F-0A88AE97AA35}"/>
              </a:ext>
            </a:extLst>
          </p:cNvPr>
          <p:cNvSpPr/>
          <p:nvPr/>
        </p:nvSpPr>
        <p:spPr>
          <a:xfrm>
            <a:off x="1592913" y="2635554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12AD52-BC1F-9D35-E9AA-2B3BC976FFA9}"/>
              </a:ext>
            </a:extLst>
          </p:cNvPr>
          <p:cNvSpPr/>
          <p:nvPr/>
        </p:nvSpPr>
        <p:spPr>
          <a:xfrm>
            <a:off x="600307" y="2635554"/>
            <a:ext cx="491517" cy="477616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DB2CF32-21BD-B606-2CB1-A502CB20AE15}"/>
              </a:ext>
            </a:extLst>
          </p:cNvPr>
          <p:cNvCxnSpPr/>
          <p:nvPr/>
        </p:nvCxnSpPr>
        <p:spPr>
          <a:xfrm flipH="1">
            <a:off x="874091" y="2157082"/>
            <a:ext cx="491543" cy="475800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C4EEC0-D198-1BB3-F8A4-3844A975F110}"/>
              </a:ext>
            </a:extLst>
          </p:cNvPr>
          <p:cNvCxnSpPr>
            <a:cxnSpLocks/>
          </p:cNvCxnSpPr>
          <p:nvPr/>
        </p:nvCxnSpPr>
        <p:spPr>
          <a:xfrm>
            <a:off x="1360707" y="2162010"/>
            <a:ext cx="454388" cy="47087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DDD0F9-0A83-7EA9-EF23-70456E76F593}"/>
              </a:ext>
            </a:extLst>
          </p:cNvPr>
          <p:cNvCxnSpPr/>
          <p:nvPr/>
        </p:nvCxnSpPr>
        <p:spPr>
          <a:xfrm>
            <a:off x="1336689" y="1019950"/>
            <a:ext cx="8659" cy="64077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870BDA-AF3A-BDAD-C265-77E2CA488D01}"/>
              </a:ext>
            </a:extLst>
          </p:cNvPr>
          <p:cNvCxnSpPr>
            <a:cxnSpLocks/>
          </p:cNvCxnSpPr>
          <p:nvPr/>
        </p:nvCxnSpPr>
        <p:spPr>
          <a:xfrm>
            <a:off x="1832991" y="3117957"/>
            <a:ext cx="8659" cy="64077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FA226B-6134-E691-0905-E0C27A94E617}"/>
              </a:ext>
            </a:extLst>
          </p:cNvPr>
          <p:cNvCxnSpPr>
            <a:cxnSpLocks/>
          </p:cNvCxnSpPr>
          <p:nvPr/>
        </p:nvCxnSpPr>
        <p:spPr>
          <a:xfrm>
            <a:off x="840386" y="3117956"/>
            <a:ext cx="8659" cy="640772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C7294DF-7C71-1EB8-1748-B9CC2BF6690A}"/>
              </a:ext>
            </a:extLst>
          </p:cNvPr>
          <p:cNvSpPr txBox="1"/>
          <p:nvPr/>
        </p:nvSpPr>
        <p:spPr>
          <a:xfrm>
            <a:off x="485592" y="1457006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1000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79778C-A89A-0D34-60AF-92956E86A915}"/>
              </a:ext>
            </a:extLst>
          </p:cNvPr>
          <p:cNvSpPr txBox="1"/>
          <p:nvPr/>
        </p:nvSpPr>
        <p:spPr>
          <a:xfrm>
            <a:off x="-78388" y="2675204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3000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B72341-DA0B-7489-E3C1-684EA071AF63}"/>
              </a:ext>
            </a:extLst>
          </p:cNvPr>
          <p:cNvSpPr txBox="1"/>
          <p:nvPr/>
        </p:nvSpPr>
        <p:spPr>
          <a:xfrm>
            <a:off x="2012099" y="2675203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2000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6D5248-5457-B55D-6EBB-1687A59DA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195398"/>
              </p:ext>
            </p:extLst>
          </p:nvPr>
        </p:nvGraphicFramePr>
        <p:xfrm>
          <a:off x="2721892" y="1638733"/>
          <a:ext cx="584282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804">
                  <a:extLst>
                    <a:ext uri="{9D8B030D-6E8A-4147-A177-3AD203B41FA5}">
                      <a16:colId xmlns:a16="http://schemas.microsoft.com/office/drawing/2014/main" val="2897525110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93725097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187200332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08388686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1866910143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16189300"/>
                    </a:ext>
                  </a:extLst>
                </a:gridCol>
              </a:tblGrid>
              <a:tr h="3518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81101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986E534-C3A3-C15B-EBCC-9BA6A8D81421}"/>
              </a:ext>
            </a:extLst>
          </p:cNvPr>
          <p:cNvCxnSpPr/>
          <p:nvPr/>
        </p:nvCxnSpPr>
        <p:spPr>
          <a:xfrm>
            <a:off x="6072871" y="1239743"/>
            <a:ext cx="2310" cy="394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E3B89C-BF60-AEAE-7955-E28AC097E329}"/>
              </a:ext>
            </a:extLst>
          </p:cNvPr>
          <p:cNvCxnSpPr/>
          <p:nvPr/>
        </p:nvCxnSpPr>
        <p:spPr>
          <a:xfrm flipV="1">
            <a:off x="2518429" y="1242807"/>
            <a:ext cx="3559111" cy="104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6255ED-5EC2-F36E-8315-E59B470435A4}"/>
              </a:ext>
            </a:extLst>
          </p:cNvPr>
          <p:cNvCxnSpPr/>
          <p:nvPr/>
        </p:nvCxnSpPr>
        <p:spPr>
          <a:xfrm flipH="1">
            <a:off x="1565691" y="1254675"/>
            <a:ext cx="954792" cy="10708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F990432-4573-597E-E27C-89F7DF035CD4}"/>
              </a:ext>
            </a:extLst>
          </p:cNvPr>
          <p:cNvSpPr txBox="1"/>
          <p:nvPr/>
        </p:nvSpPr>
        <p:spPr>
          <a:xfrm>
            <a:off x="2869532" y="920415"/>
            <a:ext cx="260483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Helvetica Neue"/>
              </a:rPr>
              <a:t>1000 ⊕ 2000 = 1080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D11E3C-9654-30AD-34B1-857486D42B55}"/>
              </a:ext>
            </a:extLst>
          </p:cNvPr>
          <p:cNvSpPr txBox="1"/>
          <p:nvPr/>
        </p:nvSpPr>
        <p:spPr>
          <a:xfrm>
            <a:off x="2785311" y="1317457"/>
            <a:ext cx="83017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1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6D194C-B41B-1951-1759-7E0D69A1B0EA}"/>
              </a:ext>
            </a:extLst>
          </p:cNvPr>
          <p:cNvSpPr txBox="1"/>
          <p:nvPr/>
        </p:nvSpPr>
        <p:spPr>
          <a:xfrm>
            <a:off x="7655092" y="1326480"/>
            <a:ext cx="92041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65536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B316EB-BF0C-E310-8328-C76A64A209B6}"/>
              </a:ext>
            </a:extLst>
          </p:cNvPr>
          <p:cNvSpPr txBox="1"/>
          <p:nvPr/>
        </p:nvSpPr>
        <p:spPr>
          <a:xfrm>
            <a:off x="5108824" y="857667"/>
            <a:ext cx="432593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Single execution bitmap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78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4" grpId="0"/>
      <p:bldP spid="20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85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Measuring coverage</a:t>
            </a:r>
          </a:p>
          <a:p>
            <a:endParaRPr lang="en-US" sz="400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966A0E2-DE72-1446-F7D1-1AB6E9FD3498}"/>
              </a:ext>
            </a:extLst>
          </p:cNvPr>
          <p:cNvSpPr/>
          <p:nvPr/>
        </p:nvSpPr>
        <p:spPr>
          <a:xfrm>
            <a:off x="1104130" y="1665509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A665FF-300F-34FB-A24F-0A88AE97AA35}"/>
              </a:ext>
            </a:extLst>
          </p:cNvPr>
          <p:cNvSpPr/>
          <p:nvPr/>
        </p:nvSpPr>
        <p:spPr>
          <a:xfrm>
            <a:off x="1592913" y="2635554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12AD52-BC1F-9D35-E9AA-2B3BC976FFA9}"/>
              </a:ext>
            </a:extLst>
          </p:cNvPr>
          <p:cNvSpPr/>
          <p:nvPr/>
        </p:nvSpPr>
        <p:spPr>
          <a:xfrm>
            <a:off x="600307" y="2635554"/>
            <a:ext cx="491517" cy="477616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DB2CF32-21BD-B606-2CB1-A502CB20AE15}"/>
              </a:ext>
            </a:extLst>
          </p:cNvPr>
          <p:cNvCxnSpPr/>
          <p:nvPr/>
        </p:nvCxnSpPr>
        <p:spPr>
          <a:xfrm flipH="1">
            <a:off x="874091" y="2157082"/>
            <a:ext cx="491543" cy="475800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C4EEC0-D198-1BB3-F8A4-3844A975F110}"/>
              </a:ext>
            </a:extLst>
          </p:cNvPr>
          <p:cNvCxnSpPr>
            <a:cxnSpLocks/>
          </p:cNvCxnSpPr>
          <p:nvPr/>
        </p:nvCxnSpPr>
        <p:spPr>
          <a:xfrm>
            <a:off x="1360707" y="2162010"/>
            <a:ext cx="454388" cy="47087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DDD0F9-0A83-7EA9-EF23-70456E76F593}"/>
              </a:ext>
            </a:extLst>
          </p:cNvPr>
          <p:cNvCxnSpPr/>
          <p:nvPr/>
        </p:nvCxnSpPr>
        <p:spPr>
          <a:xfrm>
            <a:off x="1336689" y="1019950"/>
            <a:ext cx="8659" cy="64077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870BDA-AF3A-BDAD-C265-77E2CA488D01}"/>
              </a:ext>
            </a:extLst>
          </p:cNvPr>
          <p:cNvCxnSpPr>
            <a:cxnSpLocks/>
          </p:cNvCxnSpPr>
          <p:nvPr/>
        </p:nvCxnSpPr>
        <p:spPr>
          <a:xfrm>
            <a:off x="1832991" y="3117957"/>
            <a:ext cx="8659" cy="64077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FA226B-6134-E691-0905-E0C27A94E617}"/>
              </a:ext>
            </a:extLst>
          </p:cNvPr>
          <p:cNvCxnSpPr>
            <a:cxnSpLocks/>
          </p:cNvCxnSpPr>
          <p:nvPr/>
        </p:nvCxnSpPr>
        <p:spPr>
          <a:xfrm>
            <a:off x="840386" y="3117956"/>
            <a:ext cx="8659" cy="640772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C7294DF-7C71-1EB8-1748-B9CC2BF6690A}"/>
              </a:ext>
            </a:extLst>
          </p:cNvPr>
          <p:cNvSpPr txBox="1"/>
          <p:nvPr/>
        </p:nvSpPr>
        <p:spPr>
          <a:xfrm>
            <a:off x="485592" y="1457006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1000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79778C-A89A-0D34-60AF-92956E86A915}"/>
              </a:ext>
            </a:extLst>
          </p:cNvPr>
          <p:cNvSpPr txBox="1"/>
          <p:nvPr/>
        </p:nvSpPr>
        <p:spPr>
          <a:xfrm>
            <a:off x="-78388" y="2675204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3000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B72341-DA0B-7489-E3C1-684EA071AF63}"/>
              </a:ext>
            </a:extLst>
          </p:cNvPr>
          <p:cNvSpPr txBox="1"/>
          <p:nvPr/>
        </p:nvSpPr>
        <p:spPr>
          <a:xfrm>
            <a:off x="2012099" y="2675203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2000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6D5248-5457-B55D-6EBB-1687A59DA820}"/>
              </a:ext>
            </a:extLst>
          </p:cNvPr>
          <p:cNvGraphicFramePr>
            <a:graphicFrameLocks noGrp="1"/>
          </p:cNvGraphicFramePr>
          <p:nvPr/>
        </p:nvGraphicFramePr>
        <p:xfrm>
          <a:off x="2721892" y="1638733"/>
          <a:ext cx="584282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804">
                  <a:extLst>
                    <a:ext uri="{9D8B030D-6E8A-4147-A177-3AD203B41FA5}">
                      <a16:colId xmlns:a16="http://schemas.microsoft.com/office/drawing/2014/main" val="2897525110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93725097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187200332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08388686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1866910143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16189300"/>
                    </a:ext>
                  </a:extLst>
                </a:gridCol>
              </a:tblGrid>
              <a:tr h="3518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81101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986E534-C3A3-C15B-EBCC-9BA6A8D81421}"/>
              </a:ext>
            </a:extLst>
          </p:cNvPr>
          <p:cNvCxnSpPr/>
          <p:nvPr/>
        </p:nvCxnSpPr>
        <p:spPr>
          <a:xfrm>
            <a:off x="6072871" y="1239743"/>
            <a:ext cx="2310" cy="394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E3B89C-BF60-AEAE-7955-E28AC097E329}"/>
              </a:ext>
            </a:extLst>
          </p:cNvPr>
          <p:cNvCxnSpPr/>
          <p:nvPr/>
        </p:nvCxnSpPr>
        <p:spPr>
          <a:xfrm flipV="1">
            <a:off x="2518429" y="1242807"/>
            <a:ext cx="3559111" cy="104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6255ED-5EC2-F36E-8315-E59B470435A4}"/>
              </a:ext>
            </a:extLst>
          </p:cNvPr>
          <p:cNvCxnSpPr/>
          <p:nvPr/>
        </p:nvCxnSpPr>
        <p:spPr>
          <a:xfrm flipH="1">
            <a:off x="1565691" y="1254675"/>
            <a:ext cx="954792" cy="10708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F990432-4573-597E-E27C-89F7DF035CD4}"/>
              </a:ext>
            </a:extLst>
          </p:cNvPr>
          <p:cNvSpPr txBox="1"/>
          <p:nvPr/>
        </p:nvSpPr>
        <p:spPr>
          <a:xfrm>
            <a:off x="2869532" y="920415"/>
            <a:ext cx="260483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Helvetica Neue"/>
              </a:rPr>
              <a:t>1000 ⊕ 2000 = 1080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D11E3C-9654-30AD-34B1-857486D42B55}"/>
              </a:ext>
            </a:extLst>
          </p:cNvPr>
          <p:cNvSpPr txBox="1"/>
          <p:nvPr/>
        </p:nvSpPr>
        <p:spPr>
          <a:xfrm>
            <a:off x="2785311" y="1317457"/>
            <a:ext cx="83017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1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6D194C-B41B-1951-1759-7E0D69A1B0EA}"/>
              </a:ext>
            </a:extLst>
          </p:cNvPr>
          <p:cNvSpPr txBox="1"/>
          <p:nvPr/>
        </p:nvSpPr>
        <p:spPr>
          <a:xfrm>
            <a:off x="7655092" y="1326480"/>
            <a:ext cx="92041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65536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B316EB-BF0C-E310-8328-C76A64A209B6}"/>
              </a:ext>
            </a:extLst>
          </p:cNvPr>
          <p:cNvSpPr txBox="1"/>
          <p:nvPr/>
        </p:nvSpPr>
        <p:spPr>
          <a:xfrm>
            <a:off x="5108824" y="857667"/>
            <a:ext cx="432593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Single execution bitmap</a:t>
            </a:r>
            <a:endParaRPr lang="en-US"/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86406E0C-46EE-3B15-E0CF-A548E3D6B0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674077"/>
              </p:ext>
            </p:extLst>
          </p:nvPr>
        </p:nvGraphicFramePr>
        <p:xfrm>
          <a:off x="2045368" y="3113170"/>
          <a:ext cx="7032079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010">
                  <a:extLst>
                    <a:ext uri="{9D8B030D-6E8A-4147-A177-3AD203B41FA5}">
                      <a16:colId xmlns:a16="http://schemas.microsoft.com/office/drawing/2014/main" val="2897525110"/>
                    </a:ext>
                  </a:extLst>
                </a:gridCol>
                <a:gridCol w="879010">
                  <a:extLst>
                    <a:ext uri="{9D8B030D-6E8A-4147-A177-3AD203B41FA5}">
                      <a16:colId xmlns:a16="http://schemas.microsoft.com/office/drawing/2014/main" val="493725097"/>
                    </a:ext>
                  </a:extLst>
                </a:gridCol>
                <a:gridCol w="879010">
                  <a:extLst>
                    <a:ext uri="{9D8B030D-6E8A-4147-A177-3AD203B41FA5}">
                      <a16:colId xmlns:a16="http://schemas.microsoft.com/office/drawing/2014/main" val="4187200332"/>
                    </a:ext>
                  </a:extLst>
                </a:gridCol>
                <a:gridCol w="879010">
                  <a:extLst>
                    <a:ext uri="{9D8B030D-6E8A-4147-A177-3AD203B41FA5}">
                      <a16:colId xmlns:a16="http://schemas.microsoft.com/office/drawing/2014/main" val="408388686"/>
                    </a:ext>
                  </a:extLst>
                </a:gridCol>
                <a:gridCol w="879010">
                  <a:extLst>
                    <a:ext uri="{9D8B030D-6E8A-4147-A177-3AD203B41FA5}">
                      <a16:colId xmlns:a16="http://schemas.microsoft.com/office/drawing/2014/main" val="1866910143"/>
                    </a:ext>
                  </a:extLst>
                </a:gridCol>
                <a:gridCol w="841383">
                  <a:extLst>
                    <a:ext uri="{9D8B030D-6E8A-4147-A177-3AD203B41FA5}">
                      <a16:colId xmlns:a16="http://schemas.microsoft.com/office/drawing/2014/main" val="16189300"/>
                    </a:ext>
                  </a:extLst>
                </a:gridCol>
                <a:gridCol w="916636">
                  <a:extLst>
                    <a:ext uri="{9D8B030D-6E8A-4147-A177-3AD203B41FA5}">
                      <a16:colId xmlns:a16="http://schemas.microsoft.com/office/drawing/2014/main" val="3470654996"/>
                    </a:ext>
                  </a:extLst>
                </a:gridCol>
                <a:gridCol w="879010">
                  <a:extLst>
                    <a:ext uri="{9D8B030D-6E8A-4147-A177-3AD203B41FA5}">
                      <a16:colId xmlns:a16="http://schemas.microsoft.com/office/drawing/2014/main" val="4227286173"/>
                    </a:ext>
                  </a:extLst>
                </a:gridCol>
              </a:tblGrid>
              <a:tr h="3518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811010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F67F7BFB-1239-A25F-48F9-D6621F51D1C5}"/>
              </a:ext>
            </a:extLst>
          </p:cNvPr>
          <p:cNvSpPr txBox="1"/>
          <p:nvPr/>
        </p:nvSpPr>
        <p:spPr>
          <a:xfrm>
            <a:off x="2219157" y="3548062"/>
            <a:ext cx="6111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0</a:t>
            </a:r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BAE5BC3-A5AD-B6A3-2D93-2BFA098BD98D}"/>
              </a:ext>
            </a:extLst>
          </p:cNvPr>
          <p:cNvSpPr txBox="1"/>
          <p:nvPr/>
        </p:nvSpPr>
        <p:spPr>
          <a:xfrm>
            <a:off x="3053848" y="3548062"/>
            <a:ext cx="6111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1B686F-C0DF-B55C-374A-4BD966F3E723}"/>
              </a:ext>
            </a:extLst>
          </p:cNvPr>
          <p:cNvSpPr txBox="1"/>
          <p:nvPr/>
        </p:nvSpPr>
        <p:spPr>
          <a:xfrm>
            <a:off x="3971256" y="3548062"/>
            <a:ext cx="6111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2-3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EF0411-E8DB-122F-68ED-27FD37C40868}"/>
              </a:ext>
            </a:extLst>
          </p:cNvPr>
          <p:cNvSpPr txBox="1"/>
          <p:nvPr/>
        </p:nvSpPr>
        <p:spPr>
          <a:xfrm>
            <a:off x="4805946" y="3548062"/>
            <a:ext cx="6111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4-7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D77F17-029B-D252-1AE7-7AFF303F579F}"/>
              </a:ext>
            </a:extLst>
          </p:cNvPr>
          <p:cNvSpPr txBox="1"/>
          <p:nvPr/>
        </p:nvSpPr>
        <p:spPr>
          <a:xfrm>
            <a:off x="5655678" y="3548062"/>
            <a:ext cx="708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8-15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A349BF-13AC-ABE4-A0DC-34AEBEF770BE}"/>
              </a:ext>
            </a:extLst>
          </p:cNvPr>
          <p:cNvSpPr txBox="1"/>
          <p:nvPr/>
        </p:nvSpPr>
        <p:spPr>
          <a:xfrm>
            <a:off x="6445249" y="3548062"/>
            <a:ext cx="85181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16-31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7573E3A-4064-BA06-2D26-2FA7F6408D70}"/>
              </a:ext>
            </a:extLst>
          </p:cNvPr>
          <p:cNvSpPr txBox="1"/>
          <p:nvPr/>
        </p:nvSpPr>
        <p:spPr>
          <a:xfrm>
            <a:off x="7189702" y="3548062"/>
            <a:ext cx="10924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32-127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CD67C73-A269-8C48-6B17-6FFAC3037F30}"/>
              </a:ext>
            </a:extLst>
          </p:cNvPr>
          <p:cNvSpPr txBox="1"/>
          <p:nvPr/>
        </p:nvSpPr>
        <p:spPr>
          <a:xfrm>
            <a:off x="8099590" y="3548062"/>
            <a:ext cx="10924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128-∞</a:t>
            </a:r>
          </a:p>
        </p:txBody>
      </p:sp>
      <p:sp>
        <p:nvSpPr>
          <p:cNvPr id="69" name="Arrow: Down 68">
            <a:extLst>
              <a:ext uri="{FF2B5EF4-FFF2-40B4-BE49-F238E27FC236}">
                <a16:creationId xmlns:a16="http://schemas.microsoft.com/office/drawing/2014/main" id="{2DA3716E-6021-40FC-A30D-982775607F3F}"/>
              </a:ext>
            </a:extLst>
          </p:cNvPr>
          <p:cNvSpPr/>
          <p:nvPr/>
        </p:nvSpPr>
        <p:spPr>
          <a:xfrm>
            <a:off x="5351546" y="2115972"/>
            <a:ext cx="595312" cy="91657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CBD60A-7939-E786-33DA-42700A48BAF8}"/>
              </a:ext>
            </a:extLst>
          </p:cNvPr>
          <p:cNvSpPr txBox="1"/>
          <p:nvPr/>
        </p:nvSpPr>
        <p:spPr>
          <a:xfrm>
            <a:off x="3770312" y="4008437"/>
            <a:ext cx="432593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Global bitmap for branch ID 1080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36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5" grpId="0"/>
      <p:bldP spid="57" grpId="0"/>
      <p:bldP spid="59" grpId="0"/>
      <p:bldP spid="61" grpId="0"/>
      <p:bldP spid="63" grpId="0"/>
      <p:bldP spid="65" grpId="0"/>
      <p:bldP spid="67" grpId="0"/>
      <p:bldP spid="69" grpId="0" animBg="1"/>
      <p:bldP spid="7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86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Measuring coverage</a:t>
            </a:r>
          </a:p>
          <a:p>
            <a:endParaRPr lang="en-US" sz="400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966A0E2-DE72-1446-F7D1-1AB6E9FD3498}"/>
              </a:ext>
            </a:extLst>
          </p:cNvPr>
          <p:cNvSpPr/>
          <p:nvPr/>
        </p:nvSpPr>
        <p:spPr>
          <a:xfrm>
            <a:off x="1104130" y="1665509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A665FF-300F-34FB-A24F-0A88AE97AA35}"/>
              </a:ext>
            </a:extLst>
          </p:cNvPr>
          <p:cNvSpPr/>
          <p:nvPr/>
        </p:nvSpPr>
        <p:spPr>
          <a:xfrm>
            <a:off x="1592913" y="2635554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12AD52-BC1F-9D35-E9AA-2B3BC976FFA9}"/>
              </a:ext>
            </a:extLst>
          </p:cNvPr>
          <p:cNvSpPr/>
          <p:nvPr/>
        </p:nvSpPr>
        <p:spPr>
          <a:xfrm>
            <a:off x="600307" y="2635554"/>
            <a:ext cx="491517" cy="477616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DB2CF32-21BD-B606-2CB1-A502CB20AE15}"/>
              </a:ext>
            </a:extLst>
          </p:cNvPr>
          <p:cNvCxnSpPr/>
          <p:nvPr/>
        </p:nvCxnSpPr>
        <p:spPr>
          <a:xfrm flipH="1">
            <a:off x="874091" y="2157082"/>
            <a:ext cx="491543" cy="475800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C4EEC0-D198-1BB3-F8A4-3844A975F110}"/>
              </a:ext>
            </a:extLst>
          </p:cNvPr>
          <p:cNvCxnSpPr>
            <a:cxnSpLocks/>
          </p:cNvCxnSpPr>
          <p:nvPr/>
        </p:nvCxnSpPr>
        <p:spPr>
          <a:xfrm>
            <a:off x="1360707" y="2162010"/>
            <a:ext cx="454388" cy="47087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DDD0F9-0A83-7EA9-EF23-70456E76F593}"/>
              </a:ext>
            </a:extLst>
          </p:cNvPr>
          <p:cNvCxnSpPr/>
          <p:nvPr/>
        </p:nvCxnSpPr>
        <p:spPr>
          <a:xfrm>
            <a:off x="1336689" y="1019950"/>
            <a:ext cx="8659" cy="64077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870BDA-AF3A-BDAD-C265-77E2CA488D01}"/>
              </a:ext>
            </a:extLst>
          </p:cNvPr>
          <p:cNvCxnSpPr>
            <a:cxnSpLocks/>
          </p:cNvCxnSpPr>
          <p:nvPr/>
        </p:nvCxnSpPr>
        <p:spPr>
          <a:xfrm>
            <a:off x="1832991" y="3117957"/>
            <a:ext cx="8659" cy="64077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FA226B-6134-E691-0905-E0C27A94E617}"/>
              </a:ext>
            </a:extLst>
          </p:cNvPr>
          <p:cNvCxnSpPr>
            <a:cxnSpLocks/>
          </p:cNvCxnSpPr>
          <p:nvPr/>
        </p:nvCxnSpPr>
        <p:spPr>
          <a:xfrm>
            <a:off x="840386" y="3117956"/>
            <a:ext cx="8659" cy="640772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C7294DF-7C71-1EB8-1748-B9CC2BF6690A}"/>
              </a:ext>
            </a:extLst>
          </p:cNvPr>
          <p:cNvSpPr txBox="1"/>
          <p:nvPr/>
        </p:nvSpPr>
        <p:spPr>
          <a:xfrm>
            <a:off x="485592" y="1457006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1000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79778C-A89A-0D34-60AF-92956E86A915}"/>
              </a:ext>
            </a:extLst>
          </p:cNvPr>
          <p:cNvSpPr txBox="1"/>
          <p:nvPr/>
        </p:nvSpPr>
        <p:spPr>
          <a:xfrm>
            <a:off x="-78388" y="2675204"/>
            <a:ext cx="855197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3000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B72341-DA0B-7489-E3C1-684EA071AF63}"/>
              </a:ext>
            </a:extLst>
          </p:cNvPr>
          <p:cNvSpPr txBox="1"/>
          <p:nvPr/>
        </p:nvSpPr>
        <p:spPr>
          <a:xfrm>
            <a:off x="2012099" y="2675203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2000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6D5248-5457-B55D-6EBB-1687A59DA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917828"/>
              </p:ext>
            </p:extLst>
          </p:nvPr>
        </p:nvGraphicFramePr>
        <p:xfrm>
          <a:off x="2721892" y="1638733"/>
          <a:ext cx="584282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804">
                  <a:extLst>
                    <a:ext uri="{9D8B030D-6E8A-4147-A177-3AD203B41FA5}">
                      <a16:colId xmlns:a16="http://schemas.microsoft.com/office/drawing/2014/main" val="2897525110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93725097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187200332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08388686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1866910143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16189300"/>
                    </a:ext>
                  </a:extLst>
                </a:gridCol>
              </a:tblGrid>
              <a:tr h="3518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40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81101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986E534-C3A3-C15B-EBCC-9BA6A8D81421}"/>
              </a:ext>
            </a:extLst>
          </p:cNvPr>
          <p:cNvCxnSpPr/>
          <p:nvPr/>
        </p:nvCxnSpPr>
        <p:spPr>
          <a:xfrm>
            <a:off x="6072871" y="1239743"/>
            <a:ext cx="2310" cy="394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E3B89C-BF60-AEAE-7955-E28AC097E329}"/>
              </a:ext>
            </a:extLst>
          </p:cNvPr>
          <p:cNvCxnSpPr/>
          <p:nvPr/>
        </p:nvCxnSpPr>
        <p:spPr>
          <a:xfrm flipV="1">
            <a:off x="2518429" y="1242807"/>
            <a:ext cx="3559111" cy="104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6255ED-5EC2-F36E-8315-E59B470435A4}"/>
              </a:ext>
            </a:extLst>
          </p:cNvPr>
          <p:cNvCxnSpPr/>
          <p:nvPr/>
        </p:nvCxnSpPr>
        <p:spPr>
          <a:xfrm flipH="1">
            <a:off x="1565691" y="1254675"/>
            <a:ext cx="954792" cy="10708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F990432-4573-597E-E27C-89F7DF035CD4}"/>
              </a:ext>
            </a:extLst>
          </p:cNvPr>
          <p:cNvSpPr txBox="1"/>
          <p:nvPr/>
        </p:nvSpPr>
        <p:spPr>
          <a:xfrm>
            <a:off x="2869532" y="920415"/>
            <a:ext cx="260483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Helvetica Neue"/>
              </a:rPr>
              <a:t>1000 ⊕ 2000 = 1080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D11E3C-9654-30AD-34B1-857486D42B55}"/>
              </a:ext>
            </a:extLst>
          </p:cNvPr>
          <p:cNvSpPr txBox="1"/>
          <p:nvPr/>
        </p:nvSpPr>
        <p:spPr>
          <a:xfrm>
            <a:off x="2785311" y="1317457"/>
            <a:ext cx="83017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1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6D194C-B41B-1951-1759-7E0D69A1B0EA}"/>
              </a:ext>
            </a:extLst>
          </p:cNvPr>
          <p:cNvSpPr txBox="1"/>
          <p:nvPr/>
        </p:nvSpPr>
        <p:spPr>
          <a:xfrm>
            <a:off x="7655092" y="1326480"/>
            <a:ext cx="92041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65536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B316EB-BF0C-E310-8328-C76A64A209B6}"/>
              </a:ext>
            </a:extLst>
          </p:cNvPr>
          <p:cNvSpPr txBox="1"/>
          <p:nvPr/>
        </p:nvSpPr>
        <p:spPr>
          <a:xfrm>
            <a:off x="5108824" y="857667"/>
            <a:ext cx="432593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Single execution bitmap</a:t>
            </a:r>
            <a:endParaRPr lang="en-US"/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86406E0C-46EE-3B15-E0CF-A548E3D6B0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588776"/>
              </p:ext>
            </p:extLst>
          </p:nvPr>
        </p:nvGraphicFramePr>
        <p:xfrm>
          <a:off x="2045368" y="3113170"/>
          <a:ext cx="7032079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010">
                  <a:extLst>
                    <a:ext uri="{9D8B030D-6E8A-4147-A177-3AD203B41FA5}">
                      <a16:colId xmlns:a16="http://schemas.microsoft.com/office/drawing/2014/main" val="2897525110"/>
                    </a:ext>
                  </a:extLst>
                </a:gridCol>
                <a:gridCol w="879010">
                  <a:extLst>
                    <a:ext uri="{9D8B030D-6E8A-4147-A177-3AD203B41FA5}">
                      <a16:colId xmlns:a16="http://schemas.microsoft.com/office/drawing/2014/main" val="493725097"/>
                    </a:ext>
                  </a:extLst>
                </a:gridCol>
                <a:gridCol w="879010">
                  <a:extLst>
                    <a:ext uri="{9D8B030D-6E8A-4147-A177-3AD203B41FA5}">
                      <a16:colId xmlns:a16="http://schemas.microsoft.com/office/drawing/2014/main" val="4187200332"/>
                    </a:ext>
                  </a:extLst>
                </a:gridCol>
                <a:gridCol w="879010">
                  <a:extLst>
                    <a:ext uri="{9D8B030D-6E8A-4147-A177-3AD203B41FA5}">
                      <a16:colId xmlns:a16="http://schemas.microsoft.com/office/drawing/2014/main" val="408388686"/>
                    </a:ext>
                  </a:extLst>
                </a:gridCol>
                <a:gridCol w="879010">
                  <a:extLst>
                    <a:ext uri="{9D8B030D-6E8A-4147-A177-3AD203B41FA5}">
                      <a16:colId xmlns:a16="http://schemas.microsoft.com/office/drawing/2014/main" val="1866910143"/>
                    </a:ext>
                  </a:extLst>
                </a:gridCol>
                <a:gridCol w="841383">
                  <a:extLst>
                    <a:ext uri="{9D8B030D-6E8A-4147-A177-3AD203B41FA5}">
                      <a16:colId xmlns:a16="http://schemas.microsoft.com/office/drawing/2014/main" val="16189300"/>
                    </a:ext>
                  </a:extLst>
                </a:gridCol>
                <a:gridCol w="916636">
                  <a:extLst>
                    <a:ext uri="{9D8B030D-6E8A-4147-A177-3AD203B41FA5}">
                      <a16:colId xmlns:a16="http://schemas.microsoft.com/office/drawing/2014/main" val="3470654996"/>
                    </a:ext>
                  </a:extLst>
                </a:gridCol>
                <a:gridCol w="879010">
                  <a:extLst>
                    <a:ext uri="{9D8B030D-6E8A-4147-A177-3AD203B41FA5}">
                      <a16:colId xmlns:a16="http://schemas.microsoft.com/office/drawing/2014/main" val="4227286173"/>
                    </a:ext>
                  </a:extLst>
                </a:gridCol>
              </a:tblGrid>
              <a:tr h="3518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811010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F67F7BFB-1239-A25F-48F9-D6621F51D1C5}"/>
              </a:ext>
            </a:extLst>
          </p:cNvPr>
          <p:cNvSpPr txBox="1"/>
          <p:nvPr/>
        </p:nvSpPr>
        <p:spPr>
          <a:xfrm>
            <a:off x="2219157" y="3548062"/>
            <a:ext cx="6111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0</a:t>
            </a:r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BAE5BC3-A5AD-B6A3-2D93-2BFA098BD98D}"/>
              </a:ext>
            </a:extLst>
          </p:cNvPr>
          <p:cNvSpPr txBox="1"/>
          <p:nvPr/>
        </p:nvSpPr>
        <p:spPr>
          <a:xfrm>
            <a:off x="3053848" y="3548062"/>
            <a:ext cx="6111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1B686F-C0DF-B55C-374A-4BD966F3E723}"/>
              </a:ext>
            </a:extLst>
          </p:cNvPr>
          <p:cNvSpPr txBox="1"/>
          <p:nvPr/>
        </p:nvSpPr>
        <p:spPr>
          <a:xfrm>
            <a:off x="3971256" y="3548062"/>
            <a:ext cx="6111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2-3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EF0411-E8DB-122F-68ED-27FD37C40868}"/>
              </a:ext>
            </a:extLst>
          </p:cNvPr>
          <p:cNvSpPr txBox="1"/>
          <p:nvPr/>
        </p:nvSpPr>
        <p:spPr>
          <a:xfrm>
            <a:off x="4805946" y="3548062"/>
            <a:ext cx="6111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4-7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D77F17-029B-D252-1AE7-7AFF303F579F}"/>
              </a:ext>
            </a:extLst>
          </p:cNvPr>
          <p:cNvSpPr txBox="1"/>
          <p:nvPr/>
        </p:nvSpPr>
        <p:spPr>
          <a:xfrm>
            <a:off x="5655678" y="3548062"/>
            <a:ext cx="708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8-15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A349BF-13AC-ABE4-A0DC-34AEBEF770BE}"/>
              </a:ext>
            </a:extLst>
          </p:cNvPr>
          <p:cNvSpPr txBox="1"/>
          <p:nvPr/>
        </p:nvSpPr>
        <p:spPr>
          <a:xfrm>
            <a:off x="6445249" y="3548062"/>
            <a:ext cx="85181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16-31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7573E3A-4064-BA06-2D26-2FA7F6408D70}"/>
              </a:ext>
            </a:extLst>
          </p:cNvPr>
          <p:cNvSpPr txBox="1"/>
          <p:nvPr/>
        </p:nvSpPr>
        <p:spPr>
          <a:xfrm>
            <a:off x="7189702" y="3548062"/>
            <a:ext cx="10924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32-127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CD67C73-A269-8C48-6B17-6FFAC3037F30}"/>
              </a:ext>
            </a:extLst>
          </p:cNvPr>
          <p:cNvSpPr txBox="1"/>
          <p:nvPr/>
        </p:nvSpPr>
        <p:spPr>
          <a:xfrm>
            <a:off x="8099590" y="3548062"/>
            <a:ext cx="10924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128-∞</a:t>
            </a:r>
          </a:p>
        </p:txBody>
      </p:sp>
      <p:sp>
        <p:nvSpPr>
          <p:cNvPr id="69" name="Arrow: Down 68">
            <a:extLst>
              <a:ext uri="{FF2B5EF4-FFF2-40B4-BE49-F238E27FC236}">
                <a16:creationId xmlns:a16="http://schemas.microsoft.com/office/drawing/2014/main" id="{2DA3716E-6021-40FC-A30D-982775607F3F}"/>
              </a:ext>
            </a:extLst>
          </p:cNvPr>
          <p:cNvSpPr/>
          <p:nvPr/>
        </p:nvSpPr>
        <p:spPr>
          <a:xfrm>
            <a:off x="5351546" y="2115972"/>
            <a:ext cx="595312" cy="91657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CBD60A-7939-E786-33DA-42700A48BAF8}"/>
              </a:ext>
            </a:extLst>
          </p:cNvPr>
          <p:cNvSpPr txBox="1"/>
          <p:nvPr/>
        </p:nvSpPr>
        <p:spPr>
          <a:xfrm>
            <a:off x="3770312" y="4008437"/>
            <a:ext cx="432593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Global bitmap for branch ID 1080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2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87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Measuring coverage</a:t>
            </a:r>
          </a:p>
          <a:p>
            <a:endParaRPr lang="en-US" sz="400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966A0E2-DE72-1446-F7D1-1AB6E9FD3498}"/>
              </a:ext>
            </a:extLst>
          </p:cNvPr>
          <p:cNvSpPr/>
          <p:nvPr/>
        </p:nvSpPr>
        <p:spPr>
          <a:xfrm>
            <a:off x="1104130" y="1665509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A665FF-300F-34FB-A24F-0A88AE97AA35}"/>
              </a:ext>
            </a:extLst>
          </p:cNvPr>
          <p:cNvSpPr/>
          <p:nvPr/>
        </p:nvSpPr>
        <p:spPr>
          <a:xfrm>
            <a:off x="1592913" y="2635554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12AD52-BC1F-9D35-E9AA-2B3BC976FFA9}"/>
              </a:ext>
            </a:extLst>
          </p:cNvPr>
          <p:cNvSpPr/>
          <p:nvPr/>
        </p:nvSpPr>
        <p:spPr>
          <a:xfrm>
            <a:off x="600307" y="2635554"/>
            <a:ext cx="491517" cy="477616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DB2CF32-21BD-B606-2CB1-A502CB20AE15}"/>
              </a:ext>
            </a:extLst>
          </p:cNvPr>
          <p:cNvCxnSpPr/>
          <p:nvPr/>
        </p:nvCxnSpPr>
        <p:spPr>
          <a:xfrm flipH="1">
            <a:off x="874091" y="2157082"/>
            <a:ext cx="491543" cy="475800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C4EEC0-D198-1BB3-F8A4-3844A975F110}"/>
              </a:ext>
            </a:extLst>
          </p:cNvPr>
          <p:cNvCxnSpPr>
            <a:cxnSpLocks/>
          </p:cNvCxnSpPr>
          <p:nvPr/>
        </p:nvCxnSpPr>
        <p:spPr>
          <a:xfrm>
            <a:off x="1360707" y="2162010"/>
            <a:ext cx="454388" cy="47087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DDD0F9-0A83-7EA9-EF23-70456E76F593}"/>
              </a:ext>
            </a:extLst>
          </p:cNvPr>
          <p:cNvCxnSpPr/>
          <p:nvPr/>
        </p:nvCxnSpPr>
        <p:spPr>
          <a:xfrm>
            <a:off x="1336689" y="1019950"/>
            <a:ext cx="8659" cy="64077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870BDA-AF3A-BDAD-C265-77E2CA488D01}"/>
              </a:ext>
            </a:extLst>
          </p:cNvPr>
          <p:cNvCxnSpPr>
            <a:cxnSpLocks/>
          </p:cNvCxnSpPr>
          <p:nvPr/>
        </p:nvCxnSpPr>
        <p:spPr>
          <a:xfrm>
            <a:off x="1832991" y="3117957"/>
            <a:ext cx="8659" cy="64077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FA226B-6134-E691-0905-E0C27A94E617}"/>
              </a:ext>
            </a:extLst>
          </p:cNvPr>
          <p:cNvCxnSpPr>
            <a:cxnSpLocks/>
          </p:cNvCxnSpPr>
          <p:nvPr/>
        </p:nvCxnSpPr>
        <p:spPr>
          <a:xfrm>
            <a:off x="840386" y="3117956"/>
            <a:ext cx="8659" cy="640772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C7294DF-7C71-1EB8-1748-B9CC2BF6690A}"/>
              </a:ext>
            </a:extLst>
          </p:cNvPr>
          <p:cNvSpPr txBox="1"/>
          <p:nvPr/>
        </p:nvSpPr>
        <p:spPr>
          <a:xfrm>
            <a:off x="485592" y="1457006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1000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79778C-A89A-0D34-60AF-92956E86A915}"/>
              </a:ext>
            </a:extLst>
          </p:cNvPr>
          <p:cNvSpPr txBox="1"/>
          <p:nvPr/>
        </p:nvSpPr>
        <p:spPr>
          <a:xfrm>
            <a:off x="-78388" y="2675204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3000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B72341-DA0B-7489-E3C1-684EA071AF63}"/>
              </a:ext>
            </a:extLst>
          </p:cNvPr>
          <p:cNvSpPr txBox="1"/>
          <p:nvPr/>
        </p:nvSpPr>
        <p:spPr>
          <a:xfrm>
            <a:off x="2012099" y="2675203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Helvetica Neue"/>
              </a:rPr>
              <a:t>2000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6D5248-5457-B55D-6EBB-1687A59DA820}"/>
              </a:ext>
            </a:extLst>
          </p:cNvPr>
          <p:cNvGraphicFramePr>
            <a:graphicFrameLocks noGrp="1"/>
          </p:cNvGraphicFramePr>
          <p:nvPr/>
        </p:nvGraphicFramePr>
        <p:xfrm>
          <a:off x="2721892" y="1638733"/>
          <a:ext cx="584282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804">
                  <a:extLst>
                    <a:ext uri="{9D8B030D-6E8A-4147-A177-3AD203B41FA5}">
                      <a16:colId xmlns:a16="http://schemas.microsoft.com/office/drawing/2014/main" val="2897525110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93725097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187200332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408388686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1866910143"/>
                    </a:ext>
                  </a:extLst>
                </a:gridCol>
                <a:gridCol w="973804">
                  <a:extLst>
                    <a:ext uri="{9D8B030D-6E8A-4147-A177-3AD203B41FA5}">
                      <a16:colId xmlns:a16="http://schemas.microsoft.com/office/drawing/2014/main" val="16189300"/>
                    </a:ext>
                  </a:extLst>
                </a:gridCol>
              </a:tblGrid>
              <a:tr h="3518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40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81101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986E534-C3A3-C15B-EBCC-9BA6A8D81421}"/>
              </a:ext>
            </a:extLst>
          </p:cNvPr>
          <p:cNvCxnSpPr/>
          <p:nvPr/>
        </p:nvCxnSpPr>
        <p:spPr>
          <a:xfrm>
            <a:off x="6072871" y="1239743"/>
            <a:ext cx="2310" cy="394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E3B89C-BF60-AEAE-7955-E28AC097E329}"/>
              </a:ext>
            </a:extLst>
          </p:cNvPr>
          <p:cNvCxnSpPr/>
          <p:nvPr/>
        </p:nvCxnSpPr>
        <p:spPr>
          <a:xfrm flipV="1">
            <a:off x="2518429" y="1242807"/>
            <a:ext cx="3559111" cy="104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6255ED-5EC2-F36E-8315-E59B470435A4}"/>
              </a:ext>
            </a:extLst>
          </p:cNvPr>
          <p:cNvCxnSpPr/>
          <p:nvPr/>
        </p:nvCxnSpPr>
        <p:spPr>
          <a:xfrm flipH="1">
            <a:off x="1565691" y="1254675"/>
            <a:ext cx="954792" cy="10708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F990432-4573-597E-E27C-89F7DF035CD4}"/>
              </a:ext>
            </a:extLst>
          </p:cNvPr>
          <p:cNvSpPr txBox="1"/>
          <p:nvPr/>
        </p:nvSpPr>
        <p:spPr>
          <a:xfrm>
            <a:off x="2869532" y="920415"/>
            <a:ext cx="260483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Helvetica Neue"/>
              </a:rPr>
              <a:t>1000 ⊕ 2000 = 1080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D11E3C-9654-30AD-34B1-857486D42B55}"/>
              </a:ext>
            </a:extLst>
          </p:cNvPr>
          <p:cNvSpPr txBox="1"/>
          <p:nvPr/>
        </p:nvSpPr>
        <p:spPr>
          <a:xfrm>
            <a:off x="2785311" y="1317457"/>
            <a:ext cx="83017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1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6D194C-B41B-1951-1759-7E0D69A1B0EA}"/>
              </a:ext>
            </a:extLst>
          </p:cNvPr>
          <p:cNvSpPr txBox="1"/>
          <p:nvPr/>
        </p:nvSpPr>
        <p:spPr>
          <a:xfrm>
            <a:off x="7655092" y="1326480"/>
            <a:ext cx="92041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65536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B316EB-BF0C-E310-8328-C76A64A209B6}"/>
              </a:ext>
            </a:extLst>
          </p:cNvPr>
          <p:cNvSpPr txBox="1"/>
          <p:nvPr/>
        </p:nvSpPr>
        <p:spPr>
          <a:xfrm>
            <a:off x="5108824" y="857667"/>
            <a:ext cx="432593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Single execution bitmap</a:t>
            </a:r>
            <a:endParaRPr lang="en-US"/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86406E0C-46EE-3B15-E0CF-A548E3D6B0DB}"/>
              </a:ext>
            </a:extLst>
          </p:cNvPr>
          <p:cNvGraphicFramePr>
            <a:graphicFrameLocks noGrp="1"/>
          </p:cNvGraphicFramePr>
          <p:nvPr/>
        </p:nvGraphicFramePr>
        <p:xfrm>
          <a:off x="2045368" y="3113170"/>
          <a:ext cx="7032079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010">
                  <a:extLst>
                    <a:ext uri="{9D8B030D-6E8A-4147-A177-3AD203B41FA5}">
                      <a16:colId xmlns:a16="http://schemas.microsoft.com/office/drawing/2014/main" val="2897525110"/>
                    </a:ext>
                  </a:extLst>
                </a:gridCol>
                <a:gridCol w="879010">
                  <a:extLst>
                    <a:ext uri="{9D8B030D-6E8A-4147-A177-3AD203B41FA5}">
                      <a16:colId xmlns:a16="http://schemas.microsoft.com/office/drawing/2014/main" val="493725097"/>
                    </a:ext>
                  </a:extLst>
                </a:gridCol>
                <a:gridCol w="879010">
                  <a:extLst>
                    <a:ext uri="{9D8B030D-6E8A-4147-A177-3AD203B41FA5}">
                      <a16:colId xmlns:a16="http://schemas.microsoft.com/office/drawing/2014/main" val="4187200332"/>
                    </a:ext>
                  </a:extLst>
                </a:gridCol>
                <a:gridCol w="879010">
                  <a:extLst>
                    <a:ext uri="{9D8B030D-6E8A-4147-A177-3AD203B41FA5}">
                      <a16:colId xmlns:a16="http://schemas.microsoft.com/office/drawing/2014/main" val="408388686"/>
                    </a:ext>
                  </a:extLst>
                </a:gridCol>
                <a:gridCol w="879010">
                  <a:extLst>
                    <a:ext uri="{9D8B030D-6E8A-4147-A177-3AD203B41FA5}">
                      <a16:colId xmlns:a16="http://schemas.microsoft.com/office/drawing/2014/main" val="1866910143"/>
                    </a:ext>
                  </a:extLst>
                </a:gridCol>
                <a:gridCol w="841383">
                  <a:extLst>
                    <a:ext uri="{9D8B030D-6E8A-4147-A177-3AD203B41FA5}">
                      <a16:colId xmlns:a16="http://schemas.microsoft.com/office/drawing/2014/main" val="16189300"/>
                    </a:ext>
                  </a:extLst>
                </a:gridCol>
                <a:gridCol w="916636">
                  <a:extLst>
                    <a:ext uri="{9D8B030D-6E8A-4147-A177-3AD203B41FA5}">
                      <a16:colId xmlns:a16="http://schemas.microsoft.com/office/drawing/2014/main" val="3470654996"/>
                    </a:ext>
                  </a:extLst>
                </a:gridCol>
                <a:gridCol w="879010">
                  <a:extLst>
                    <a:ext uri="{9D8B030D-6E8A-4147-A177-3AD203B41FA5}">
                      <a16:colId xmlns:a16="http://schemas.microsoft.com/office/drawing/2014/main" val="4227286173"/>
                    </a:ext>
                  </a:extLst>
                </a:gridCol>
              </a:tblGrid>
              <a:tr h="3518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811010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F67F7BFB-1239-A25F-48F9-D6621F51D1C5}"/>
              </a:ext>
            </a:extLst>
          </p:cNvPr>
          <p:cNvSpPr txBox="1"/>
          <p:nvPr/>
        </p:nvSpPr>
        <p:spPr>
          <a:xfrm>
            <a:off x="2219157" y="3548062"/>
            <a:ext cx="6111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0</a:t>
            </a:r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BAE5BC3-A5AD-B6A3-2D93-2BFA098BD98D}"/>
              </a:ext>
            </a:extLst>
          </p:cNvPr>
          <p:cNvSpPr txBox="1"/>
          <p:nvPr/>
        </p:nvSpPr>
        <p:spPr>
          <a:xfrm>
            <a:off x="3053848" y="3548062"/>
            <a:ext cx="6111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1B686F-C0DF-B55C-374A-4BD966F3E723}"/>
              </a:ext>
            </a:extLst>
          </p:cNvPr>
          <p:cNvSpPr txBox="1"/>
          <p:nvPr/>
        </p:nvSpPr>
        <p:spPr>
          <a:xfrm>
            <a:off x="3971256" y="3548062"/>
            <a:ext cx="6111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2-3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EF0411-E8DB-122F-68ED-27FD37C40868}"/>
              </a:ext>
            </a:extLst>
          </p:cNvPr>
          <p:cNvSpPr txBox="1"/>
          <p:nvPr/>
        </p:nvSpPr>
        <p:spPr>
          <a:xfrm>
            <a:off x="4805946" y="3548062"/>
            <a:ext cx="6111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4-7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D77F17-029B-D252-1AE7-7AFF303F579F}"/>
              </a:ext>
            </a:extLst>
          </p:cNvPr>
          <p:cNvSpPr txBox="1"/>
          <p:nvPr/>
        </p:nvSpPr>
        <p:spPr>
          <a:xfrm>
            <a:off x="5655678" y="3548062"/>
            <a:ext cx="708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8-15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A349BF-13AC-ABE4-A0DC-34AEBEF770BE}"/>
              </a:ext>
            </a:extLst>
          </p:cNvPr>
          <p:cNvSpPr txBox="1"/>
          <p:nvPr/>
        </p:nvSpPr>
        <p:spPr>
          <a:xfrm>
            <a:off x="6445249" y="3548062"/>
            <a:ext cx="85181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16-31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7573E3A-4064-BA06-2D26-2FA7F6408D70}"/>
              </a:ext>
            </a:extLst>
          </p:cNvPr>
          <p:cNvSpPr txBox="1"/>
          <p:nvPr/>
        </p:nvSpPr>
        <p:spPr>
          <a:xfrm>
            <a:off x="7189702" y="3548062"/>
            <a:ext cx="10924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32-127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CD67C73-A269-8C48-6B17-6FFAC3037F30}"/>
              </a:ext>
            </a:extLst>
          </p:cNvPr>
          <p:cNvSpPr txBox="1"/>
          <p:nvPr/>
        </p:nvSpPr>
        <p:spPr>
          <a:xfrm>
            <a:off x="8099590" y="3548062"/>
            <a:ext cx="10924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128-∞</a:t>
            </a:r>
          </a:p>
        </p:txBody>
      </p:sp>
      <p:sp>
        <p:nvSpPr>
          <p:cNvPr id="69" name="Arrow: Down 68">
            <a:extLst>
              <a:ext uri="{FF2B5EF4-FFF2-40B4-BE49-F238E27FC236}">
                <a16:creationId xmlns:a16="http://schemas.microsoft.com/office/drawing/2014/main" id="{2DA3716E-6021-40FC-A30D-982775607F3F}"/>
              </a:ext>
            </a:extLst>
          </p:cNvPr>
          <p:cNvSpPr/>
          <p:nvPr/>
        </p:nvSpPr>
        <p:spPr>
          <a:xfrm>
            <a:off x="5351546" y="2115972"/>
            <a:ext cx="595312" cy="91657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CBD60A-7939-E786-33DA-42700A48BAF8}"/>
              </a:ext>
            </a:extLst>
          </p:cNvPr>
          <p:cNvSpPr txBox="1"/>
          <p:nvPr/>
        </p:nvSpPr>
        <p:spPr>
          <a:xfrm>
            <a:off x="3770312" y="4008437"/>
            <a:ext cx="432593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Helvetica Neue"/>
              </a:rPr>
              <a:t>Global bitmap for branch ID 1080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76533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88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Deterministic seed mutations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890528"/>
            <a:ext cx="8837839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Deterministic operations performed first.</a:t>
            </a:r>
            <a:endParaRPr lang="en-US"/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Bitflips in groups of 1 to 32 bits.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Add/subtract small numbers (&lt; 35) from each byte.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Replace bits with interesting values (</a:t>
            </a:r>
            <a:r>
              <a:rPr lang="en-US" sz="2800" err="1">
                <a:latin typeface="Helvetica Neue"/>
              </a:rPr>
              <a:t>eg</a:t>
            </a:r>
            <a:r>
              <a:rPr lang="en-US" sz="2800">
                <a:latin typeface="Helvetica Neue"/>
              </a:rPr>
              <a:t>: 0, 1, INT_MAX) and values from dictionary.</a:t>
            </a:r>
          </a:p>
        </p:txBody>
      </p:sp>
    </p:spTree>
    <p:extLst>
      <p:ext uri="{BB962C8B-B14F-4D97-AF65-F5344CB8AC3E}">
        <p14:creationId xmlns:p14="http://schemas.microsoft.com/office/powerpoint/2010/main" val="9948807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89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Non-deterministic seed mutations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890528"/>
            <a:ext cx="8837839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Random havoc most common.</a:t>
            </a:r>
            <a:endParaRPr lang="en-US"/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Apply deterministic mutations at random locations based on seed energy.</a:t>
            </a:r>
          </a:p>
        </p:txBody>
      </p:sp>
    </p:spTree>
    <p:extLst>
      <p:ext uri="{BB962C8B-B14F-4D97-AF65-F5344CB8AC3E}">
        <p14:creationId xmlns:p14="http://schemas.microsoft.com/office/powerpoint/2010/main" val="129969881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B13E1274-8086-D1F6-ED25-DFFACDD09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64E1C953-7801-F8A6-D4C4-AB3BEA2622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90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DA6B06BE-01E2-2DCD-9B95-9D265F135614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E8FC5CBF-BD4E-F083-0C37-170EC5E4FFF3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1DD987E1-2E20-05B3-FA49-1E46DDA7C9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BCC5ADA0-D82D-0F67-64E4-E829707A82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Non-deterministic seed mutations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27C1E5-52F5-DD15-2B48-34FE25270824}"/>
              </a:ext>
            </a:extLst>
          </p:cNvPr>
          <p:cNvSpPr txBox="1"/>
          <p:nvPr/>
        </p:nvSpPr>
        <p:spPr>
          <a:xfrm>
            <a:off x="142874" y="890528"/>
            <a:ext cx="8837839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Random havoc most common.</a:t>
            </a:r>
            <a:endParaRPr lang="en-US"/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Apply deterministic mutations at random locations based on seed energy.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If no interesting input discovered, perform random splicing of 2 inputs.</a:t>
            </a:r>
          </a:p>
        </p:txBody>
      </p:sp>
    </p:spTree>
    <p:extLst>
      <p:ext uri="{BB962C8B-B14F-4D97-AF65-F5344CB8AC3E}">
        <p14:creationId xmlns:p14="http://schemas.microsoft.com/office/powerpoint/2010/main" val="21084541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25AA368F-4A3E-C72E-B779-EB7F6F8B3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27A73657-B4FA-F3C5-EEB9-886EF8E725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91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548B6D88-E6B8-EA3E-8DCE-AC1012BA6A73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D5EEB5EE-ABBF-31FC-2BD9-18046C05609E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65006E57-C694-BDAD-DB41-21659C6AB28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1CB649BA-1096-D147-05E8-041CC7E0B8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Selective seed mutation (cont.)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6C02D-1069-0E7B-E75A-2A839915EE02}"/>
              </a:ext>
            </a:extLst>
          </p:cNvPr>
          <p:cNvSpPr txBox="1"/>
          <p:nvPr/>
        </p:nvSpPr>
        <p:spPr>
          <a:xfrm>
            <a:off x="142874" y="890528"/>
            <a:ext cx="8837839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 err="1">
                <a:latin typeface="Helvetica Neue"/>
              </a:rPr>
              <a:t>ShapFuzz</a:t>
            </a:r>
            <a:r>
              <a:rPr lang="en-US" sz="2800" dirty="0">
                <a:latin typeface="Helvetica Neue"/>
              </a:rPr>
              <a:t>: Use Shapley analysis to quantify contribution of each byte to fuzzing goal and </a:t>
            </a:r>
            <a:r>
              <a:rPr lang="en-US" sz="2800">
                <a:latin typeface="Helvetica Neue"/>
              </a:rPr>
              <a:t>prioritize bytes.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3188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C5F654D3-6785-C347-AB24-33D74F33A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107C5172-B70D-F724-92BC-CCF4EF31B6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92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E37ABC06-8D8A-BAD3-3A18-7A60E17D89D8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E753FB7B-36C8-1258-7B17-6BE0CC3A9AB9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43096381-67B8-12A5-5072-3C6B508A4FB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627EDCF1-4CFB-F8C4-2A9F-CEEF3C000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Selective seed mutation (cont.)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D9736C-8C67-8F73-39B0-9AFDF64B31B6}"/>
              </a:ext>
            </a:extLst>
          </p:cNvPr>
          <p:cNvSpPr txBox="1"/>
          <p:nvPr/>
        </p:nvSpPr>
        <p:spPr>
          <a:xfrm>
            <a:off x="142874" y="890528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,Sans-Serif"/>
              <a:buChar char="•"/>
            </a:pPr>
            <a:r>
              <a:rPr lang="en-US" sz="2800" dirty="0">
                <a:latin typeface="Helvetica Neue"/>
              </a:rPr>
              <a:t>PATA: Temporal dependency tracking.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65553-1E4E-F4D5-D49F-A5FAFBA3282B}"/>
              </a:ext>
            </a:extLst>
          </p:cNvPr>
          <p:cNvSpPr txBox="1"/>
          <p:nvPr/>
        </p:nvSpPr>
        <p:spPr>
          <a:xfrm>
            <a:off x="170072" y="1420106"/>
            <a:ext cx="8863946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monospace"/>
              </a:rPr>
              <a:t>void </a:t>
            </a:r>
            <a:r>
              <a:rPr lang="en-US" sz="2400" err="1">
                <a:latin typeface="monospace"/>
              </a:rPr>
              <a:t>png_read_info</a:t>
            </a:r>
            <a:r>
              <a:rPr lang="en-US" sz="2400">
                <a:latin typeface="monospace"/>
              </a:rPr>
              <a:t>(...) {</a:t>
            </a:r>
          </a:p>
          <a:p>
            <a:r>
              <a:rPr lang="en-US" sz="2400">
                <a:latin typeface="monospace"/>
              </a:rPr>
              <a:t> ...</a:t>
            </a:r>
          </a:p>
          <a:p>
            <a:r>
              <a:rPr lang="en-US" sz="2400">
                <a:latin typeface="monospace"/>
              </a:rPr>
              <a:t> for (...) {</a:t>
            </a:r>
          </a:p>
          <a:p>
            <a:r>
              <a:rPr lang="en-US" sz="2400">
                <a:latin typeface="monospace"/>
              </a:rPr>
              <a:t>  uint32_t length = </a:t>
            </a:r>
            <a:r>
              <a:rPr lang="en-US" sz="2400" err="1">
                <a:latin typeface="monospace"/>
              </a:rPr>
              <a:t>read_chunk_header</a:t>
            </a:r>
            <a:r>
              <a:rPr lang="en-US" sz="2400">
                <a:latin typeface="monospace"/>
              </a:rPr>
              <a:t>(</a:t>
            </a:r>
            <a:r>
              <a:rPr lang="en-US" sz="2400" err="1">
                <a:latin typeface="monospace"/>
              </a:rPr>
              <a:t>png_ptr</a:t>
            </a:r>
            <a:r>
              <a:rPr lang="en-US" sz="2400">
                <a:latin typeface="monospace"/>
              </a:rPr>
              <a:t>);</a:t>
            </a:r>
          </a:p>
          <a:p>
            <a:r>
              <a:rPr lang="en-US" sz="2400">
                <a:latin typeface="monospace"/>
              </a:rPr>
              <a:t>  </a:t>
            </a:r>
            <a:r>
              <a:rPr lang="en-US" sz="2400" err="1">
                <a:latin typeface="monospace"/>
              </a:rPr>
              <a:t>png_bytep</a:t>
            </a:r>
            <a:r>
              <a:rPr lang="en-US" sz="2400">
                <a:latin typeface="monospace"/>
              </a:rPr>
              <a:t> </a:t>
            </a:r>
            <a:r>
              <a:rPr lang="en-US" sz="2400" err="1">
                <a:latin typeface="monospace"/>
              </a:rPr>
              <a:t>chunk_name</a:t>
            </a:r>
            <a:r>
              <a:rPr lang="en-US" sz="2400">
                <a:latin typeface="monospace"/>
              </a:rPr>
              <a:t> = </a:t>
            </a:r>
            <a:r>
              <a:rPr lang="en-US" sz="2400" err="1">
                <a:latin typeface="monospace"/>
              </a:rPr>
              <a:t>png_ptr</a:t>
            </a:r>
            <a:r>
              <a:rPr lang="en-US" sz="2400">
                <a:latin typeface="monospace"/>
              </a:rPr>
              <a:t>-&gt;</a:t>
            </a:r>
            <a:r>
              <a:rPr lang="en-US" sz="2400" err="1">
                <a:latin typeface="monospace"/>
              </a:rPr>
              <a:t>chunk_name</a:t>
            </a:r>
            <a:r>
              <a:rPr lang="en-US" sz="2400">
                <a:latin typeface="monospace"/>
              </a:rPr>
              <a:t>;</a:t>
            </a:r>
          </a:p>
          <a:p>
            <a:r>
              <a:rPr lang="en-US" sz="2400">
                <a:latin typeface="monospace"/>
              </a:rPr>
              <a:t>  if (</a:t>
            </a:r>
            <a:r>
              <a:rPr lang="en-US" sz="2400" err="1">
                <a:latin typeface="monospace"/>
              </a:rPr>
              <a:t>chunk_name</a:t>
            </a:r>
            <a:r>
              <a:rPr lang="en-US" sz="2400">
                <a:latin typeface="monospace"/>
              </a:rPr>
              <a:t> == PNG_IDAT) {...}</a:t>
            </a:r>
          </a:p>
          <a:p>
            <a:r>
              <a:rPr lang="en-US" sz="2400">
                <a:latin typeface="monospace"/>
              </a:rPr>
              <a:t>  if (</a:t>
            </a:r>
            <a:r>
              <a:rPr lang="en-US" sz="2400" err="1">
                <a:latin typeface="monospace"/>
              </a:rPr>
              <a:t>chunk_name</a:t>
            </a:r>
            <a:r>
              <a:rPr lang="en-US" sz="2400">
                <a:latin typeface="monospace"/>
              </a:rPr>
              <a:t> == PNG_IHDR) {...}</a:t>
            </a:r>
            <a:endParaRPr lang="en-US"/>
          </a:p>
          <a:p>
            <a:r>
              <a:rPr lang="en-US" sz="2400">
                <a:latin typeface="monospace"/>
              </a:rPr>
              <a:t>  ...</a:t>
            </a:r>
          </a:p>
          <a:p>
            <a:r>
              <a:rPr lang="en-US" sz="2400">
                <a:latin typeface="monospace"/>
              </a:rPr>
              <a:t> }</a:t>
            </a:r>
          </a:p>
          <a:p>
            <a:r>
              <a:rPr lang="en-US" sz="2400">
                <a:latin typeface="monospac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412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4A3E1AA7-4D2F-E792-886F-F848E8F57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DDE4D59C-F06E-7D50-686F-48435CE0AA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93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ABF7ED1-3B06-ACC1-2809-A701324775D3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B8955B52-A3D8-14DD-E737-EAEE6CB3FE5E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52BB3C43-6E28-EE5C-2C8D-2FB26509A1A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F210C426-D53A-0B4F-CF2A-929E0B2A2D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Selective seed mutation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105CF7-3FF4-E6A1-BED7-2590B671CABC}"/>
              </a:ext>
            </a:extLst>
          </p:cNvPr>
          <p:cNvSpPr txBox="1"/>
          <p:nvPr/>
        </p:nvSpPr>
        <p:spPr>
          <a:xfrm>
            <a:off x="142874" y="890528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,Sans-Serif"/>
              <a:buChar char="•"/>
            </a:pPr>
            <a:r>
              <a:rPr lang="en-US" sz="2800" dirty="0">
                <a:latin typeface="Helvetica Neue"/>
              </a:rPr>
              <a:t>PATA: Temporal dependency tracking.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84D77F-E3E3-0E5B-C207-F9429C84EE83}"/>
              </a:ext>
            </a:extLst>
          </p:cNvPr>
          <p:cNvSpPr txBox="1"/>
          <p:nvPr/>
        </p:nvSpPr>
        <p:spPr>
          <a:xfrm>
            <a:off x="170072" y="1420106"/>
            <a:ext cx="8863946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monospace"/>
              </a:rPr>
              <a:t>void </a:t>
            </a:r>
            <a:r>
              <a:rPr lang="en-US" sz="2400" err="1">
                <a:latin typeface="monospace"/>
              </a:rPr>
              <a:t>png_read_info</a:t>
            </a:r>
            <a:r>
              <a:rPr lang="en-US" sz="2400">
                <a:latin typeface="monospace"/>
              </a:rPr>
              <a:t>(...) {</a:t>
            </a:r>
          </a:p>
          <a:p>
            <a:r>
              <a:rPr lang="en-US" sz="2400">
                <a:latin typeface="monospace"/>
              </a:rPr>
              <a:t> ...</a:t>
            </a:r>
          </a:p>
          <a:p>
            <a:r>
              <a:rPr lang="en-US" sz="2400">
                <a:latin typeface="monospace"/>
              </a:rPr>
              <a:t> for (...) {</a:t>
            </a:r>
          </a:p>
          <a:p>
            <a:r>
              <a:rPr lang="en-US" sz="2400">
                <a:latin typeface="monospace"/>
              </a:rPr>
              <a:t>  uint32_t length = </a:t>
            </a:r>
            <a:r>
              <a:rPr lang="en-US" sz="2400" err="1">
                <a:latin typeface="monospace"/>
              </a:rPr>
              <a:t>read_chunk_header</a:t>
            </a:r>
            <a:r>
              <a:rPr lang="en-US" sz="2400">
                <a:latin typeface="monospace"/>
              </a:rPr>
              <a:t>(</a:t>
            </a:r>
            <a:r>
              <a:rPr lang="en-US" sz="2400" err="1">
                <a:latin typeface="monospace"/>
              </a:rPr>
              <a:t>png_ptr</a:t>
            </a:r>
            <a:r>
              <a:rPr lang="en-US" sz="2400">
                <a:latin typeface="monospace"/>
              </a:rPr>
              <a:t>);</a:t>
            </a:r>
          </a:p>
          <a:p>
            <a:r>
              <a:rPr lang="en-US" sz="2400">
                <a:latin typeface="monospace"/>
              </a:rPr>
              <a:t>  </a:t>
            </a:r>
            <a:r>
              <a:rPr lang="en-US" sz="2400" err="1">
                <a:latin typeface="monospace"/>
              </a:rPr>
              <a:t>png_bytep</a:t>
            </a:r>
            <a:r>
              <a:rPr lang="en-US" sz="2400">
                <a:latin typeface="monospace"/>
              </a:rPr>
              <a:t> </a:t>
            </a:r>
            <a:r>
              <a:rPr lang="en-US" sz="2400" err="1">
                <a:latin typeface="monospace"/>
              </a:rPr>
              <a:t>chunk_name</a:t>
            </a:r>
            <a:r>
              <a:rPr lang="en-US" sz="2400">
                <a:latin typeface="monospace"/>
              </a:rPr>
              <a:t> = </a:t>
            </a:r>
            <a:r>
              <a:rPr lang="en-US" sz="2400" err="1">
                <a:latin typeface="monospace"/>
              </a:rPr>
              <a:t>png_ptr</a:t>
            </a:r>
            <a:r>
              <a:rPr lang="en-US" sz="2400">
                <a:latin typeface="monospace"/>
              </a:rPr>
              <a:t>-&gt;</a:t>
            </a:r>
            <a:r>
              <a:rPr lang="en-US" sz="2400" err="1">
                <a:latin typeface="monospace"/>
              </a:rPr>
              <a:t>chunk_name</a:t>
            </a:r>
            <a:r>
              <a:rPr lang="en-US" sz="2400">
                <a:latin typeface="monospace"/>
              </a:rPr>
              <a:t>;</a:t>
            </a:r>
          </a:p>
          <a:p>
            <a:r>
              <a:rPr lang="en-US" sz="2400">
                <a:latin typeface="monospace"/>
              </a:rPr>
              <a:t>  </a:t>
            </a:r>
            <a:r>
              <a:rPr lang="en-US" sz="2400" b="1">
                <a:latin typeface="monospace"/>
              </a:rPr>
              <a:t>if (</a:t>
            </a:r>
            <a:r>
              <a:rPr lang="en-US" sz="2400" b="1" err="1">
                <a:latin typeface="monospace"/>
              </a:rPr>
              <a:t>chunk_name</a:t>
            </a:r>
            <a:r>
              <a:rPr lang="en-US" sz="2400" b="1">
                <a:latin typeface="monospace"/>
              </a:rPr>
              <a:t> == PNG_IDAT) {...}</a:t>
            </a:r>
          </a:p>
          <a:p>
            <a:r>
              <a:rPr lang="en-US" sz="2400">
                <a:latin typeface="monospace"/>
              </a:rPr>
              <a:t>  </a:t>
            </a:r>
            <a:r>
              <a:rPr lang="en-US" sz="2400" b="1">
                <a:latin typeface="monospace"/>
              </a:rPr>
              <a:t>if (</a:t>
            </a:r>
            <a:r>
              <a:rPr lang="en-US" sz="2400" b="1" err="1">
                <a:latin typeface="monospace"/>
              </a:rPr>
              <a:t>chunk_name</a:t>
            </a:r>
            <a:r>
              <a:rPr lang="en-US" sz="2400" b="1">
                <a:latin typeface="monospace"/>
              </a:rPr>
              <a:t> == PNG_IHDR) {...}</a:t>
            </a:r>
            <a:endParaRPr lang="en-US" b="1"/>
          </a:p>
          <a:p>
            <a:r>
              <a:rPr lang="en-US" sz="2400">
                <a:latin typeface="monospace"/>
              </a:rPr>
              <a:t>  ...</a:t>
            </a:r>
          </a:p>
          <a:p>
            <a:r>
              <a:rPr lang="en-US" sz="2400">
                <a:latin typeface="monospace"/>
              </a:rPr>
              <a:t> }</a:t>
            </a:r>
          </a:p>
          <a:p>
            <a:r>
              <a:rPr lang="en-US" sz="2400">
                <a:latin typeface="monospac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288066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5D27388-1739-D5FE-1393-4696B992DC4D}"/>
              </a:ext>
            </a:extLst>
          </p:cNvPr>
          <p:cNvCxnSpPr>
            <a:cxnSpLocks/>
          </p:cNvCxnSpPr>
          <p:nvPr/>
        </p:nvCxnSpPr>
        <p:spPr>
          <a:xfrm flipH="1">
            <a:off x="7282193" y="3372125"/>
            <a:ext cx="187967" cy="3731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94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Seed scheduling (cont.)</a:t>
            </a: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DE8B1841-92D6-FA19-5B71-9C08993823E9}"/>
              </a:ext>
            </a:extLst>
          </p:cNvPr>
          <p:cNvSpPr/>
          <p:nvPr/>
        </p:nvSpPr>
        <p:spPr>
          <a:xfrm>
            <a:off x="4257190" y="1198358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  <a:latin typeface="Helvetica Neue"/>
                <a:cs typeface="Arial"/>
              </a:rPr>
              <a:t>A</a:t>
            </a:r>
            <a:endParaRPr lang="en-US" sz="2800" dirty="0">
              <a:solidFill>
                <a:schemeClr val="bg2"/>
              </a:solidFill>
              <a:latin typeface="Helvetica Neue"/>
            </a:endParaRP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572E5B36-FA8D-D241-A4E0-448A943E80DC}"/>
              </a:ext>
            </a:extLst>
          </p:cNvPr>
          <p:cNvSpPr/>
          <p:nvPr/>
        </p:nvSpPr>
        <p:spPr>
          <a:xfrm>
            <a:off x="6198764" y="194632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C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565D7A3C-3F33-5F06-C2E5-C73C5F456861}"/>
              </a:ext>
            </a:extLst>
          </p:cNvPr>
          <p:cNvSpPr/>
          <p:nvPr/>
        </p:nvSpPr>
        <p:spPr>
          <a:xfrm>
            <a:off x="2179928" y="194632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B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3F156C3D-C795-4BB3-DF1E-0265C0C94325}"/>
              </a:ext>
            </a:extLst>
          </p:cNvPr>
          <p:cNvSpPr/>
          <p:nvPr/>
        </p:nvSpPr>
        <p:spPr>
          <a:xfrm>
            <a:off x="3165273" y="283313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E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A01B28D1-071A-782A-AAFB-95A41E8559DC}"/>
              </a:ext>
            </a:extLst>
          </p:cNvPr>
          <p:cNvSpPr/>
          <p:nvPr/>
        </p:nvSpPr>
        <p:spPr>
          <a:xfrm>
            <a:off x="4968453" y="3700234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L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8F5C264-1523-4FEA-8DCF-988505EED1BC}"/>
              </a:ext>
            </a:extLst>
          </p:cNvPr>
          <p:cNvSpPr/>
          <p:nvPr/>
        </p:nvSpPr>
        <p:spPr>
          <a:xfrm>
            <a:off x="2554358" y="3700234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J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0BA80BE0-39A7-FE11-D84A-8DE487AE4644}"/>
              </a:ext>
            </a:extLst>
          </p:cNvPr>
          <p:cNvSpPr/>
          <p:nvPr/>
        </p:nvSpPr>
        <p:spPr>
          <a:xfrm>
            <a:off x="5459254" y="281866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F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26FAD64F-B685-F651-6769-29AFFD8D7EE9}"/>
              </a:ext>
            </a:extLst>
          </p:cNvPr>
          <p:cNvSpPr/>
          <p:nvPr/>
        </p:nvSpPr>
        <p:spPr>
          <a:xfrm>
            <a:off x="7275656" y="281866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G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21C386AD-3206-87F7-9FBE-790D7D82B083}"/>
              </a:ext>
            </a:extLst>
          </p:cNvPr>
          <p:cNvSpPr/>
          <p:nvPr/>
        </p:nvSpPr>
        <p:spPr>
          <a:xfrm>
            <a:off x="7727418" y="3700233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O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7C0B7DA2-077F-E897-3CEC-58A4DE532731}"/>
              </a:ext>
            </a:extLst>
          </p:cNvPr>
          <p:cNvSpPr/>
          <p:nvPr/>
        </p:nvSpPr>
        <p:spPr>
          <a:xfrm>
            <a:off x="6811047" y="3700233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N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DBF9827F-5B82-25B8-B153-C0F561781F4B}"/>
              </a:ext>
            </a:extLst>
          </p:cNvPr>
          <p:cNvSpPr/>
          <p:nvPr/>
        </p:nvSpPr>
        <p:spPr>
          <a:xfrm>
            <a:off x="1115755" y="2842984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D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D53F1D98-EA35-B752-0273-FEF105F0FCD6}"/>
              </a:ext>
            </a:extLst>
          </p:cNvPr>
          <p:cNvSpPr/>
          <p:nvPr/>
        </p:nvSpPr>
        <p:spPr>
          <a:xfrm>
            <a:off x="573815" y="3700234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H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8FEDD6-D8D4-E506-36DF-0D73F03ECF56}"/>
              </a:ext>
            </a:extLst>
          </p:cNvPr>
          <p:cNvCxnSpPr/>
          <p:nvPr/>
        </p:nvCxnSpPr>
        <p:spPr>
          <a:xfrm flipH="1">
            <a:off x="2750484" y="1592519"/>
            <a:ext cx="1534643" cy="4744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840F72-2E60-08F4-B6F0-90FA5CBF6DCC}"/>
              </a:ext>
            </a:extLst>
          </p:cNvPr>
          <p:cNvCxnSpPr>
            <a:cxnSpLocks/>
          </p:cNvCxnSpPr>
          <p:nvPr/>
        </p:nvCxnSpPr>
        <p:spPr>
          <a:xfrm flipH="1">
            <a:off x="5807546" y="2449144"/>
            <a:ext cx="507390" cy="3731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62A8B38-19B1-16D8-39A0-F6C9DAFEC51E}"/>
              </a:ext>
            </a:extLst>
          </p:cNvPr>
          <p:cNvCxnSpPr>
            <a:cxnSpLocks/>
          </p:cNvCxnSpPr>
          <p:nvPr/>
        </p:nvCxnSpPr>
        <p:spPr>
          <a:xfrm flipH="1">
            <a:off x="3056315" y="3391205"/>
            <a:ext cx="335018" cy="3941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87D1C8-4D90-EAB0-704C-8D4149D3B9E2}"/>
              </a:ext>
            </a:extLst>
          </p:cNvPr>
          <p:cNvCxnSpPr>
            <a:cxnSpLocks/>
          </p:cNvCxnSpPr>
          <p:nvPr/>
        </p:nvCxnSpPr>
        <p:spPr>
          <a:xfrm flipH="1">
            <a:off x="1026502" y="3371497"/>
            <a:ext cx="246339" cy="3645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7C65404-BE40-9176-D582-C523532D2F5B}"/>
              </a:ext>
            </a:extLst>
          </p:cNvPr>
          <p:cNvCxnSpPr>
            <a:cxnSpLocks/>
          </p:cNvCxnSpPr>
          <p:nvPr/>
        </p:nvCxnSpPr>
        <p:spPr>
          <a:xfrm flipH="1">
            <a:off x="1630680" y="2444274"/>
            <a:ext cx="652076" cy="4558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E9E8AE-D6B8-2CC8-C9F8-B4C2C0E95E58}"/>
              </a:ext>
            </a:extLst>
          </p:cNvPr>
          <p:cNvCxnSpPr>
            <a:cxnSpLocks/>
          </p:cNvCxnSpPr>
          <p:nvPr/>
        </p:nvCxnSpPr>
        <p:spPr>
          <a:xfrm>
            <a:off x="2684253" y="2444527"/>
            <a:ext cx="552416" cy="4770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FC65C1C-AE2F-1D9A-521C-E2F877575D16}"/>
              </a:ext>
            </a:extLst>
          </p:cNvPr>
          <p:cNvCxnSpPr>
            <a:cxnSpLocks/>
          </p:cNvCxnSpPr>
          <p:nvPr/>
        </p:nvCxnSpPr>
        <p:spPr>
          <a:xfrm flipH="1">
            <a:off x="5405424" y="3369504"/>
            <a:ext cx="233241" cy="3659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BFAAB95D-4268-E15F-132E-5E1E8F7E73BE}"/>
              </a:ext>
            </a:extLst>
          </p:cNvPr>
          <p:cNvSpPr/>
          <p:nvPr/>
        </p:nvSpPr>
        <p:spPr>
          <a:xfrm>
            <a:off x="1677401" y="369038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I</a:t>
            </a: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898DAA63-5B19-B852-BDDB-9944B5950934}"/>
              </a:ext>
            </a:extLst>
          </p:cNvPr>
          <p:cNvSpPr/>
          <p:nvPr/>
        </p:nvSpPr>
        <p:spPr>
          <a:xfrm>
            <a:off x="3835306" y="3710087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K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09D41B37-2C7D-BA39-4DF8-9C06CED38853}"/>
              </a:ext>
            </a:extLst>
          </p:cNvPr>
          <p:cNvSpPr/>
          <p:nvPr/>
        </p:nvSpPr>
        <p:spPr>
          <a:xfrm>
            <a:off x="5924237" y="3710086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M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C2D33B2-16D7-6BB1-A614-10D1729B5E01}"/>
              </a:ext>
            </a:extLst>
          </p:cNvPr>
          <p:cNvCxnSpPr>
            <a:cxnSpLocks/>
          </p:cNvCxnSpPr>
          <p:nvPr/>
        </p:nvCxnSpPr>
        <p:spPr>
          <a:xfrm>
            <a:off x="1628062" y="3363267"/>
            <a:ext cx="234113" cy="3468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57C5313-23B7-F08C-9C4D-C2EB69FC998F}"/>
              </a:ext>
            </a:extLst>
          </p:cNvPr>
          <p:cNvCxnSpPr>
            <a:cxnSpLocks/>
          </p:cNvCxnSpPr>
          <p:nvPr/>
        </p:nvCxnSpPr>
        <p:spPr>
          <a:xfrm>
            <a:off x="3574055" y="3377735"/>
            <a:ext cx="349859" cy="4192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CECAB3B-4337-35E2-85B0-9C97C3B5BEFF}"/>
              </a:ext>
            </a:extLst>
          </p:cNvPr>
          <p:cNvCxnSpPr>
            <a:cxnSpLocks/>
          </p:cNvCxnSpPr>
          <p:nvPr/>
        </p:nvCxnSpPr>
        <p:spPr>
          <a:xfrm>
            <a:off x="5946862" y="3334330"/>
            <a:ext cx="241347" cy="3758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BE19A4-0BEA-5394-B416-76DC133D2E98}"/>
              </a:ext>
            </a:extLst>
          </p:cNvPr>
          <p:cNvCxnSpPr>
            <a:cxnSpLocks/>
          </p:cNvCxnSpPr>
          <p:nvPr/>
        </p:nvCxnSpPr>
        <p:spPr>
          <a:xfrm>
            <a:off x="7697533" y="3377733"/>
            <a:ext cx="248580" cy="3468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B2E27E4-C5D4-8218-12EA-AA9711A5A8C1}"/>
              </a:ext>
            </a:extLst>
          </p:cNvPr>
          <p:cNvCxnSpPr>
            <a:cxnSpLocks/>
          </p:cNvCxnSpPr>
          <p:nvPr/>
        </p:nvCxnSpPr>
        <p:spPr>
          <a:xfrm>
            <a:off x="6699221" y="2451760"/>
            <a:ext cx="646461" cy="4698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4C5ED46-F825-4BFD-9181-0F22DCF96289}"/>
              </a:ext>
            </a:extLst>
          </p:cNvPr>
          <p:cNvCxnSpPr>
            <a:cxnSpLocks/>
          </p:cNvCxnSpPr>
          <p:nvPr/>
        </p:nvCxnSpPr>
        <p:spPr>
          <a:xfrm>
            <a:off x="4871094" y="1585285"/>
            <a:ext cx="1409668" cy="4816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FD39FEE-2175-184B-691F-CC767B03A681}"/>
              </a:ext>
            </a:extLst>
          </p:cNvPr>
          <p:cNvSpPr txBox="1"/>
          <p:nvPr/>
        </p:nvSpPr>
        <p:spPr>
          <a:xfrm>
            <a:off x="199688" y="1064172"/>
            <a:ext cx="227963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Helvetica Neue"/>
              </a:rPr>
              <a:t>K-Scheduler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BEAE69-E17D-6C08-DFA1-FBA0C7E802E2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“Effective Seed Scheduling for Fuzzing with Graph Centrality Analysis” IEEE S&amp;P 2022.</a:t>
            </a:r>
            <a:endParaRPr lang="en-US" sz="100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8550974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7C65404-BE40-9176-D582-C523532D2F5B}"/>
              </a:ext>
            </a:extLst>
          </p:cNvPr>
          <p:cNvCxnSpPr>
            <a:cxnSpLocks/>
          </p:cNvCxnSpPr>
          <p:nvPr/>
        </p:nvCxnSpPr>
        <p:spPr>
          <a:xfrm flipH="1">
            <a:off x="1630680" y="2444274"/>
            <a:ext cx="652076" cy="455878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62A8B38-19B1-16D8-39A0-F6C9DAFEC51E}"/>
              </a:ext>
            </a:extLst>
          </p:cNvPr>
          <p:cNvCxnSpPr>
            <a:cxnSpLocks/>
          </p:cNvCxnSpPr>
          <p:nvPr/>
        </p:nvCxnSpPr>
        <p:spPr>
          <a:xfrm flipH="1">
            <a:off x="3056315" y="3391205"/>
            <a:ext cx="335018" cy="394138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5D27388-1739-D5FE-1393-4696B992DC4D}"/>
              </a:ext>
            </a:extLst>
          </p:cNvPr>
          <p:cNvCxnSpPr>
            <a:cxnSpLocks/>
          </p:cNvCxnSpPr>
          <p:nvPr/>
        </p:nvCxnSpPr>
        <p:spPr>
          <a:xfrm flipH="1">
            <a:off x="7282193" y="3372125"/>
            <a:ext cx="187967" cy="373182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95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Seed scheduling (cont.)</a:t>
            </a: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DE8B1841-92D6-FA19-5B71-9C08993823E9}"/>
              </a:ext>
            </a:extLst>
          </p:cNvPr>
          <p:cNvSpPr/>
          <p:nvPr/>
        </p:nvSpPr>
        <p:spPr>
          <a:xfrm>
            <a:off x="4265019" y="1198358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A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572E5B36-FA8D-D241-A4E0-448A943E80DC}"/>
              </a:ext>
            </a:extLst>
          </p:cNvPr>
          <p:cNvSpPr/>
          <p:nvPr/>
        </p:nvSpPr>
        <p:spPr>
          <a:xfrm>
            <a:off x="6198764" y="194632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C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565D7A3C-3F33-5F06-C2E5-C73C5F456861}"/>
              </a:ext>
            </a:extLst>
          </p:cNvPr>
          <p:cNvSpPr/>
          <p:nvPr/>
        </p:nvSpPr>
        <p:spPr>
          <a:xfrm>
            <a:off x="2179928" y="194632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B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3F156C3D-C795-4BB3-DF1E-0265C0C94325}"/>
              </a:ext>
            </a:extLst>
          </p:cNvPr>
          <p:cNvSpPr/>
          <p:nvPr/>
        </p:nvSpPr>
        <p:spPr>
          <a:xfrm>
            <a:off x="3165273" y="283313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E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A01B28D1-071A-782A-AAFB-95A41E8559DC}"/>
              </a:ext>
            </a:extLst>
          </p:cNvPr>
          <p:cNvSpPr/>
          <p:nvPr/>
        </p:nvSpPr>
        <p:spPr>
          <a:xfrm>
            <a:off x="4968453" y="3700234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L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8F5C264-1523-4FEA-8DCF-988505EED1BC}"/>
              </a:ext>
            </a:extLst>
          </p:cNvPr>
          <p:cNvSpPr/>
          <p:nvPr/>
        </p:nvSpPr>
        <p:spPr>
          <a:xfrm>
            <a:off x="2554358" y="3700234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J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0BA80BE0-39A7-FE11-D84A-8DE487AE4644}"/>
              </a:ext>
            </a:extLst>
          </p:cNvPr>
          <p:cNvSpPr/>
          <p:nvPr/>
        </p:nvSpPr>
        <p:spPr>
          <a:xfrm>
            <a:off x="5459254" y="281866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F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26FAD64F-B685-F651-6769-29AFFD8D7EE9}"/>
              </a:ext>
            </a:extLst>
          </p:cNvPr>
          <p:cNvSpPr/>
          <p:nvPr/>
        </p:nvSpPr>
        <p:spPr>
          <a:xfrm>
            <a:off x="7275656" y="281866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G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21C386AD-3206-87F7-9FBE-790D7D82B083}"/>
              </a:ext>
            </a:extLst>
          </p:cNvPr>
          <p:cNvSpPr/>
          <p:nvPr/>
        </p:nvSpPr>
        <p:spPr>
          <a:xfrm>
            <a:off x="7727418" y="3700233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O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7C0B7DA2-077F-E897-3CEC-58A4DE532731}"/>
              </a:ext>
            </a:extLst>
          </p:cNvPr>
          <p:cNvSpPr/>
          <p:nvPr/>
        </p:nvSpPr>
        <p:spPr>
          <a:xfrm>
            <a:off x="6811047" y="3700233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N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DBF9827F-5B82-25B8-B153-C0F561781F4B}"/>
              </a:ext>
            </a:extLst>
          </p:cNvPr>
          <p:cNvSpPr/>
          <p:nvPr/>
        </p:nvSpPr>
        <p:spPr>
          <a:xfrm>
            <a:off x="1115755" y="2842984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D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D53F1D98-EA35-B752-0273-FEF105F0FCD6}"/>
              </a:ext>
            </a:extLst>
          </p:cNvPr>
          <p:cNvSpPr/>
          <p:nvPr/>
        </p:nvSpPr>
        <p:spPr>
          <a:xfrm>
            <a:off x="573815" y="3700234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H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8FEDD6-D8D4-E506-36DF-0D73F03ECF56}"/>
              </a:ext>
            </a:extLst>
          </p:cNvPr>
          <p:cNvCxnSpPr/>
          <p:nvPr/>
        </p:nvCxnSpPr>
        <p:spPr>
          <a:xfrm flipH="1">
            <a:off x="2750484" y="1592519"/>
            <a:ext cx="1534643" cy="4744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840F72-2E60-08F4-B6F0-90FA5CBF6DCC}"/>
              </a:ext>
            </a:extLst>
          </p:cNvPr>
          <p:cNvCxnSpPr>
            <a:cxnSpLocks/>
          </p:cNvCxnSpPr>
          <p:nvPr/>
        </p:nvCxnSpPr>
        <p:spPr>
          <a:xfrm flipH="1">
            <a:off x="5807546" y="2449144"/>
            <a:ext cx="507390" cy="37318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87D1C8-4D90-EAB0-704C-8D4149D3B9E2}"/>
              </a:ext>
            </a:extLst>
          </p:cNvPr>
          <p:cNvCxnSpPr>
            <a:cxnSpLocks/>
          </p:cNvCxnSpPr>
          <p:nvPr/>
        </p:nvCxnSpPr>
        <p:spPr>
          <a:xfrm flipH="1">
            <a:off x="1026502" y="3371497"/>
            <a:ext cx="246339" cy="364578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E9E8AE-D6B8-2CC8-C9F8-B4C2C0E95E58}"/>
              </a:ext>
            </a:extLst>
          </p:cNvPr>
          <p:cNvCxnSpPr>
            <a:cxnSpLocks/>
          </p:cNvCxnSpPr>
          <p:nvPr/>
        </p:nvCxnSpPr>
        <p:spPr>
          <a:xfrm>
            <a:off x="2684253" y="2444527"/>
            <a:ext cx="552416" cy="47708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FC65C1C-AE2F-1D9A-521C-E2F877575D16}"/>
              </a:ext>
            </a:extLst>
          </p:cNvPr>
          <p:cNvCxnSpPr>
            <a:cxnSpLocks/>
          </p:cNvCxnSpPr>
          <p:nvPr/>
        </p:nvCxnSpPr>
        <p:spPr>
          <a:xfrm flipH="1">
            <a:off x="5405424" y="3369504"/>
            <a:ext cx="233241" cy="3659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BFAAB95D-4268-E15F-132E-5E1E8F7E73BE}"/>
              </a:ext>
            </a:extLst>
          </p:cNvPr>
          <p:cNvSpPr/>
          <p:nvPr/>
        </p:nvSpPr>
        <p:spPr>
          <a:xfrm>
            <a:off x="1677401" y="3690381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I</a:t>
            </a: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898DAA63-5B19-B852-BDDB-9944B5950934}"/>
              </a:ext>
            </a:extLst>
          </p:cNvPr>
          <p:cNvSpPr/>
          <p:nvPr/>
        </p:nvSpPr>
        <p:spPr>
          <a:xfrm>
            <a:off x="3835306" y="3710087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K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09D41B37-2C7D-BA39-4DF8-9C06CED38853}"/>
              </a:ext>
            </a:extLst>
          </p:cNvPr>
          <p:cNvSpPr/>
          <p:nvPr/>
        </p:nvSpPr>
        <p:spPr>
          <a:xfrm>
            <a:off x="5924237" y="3710086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M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C2D33B2-16D7-6BB1-A614-10D1729B5E01}"/>
              </a:ext>
            </a:extLst>
          </p:cNvPr>
          <p:cNvCxnSpPr>
            <a:cxnSpLocks/>
          </p:cNvCxnSpPr>
          <p:nvPr/>
        </p:nvCxnSpPr>
        <p:spPr>
          <a:xfrm>
            <a:off x="1628062" y="3363267"/>
            <a:ext cx="234113" cy="346867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57C5313-23B7-F08C-9C4D-C2EB69FC998F}"/>
              </a:ext>
            </a:extLst>
          </p:cNvPr>
          <p:cNvCxnSpPr>
            <a:cxnSpLocks/>
          </p:cNvCxnSpPr>
          <p:nvPr/>
        </p:nvCxnSpPr>
        <p:spPr>
          <a:xfrm>
            <a:off x="3574055" y="3377735"/>
            <a:ext cx="349859" cy="4192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CECAB3B-4337-35E2-85B0-9C97C3B5BEFF}"/>
              </a:ext>
            </a:extLst>
          </p:cNvPr>
          <p:cNvCxnSpPr>
            <a:cxnSpLocks/>
          </p:cNvCxnSpPr>
          <p:nvPr/>
        </p:nvCxnSpPr>
        <p:spPr>
          <a:xfrm>
            <a:off x="5946862" y="3334330"/>
            <a:ext cx="241347" cy="375803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BE19A4-0BEA-5394-B416-76DC133D2E98}"/>
              </a:ext>
            </a:extLst>
          </p:cNvPr>
          <p:cNvCxnSpPr>
            <a:cxnSpLocks/>
          </p:cNvCxnSpPr>
          <p:nvPr/>
        </p:nvCxnSpPr>
        <p:spPr>
          <a:xfrm>
            <a:off x="7697533" y="3377733"/>
            <a:ext cx="248580" cy="34686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B2E27E4-C5D4-8218-12EA-AA9711A5A8C1}"/>
              </a:ext>
            </a:extLst>
          </p:cNvPr>
          <p:cNvCxnSpPr>
            <a:cxnSpLocks/>
          </p:cNvCxnSpPr>
          <p:nvPr/>
        </p:nvCxnSpPr>
        <p:spPr>
          <a:xfrm>
            <a:off x="6699221" y="2451760"/>
            <a:ext cx="646461" cy="4698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4C5ED46-F825-4BFD-9181-0F22DCF96289}"/>
              </a:ext>
            </a:extLst>
          </p:cNvPr>
          <p:cNvCxnSpPr>
            <a:cxnSpLocks/>
          </p:cNvCxnSpPr>
          <p:nvPr/>
        </p:nvCxnSpPr>
        <p:spPr>
          <a:xfrm>
            <a:off x="4871094" y="1585285"/>
            <a:ext cx="1409668" cy="48169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FD39FEE-2175-184B-691F-CC767B03A681}"/>
              </a:ext>
            </a:extLst>
          </p:cNvPr>
          <p:cNvSpPr txBox="1"/>
          <p:nvPr/>
        </p:nvSpPr>
        <p:spPr>
          <a:xfrm>
            <a:off x="199688" y="1064172"/>
            <a:ext cx="227963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Helvetica Neue"/>
              </a:rPr>
              <a:t>K-Scheduler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A07864-10C3-3F5C-EC02-06DF359E06CD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“Effective Seed Scheduling for Fuzzing with Graph Centrality Analysis” IEEE S&amp;P 2022.</a:t>
            </a:r>
          </a:p>
        </p:txBody>
      </p:sp>
    </p:spTree>
    <p:extLst>
      <p:ext uri="{BB962C8B-B14F-4D97-AF65-F5344CB8AC3E}">
        <p14:creationId xmlns:p14="http://schemas.microsoft.com/office/powerpoint/2010/main" val="179248213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04FBEEA3-6455-7619-C55E-1B03D3F8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F4C352-25C7-B40B-995F-46F18931B113}"/>
              </a:ext>
            </a:extLst>
          </p:cNvPr>
          <p:cNvCxnSpPr>
            <a:cxnSpLocks/>
          </p:cNvCxnSpPr>
          <p:nvPr/>
        </p:nvCxnSpPr>
        <p:spPr>
          <a:xfrm flipH="1">
            <a:off x="7282193" y="3372125"/>
            <a:ext cx="187967" cy="373182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C72BB7FF-8866-60A9-A511-7B13E80DB1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96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008C8128-DD59-D989-4367-4A242D883A11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4D8D7124-8326-0B73-ACE0-3E0B23BDFCD6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B6AE9E18-FB69-ED39-E49F-87E08F3B366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0B6AEA21-9D43-E06C-6ADD-7854245E43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Seed scheduling (cont.)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650A9F84-B0CB-B592-AD37-5193B1888E11}"/>
              </a:ext>
            </a:extLst>
          </p:cNvPr>
          <p:cNvSpPr/>
          <p:nvPr/>
        </p:nvSpPr>
        <p:spPr>
          <a:xfrm>
            <a:off x="6198764" y="194632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C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CC42B310-5214-22EE-3866-ACDB1109C565}"/>
              </a:ext>
            </a:extLst>
          </p:cNvPr>
          <p:cNvSpPr/>
          <p:nvPr/>
        </p:nvSpPr>
        <p:spPr>
          <a:xfrm>
            <a:off x="4968453" y="3700234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L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04E26C65-8F49-1953-B81E-0C1F700A9B28}"/>
              </a:ext>
            </a:extLst>
          </p:cNvPr>
          <p:cNvSpPr/>
          <p:nvPr/>
        </p:nvSpPr>
        <p:spPr>
          <a:xfrm>
            <a:off x="2554358" y="3700234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J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AB133998-FD43-FC38-1C9C-3A1DC21FF1D0}"/>
              </a:ext>
            </a:extLst>
          </p:cNvPr>
          <p:cNvSpPr/>
          <p:nvPr/>
        </p:nvSpPr>
        <p:spPr>
          <a:xfrm>
            <a:off x="5459254" y="281866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F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8EE772C1-842B-30D4-543F-61D27D8AA40E}"/>
              </a:ext>
            </a:extLst>
          </p:cNvPr>
          <p:cNvSpPr/>
          <p:nvPr/>
        </p:nvSpPr>
        <p:spPr>
          <a:xfrm>
            <a:off x="7275656" y="281866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G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7E5BCF1C-752F-9A38-A396-34DC8A572FA5}"/>
              </a:ext>
            </a:extLst>
          </p:cNvPr>
          <p:cNvSpPr/>
          <p:nvPr/>
        </p:nvSpPr>
        <p:spPr>
          <a:xfrm>
            <a:off x="7727418" y="3700233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O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479B7C3-9244-32DF-0D35-5BBDBB644A1F}"/>
              </a:ext>
            </a:extLst>
          </p:cNvPr>
          <p:cNvSpPr/>
          <p:nvPr/>
        </p:nvSpPr>
        <p:spPr>
          <a:xfrm>
            <a:off x="6811047" y="3700233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N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9D11EDE0-AC3B-68E3-34CD-70F79A606E16}"/>
              </a:ext>
            </a:extLst>
          </p:cNvPr>
          <p:cNvSpPr/>
          <p:nvPr/>
        </p:nvSpPr>
        <p:spPr>
          <a:xfrm>
            <a:off x="1115755" y="2842984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D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EE2716DF-5A88-7D2F-604C-7D41B2D76F7A}"/>
              </a:ext>
            </a:extLst>
          </p:cNvPr>
          <p:cNvSpPr/>
          <p:nvPr/>
        </p:nvSpPr>
        <p:spPr>
          <a:xfrm>
            <a:off x="573815" y="3700234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H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30B6E52-650A-D543-3E48-599F5189AAE9}"/>
              </a:ext>
            </a:extLst>
          </p:cNvPr>
          <p:cNvCxnSpPr>
            <a:cxnSpLocks/>
          </p:cNvCxnSpPr>
          <p:nvPr/>
        </p:nvCxnSpPr>
        <p:spPr>
          <a:xfrm flipH="1">
            <a:off x="5807546" y="2449144"/>
            <a:ext cx="507390" cy="37318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57A699-B3F5-943F-093E-DAA61296EAA5}"/>
              </a:ext>
            </a:extLst>
          </p:cNvPr>
          <p:cNvCxnSpPr>
            <a:cxnSpLocks/>
          </p:cNvCxnSpPr>
          <p:nvPr/>
        </p:nvCxnSpPr>
        <p:spPr>
          <a:xfrm flipH="1">
            <a:off x="1026502" y="3371497"/>
            <a:ext cx="246339" cy="364578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24B5152-F50F-E60A-4DE5-F36BBB2BE3F8}"/>
              </a:ext>
            </a:extLst>
          </p:cNvPr>
          <p:cNvCxnSpPr>
            <a:cxnSpLocks/>
          </p:cNvCxnSpPr>
          <p:nvPr/>
        </p:nvCxnSpPr>
        <p:spPr>
          <a:xfrm flipH="1">
            <a:off x="5405424" y="3369504"/>
            <a:ext cx="233241" cy="3659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AC64DFDA-BB70-1E57-145E-F70DEB0748E3}"/>
              </a:ext>
            </a:extLst>
          </p:cNvPr>
          <p:cNvSpPr/>
          <p:nvPr/>
        </p:nvSpPr>
        <p:spPr>
          <a:xfrm>
            <a:off x="1677401" y="3690381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I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51782FC5-5D9D-8EF5-00EA-934E614889E2}"/>
              </a:ext>
            </a:extLst>
          </p:cNvPr>
          <p:cNvSpPr/>
          <p:nvPr/>
        </p:nvSpPr>
        <p:spPr>
          <a:xfrm>
            <a:off x="5924237" y="3710086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M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D905F5B-58E7-C4D2-E4E1-F217EB703D0F}"/>
              </a:ext>
            </a:extLst>
          </p:cNvPr>
          <p:cNvCxnSpPr>
            <a:cxnSpLocks/>
          </p:cNvCxnSpPr>
          <p:nvPr/>
        </p:nvCxnSpPr>
        <p:spPr>
          <a:xfrm>
            <a:off x="1628062" y="3363267"/>
            <a:ext cx="234113" cy="346867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2FA03BC-BF89-31C8-28AA-DFCB3833490B}"/>
              </a:ext>
            </a:extLst>
          </p:cNvPr>
          <p:cNvCxnSpPr>
            <a:cxnSpLocks/>
          </p:cNvCxnSpPr>
          <p:nvPr/>
        </p:nvCxnSpPr>
        <p:spPr>
          <a:xfrm>
            <a:off x="5946862" y="3334330"/>
            <a:ext cx="241347" cy="375803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68D365A-81A1-B878-8384-0111E534DD38}"/>
              </a:ext>
            </a:extLst>
          </p:cNvPr>
          <p:cNvCxnSpPr>
            <a:cxnSpLocks/>
          </p:cNvCxnSpPr>
          <p:nvPr/>
        </p:nvCxnSpPr>
        <p:spPr>
          <a:xfrm>
            <a:off x="7697533" y="3377733"/>
            <a:ext cx="248580" cy="34686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8D3C8CD-5A3F-0607-36E2-1CD655035690}"/>
              </a:ext>
            </a:extLst>
          </p:cNvPr>
          <p:cNvCxnSpPr>
            <a:cxnSpLocks/>
          </p:cNvCxnSpPr>
          <p:nvPr/>
        </p:nvCxnSpPr>
        <p:spPr>
          <a:xfrm>
            <a:off x="6699221" y="2451760"/>
            <a:ext cx="646461" cy="4698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F3CC676-AC75-0FFF-3E33-6CA25C0C7AE1}"/>
              </a:ext>
            </a:extLst>
          </p:cNvPr>
          <p:cNvSpPr txBox="1"/>
          <p:nvPr/>
        </p:nvSpPr>
        <p:spPr>
          <a:xfrm>
            <a:off x="199688" y="1064172"/>
            <a:ext cx="227963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Helvetica Neue"/>
              </a:rPr>
              <a:t>K-Scheduler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662545D-D565-3314-D89D-4C8E81B5F059}"/>
              </a:ext>
            </a:extLst>
          </p:cNvPr>
          <p:cNvCxnSpPr>
            <a:cxnSpLocks/>
          </p:cNvCxnSpPr>
          <p:nvPr/>
        </p:nvCxnSpPr>
        <p:spPr>
          <a:xfrm flipH="1">
            <a:off x="2998440" y="2385655"/>
            <a:ext cx="436298" cy="13490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109F967-8D66-9C16-8A4A-D38AB778745E}"/>
              </a:ext>
            </a:extLst>
          </p:cNvPr>
          <p:cNvCxnSpPr>
            <a:cxnSpLocks/>
          </p:cNvCxnSpPr>
          <p:nvPr/>
        </p:nvCxnSpPr>
        <p:spPr>
          <a:xfrm flipH="1">
            <a:off x="1616212" y="2263419"/>
            <a:ext cx="1606985" cy="6367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A29DE433-4082-1628-DD03-4B727D18EABC}"/>
              </a:ext>
            </a:extLst>
          </p:cNvPr>
          <p:cNvSpPr/>
          <p:nvPr/>
        </p:nvSpPr>
        <p:spPr>
          <a:xfrm>
            <a:off x="3163777" y="1700360"/>
            <a:ext cx="837171" cy="716182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Helvetica Neue"/>
                <a:cs typeface="Arial"/>
              </a:rPr>
              <a:t>S1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D900E-1932-8A8C-6BEB-301D85F408D1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“Effective Seed Scheduling for Fuzzing with Graph Centrality Analysis” IEEE S&amp;P 2022.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6323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5198DB94-1926-A4EC-CB8F-DC649EA08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59C4B0-58CC-377C-04CB-B4CECA9A8EB7}"/>
              </a:ext>
            </a:extLst>
          </p:cNvPr>
          <p:cNvCxnSpPr>
            <a:cxnSpLocks/>
          </p:cNvCxnSpPr>
          <p:nvPr/>
        </p:nvCxnSpPr>
        <p:spPr>
          <a:xfrm flipH="1">
            <a:off x="7282193" y="3372125"/>
            <a:ext cx="187967" cy="373182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A8CA0E04-F16A-0F58-7887-725D56282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97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4DFE483-B5AB-7A28-6CBC-E3B4C1F4293B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5B1515E8-3006-3DC5-0B28-BB1DCE3FA330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F6238B80-AED5-89D0-A81B-EDD6EB041A3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0F128189-8483-A7F3-0C99-A486018FA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Seed scheduling (cont.)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23748C68-4348-8D00-4982-4A797011263D}"/>
              </a:ext>
            </a:extLst>
          </p:cNvPr>
          <p:cNvSpPr/>
          <p:nvPr/>
        </p:nvSpPr>
        <p:spPr>
          <a:xfrm>
            <a:off x="6198764" y="194632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C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AC9F1A32-0D80-92D2-51B2-974FC562603E}"/>
              </a:ext>
            </a:extLst>
          </p:cNvPr>
          <p:cNvSpPr/>
          <p:nvPr/>
        </p:nvSpPr>
        <p:spPr>
          <a:xfrm>
            <a:off x="2554358" y="3700234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J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485DA64E-526A-8EB1-6298-848CDA273722}"/>
              </a:ext>
            </a:extLst>
          </p:cNvPr>
          <p:cNvSpPr/>
          <p:nvPr/>
        </p:nvSpPr>
        <p:spPr>
          <a:xfrm>
            <a:off x="7275656" y="2818662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G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5410E593-6C9C-65A0-9DFB-BD4D3E230126}"/>
              </a:ext>
            </a:extLst>
          </p:cNvPr>
          <p:cNvSpPr/>
          <p:nvPr/>
        </p:nvSpPr>
        <p:spPr>
          <a:xfrm>
            <a:off x="7727418" y="3700233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Helvetica Neue"/>
              </a:rPr>
              <a:t>O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097985D8-293D-56A3-6EE2-6160B75361E0}"/>
              </a:ext>
            </a:extLst>
          </p:cNvPr>
          <p:cNvSpPr/>
          <p:nvPr/>
        </p:nvSpPr>
        <p:spPr>
          <a:xfrm>
            <a:off x="6811047" y="3700233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N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A2FCBC9E-D213-1D69-62D5-617DF785D311}"/>
              </a:ext>
            </a:extLst>
          </p:cNvPr>
          <p:cNvSpPr/>
          <p:nvPr/>
        </p:nvSpPr>
        <p:spPr>
          <a:xfrm>
            <a:off x="1115755" y="2842984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D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99C4CFB6-D0B6-4459-8F5D-0AAD87EBF909}"/>
              </a:ext>
            </a:extLst>
          </p:cNvPr>
          <p:cNvSpPr/>
          <p:nvPr/>
        </p:nvSpPr>
        <p:spPr>
          <a:xfrm>
            <a:off x="573815" y="3700234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H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E7A1BC-9653-2AB7-FBE2-D45454A5E445}"/>
              </a:ext>
            </a:extLst>
          </p:cNvPr>
          <p:cNvCxnSpPr>
            <a:cxnSpLocks/>
          </p:cNvCxnSpPr>
          <p:nvPr/>
        </p:nvCxnSpPr>
        <p:spPr>
          <a:xfrm flipH="1">
            <a:off x="1026502" y="3371497"/>
            <a:ext cx="246339" cy="364578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1396F032-1DE0-314F-F622-CA09521B719B}"/>
              </a:ext>
            </a:extLst>
          </p:cNvPr>
          <p:cNvSpPr/>
          <p:nvPr/>
        </p:nvSpPr>
        <p:spPr>
          <a:xfrm>
            <a:off x="1677401" y="3690381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I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130448B0-03C1-A9F8-8FC6-E14E09C60B36}"/>
              </a:ext>
            </a:extLst>
          </p:cNvPr>
          <p:cNvSpPr/>
          <p:nvPr/>
        </p:nvSpPr>
        <p:spPr>
          <a:xfrm>
            <a:off x="5924237" y="3710086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M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5A4745C-4394-C49B-C050-0703B90E332D}"/>
              </a:ext>
            </a:extLst>
          </p:cNvPr>
          <p:cNvCxnSpPr>
            <a:cxnSpLocks/>
          </p:cNvCxnSpPr>
          <p:nvPr/>
        </p:nvCxnSpPr>
        <p:spPr>
          <a:xfrm>
            <a:off x="1628062" y="3363267"/>
            <a:ext cx="234113" cy="346867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1E242A3-501A-58C3-6904-5F919D396A4B}"/>
              </a:ext>
            </a:extLst>
          </p:cNvPr>
          <p:cNvCxnSpPr>
            <a:cxnSpLocks/>
          </p:cNvCxnSpPr>
          <p:nvPr/>
        </p:nvCxnSpPr>
        <p:spPr>
          <a:xfrm>
            <a:off x="7697533" y="3377733"/>
            <a:ext cx="248580" cy="34686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C4A172D-77FE-4625-8112-76C277664146}"/>
              </a:ext>
            </a:extLst>
          </p:cNvPr>
          <p:cNvCxnSpPr>
            <a:cxnSpLocks/>
          </p:cNvCxnSpPr>
          <p:nvPr/>
        </p:nvCxnSpPr>
        <p:spPr>
          <a:xfrm>
            <a:off x="6699221" y="2451760"/>
            <a:ext cx="646461" cy="4698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21DB29D-BA4F-3128-F593-D746962D77E0}"/>
              </a:ext>
            </a:extLst>
          </p:cNvPr>
          <p:cNvSpPr txBox="1"/>
          <p:nvPr/>
        </p:nvSpPr>
        <p:spPr>
          <a:xfrm>
            <a:off x="199688" y="1064172"/>
            <a:ext cx="227963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Helvetica Neue"/>
              </a:rPr>
              <a:t>K-Scheduler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99CDE31-1F74-1049-6CB3-4C3B81FF6EFC}"/>
              </a:ext>
            </a:extLst>
          </p:cNvPr>
          <p:cNvCxnSpPr>
            <a:cxnSpLocks/>
          </p:cNvCxnSpPr>
          <p:nvPr/>
        </p:nvCxnSpPr>
        <p:spPr>
          <a:xfrm flipH="1">
            <a:off x="2998440" y="2385655"/>
            <a:ext cx="436298" cy="13490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0811578-6479-24ED-A3F0-3547F7CA244E}"/>
              </a:ext>
            </a:extLst>
          </p:cNvPr>
          <p:cNvCxnSpPr>
            <a:cxnSpLocks/>
          </p:cNvCxnSpPr>
          <p:nvPr/>
        </p:nvCxnSpPr>
        <p:spPr>
          <a:xfrm flipH="1">
            <a:off x="1616212" y="2263419"/>
            <a:ext cx="1606985" cy="6367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62CA0B2A-35A9-8D5A-73D7-C8812D1DFFE8}"/>
              </a:ext>
            </a:extLst>
          </p:cNvPr>
          <p:cNvSpPr/>
          <p:nvPr/>
        </p:nvSpPr>
        <p:spPr>
          <a:xfrm>
            <a:off x="3163777" y="1700360"/>
            <a:ext cx="837171" cy="716182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Helvetica Neue"/>
                <a:cs typeface="Arial"/>
              </a:rPr>
              <a:t>S1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B671035-AD1D-98A1-DF87-A9DF973B6642}"/>
              </a:ext>
            </a:extLst>
          </p:cNvPr>
          <p:cNvCxnSpPr>
            <a:cxnSpLocks/>
          </p:cNvCxnSpPr>
          <p:nvPr/>
        </p:nvCxnSpPr>
        <p:spPr>
          <a:xfrm>
            <a:off x="5274084" y="2422825"/>
            <a:ext cx="914125" cy="12800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7B580DF6-5E03-4346-FEAA-7F3F699F6FD2}"/>
              </a:ext>
            </a:extLst>
          </p:cNvPr>
          <p:cNvSpPr/>
          <p:nvPr/>
        </p:nvSpPr>
        <p:spPr>
          <a:xfrm>
            <a:off x="4709851" y="1717985"/>
            <a:ext cx="837171" cy="716182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Helvetica Neue"/>
                <a:cs typeface="Arial"/>
              </a:rPr>
              <a:t>S2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E7AD5D-F429-44E2-1805-2A11910A43C9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“Effective Seed Scheduling for Fuzzing with Graph Centrality Analysis” IEEE S&amp;P 2022.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02106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  <p:bldP spid="8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5D27388-1739-D5FE-1393-4696B992DC4D}"/>
              </a:ext>
            </a:extLst>
          </p:cNvPr>
          <p:cNvCxnSpPr>
            <a:cxnSpLocks/>
          </p:cNvCxnSpPr>
          <p:nvPr/>
        </p:nvCxnSpPr>
        <p:spPr>
          <a:xfrm>
            <a:off x="6678479" y="2399589"/>
            <a:ext cx="383533" cy="13063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98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Seed scheduling (cont.)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8F5C264-1523-4FEA-8DCF-988505EED1BC}"/>
              </a:ext>
            </a:extLst>
          </p:cNvPr>
          <p:cNvSpPr/>
          <p:nvPr/>
        </p:nvSpPr>
        <p:spPr>
          <a:xfrm>
            <a:off x="2554358" y="3700234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J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7C0B7DA2-077F-E897-3CEC-58A4DE532731}"/>
              </a:ext>
            </a:extLst>
          </p:cNvPr>
          <p:cNvSpPr/>
          <p:nvPr/>
        </p:nvSpPr>
        <p:spPr>
          <a:xfrm>
            <a:off x="6811047" y="3700233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N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DBF9827F-5B82-25B8-B153-C0F561781F4B}"/>
              </a:ext>
            </a:extLst>
          </p:cNvPr>
          <p:cNvSpPr/>
          <p:nvPr/>
        </p:nvSpPr>
        <p:spPr>
          <a:xfrm>
            <a:off x="1115755" y="2842984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D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D53F1D98-EA35-B752-0273-FEF105F0FCD6}"/>
              </a:ext>
            </a:extLst>
          </p:cNvPr>
          <p:cNvSpPr/>
          <p:nvPr/>
        </p:nvSpPr>
        <p:spPr>
          <a:xfrm>
            <a:off x="573815" y="3700234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H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62A8B38-19B1-16D8-39A0-F6C9DAFEC51E}"/>
              </a:ext>
            </a:extLst>
          </p:cNvPr>
          <p:cNvCxnSpPr>
            <a:cxnSpLocks/>
          </p:cNvCxnSpPr>
          <p:nvPr/>
        </p:nvCxnSpPr>
        <p:spPr>
          <a:xfrm flipH="1">
            <a:off x="2998440" y="2385655"/>
            <a:ext cx="436298" cy="13490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87D1C8-4D90-EAB0-704C-8D4149D3B9E2}"/>
              </a:ext>
            </a:extLst>
          </p:cNvPr>
          <p:cNvCxnSpPr>
            <a:cxnSpLocks/>
          </p:cNvCxnSpPr>
          <p:nvPr/>
        </p:nvCxnSpPr>
        <p:spPr>
          <a:xfrm flipH="1">
            <a:off x="1026502" y="3371497"/>
            <a:ext cx="246339" cy="364578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7C65404-BE40-9176-D582-C523532D2F5B}"/>
              </a:ext>
            </a:extLst>
          </p:cNvPr>
          <p:cNvCxnSpPr>
            <a:cxnSpLocks/>
          </p:cNvCxnSpPr>
          <p:nvPr/>
        </p:nvCxnSpPr>
        <p:spPr>
          <a:xfrm flipH="1">
            <a:off x="1616212" y="2263419"/>
            <a:ext cx="1606985" cy="6367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BFAAB95D-4268-E15F-132E-5E1E8F7E73BE}"/>
              </a:ext>
            </a:extLst>
          </p:cNvPr>
          <p:cNvSpPr/>
          <p:nvPr/>
        </p:nvSpPr>
        <p:spPr>
          <a:xfrm>
            <a:off x="1677401" y="3690381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I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09D41B37-2C7D-BA39-4DF8-9C06CED38853}"/>
              </a:ext>
            </a:extLst>
          </p:cNvPr>
          <p:cNvSpPr/>
          <p:nvPr/>
        </p:nvSpPr>
        <p:spPr>
          <a:xfrm>
            <a:off x="5924237" y="3710086"/>
            <a:ext cx="612913" cy="571499"/>
          </a:xfrm>
          <a:prstGeom prst="flowChartConnector">
            <a:avLst/>
          </a:prstGeom>
          <a:noFill/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solidFill>
                  <a:srgbClr val="9B9B9B"/>
                </a:solidFill>
                <a:latin typeface="Helvetica Neue"/>
              </a:rPr>
              <a:t>M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C2D33B2-16D7-6BB1-A614-10D1729B5E01}"/>
              </a:ext>
            </a:extLst>
          </p:cNvPr>
          <p:cNvCxnSpPr>
            <a:cxnSpLocks/>
          </p:cNvCxnSpPr>
          <p:nvPr/>
        </p:nvCxnSpPr>
        <p:spPr>
          <a:xfrm>
            <a:off x="1628062" y="3363267"/>
            <a:ext cx="234113" cy="346867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CECAB3B-4337-35E2-85B0-9C97C3B5BEFF}"/>
              </a:ext>
            </a:extLst>
          </p:cNvPr>
          <p:cNvCxnSpPr>
            <a:cxnSpLocks/>
          </p:cNvCxnSpPr>
          <p:nvPr/>
        </p:nvCxnSpPr>
        <p:spPr>
          <a:xfrm>
            <a:off x="5274084" y="2422825"/>
            <a:ext cx="914125" cy="12800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FD39FEE-2175-184B-691F-CC767B03A681}"/>
              </a:ext>
            </a:extLst>
          </p:cNvPr>
          <p:cNvSpPr txBox="1"/>
          <p:nvPr/>
        </p:nvSpPr>
        <p:spPr>
          <a:xfrm>
            <a:off x="199688" y="1064172"/>
            <a:ext cx="227963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Helvetica Neue"/>
              </a:rPr>
              <a:t>K-Scheduler</a:t>
            </a: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850E0E64-69E1-E81E-46F7-F24946671CEE}"/>
              </a:ext>
            </a:extLst>
          </p:cNvPr>
          <p:cNvSpPr/>
          <p:nvPr/>
        </p:nvSpPr>
        <p:spPr>
          <a:xfrm>
            <a:off x="3163777" y="1700360"/>
            <a:ext cx="837171" cy="716182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Helvetica Neue"/>
                <a:cs typeface="Arial"/>
              </a:rPr>
              <a:t>S1</a:t>
            </a: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311A987C-C146-7E6A-ADA1-D247557BEE23}"/>
              </a:ext>
            </a:extLst>
          </p:cNvPr>
          <p:cNvSpPr/>
          <p:nvPr/>
        </p:nvSpPr>
        <p:spPr>
          <a:xfrm>
            <a:off x="6112163" y="1697202"/>
            <a:ext cx="837171" cy="716182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Helvetica Neue"/>
                <a:cs typeface="Arial"/>
              </a:rPr>
              <a:t>S3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608F87-BF82-CFCD-98B9-1D70020B2FFD}"/>
              </a:ext>
            </a:extLst>
          </p:cNvPr>
          <p:cNvSpPr txBox="1"/>
          <p:nvPr/>
        </p:nvSpPr>
        <p:spPr>
          <a:xfrm>
            <a:off x="2567608" y="1764194"/>
            <a:ext cx="7868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✅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A6DEF5D2-7938-84E8-77B2-94FC254E0B1A}"/>
              </a:ext>
            </a:extLst>
          </p:cNvPr>
          <p:cNvSpPr/>
          <p:nvPr/>
        </p:nvSpPr>
        <p:spPr>
          <a:xfrm>
            <a:off x="4709851" y="1717985"/>
            <a:ext cx="837171" cy="716182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Helvetica Neue"/>
                <a:cs typeface="Arial"/>
              </a:rPr>
              <a:t>S2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84B0E9-55C8-8C53-EDDF-DF7C4763FAF0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“Effective Seed Scheduling for Fuzzing with Graph Centrality Analysis” IEEE S&amp;P 2022.</a:t>
            </a:r>
            <a:endParaRPr lang="en-US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08613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D1D22B5E-4E7B-82D9-58D7-D80946E43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B0F2B855-788C-5EE4-30D0-3816DE263A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99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69061C9-E2F9-EA10-0B1A-D1F30B27CB71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EA224D54-B782-0B39-B3B1-C37366F46A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718158-1420-7086-EA37-718858FCDFC3}"/>
              </a:ext>
            </a:extLst>
          </p:cNvPr>
          <p:cNvSpPr txBox="1"/>
          <p:nvPr/>
        </p:nvSpPr>
        <p:spPr>
          <a:xfrm>
            <a:off x="86982" y="1379814"/>
            <a:ext cx="8837839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>
                <a:latin typeface="Helvetica Neue"/>
              </a:rPr>
              <a:t>Execution Speedup</a:t>
            </a:r>
          </a:p>
          <a:p>
            <a:pPr algn="ctr"/>
            <a:br>
              <a:rPr lang="en-US" sz="2800">
                <a:latin typeface="Helvetica Neue"/>
              </a:rPr>
            </a:br>
            <a:r>
              <a:rPr lang="en-US" sz="2800">
                <a:latin typeface="Helvetica Neue"/>
              </a:rPr>
              <a:t>Efficiently executing target when testing seeds</a:t>
            </a:r>
          </a:p>
        </p:txBody>
      </p:sp>
    </p:spTree>
    <p:extLst>
      <p:ext uri="{BB962C8B-B14F-4D97-AF65-F5344CB8AC3E}">
        <p14:creationId xmlns:p14="http://schemas.microsoft.com/office/powerpoint/2010/main" val="199127933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100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Execution Speedup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989919"/>
            <a:ext cx="883783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Xu et al (CCS 2017): Efficient fork and memory backed working directory.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42240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FEA63F0F-D858-9800-1D7A-CD66EEF87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88B31DEE-4364-671F-5947-9715E409C7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101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899D10C-5034-4EB0-31EC-BB34A475934F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33DE4198-DC06-B271-10F5-6FC4A4BA5E5B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8B5694F-9227-BD95-F48E-48C9E6D352F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274CDCDE-A3F7-5AB3-5D1C-817647784A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Execution Speedup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6F152-40D4-035C-8A42-3E404B64E7EB}"/>
              </a:ext>
            </a:extLst>
          </p:cNvPr>
          <p:cNvSpPr txBox="1"/>
          <p:nvPr/>
        </p:nvSpPr>
        <p:spPr>
          <a:xfrm>
            <a:off x="142874" y="989919"/>
            <a:ext cx="8837839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Xu et al (CCS 2017): Efficient fork and memory backed working directory.</a:t>
            </a:r>
            <a:endParaRPr lang="en-US"/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Zhang et al (CCS 2023): Higher stability persistent mode fuzzing with better state reset between runs.</a:t>
            </a:r>
          </a:p>
        </p:txBody>
      </p:sp>
    </p:spTree>
    <p:extLst>
      <p:ext uri="{BB962C8B-B14F-4D97-AF65-F5344CB8AC3E}">
        <p14:creationId xmlns:p14="http://schemas.microsoft.com/office/powerpoint/2010/main" val="99461805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A00896B5-9637-7251-699B-7DB013A02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CD0A0E5D-11A9-A057-1C84-A3B537B0D4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102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50B0C338-F273-E7E6-0F68-7CA7ECAE066B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7412F1EC-B44D-6C38-8449-9DC4C888B7F8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A32BC8FD-DF7D-6315-8045-EEA6DEEF5CB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07A44AD1-70A1-EBE7-E105-C1F1FFE2C9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Execution Speedup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133F3D-8EBF-74C5-0544-47FB65B09BB7}"/>
              </a:ext>
            </a:extLst>
          </p:cNvPr>
          <p:cNvSpPr txBox="1"/>
          <p:nvPr/>
        </p:nvSpPr>
        <p:spPr>
          <a:xfrm>
            <a:off x="142874" y="989919"/>
            <a:ext cx="8837839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Xu et al (CCS 2017): Efficient fork and memory backed working directory.</a:t>
            </a:r>
            <a:endParaRPr lang="en-US"/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Zhang et al (CCS 2023): Higher stability persistent mode fuzzing with better state reset between runs.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SNAP: Hardware support for fuzzing primitives.</a:t>
            </a:r>
          </a:p>
        </p:txBody>
      </p:sp>
    </p:spTree>
    <p:extLst>
      <p:ext uri="{BB962C8B-B14F-4D97-AF65-F5344CB8AC3E}">
        <p14:creationId xmlns:p14="http://schemas.microsoft.com/office/powerpoint/2010/main" val="103286856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FC291140-D5B9-FEB3-0715-6765586E1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21408923-60EC-B557-DA7E-8C391CC858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103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7FA857F-0B5B-4927-AE3F-7742CA5D84E7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E581969-0289-064E-2F79-378F67BFAF3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B989FC-D903-3271-F2EF-4391858E7EFA}"/>
              </a:ext>
            </a:extLst>
          </p:cNvPr>
          <p:cNvSpPr txBox="1"/>
          <p:nvPr/>
        </p:nvSpPr>
        <p:spPr>
          <a:xfrm>
            <a:off x="157342" y="1382452"/>
            <a:ext cx="8837839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endParaRPr lang="en-US" sz="2800">
              <a:latin typeface="Helvetica Neue"/>
            </a:endParaRPr>
          </a:p>
          <a:p>
            <a:pPr algn="ctr"/>
            <a:r>
              <a:rPr lang="en-US" sz="6000">
                <a:latin typeface="Helvetica Neue"/>
              </a:rPr>
              <a:t>Miscellaneous Enhancements</a:t>
            </a:r>
          </a:p>
        </p:txBody>
      </p:sp>
    </p:spTree>
    <p:extLst>
      <p:ext uri="{BB962C8B-B14F-4D97-AF65-F5344CB8AC3E}">
        <p14:creationId xmlns:p14="http://schemas.microsoft.com/office/powerpoint/2010/main" val="42556880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104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Miscellaneous enhancements (cont.)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989919"/>
            <a:ext cx="883783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 err="1">
                <a:latin typeface="Helvetica Neue"/>
              </a:rPr>
              <a:t>EnFuzz</a:t>
            </a:r>
            <a:r>
              <a:rPr lang="en-US" sz="2800" dirty="0">
                <a:latin typeface="Helvetica Neue"/>
              </a:rPr>
              <a:t>/</a:t>
            </a:r>
            <a:r>
              <a:rPr lang="en-US" sz="2800" dirty="0" err="1">
                <a:latin typeface="Helvetica Neue"/>
              </a:rPr>
              <a:t>autofz</a:t>
            </a:r>
            <a:r>
              <a:rPr lang="en-US" sz="2800" dirty="0">
                <a:latin typeface="Helvetica Neue"/>
              </a:rPr>
              <a:t>: Ensemble fuzzing.</a:t>
            </a:r>
            <a:endParaRPr lang="en-US" dirty="0"/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7854551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EB2487A7-7C84-EA87-E1F5-9577E03DE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F88ADC27-D352-9028-1948-85A3AE7FCD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105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48506491-8E09-2036-A6CC-44C5A82ECD22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9846925D-2523-07D1-BFBD-6EDABF30CE28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C02DF83D-B391-53D4-A8F9-B7B2CF1E43D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23B2297E-8610-B094-7450-9A9ADF4327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Miscellaneous enhancements (cont.)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E0BA7D-D87E-F386-5FFB-A1BEAE95ED8B}"/>
              </a:ext>
            </a:extLst>
          </p:cNvPr>
          <p:cNvSpPr txBox="1"/>
          <p:nvPr/>
        </p:nvSpPr>
        <p:spPr>
          <a:xfrm>
            <a:off x="142874" y="989919"/>
            <a:ext cx="8837839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 err="1">
                <a:latin typeface="Helvetica Neue"/>
              </a:rPr>
              <a:t>EnFuzz</a:t>
            </a:r>
            <a:r>
              <a:rPr lang="en-US" sz="2800" dirty="0">
                <a:latin typeface="Helvetica Neue"/>
              </a:rPr>
              <a:t>/</a:t>
            </a:r>
            <a:r>
              <a:rPr lang="en-US" sz="2800" dirty="0" err="1">
                <a:latin typeface="Helvetica Neue"/>
              </a:rPr>
              <a:t>autofz</a:t>
            </a:r>
            <a:r>
              <a:rPr lang="en-US" sz="2800" dirty="0">
                <a:latin typeface="Helvetica Neue"/>
              </a:rPr>
              <a:t>: Ensemble fuzzing.</a:t>
            </a:r>
            <a:endParaRPr lang="en-US"/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Zhang et al (CCS 2024): Use ML to predict best fuzzing techniques based on static analysis data.</a:t>
            </a:r>
          </a:p>
        </p:txBody>
      </p:sp>
    </p:spTree>
    <p:extLst>
      <p:ext uri="{BB962C8B-B14F-4D97-AF65-F5344CB8AC3E}">
        <p14:creationId xmlns:p14="http://schemas.microsoft.com/office/powerpoint/2010/main" val="72326683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571AC151-EE0C-E493-F8C7-D0B155E2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940250C8-0B90-9B91-42DC-3041BCC9BB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106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0B97ADF8-9F15-3285-3632-0A3A94FEDC75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5589121F-43D1-D0B3-975E-BAD275FA242A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5C782A82-89BE-31DF-99D9-6B27A29DB57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796999E8-F31E-5E14-1C09-EAABC241C9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Miscellaneous enhancements (cont.)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358782-F852-14F9-F18D-6BB689165175}"/>
              </a:ext>
            </a:extLst>
          </p:cNvPr>
          <p:cNvSpPr txBox="1"/>
          <p:nvPr/>
        </p:nvSpPr>
        <p:spPr>
          <a:xfrm>
            <a:off x="142874" y="989919"/>
            <a:ext cx="8837839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err="1">
                <a:latin typeface="Helvetica Neue"/>
              </a:rPr>
              <a:t>EnFuzz</a:t>
            </a:r>
            <a:r>
              <a:rPr lang="en-US" sz="2800">
                <a:latin typeface="Helvetica Neue"/>
              </a:rPr>
              <a:t>/</a:t>
            </a:r>
            <a:r>
              <a:rPr lang="en-US" sz="2800" err="1">
                <a:latin typeface="Helvetica Neue"/>
              </a:rPr>
              <a:t>autofz</a:t>
            </a:r>
            <a:r>
              <a:rPr lang="en-US" sz="2800">
                <a:latin typeface="Helvetica Neue"/>
              </a:rPr>
              <a:t>: Ensemble fuzzing.</a:t>
            </a:r>
            <a:endParaRPr lang="en-US"/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Zhang et al (CCS 2024): Use ML to predict best fuzzing techniques based on static analysis data.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err="1">
                <a:latin typeface="Helvetica Neue"/>
              </a:rPr>
              <a:t>MobFuzz</a:t>
            </a:r>
            <a:r>
              <a:rPr lang="en-US" sz="2800">
                <a:latin typeface="Helvetica Neue"/>
              </a:rPr>
              <a:t>: Simultaneous multi-objective fuzzing using Multi-Player Multi-Armed Bandit modelling.</a:t>
            </a:r>
          </a:p>
        </p:txBody>
      </p:sp>
    </p:spTree>
    <p:extLst>
      <p:ext uri="{BB962C8B-B14F-4D97-AF65-F5344CB8AC3E}">
        <p14:creationId xmlns:p14="http://schemas.microsoft.com/office/powerpoint/2010/main" val="181504007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63F9DBE4-4FA4-6205-6D2A-45E69CAB1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709DC7EB-DD35-8C06-2C53-47597103AA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107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26BCE2BE-F57A-2D67-E1C0-57FF075FDF84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337155D7-B981-F305-B9E6-2171273ABDFC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B70ECD35-F9F7-9FF7-CD4F-A2908BC43FE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C5886F3E-BD93-BCA9-8BD8-CDCF11BD7F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Fuzz driver generation (cont.)</a:t>
            </a:r>
          </a:p>
          <a:p>
            <a:endParaRPr lang="en-US" sz="400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2FBC13-E66C-2D63-FEB1-C6A04D6F8DAF}"/>
              </a:ext>
            </a:extLst>
          </p:cNvPr>
          <p:cNvSpPr txBox="1"/>
          <p:nvPr/>
        </p:nvSpPr>
        <p:spPr>
          <a:xfrm>
            <a:off x="68816" y="859814"/>
            <a:ext cx="90769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err="1">
                <a:latin typeface="Helvetica Neue"/>
              </a:rPr>
              <a:t>Fuzzgen</a:t>
            </a:r>
            <a:r>
              <a:rPr lang="en-US" sz="2800">
                <a:latin typeface="Helvetica Neue"/>
              </a:rPr>
              <a:t>, </a:t>
            </a:r>
            <a:r>
              <a:rPr lang="en-US" sz="2800" err="1">
                <a:latin typeface="Helvetica Neue"/>
              </a:rPr>
              <a:t>APICraft</a:t>
            </a:r>
            <a:r>
              <a:rPr lang="en-US" sz="2800">
                <a:latin typeface="Helvetica Neue"/>
              </a:rPr>
              <a:t>: Fuzz drivers from library consumers.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638B10-FECC-A42F-E58C-B9601C767445}"/>
              </a:ext>
            </a:extLst>
          </p:cNvPr>
          <p:cNvSpPr txBox="1"/>
          <p:nvPr/>
        </p:nvSpPr>
        <p:spPr>
          <a:xfrm>
            <a:off x="203515" y="1548847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Consumer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78E37-B35A-5967-75F6-BF4C1535E0D2}"/>
              </a:ext>
            </a:extLst>
          </p:cNvPr>
          <p:cNvSpPr txBox="1"/>
          <p:nvPr/>
        </p:nvSpPr>
        <p:spPr>
          <a:xfrm>
            <a:off x="203514" y="2245049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Consumer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3B3E56-4618-74F6-3980-54D66BB377CE}"/>
              </a:ext>
            </a:extLst>
          </p:cNvPr>
          <p:cNvSpPr txBox="1"/>
          <p:nvPr/>
        </p:nvSpPr>
        <p:spPr>
          <a:xfrm>
            <a:off x="203513" y="2908871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Consumer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EBB0E2-F49E-A691-51DD-66B54DB53393}"/>
              </a:ext>
            </a:extLst>
          </p:cNvPr>
          <p:cNvSpPr txBox="1"/>
          <p:nvPr/>
        </p:nvSpPr>
        <p:spPr>
          <a:xfrm>
            <a:off x="203514" y="3610586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⋮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0E1D1F-B20D-1CD9-0B85-ED298897578A}"/>
              </a:ext>
            </a:extLst>
          </p:cNvPr>
          <p:cNvSpPr txBox="1"/>
          <p:nvPr/>
        </p:nvSpPr>
        <p:spPr>
          <a:xfrm>
            <a:off x="203513" y="4312301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Consumer 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C097A07-891F-B4A7-60F9-565AAEA1FDD8}"/>
              </a:ext>
            </a:extLst>
          </p:cNvPr>
          <p:cNvSpPr/>
          <p:nvPr/>
        </p:nvSpPr>
        <p:spPr>
          <a:xfrm>
            <a:off x="3514168" y="1769765"/>
            <a:ext cx="1135358" cy="7886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  <a:latin typeface="Helvetica Neue"/>
                <a:cs typeface="Arial"/>
              </a:rPr>
              <a:t>api_fn1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7EA074-7EAE-1C38-A6D5-BE9B93CD4F54}"/>
              </a:ext>
            </a:extLst>
          </p:cNvPr>
          <p:cNvSpPr/>
          <p:nvPr/>
        </p:nvSpPr>
        <p:spPr>
          <a:xfrm>
            <a:off x="5272072" y="1769764"/>
            <a:ext cx="1135358" cy="7886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  <a:latin typeface="Helvetica Neue"/>
                <a:cs typeface="Arial"/>
              </a:rPr>
              <a:t>api_fn2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B52C18-2508-8555-F04A-FBB97AEA923C}"/>
              </a:ext>
            </a:extLst>
          </p:cNvPr>
          <p:cNvSpPr/>
          <p:nvPr/>
        </p:nvSpPr>
        <p:spPr>
          <a:xfrm>
            <a:off x="3514168" y="2919999"/>
            <a:ext cx="1135358" cy="7886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Helvetica Neue"/>
                <a:cs typeface="Arial"/>
              </a:rPr>
              <a:t>api_fn3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0438B3-006B-FF5A-1384-FE9767E6F93A}"/>
              </a:ext>
            </a:extLst>
          </p:cNvPr>
          <p:cNvSpPr/>
          <p:nvPr/>
        </p:nvSpPr>
        <p:spPr>
          <a:xfrm>
            <a:off x="5272072" y="2919999"/>
            <a:ext cx="1135358" cy="7886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Helvetica Neue"/>
                <a:cs typeface="Arial"/>
              </a:rPr>
              <a:t>api_fn4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887D463-2D1A-9B1D-9630-C04CF010A473}"/>
              </a:ext>
            </a:extLst>
          </p:cNvPr>
          <p:cNvSpPr/>
          <p:nvPr/>
        </p:nvSpPr>
        <p:spPr>
          <a:xfrm>
            <a:off x="4389503" y="4026828"/>
            <a:ext cx="1135358" cy="7886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Helvetica Neue"/>
                <a:cs typeface="Arial"/>
              </a:rPr>
              <a:t>api_fn5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A69126F-CAFF-1085-55E6-2B447E273B60}"/>
              </a:ext>
            </a:extLst>
          </p:cNvPr>
          <p:cNvCxnSpPr/>
          <p:nvPr/>
        </p:nvCxnSpPr>
        <p:spPr>
          <a:xfrm>
            <a:off x="4075822" y="2560532"/>
            <a:ext cx="1885" cy="3584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48AE5D2-E00E-EDBE-802C-7EF0408C37B7}"/>
              </a:ext>
            </a:extLst>
          </p:cNvPr>
          <p:cNvCxnSpPr>
            <a:cxnSpLocks/>
          </p:cNvCxnSpPr>
          <p:nvPr/>
        </p:nvCxnSpPr>
        <p:spPr>
          <a:xfrm>
            <a:off x="5833726" y="2560531"/>
            <a:ext cx="1885" cy="3584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25791D-7961-B0A0-E1A5-6F2AF05E034C}"/>
              </a:ext>
            </a:extLst>
          </p:cNvPr>
          <p:cNvCxnSpPr>
            <a:cxnSpLocks/>
          </p:cNvCxnSpPr>
          <p:nvPr/>
        </p:nvCxnSpPr>
        <p:spPr>
          <a:xfrm>
            <a:off x="4640087" y="3255011"/>
            <a:ext cx="631258" cy="39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F6632E1-9986-4F45-36DF-35F16EE026DD}"/>
              </a:ext>
            </a:extLst>
          </p:cNvPr>
          <p:cNvCxnSpPr>
            <a:cxnSpLocks/>
          </p:cNvCxnSpPr>
          <p:nvPr/>
        </p:nvCxnSpPr>
        <p:spPr>
          <a:xfrm>
            <a:off x="4292845" y="3667359"/>
            <a:ext cx="320190" cy="4380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7F9B24-10B0-B850-52ED-0E34BBB7B441}"/>
              </a:ext>
            </a:extLst>
          </p:cNvPr>
          <p:cNvCxnSpPr>
            <a:cxnSpLocks/>
          </p:cNvCxnSpPr>
          <p:nvPr/>
        </p:nvCxnSpPr>
        <p:spPr>
          <a:xfrm flipH="1">
            <a:off x="5293047" y="3681827"/>
            <a:ext cx="388759" cy="4235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F8949CB-79EE-726B-6842-1D8865057F72}"/>
              </a:ext>
            </a:extLst>
          </p:cNvPr>
          <p:cNvCxnSpPr/>
          <p:nvPr/>
        </p:nvCxnSpPr>
        <p:spPr>
          <a:xfrm>
            <a:off x="6158723" y="2507362"/>
            <a:ext cx="587490" cy="925582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199EDD-36BD-1A11-CAAB-53D445C31475}"/>
              </a:ext>
            </a:extLst>
          </p:cNvPr>
          <p:cNvCxnSpPr/>
          <p:nvPr/>
        </p:nvCxnSpPr>
        <p:spPr>
          <a:xfrm flipH="1">
            <a:off x="5532227" y="3430652"/>
            <a:ext cx="1218061" cy="9660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083E3C1-C7A3-E7C3-660A-B1370F4C5719}"/>
              </a:ext>
            </a:extLst>
          </p:cNvPr>
          <p:cNvSpPr/>
          <p:nvPr/>
        </p:nvSpPr>
        <p:spPr>
          <a:xfrm>
            <a:off x="3360964" y="1428750"/>
            <a:ext cx="3503839" cy="353105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1711C6-16F5-42C1-B9A1-B3ADEDD179CD}"/>
              </a:ext>
            </a:extLst>
          </p:cNvPr>
          <p:cNvSpPr/>
          <p:nvPr/>
        </p:nvSpPr>
        <p:spPr>
          <a:xfrm>
            <a:off x="68035" y="1462767"/>
            <a:ext cx="2251982" cy="35242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2601F7-E348-16CF-D5E8-789291AC9266}"/>
              </a:ext>
            </a:extLst>
          </p:cNvPr>
          <p:cNvSpPr txBox="1"/>
          <p:nvPr/>
        </p:nvSpPr>
        <p:spPr>
          <a:xfrm>
            <a:off x="7932371" y="2626050"/>
            <a:ext cx="108895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Fuzz</a:t>
            </a:r>
            <a:br>
              <a:rPr lang="en-US" sz="2400">
                <a:latin typeface="Helvetica Neue"/>
              </a:rPr>
            </a:br>
            <a:r>
              <a:rPr lang="en-US" sz="2400">
                <a:latin typeface="Helvetica Neue"/>
              </a:rPr>
              <a:t>Driver</a:t>
            </a:r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08459572-A20A-1A84-EBE4-89F8A8387BFB}"/>
              </a:ext>
            </a:extLst>
          </p:cNvPr>
          <p:cNvSpPr/>
          <p:nvPr/>
        </p:nvSpPr>
        <p:spPr>
          <a:xfrm>
            <a:off x="2408463" y="2843891"/>
            <a:ext cx="904875" cy="52387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FE02B1D6-B747-4696-9CE3-A261F4F92A52}"/>
              </a:ext>
            </a:extLst>
          </p:cNvPr>
          <p:cNvSpPr/>
          <p:nvPr/>
        </p:nvSpPr>
        <p:spPr>
          <a:xfrm>
            <a:off x="6973658" y="2837087"/>
            <a:ext cx="904875" cy="52387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D9719F-C061-20C8-B824-D72029E048AB}"/>
              </a:ext>
            </a:extLst>
          </p:cNvPr>
          <p:cNvSpPr txBox="1"/>
          <p:nvPr/>
        </p:nvSpPr>
        <p:spPr>
          <a:xfrm>
            <a:off x="3333752" y="1381125"/>
            <a:ext cx="350383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API Dependency Graph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95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29" grpId="0" animBg="1"/>
      <p:bldP spid="33" grpId="0" animBg="1"/>
      <p:bldP spid="35" grpId="0" animBg="1"/>
      <p:bldP spid="36" grpId="0" animBg="1"/>
      <p:bldP spid="37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108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Fuzz driver generation (cont.)</a:t>
            </a:r>
          </a:p>
          <a:p>
            <a:endParaRPr lang="en-US" sz="4000">
              <a:solidFill>
                <a:schemeClr val="lt1"/>
              </a:solidFill>
              <a:latin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51533" y="859814"/>
            <a:ext cx="892443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err="1">
                <a:latin typeface="Helvetica Neue"/>
              </a:rPr>
              <a:t>UTopia</a:t>
            </a:r>
            <a:r>
              <a:rPr lang="en-US" sz="2800">
                <a:latin typeface="Helvetica Neue"/>
              </a:rPr>
              <a:t>: Fuzz drivers from unit tests.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428B07-9EEF-DFF0-BF7C-B2ABA2056A23}"/>
              </a:ext>
            </a:extLst>
          </p:cNvPr>
          <p:cNvSpPr txBox="1"/>
          <p:nvPr/>
        </p:nvSpPr>
        <p:spPr>
          <a:xfrm>
            <a:off x="203515" y="1548847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Test case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EEDE0-665B-EB73-AB81-FD2503597558}"/>
              </a:ext>
            </a:extLst>
          </p:cNvPr>
          <p:cNvSpPr txBox="1"/>
          <p:nvPr/>
        </p:nvSpPr>
        <p:spPr>
          <a:xfrm>
            <a:off x="203514" y="2245049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Test case 2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86C9A7-EAEF-8D87-4B50-DBE1B88FF406}"/>
              </a:ext>
            </a:extLst>
          </p:cNvPr>
          <p:cNvSpPr txBox="1"/>
          <p:nvPr/>
        </p:nvSpPr>
        <p:spPr>
          <a:xfrm>
            <a:off x="203513" y="2908871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Test case 3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4A965E-E717-4C0E-AD7F-98D348788ABF}"/>
              </a:ext>
            </a:extLst>
          </p:cNvPr>
          <p:cNvSpPr txBox="1"/>
          <p:nvPr/>
        </p:nvSpPr>
        <p:spPr>
          <a:xfrm>
            <a:off x="203514" y="3610586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⋮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0BA37-958E-5890-CA73-55BEB01D45C5}"/>
              </a:ext>
            </a:extLst>
          </p:cNvPr>
          <p:cNvSpPr txBox="1"/>
          <p:nvPr/>
        </p:nvSpPr>
        <p:spPr>
          <a:xfrm>
            <a:off x="203513" y="4312301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Test case N</a:t>
            </a:r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1749B5-986E-F9F1-3427-2B721CA22436}"/>
              </a:ext>
            </a:extLst>
          </p:cNvPr>
          <p:cNvSpPr/>
          <p:nvPr/>
        </p:nvSpPr>
        <p:spPr>
          <a:xfrm>
            <a:off x="68035" y="1462767"/>
            <a:ext cx="2251982" cy="35242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994490-A3C8-DC0B-179A-32FA899E80DC}"/>
              </a:ext>
            </a:extLst>
          </p:cNvPr>
          <p:cNvSpPr txBox="1"/>
          <p:nvPr/>
        </p:nvSpPr>
        <p:spPr>
          <a:xfrm>
            <a:off x="7932371" y="2626050"/>
            <a:ext cx="108895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Fuzz</a:t>
            </a:r>
            <a:br>
              <a:rPr lang="en-US" sz="2400">
                <a:latin typeface="Helvetica Neue"/>
              </a:rPr>
            </a:br>
            <a:r>
              <a:rPr lang="en-US" sz="2400">
                <a:latin typeface="Helvetica Neue"/>
              </a:rPr>
              <a:t>Driver</a:t>
            </a:r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0750B636-3BA4-00FB-EAC2-9295F83C78C9}"/>
              </a:ext>
            </a:extLst>
          </p:cNvPr>
          <p:cNvSpPr/>
          <p:nvPr/>
        </p:nvSpPr>
        <p:spPr>
          <a:xfrm>
            <a:off x="2408463" y="2843891"/>
            <a:ext cx="904875" cy="52387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7954333E-EBEA-BB83-33FF-C85B1B1A3C91}"/>
              </a:ext>
            </a:extLst>
          </p:cNvPr>
          <p:cNvSpPr/>
          <p:nvPr/>
        </p:nvSpPr>
        <p:spPr>
          <a:xfrm>
            <a:off x="6973658" y="2837087"/>
            <a:ext cx="904875" cy="52387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CC9DFB6-E179-4E92-5A64-C872A36C6F80}"/>
              </a:ext>
            </a:extLst>
          </p:cNvPr>
          <p:cNvSpPr/>
          <p:nvPr/>
        </p:nvSpPr>
        <p:spPr>
          <a:xfrm>
            <a:off x="3514168" y="1769765"/>
            <a:ext cx="1135358" cy="7886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  <a:latin typeface="Helvetica Neue"/>
                <a:cs typeface="Arial"/>
              </a:rPr>
              <a:t>api_fn1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5FA75C6-C3E0-75B6-D663-CE23ED67FD9C}"/>
              </a:ext>
            </a:extLst>
          </p:cNvPr>
          <p:cNvSpPr/>
          <p:nvPr/>
        </p:nvSpPr>
        <p:spPr>
          <a:xfrm>
            <a:off x="5272072" y="1769764"/>
            <a:ext cx="1135358" cy="7886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  <a:latin typeface="Helvetica Neue"/>
                <a:cs typeface="Arial"/>
              </a:rPr>
              <a:t>api_fn2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E98FF5F-1BB4-4F2F-CC0C-4324EEBDABFF}"/>
              </a:ext>
            </a:extLst>
          </p:cNvPr>
          <p:cNvSpPr/>
          <p:nvPr/>
        </p:nvSpPr>
        <p:spPr>
          <a:xfrm>
            <a:off x="3514168" y="2919999"/>
            <a:ext cx="1135358" cy="7886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Helvetica Neue"/>
                <a:cs typeface="Arial"/>
              </a:rPr>
              <a:t>api_fn3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40FBC19-827A-4A72-DD78-4CBEEC898461}"/>
              </a:ext>
            </a:extLst>
          </p:cNvPr>
          <p:cNvSpPr/>
          <p:nvPr/>
        </p:nvSpPr>
        <p:spPr>
          <a:xfrm>
            <a:off x="5272072" y="2919999"/>
            <a:ext cx="1135358" cy="7886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Helvetica Neue"/>
                <a:cs typeface="Arial"/>
              </a:rPr>
              <a:t>api_fn4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7C8EAA0-7969-69F2-3A6E-1D0A175FA2B3}"/>
              </a:ext>
            </a:extLst>
          </p:cNvPr>
          <p:cNvSpPr/>
          <p:nvPr/>
        </p:nvSpPr>
        <p:spPr>
          <a:xfrm>
            <a:off x="4389503" y="4026828"/>
            <a:ext cx="1135358" cy="7886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Helvetica Neue"/>
                <a:cs typeface="Arial"/>
              </a:rPr>
              <a:t>api_fn5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5691D14-FC3E-5FDE-8699-6232CEFC03A3}"/>
              </a:ext>
            </a:extLst>
          </p:cNvPr>
          <p:cNvCxnSpPr/>
          <p:nvPr/>
        </p:nvCxnSpPr>
        <p:spPr>
          <a:xfrm>
            <a:off x="4075822" y="2560532"/>
            <a:ext cx="1885" cy="3584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3A7236E-307C-1856-04AB-177AA643CA7C}"/>
              </a:ext>
            </a:extLst>
          </p:cNvPr>
          <p:cNvCxnSpPr>
            <a:cxnSpLocks/>
          </p:cNvCxnSpPr>
          <p:nvPr/>
        </p:nvCxnSpPr>
        <p:spPr>
          <a:xfrm>
            <a:off x="5833726" y="2560531"/>
            <a:ext cx="1885" cy="3584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1F79AD-9ED2-3572-E9D2-2B98CAD06A99}"/>
              </a:ext>
            </a:extLst>
          </p:cNvPr>
          <p:cNvCxnSpPr>
            <a:cxnSpLocks/>
          </p:cNvCxnSpPr>
          <p:nvPr/>
        </p:nvCxnSpPr>
        <p:spPr>
          <a:xfrm>
            <a:off x="4640087" y="3255011"/>
            <a:ext cx="631258" cy="39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1E8D8A4-14A2-13D8-6B54-A6A89B46B20E}"/>
              </a:ext>
            </a:extLst>
          </p:cNvPr>
          <p:cNvCxnSpPr>
            <a:cxnSpLocks/>
          </p:cNvCxnSpPr>
          <p:nvPr/>
        </p:nvCxnSpPr>
        <p:spPr>
          <a:xfrm>
            <a:off x="4292845" y="3667359"/>
            <a:ext cx="320190" cy="4380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7EDD09E-9218-80B2-0087-FC97FF3117E3}"/>
              </a:ext>
            </a:extLst>
          </p:cNvPr>
          <p:cNvCxnSpPr>
            <a:cxnSpLocks/>
          </p:cNvCxnSpPr>
          <p:nvPr/>
        </p:nvCxnSpPr>
        <p:spPr>
          <a:xfrm flipH="1">
            <a:off x="5293047" y="3681827"/>
            <a:ext cx="388759" cy="4235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8985CBD-0AA6-16B4-3EB2-9D1EC5D74CD3}"/>
              </a:ext>
            </a:extLst>
          </p:cNvPr>
          <p:cNvCxnSpPr/>
          <p:nvPr/>
        </p:nvCxnSpPr>
        <p:spPr>
          <a:xfrm>
            <a:off x="6158723" y="2507362"/>
            <a:ext cx="587490" cy="925582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1DFD602-4B85-B81B-BBEB-0312643464D6}"/>
              </a:ext>
            </a:extLst>
          </p:cNvPr>
          <p:cNvCxnSpPr/>
          <p:nvPr/>
        </p:nvCxnSpPr>
        <p:spPr>
          <a:xfrm flipH="1">
            <a:off x="5532227" y="3430652"/>
            <a:ext cx="1218061" cy="9660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97D7B71D-51A2-20A7-F29B-ADD725681CBE}"/>
              </a:ext>
            </a:extLst>
          </p:cNvPr>
          <p:cNvSpPr/>
          <p:nvPr/>
        </p:nvSpPr>
        <p:spPr>
          <a:xfrm>
            <a:off x="3360964" y="1428750"/>
            <a:ext cx="3503839" cy="353105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3721A75-A01A-6D68-1D92-4D0683F93165}"/>
              </a:ext>
            </a:extLst>
          </p:cNvPr>
          <p:cNvSpPr txBox="1"/>
          <p:nvPr/>
        </p:nvSpPr>
        <p:spPr>
          <a:xfrm>
            <a:off x="3333752" y="1381125"/>
            <a:ext cx="350383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API Dependency Graph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1057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109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Fuzz driver generation (</a:t>
            </a:r>
            <a:r>
              <a:rPr lang="en-US" sz="4000" err="1">
                <a:solidFill>
                  <a:schemeClr val="lt1"/>
                </a:solidFill>
                <a:latin typeface="Helvetica Neue"/>
              </a:rPr>
              <a:t>cont</a:t>
            </a:r>
            <a:r>
              <a:rPr lang="en-US" sz="4000">
                <a:solidFill>
                  <a:schemeClr val="lt1"/>
                </a:solidFill>
                <a:latin typeface="Helvetica Neue"/>
              </a:rPr>
              <a:t>).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C89AD6-DC0E-A5E6-A72A-0409F5E4A31F}"/>
              </a:ext>
            </a:extLst>
          </p:cNvPr>
          <p:cNvSpPr txBox="1"/>
          <p:nvPr/>
        </p:nvSpPr>
        <p:spPr>
          <a:xfrm>
            <a:off x="7526589" y="2647160"/>
            <a:ext cx="108895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Fuzz</a:t>
            </a:r>
            <a:br>
              <a:rPr lang="en-US" sz="2400">
                <a:latin typeface="Helvetica Neue"/>
              </a:rPr>
            </a:br>
            <a:r>
              <a:rPr lang="en-US" sz="2400">
                <a:latin typeface="Helvetica Neue"/>
              </a:rPr>
              <a:t>Driver</a:t>
            </a:r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00D3E6F-C9F5-0898-7EDF-F683CFD29698}"/>
              </a:ext>
            </a:extLst>
          </p:cNvPr>
          <p:cNvSpPr/>
          <p:nvPr/>
        </p:nvSpPr>
        <p:spPr>
          <a:xfrm>
            <a:off x="5991540" y="2837707"/>
            <a:ext cx="1474966" cy="52056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70BB89-909A-D5B0-E64A-7FBC190A3CDD}"/>
              </a:ext>
            </a:extLst>
          </p:cNvPr>
          <p:cNvSpPr txBox="1"/>
          <p:nvPr/>
        </p:nvSpPr>
        <p:spPr>
          <a:xfrm>
            <a:off x="3972446" y="2667833"/>
            <a:ext cx="192314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Library Automaton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8212A7-D289-1E3F-C37B-EF2B867237C4}"/>
              </a:ext>
            </a:extLst>
          </p:cNvPr>
          <p:cNvSpPr txBox="1"/>
          <p:nvPr/>
        </p:nvSpPr>
        <p:spPr>
          <a:xfrm>
            <a:off x="142874" y="890528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Helvetica Neue"/>
              </a:rPr>
              <a:t>RUBICK: Automata-guided fuzz driver generation</a:t>
            </a:r>
            <a:endParaRPr lang="en-US" sz="28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FECFD0-C9E5-0993-9EC0-505BD20452DB}"/>
              </a:ext>
            </a:extLst>
          </p:cNvPr>
          <p:cNvSpPr txBox="1"/>
          <p:nvPr/>
        </p:nvSpPr>
        <p:spPr>
          <a:xfrm>
            <a:off x="291482" y="1548847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Consumer 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9F0D61-0B92-6E01-DA13-AFA7A0CAC527}"/>
              </a:ext>
            </a:extLst>
          </p:cNvPr>
          <p:cNvSpPr txBox="1"/>
          <p:nvPr/>
        </p:nvSpPr>
        <p:spPr>
          <a:xfrm>
            <a:off x="291481" y="2245049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Consumer 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D425C9-5CFC-3B66-70B1-E6FEE0D647B5}"/>
              </a:ext>
            </a:extLst>
          </p:cNvPr>
          <p:cNvSpPr txBox="1"/>
          <p:nvPr/>
        </p:nvSpPr>
        <p:spPr>
          <a:xfrm>
            <a:off x="291480" y="2908871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Consumer 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9A5B55-CF78-D7BB-CC24-1EA6AF382C5C}"/>
              </a:ext>
            </a:extLst>
          </p:cNvPr>
          <p:cNvSpPr txBox="1"/>
          <p:nvPr/>
        </p:nvSpPr>
        <p:spPr>
          <a:xfrm>
            <a:off x="291481" y="3610586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⋮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344E51-A813-5DBA-8EE8-885F010FBF2E}"/>
              </a:ext>
            </a:extLst>
          </p:cNvPr>
          <p:cNvSpPr txBox="1"/>
          <p:nvPr/>
        </p:nvSpPr>
        <p:spPr>
          <a:xfrm>
            <a:off x="291480" y="4312301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Consumer 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AE1F504-489B-3534-8035-EC9146EBE51E}"/>
              </a:ext>
            </a:extLst>
          </p:cNvPr>
          <p:cNvSpPr/>
          <p:nvPr/>
        </p:nvSpPr>
        <p:spPr>
          <a:xfrm>
            <a:off x="156002" y="1462767"/>
            <a:ext cx="2251982" cy="35242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C46C5A8-75FA-3FF2-19FE-F759C0C1C7F7}"/>
              </a:ext>
            </a:extLst>
          </p:cNvPr>
          <p:cNvSpPr/>
          <p:nvPr/>
        </p:nvSpPr>
        <p:spPr>
          <a:xfrm>
            <a:off x="2560006" y="2843685"/>
            <a:ext cx="1302013" cy="52808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30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3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110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53079" y="2061482"/>
            <a:ext cx="883783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>
                <a:latin typeface="Helvetica Neue"/>
              </a:rPr>
              <a:t>Initial Seeds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4362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1E1DCAB0-EE73-8FEC-0C08-E6FE038CD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E2477A62-1AF5-4936-EB35-2DC3F98069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111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4F561CF1-7711-A79C-FB33-34676D2AAA28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CEB4B286-177E-2D5D-51F0-854F77DE6880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6C926BE3-A6A0-1423-7D3E-E1ABF601BC1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FF42CFB4-C237-21E6-C342-D5EFBC8E0A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Initial seeds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F656F5-2656-34D3-1F96-3860CBF612E0}"/>
              </a:ext>
            </a:extLst>
          </p:cNvPr>
          <p:cNvSpPr txBox="1"/>
          <p:nvPr/>
        </p:nvSpPr>
        <p:spPr>
          <a:xfrm>
            <a:off x="142874" y="890528"/>
            <a:ext cx="8837839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Most common approach: manually curate initial seeds set.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Learn input format from valid inputs using taint analysis (</a:t>
            </a:r>
            <a:r>
              <a:rPr lang="en-US" sz="2800" dirty="0" err="1">
                <a:latin typeface="Helvetica Neue"/>
              </a:rPr>
              <a:t>NestFuzz</a:t>
            </a:r>
            <a:r>
              <a:rPr lang="en-US" sz="2800" dirty="0">
                <a:latin typeface="Helvetica Neue"/>
              </a:rPr>
              <a:t>) or context-free grammar (Skyfire).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Rebert et al (USENIX 2014): Coverage-based seed selection from several seeds.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54140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062A99AC-4531-DCA2-7181-DA855832A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CFAA59AB-C1C3-0EA8-4DBC-F06AAE4308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112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3B5A941-94D6-D899-CDA6-A582D275BE88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079287A0-C5D7-5E20-7800-1549CBA8386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E3B8F4-601B-8EE1-1361-4F26F443A254}"/>
              </a:ext>
            </a:extLst>
          </p:cNvPr>
          <p:cNvSpPr txBox="1"/>
          <p:nvPr/>
        </p:nvSpPr>
        <p:spPr>
          <a:xfrm>
            <a:off x="157342" y="1462028"/>
            <a:ext cx="8837839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endParaRPr lang="en-US" sz="2800">
              <a:latin typeface="Helvetica Neue"/>
            </a:endParaRPr>
          </a:p>
          <a:p>
            <a:pPr algn="ctr"/>
            <a:r>
              <a:rPr lang="en-US" sz="6000">
                <a:latin typeface="Helvetica Neue"/>
              </a:rPr>
              <a:t>Binary-only Fuzzing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2182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113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Binary-only fuzzing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989919"/>
            <a:ext cx="8837839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 err="1">
                <a:latin typeface="Helvetica Neue"/>
              </a:rPr>
              <a:t>RetroWrite</a:t>
            </a:r>
            <a:r>
              <a:rPr lang="en-US" sz="2800" dirty="0">
                <a:latin typeface="Helvetica Neue"/>
              </a:rPr>
              <a:t>/ZAFL/</a:t>
            </a:r>
            <a:r>
              <a:rPr lang="en-US" sz="2800" dirty="0" err="1">
                <a:latin typeface="Helvetica Neue"/>
              </a:rPr>
              <a:t>StochFuzz</a:t>
            </a:r>
            <a:r>
              <a:rPr lang="en-US" sz="2800" dirty="0">
                <a:latin typeface="Helvetica Neue"/>
              </a:rPr>
              <a:t>: Insert instrumentation using binary rewriting.</a:t>
            </a:r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6943720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DB3B7803-0573-D598-01BD-6F6FD48E6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723BE01F-5606-4BA3-E2F2-4B5CCD4441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114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60381F8-F980-B2C1-13A4-2B5211E17C81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53CAF6A0-96CC-995B-5EA0-D1614E1FB93C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8FF4EBC2-1217-133F-5411-E7D3990032A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E598958C-60C9-1FC5-5F2D-87CAFDAEDB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Binary-only fuzzing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CD0202-6740-E209-8B7B-CB9C1497DD8C}"/>
              </a:ext>
            </a:extLst>
          </p:cNvPr>
          <p:cNvSpPr txBox="1"/>
          <p:nvPr/>
        </p:nvSpPr>
        <p:spPr>
          <a:xfrm>
            <a:off x="142874" y="989919"/>
            <a:ext cx="8837839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 err="1">
                <a:latin typeface="Helvetica Neue"/>
              </a:rPr>
              <a:t>RetroWrite</a:t>
            </a:r>
            <a:r>
              <a:rPr lang="en-US" sz="2800" dirty="0">
                <a:latin typeface="Helvetica Neue"/>
              </a:rPr>
              <a:t>/ZAFL/</a:t>
            </a:r>
            <a:r>
              <a:rPr lang="en-US" sz="2800" dirty="0" err="1">
                <a:latin typeface="Helvetica Neue"/>
              </a:rPr>
              <a:t>StochFuzz</a:t>
            </a:r>
            <a:r>
              <a:rPr lang="en-US" sz="2800" dirty="0">
                <a:latin typeface="Helvetica Neue"/>
              </a:rPr>
              <a:t>: Insert instrumentation using binary rewriting.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HEXCITE: Fast, fine-grained coverage data for loops and branches.</a:t>
            </a:r>
          </a:p>
        </p:txBody>
      </p:sp>
    </p:spTree>
    <p:extLst>
      <p:ext uri="{BB962C8B-B14F-4D97-AF65-F5344CB8AC3E}">
        <p14:creationId xmlns:p14="http://schemas.microsoft.com/office/powerpoint/2010/main" val="219319287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3DE6C67E-8AA8-A813-7EF6-7F77F8B62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74C1131B-9975-C39A-5657-B799A8705A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115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CE5EEE5-3E69-2282-5E0A-0F7EF434C637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59A34696-AED9-45DB-C7BA-855A72A2961F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35B4E7C9-6B5B-56E8-461F-731B8FB799B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8859CBCC-771B-D7D1-9153-4D5E2FA720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Binary-only fuzzing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185D8A-34E7-5985-2D61-43ABC0E7517F}"/>
              </a:ext>
            </a:extLst>
          </p:cNvPr>
          <p:cNvSpPr txBox="1"/>
          <p:nvPr/>
        </p:nvSpPr>
        <p:spPr>
          <a:xfrm>
            <a:off x="142874" y="989919"/>
            <a:ext cx="8837839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 err="1">
                <a:latin typeface="Helvetica Neue"/>
              </a:rPr>
              <a:t>RetroWrite</a:t>
            </a:r>
            <a:r>
              <a:rPr lang="en-US" sz="2800" dirty="0">
                <a:latin typeface="Helvetica Neue"/>
              </a:rPr>
              <a:t>/ZAFL/</a:t>
            </a:r>
            <a:r>
              <a:rPr lang="en-US" sz="2800" dirty="0" err="1">
                <a:latin typeface="Helvetica Neue"/>
              </a:rPr>
              <a:t>StochFuzz</a:t>
            </a:r>
            <a:r>
              <a:rPr lang="en-US" sz="2800" dirty="0">
                <a:latin typeface="Helvetica Neue"/>
              </a:rPr>
              <a:t>: Insert instrumentation using binary rewriting.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HEXCITE: Fast, fine-grained coverage data for loops and branches.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MTSAN, </a:t>
            </a:r>
            <a:r>
              <a:rPr lang="en-US" sz="2800" dirty="0" err="1">
                <a:latin typeface="Helvetica Neue"/>
              </a:rPr>
              <a:t>BinTSAN</a:t>
            </a:r>
            <a:r>
              <a:rPr lang="en-US" sz="2800" dirty="0">
                <a:latin typeface="Helvetica Neue"/>
              </a:rPr>
              <a:t>: MSAN and TSAN for binaries using rewriting.</a:t>
            </a:r>
          </a:p>
        </p:txBody>
      </p:sp>
    </p:spTree>
    <p:extLst>
      <p:ext uri="{BB962C8B-B14F-4D97-AF65-F5344CB8AC3E}">
        <p14:creationId xmlns:p14="http://schemas.microsoft.com/office/powerpoint/2010/main" val="265648253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1639D248-583C-0498-7AEF-351676EFE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17B91FE7-926E-E0FE-6857-9B08F82EA5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116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293901E-4B8B-81BA-3015-7340E8C01380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D9C8A6C0-F012-55BC-54C6-C78BEB5E8301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51613396-E91B-4668-E88B-EF75B4D0AD0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7E842611-5442-469B-EEE3-4437466F0A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Vulnerability Detection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D26E91-C749-7B17-387C-EAD83E942789}"/>
              </a:ext>
            </a:extLst>
          </p:cNvPr>
          <p:cNvSpPr txBox="1"/>
          <p:nvPr/>
        </p:nvSpPr>
        <p:spPr>
          <a:xfrm>
            <a:off x="142874" y="989919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Signals during program execution (</a:t>
            </a:r>
            <a:r>
              <a:rPr lang="en-US" sz="2800" err="1">
                <a:latin typeface="Helvetica Neue"/>
              </a:rPr>
              <a:t>eg</a:t>
            </a:r>
            <a:r>
              <a:rPr lang="en-US" sz="2800">
                <a:latin typeface="Helvetica Neue"/>
              </a:rPr>
              <a:t>: SIGSEGV).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B9B79C-911F-50A8-3FE7-EF590C5E471C}"/>
              </a:ext>
            </a:extLst>
          </p:cNvPr>
          <p:cNvSpPr txBox="1"/>
          <p:nvPr/>
        </p:nvSpPr>
        <p:spPr>
          <a:xfrm>
            <a:off x="2284943" y="1507613"/>
            <a:ext cx="4077778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monospace"/>
              </a:rPr>
              <a:t>char </a:t>
            </a:r>
            <a:r>
              <a:rPr lang="en-US" sz="2200" err="1">
                <a:latin typeface="monospace"/>
              </a:rPr>
              <a:t>buf</a:t>
            </a:r>
            <a:r>
              <a:rPr lang="en-US" sz="2200">
                <a:latin typeface="monospace"/>
              </a:rPr>
              <a:t>[5], buf2[5];</a:t>
            </a:r>
          </a:p>
          <a:p>
            <a:r>
              <a:rPr lang="en-US" sz="2200" err="1">
                <a:latin typeface="monospace"/>
              </a:rPr>
              <a:t>memset</a:t>
            </a:r>
            <a:r>
              <a:rPr lang="en-US" sz="2200">
                <a:latin typeface="monospace"/>
              </a:rPr>
              <a:t>(buf2, 'b', 5);</a:t>
            </a:r>
          </a:p>
          <a:p>
            <a:r>
              <a:rPr lang="en-US" sz="2200" err="1">
                <a:latin typeface="monospace"/>
              </a:rPr>
              <a:t>memset</a:t>
            </a:r>
            <a:r>
              <a:rPr lang="en-US" sz="2200">
                <a:latin typeface="monospace"/>
              </a:rPr>
              <a:t>(</a:t>
            </a:r>
            <a:r>
              <a:rPr lang="en-US" sz="2200" err="1">
                <a:latin typeface="monospace"/>
              </a:rPr>
              <a:t>buf</a:t>
            </a:r>
            <a:r>
              <a:rPr lang="en-US" sz="2200">
                <a:latin typeface="monospace"/>
              </a:rPr>
              <a:t>, 'a', 7);</a:t>
            </a:r>
          </a:p>
        </p:txBody>
      </p:sp>
    </p:spTree>
    <p:extLst>
      <p:ext uri="{BB962C8B-B14F-4D97-AF65-F5344CB8AC3E}">
        <p14:creationId xmlns:p14="http://schemas.microsoft.com/office/powerpoint/2010/main" val="95083419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556D6F9F-629E-D1AF-F364-0B7BC117F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45A02C4F-8619-C2EF-ABC6-02E88E228A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117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5B14DCBC-F99A-FEDB-DE40-52D509163727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9842552D-4959-7A75-CD2F-6592DDB5978D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1F45F9C-0557-0811-3DB8-62CD49D956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66772C41-1B68-B265-9ABF-1B4567717A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Vulnerability Detection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36AFC-ED23-4FAD-86BB-F2CE8859AEA6}"/>
              </a:ext>
            </a:extLst>
          </p:cNvPr>
          <p:cNvSpPr txBox="1"/>
          <p:nvPr/>
        </p:nvSpPr>
        <p:spPr>
          <a:xfrm>
            <a:off x="142874" y="989919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Signals during program execution (</a:t>
            </a:r>
            <a:r>
              <a:rPr lang="en-US" sz="2800" err="1">
                <a:latin typeface="Helvetica Neue"/>
              </a:rPr>
              <a:t>eg</a:t>
            </a:r>
            <a:r>
              <a:rPr lang="en-US" sz="2800">
                <a:latin typeface="Helvetica Neue"/>
              </a:rPr>
              <a:t>: SIGSEGV).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F61E62-9BDD-FF98-7CC0-55FB5FEA76F0}"/>
              </a:ext>
            </a:extLst>
          </p:cNvPr>
          <p:cNvSpPr txBox="1"/>
          <p:nvPr/>
        </p:nvSpPr>
        <p:spPr>
          <a:xfrm>
            <a:off x="2284943" y="1507613"/>
            <a:ext cx="4077778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monospace"/>
              </a:rPr>
              <a:t>char </a:t>
            </a:r>
            <a:r>
              <a:rPr lang="en-US" sz="2200" err="1">
                <a:latin typeface="monospace"/>
              </a:rPr>
              <a:t>buf</a:t>
            </a:r>
            <a:r>
              <a:rPr lang="en-US" sz="2200">
                <a:latin typeface="monospace"/>
              </a:rPr>
              <a:t>[5], buf2[5];</a:t>
            </a:r>
          </a:p>
          <a:p>
            <a:r>
              <a:rPr lang="en-US" sz="2200" b="1" err="1">
                <a:latin typeface="monospace"/>
              </a:rPr>
              <a:t>memset</a:t>
            </a:r>
            <a:r>
              <a:rPr lang="en-US" sz="2200" b="1">
                <a:latin typeface="monospace"/>
              </a:rPr>
              <a:t>(buf2, 'b', 5);</a:t>
            </a:r>
          </a:p>
          <a:p>
            <a:r>
              <a:rPr lang="en-US" sz="2200" err="1">
                <a:latin typeface="monospace"/>
              </a:rPr>
              <a:t>memset</a:t>
            </a:r>
            <a:r>
              <a:rPr lang="en-US" sz="2200">
                <a:latin typeface="monospace"/>
              </a:rPr>
              <a:t>(</a:t>
            </a:r>
            <a:r>
              <a:rPr lang="en-US" sz="2200" err="1">
                <a:latin typeface="monospace"/>
              </a:rPr>
              <a:t>buf</a:t>
            </a:r>
            <a:r>
              <a:rPr lang="en-US" sz="2200">
                <a:latin typeface="monospace"/>
              </a:rPr>
              <a:t>, 'a', 7);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3D611E-FBD3-4FB6-85FC-74F47905D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660021"/>
              </p:ext>
            </p:extLst>
          </p:nvPr>
        </p:nvGraphicFramePr>
        <p:xfrm>
          <a:off x="351095" y="3633791"/>
          <a:ext cx="844289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289">
                  <a:extLst>
                    <a:ext uri="{9D8B030D-6E8A-4147-A177-3AD203B41FA5}">
                      <a16:colId xmlns:a16="http://schemas.microsoft.com/office/drawing/2014/main" val="3928787617"/>
                    </a:ext>
                  </a:extLst>
                </a:gridCol>
                <a:gridCol w="844289">
                  <a:extLst>
                    <a:ext uri="{9D8B030D-6E8A-4147-A177-3AD203B41FA5}">
                      <a16:colId xmlns:a16="http://schemas.microsoft.com/office/drawing/2014/main" val="3884495127"/>
                    </a:ext>
                  </a:extLst>
                </a:gridCol>
                <a:gridCol w="844289">
                  <a:extLst>
                    <a:ext uri="{9D8B030D-6E8A-4147-A177-3AD203B41FA5}">
                      <a16:colId xmlns:a16="http://schemas.microsoft.com/office/drawing/2014/main" val="99507895"/>
                    </a:ext>
                  </a:extLst>
                </a:gridCol>
                <a:gridCol w="844289">
                  <a:extLst>
                    <a:ext uri="{9D8B030D-6E8A-4147-A177-3AD203B41FA5}">
                      <a16:colId xmlns:a16="http://schemas.microsoft.com/office/drawing/2014/main" val="1949916217"/>
                    </a:ext>
                  </a:extLst>
                </a:gridCol>
                <a:gridCol w="844289">
                  <a:extLst>
                    <a:ext uri="{9D8B030D-6E8A-4147-A177-3AD203B41FA5}">
                      <a16:colId xmlns:a16="http://schemas.microsoft.com/office/drawing/2014/main" val="617547095"/>
                    </a:ext>
                  </a:extLst>
                </a:gridCol>
                <a:gridCol w="844289">
                  <a:extLst>
                    <a:ext uri="{9D8B030D-6E8A-4147-A177-3AD203B41FA5}">
                      <a16:colId xmlns:a16="http://schemas.microsoft.com/office/drawing/2014/main" val="3007407805"/>
                    </a:ext>
                  </a:extLst>
                </a:gridCol>
                <a:gridCol w="844289">
                  <a:extLst>
                    <a:ext uri="{9D8B030D-6E8A-4147-A177-3AD203B41FA5}">
                      <a16:colId xmlns:a16="http://schemas.microsoft.com/office/drawing/2014/main" val="1445993955"/>
                    </a:ext>
                  </a:extLst>
                </a:gridCol>
                <a:gridCol w="844289">
                  <a:extLst>
                    <a:ext uri="{9D8B030D-6E8A-4147-A177-3AD203B41FA5}">
                      <a16:colId xmlns:a16="http://schemas.microsoft.com/office/drawing/2014/main" val="2031055846"/>
                    </a:ext>
                  </a:extLst>
                </a:gridCol>
                <a:gridCol w="844289">
                  <a:extLst>
                    <a:ext uri="{9D8B030D-6E8A-4147-A177-3AD203B41FA5}">
                      <a16:colId xmlns:a16="http://schemas.microsoft.com/office/drawing/2014/main" val="441645221"/>
                    </a:ext>
                  </a:extLst>
                </a:gridCol>
                <a:gridCol w="844289">
                  <a:extLst>
                    <a:ext uri="{9D8B030D-6E8A-4147-A177-3AD203B41FA5}">
                      <a16:colId xmlns:a16="http://schemas.microsoft.com/office/drawing/2014/main" val="2171437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b</a:t>
                      </a:r>
                      <a:endParaRPr lang="en-US" sz="2400"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3668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BE5789-EFD4-615C-B29B-DD555946A3C6}"/>
              </a:ext>
            </a:extLst>
          </p:cNvPr>
          <p:cNvSpPr txBox="1"/>
          <p:nvPr/>
        </p:nvSpPr>
        <p:spPr>
          <a:xfrm>
            <a:off x="436183" y="2789208"/>
            <a:ext cx="7059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err="1">
                <a:latin typeface="Helvetica Neue"/>
              </a:rPr>
              <a:t>buf</a:t>
            </a:r>
            <a:endParaRPr lang="en-US" sz="2400">
              <a:latin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6B5E6-86A1-8977-C63E-DACD6BA1FE57}"/>
              </a:ext>
            </a:extLst>
          </p:cNvPr>
          <p:cNvSpPr txBox="1"/>
          <p:nvPr/>
        </p:nvSpPr>
        <p:spPr>
          <a:xfrm>
            <a:off x="4630777" y="2789208"/>
            <a:ext cx="8353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buf2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1FFCB3-DF65-871B-A6B2-524EE27F4660}"/>
              </a:ext>
            </a:extLst>
          </p:cNvPr>
          <p:cNvCxnSpPr/>
          <p:nvPr/>
        </p:nvCxnSpPr>
        <p:spPr>
          <a:xfrm>
            <a:off x="782297" y="3182470"/>
            <a:ext cx="5602" cy="4034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7EF1529-8971-F74A-BEF5-1B919A3ECB9B}"/>
              </a:ext>
            </a:extLst>
          </p:cNvPr>
          <p:cNvCxnSpPr>
            <a:cxnSpLocks/>
          </p:cNvCxnSpPr>
          <p:nvPr/>
        </p:nvCxnSpPr>
        <p:spPr>
          <a:xfrm>
            <a:off x="4987674" y="3182470"/>
            <a:ext cx="5602" cy="4034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257698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3EA10D30-7935-CED2-C3CA-294CEB3FE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CF2E9748-AFA1-9D50-2403-2789BD221D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118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0D49B14E-F75B-DD60-0670-72DD1038F69C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1D6C253A-D4F1-5BE8-FA64-C13932A413A3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4600C31C-ADCA-973D-7C2E-51924FAEC88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83F6C025-4D8D-7655-6284-089378FE5A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Vulnerability Detection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587532-9235-7D57-0A20-C2CD1E5571AD}"/>
              </a:ext>
            </a:extLst>
          </p:cNvPr>
          <p:cNvSpPr txBox="1"/>
          <p:nvPr/>
        </p:nvSpPr>
        <p:spPr>
          <a:xfrm>
            <a:off x="142874" y="989919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Signals during program execution (</a:t>
            </a:r>
            <a:r>
              <a:rPr lang="en-US" sz="2800" err="1">
                <a:latin typeface="Helvetica Neue"/>
              </a:rPr>
              <a:t>eg</a:t>
            </a:r>
            <a:r>
              <a:rPr lang="en-US" sz="2800">
                <a:latin typeface="Helvetica Neue"/>
              </a:rPr>
              <a:t>: SIGSEGV).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2B81B-3195-81C7-7DFA-B85C4BF88D6D}"/>
              </a:ext>
            </a:extLst>
          </p:cNvPr>
          <p:cNvSpPr txBox="1"/>
          <p:nvPr/>
        </p:nvSpPr>
        <p:spPr>
          <a:xfrm>
            <a:off x="2284943" y="1507613"/>
            <a:ext cx="4077778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monospace"/>
              </a:rPr>
              <a:t>char </a:t>
            </a:r>
            <a:r>
              <a:rPr lang="en-US" sz="2200" err="1">
                <a:latin typeface="monospace"/>
              </a:rPr>
              <a:t>buf</a:t>
            </a:r>
            <a:r>
              <a:rPr lang="en-US" sz="2200">
                <a:latin typeface="monospace"/>
              </a:rPr>
              <a:t>[5], buf2[5];</a:t>
            </a:r>
          </a:p>
          <a:p>
            <a:r>
              <a:rPr lang="en-US" sz="2200" err="1">
                <a:latin typeface="monospace"/>
              </a:rPr>
              <a:t>memset</a:t>
            </a:r>
            <a:r>
              <a:rPr lang="en-US" sz="2200">
                <a:latin typeface="monospace"/>
              </a:rPr>
              <a:t>(buf2, 'b', 5);</a:t>
            </a:r>
          </a:p>
          <a:p>
            <a:r>
              <a:rPr lang="en-US" sz="2200" b="1" err="1">
                <a:latin typeface="monospace"/>
              </a:rPr>
              <a:t>memset</a:t>
            </a:r>
            <a:r>
              <a:rPr lang="en-US" sz="2200" b="1">
                <a:latin typeface="monospace"/>
              </a:rPr>
              <a:t>(</a:t>
            </a:r>
            <a:r>
              <a:rPr lang="en-US" sz="2200" b="1" err="1">
                <a:latin typeface="monospace"/>
              </a:rPr>
              <a:t>buf</a:t>
            </a:r>
            <a:r>
              <a:rPr lang="en-US" sz="2200" b="1">
                <a:latin typeface="monospace"/>
              </a:rPr>
              <a:t>, 'a', 7);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13E6DA-B0AA-9A6D-602B-A5A5869A0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76230"/>
              </p:ext>
            </p:extLst>
          </p:nvPr>
        </p:nvGraphicFramePr>
        <p:xfrm>
          <a:off x="351095" y="3633791"/>
          <a:ext cx="844289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289">
                  <a:extLst>
                    <a:ext uri="{9D8B030D-6E8A-4147-A177-3AD203B41FA5}">
                      <a16:colId xmlns:a16="http://schemas.microsoft.com/office/drawing/2014/main" val="3928787617"/>
                    </a:ext>
                  </a:extLst>
                </a:gridCol>
                <a:gridCol w="844289">
                  <a:extLst>
                    <a:ext uri="{9D8B030D-6E8A-4147-A177-3AD203B41FA5}">
                      <a16:colId xmlns:a16="http://schemas.microsoft.com/office/drawing/2014/main" val="3884495127"/>
                    </a:ext>
                  </a:extLst>
                </a:gridCol>
                <a:gridCol w="844289">
                  <a:extLst>
                    <a:ext uri="{9D8B030D-6E8A-4147-A177-3AD203B41FA5}">
                      <a16:colId xmlns:a16="http://schemas.microsoft.com/office/drawing/2014/main" val="99507895"/>
                    </a:ext>
                  </a:extLst>
                </a:gridCol>
                <a:gridCol w="844289">
                  <a:extLst>
                    <a:ext uri="{9D8B030D-6E8A-4147-A177-3AD203B41FA5}">
                      <a16:colId xmlns:a16="http://schemas.microsoft.com/office/drawing/2014/main" val="1949916217"/>
                    </a:ext>
                  </a:extLst>
                </a:gridCol>
                <a:gridCol w="844289">
                  <a:extLst>
                    <a:ext uri="{9D8B030D-6E8A-4147-A177-3AD203B41FA5}">
                      <a16:colId xmlns:a16="http://schemas.microsoft.com/office/drawing/2014/main" val="617547095"/>
                    </a:ext>
                  </a:extLst>
                </a:gridCol>
                <a:gridCol w="844289">
                  <a:extLst>
                    <a:ext uri="{9D8B030D-6E8A-4147-A177-3AD203B41FA5}">
                      <a16:colId xmlns:a16="http://schemas.microsoft.com/office/drawing/2014/main" val="3007407805"/>
                    </a:ext>
                  </a:extLst>
                </a:gridCol>
                <a:gridCol w="844289">
                  <a:extLst>
                    <a:ext uri="{9D8B030D-6E8A-4147-A177-3AD203B41FA5}">
                      <a16:colId xmlns:a16="http://schemas.microsoft.com/office/drawing/2014/main" val="1445993955"/>
                    </a:ext>
                  </a:extLst>
                </a:gridCol>
                <a:gridCol w="844289">
                  <a:extLst>
                    <a:ext uri="{9D8B030D-6E8A-4147-A177-3AD203B41FA5}">
                      <a16:colId xmlns:a16="http://schemas.microsoft.com/office/drawing/2014/main" val="2031055846"/>
                    </a:ext>
                  </a:extLst>
                </a:gridCol>
                <a:gridCol w="844289">
                  <a:extLst>
                    <a:ext uri="{9D8B030D-6E8A-4147-A177-3AD203B41FA5}">
                      <a16:colId xmlns:a16="http://schemas.microsoft.com/office/drawing/2014/main" val="441645221"/>
                    </a:ext>
                  </a:extLst>
                </a:gridCol>
                <a:gridCol w="844289">
                  <a:extLst>
                    <a:ext uri="{9D8B030D-6E8A-4147-A177-3AD203B41FA5}">
                      <a16:colId xmlns:a16="http://schemas.microsoft.com/office/drawing/2014/main" val="2171437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Helvetica Neue"/>
                        </a:rPr>
                        <a:t>b</a:t>
                      </a:r>
                      <a:endParaRPr lang="en-US" sz="2400" b="1">
                        <a:solidFill>
                          <a:srgbClr val="FF0000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3668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E38FB19-B6B2-77B8-6009-F5C71B56AFA0}"/>
              </a:ext>
            </a:extLst>
          </p:cNvPr>
          <p:cNvSpPr txBox="1"/>
          <p:nvPr/>
        </p:nvSpPr>
        <p:spPr>
          <a:xfrm>
            <a:off x="436183" y="2789208"/>
            <a:ext cx="7059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err="1">
                <a:latin typeface="Helvetica Neue"/>
              </a:rPr>
              <a:t>buf</a:t>
            </a:r>
            <a:endParaRPr lang="en-US" sz="2400">
              <a:latin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D60FE9-9867-2975-5FA3-6FEE71D4A415}"/>
              </a:ext>
            </a:extLst>
          </p:cNvPr>
          <p:cNvSpPr txBox="1"/>
          <p:nvPr/>
        </p:nvSpPr>
        <p:spPr>
          <a:xfrm>
            <a:off x="4630777" y="2789208"/>
            <a:ext cx="8353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buf2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453FBC-5E80-AC16-CA29-7880924A6BFE}"/>
              </a:ext>
            </a:extLst>
          </p:cNvPr>
          <p:cNvCxnSpPr/>
          <p:nvPr/>
        </p:nvCxnSpPr>
        <p:spPr>
          <a:xfrm>
            <a:off x="782297" y="3182470"/>
            <a:ext cx="5602" cy="4034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F1AD770-676D-51E0-B5F0-21259427F47E}"/>
              </a:ext>
            </a:extLst>
          </p:cNvPr>
          <p:cNvCxnSpPr>
            <a:cxnSpLocks/>
          </p:cNvCxnSpPr>
          <p:nvPr/>
        </p:nvCxnSpPr>
        <p:spPr>
          <a:xfrm>
            <a:off x="4987674" y="3182470"/>
            <a:ext cx="5602" cy="4034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29190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3DF78844-5041-58DF-2A6B-7F2E4B830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2EFB27FC-340B-FED1-7630-897DBD5632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119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E51300A4-2F77-D9D8-5DCD-9CE9C7D969CE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C768CC24-87FA-42AB-9261-42A0816A849D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A08DEA8B-42AE-B094-461A-2179E46259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8993CE0B-A876-2EB7-D7C5-2C51ABE8C1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Vulnerability Detection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D235E-1FA9-024A-645F-E6A876456795}"/>
              </a:ext>
            </a:extLst>
          </p:cNvPr>
          <p:cNvSpPr txBox="1"/>
          <p:nvPr/>
        </p:nvSpPr>
        <p:spPr>
          <a:xfrm>
            <a:off x="142874" y="989919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ASAN/ASAN--: “Redzones” around buffers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A67999-E58B-34BC-84EF-A9780AC8ABBC}"/>
              </a:ext>
            </a:extLst>
          </p:cNvPr>
          <p:cNvSpPr txBox="1"/>
          <p:nvPr/>
        </p:nvSpPr>
        <p:spPr>
          <a:xfrm>
            <a:off x="2284943" y="1507613"/>
            <a:ext cx="4077778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monospace"/>
              </a:rPr>
              <a:t>char </a:t>
            </a:r>
            <a:r>
              <a:rPr lang="en-US" sz="2200" err="1">
                <a:latin typeface="monospace"/>
              </a:rPr>
              <a:t>buf</a:t>
            </a:r>
            <a:r>
              <a:rPr lang="en-US" sz="2200">
                <a:latin typeface="monospace"/>
              </a:rPr>
              <a:t>[5], buf2[5];</a:t>
            </a:r>
          </a:p>
          <a:p>
            <a:r>
              <a:rPr lang="en-US" sz="2200" err="1">
                <a:latin typeface="monospace"/>
              </a:rPr>
              <a:t>memset</a:t>
            </a:r>
            <a:r>
              <a:rPr lang="en-US" sz="2200">
                <a:latin typeface="monospace"/>
              </a:rPr>
              <a:t>(buf2, 'b', 5);</a:t>
            </a:r>
          </a:p>
          <a:p>
            <a:r>
              <a:rPr lang="en-US" sz="2200" err="1">
                <a:latin typeface="monospace"/>
              </a:rPr>
              <a:t>memset</a:t>
            </a:r>
            <a:r>
              <a:rPr lang="en-US" sz="2200">
                <a:latin typeface="monospace"/>
              </a:rPr>
              <a:t>(</a:t>
            </a:r>
            <a:r>
              <a:rPr lang="en-US" sz="2200" err="1">
                <a:latin typeface="monospace"/>
              </a:rPr>
              <a:t>buf</a:t>
            </a:r>
            <a:r>
              <a:rPr lang="en-US" sz="2200">
                <a:latin typeface="monospace"/>
              </a:rPr>
              <a:t>, 'a', 7);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78A62A-0ECA-B5CB-0B27-2B6F892C60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141197"/>
              </p:ext>
            </p:extLst>
          </p:nvPr>
        </p:nvGraphicFramePr>
        <p:xfrm>
          <a:off x="739283" y="3633791"/>
          <a:ext cx="750473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046">
                  <a:extLst>
                    <a:ext uri="{9D8B030D-6E8A-4147-A177-3AD203B41FA5}">
                      <a16:colId xmlns:a16="http://schemas.microsoft.com/office/drawing/2014/main" val="574391437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3491993960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3928787617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3884495127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99507895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1949916217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617547095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3263965757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2375531040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3007407805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1445993955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2031055846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441645221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2171437599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1078224912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1208588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b="1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b="1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b="1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3668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4377944-AE38-AAFB-1CDA-34E7FBB5B1C5}"/>
              </a:ext>
            </a:extLst>
          </p:cNvPr>
          <p:cNvSpPr txBox="1"/>
          <p:nvPr/>
        </p:nvSpPr>
        <p:spPr>
          <a:xfrm>
            <a:off x="1582484" y="2818366"/>
            <a:ext cx="7059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err="1">
                <a:latin typeface="Helvetica Neue"/>
              </a:rPr>
              <a:t>buf</a:t>
            </a:r>
            <a:endParaRPr lang="en-US" sz="2400">
              <a:latin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C67BC6-394D-36AB-4E1A-819425458032}"/>
              </a:ext>
            </a:extLst>
          </p:cNvPr>
          <p:cNvSpPr txBox="1"/>
          <p:nvPr/>
        </p:nvSpPr>
        <p:spPr>
          <a:xfrm>
            <a:off x="4818288" y="2818595"/>
            <a:ext cx="8353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buf2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CA934E-989B-66C7-44BE-AA531A7D2353}"/>
              </a:ext>
            </a:extLst>
          </p:cNvPr>
          <p:cNvCxnSpPr/>
          <p:nvPr/>
        </p:nvCxnSpPr>
        <p:spPr>
          <a:xfrm>
            <a:off x="1928598" y="3211628"/>
            <a:ext cx="5602" cy="4034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9FC5FF-3647-7977-17B8-241A04D1A1A3}"/>
              </a:ext>
            </a:extLst>
          </p:cNvPr>
          <p:cNvCxnSpPr>
            <a:cxnSpLocks/>
          </p:cNvCxnSpPr>
          <p:nvPr/>
        </p:nvCxnSpPr>
        <p:spPr>
          <a:xfrm>
            <a:off x="5203200" y="3211857"/>
            <a:ext cx="5602" cy="4034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AE86E58-D33B-6569-0FA3-84D3A6736388}"/>
              </a:ext>
            </a:extLst>
          </p:cNvPr>
          <p:cNvSpPr txBox="1"/>
          <p:nvPr/>
        </p:nvSpPr>
        <p:spPr>
          <a:xfrm rot="5400000">
            <a:off x="990718" y="3631553"/>
            <a:ext cx="49643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0">
                <a:latin typeface="Helvetica Neue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28F771-CBB8-1B9A-A762-0E92D423514F}"/>
              </a:ext>
            </a:extLst>
          </p:cNvPr>
          <p:cNvSpPr txBox="1"/>
          <p:nvPr/>
        </p:nvSpPr>
        <p:spPr>
          <a:xfrm rot="5400000">
            <a:off x="4262263" y="3631553"/>
            <a:ext cx="49643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0">
                <a:latin typeface="Helvetica Neue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4EC2C9-CB5D-6666-512D-522A23E5081C}"/>
              </a:ext>
            </a:extLst>
          </p:cNvPr>
          <p:cNvSpPr txBox="1"/>
          <p:nvPr/>
        </p:nvSpPr>
        <p:spPr>
          <a:xfrm rot="5400000">
            <a:off x="7554963" y="3631553"/>
            <a:ext cx="49643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0">
                <a:latin typeface="Helvetica Neue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4CDCE6-53E5-F5CF-856A-05B8661C9C1A}"/>
              </a:ext>
            </a:extLst>
          </p:cNvPr>
          <p:cNvSpPr txBox="1"/>
          <p:nvPr/>
        </p:nvSpPr>
        <p:spPr>
          <a:xfrm>
            <a:off x="3790889" y="4394650"/>
            <a:ext cx="167150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red zones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C6B2EF8-41AB-7046-4FF0-9DC97F20B6B8}"/>
              </a:ext>
            </a:extLst>
          </p:cNvPr>
          <p:cNvCxnSpPr/>
          <p:nvPr/>
        </p:nvCxnSpPr>
        <p:spPr>
          <a:xfrm flipH="1" flipV="1">
            <a:off x="1740668" y="4313462"/>
            <a:ext cx="2096873" cy="3250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D7DE2BA-1700-B36F-F87D-7A535A4EEB83}"/>
              </a:ext>
            </a:extLst>
          </p:cNvPr>
          <p:cNvCxnSpPr>
            <a:cxnSpLocks/>
          </p:cNvCxnSpPr>
          <p:nvPr/>
        </p:nvCxnSpPr>
        <p:spPr>
          <a:xfrm flipV="1">
            <a:off x="5285732" y="4321007"/>
            <a:ext cx="2052505" cy="311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81215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5CDBD7C4-C6B6-A640-6689-A290E518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90326F8F-4CAC-703D-0091-EB190AA341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120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3D98884-B6F1-69CA-763E-B020969E970B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4FC3B7B8-C754-0A9F-C0B1-2F50E254D756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7A2E67C0-FE90-F477-8DA4-3CB553F554C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11958BB7-273F-BBF3-73A8-C15D71B851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Vulnerability Detection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050B7E-7BB5-81CF-2FBD-2068D1DEAE74}"/>
              </a:ext>
            </a:extLst>
          </p:cNvPr>
          <p:cNvSpPr txBox="1"/>
          <p:nvPr/>
        </p:nvSpPr>
        <p:spPr>
          <a:xfrm>
            <a:off x="142874" y="989919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ASAN/ASAN--: “Redzones” around buffers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16C30D-610F-19E0-ED06-113BE10F5973}"/>
              </a:ext>
            </a:extLst>
          </p:cNvPr>
          <p:cNvSpPr txBox="1"/>
          <p:nvPr/>
        </p:nvSpPr>
        <p:spPr>
          <a:xfrm>
            <a:off x="2284943" y="1507613"/>
            <a:ext cx="4077778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monospace"/>
              </a:rPr>
              <a:t>char </a:t>
            </a:r>
            <a:r>
              <a:rPr lang="en-US" sz="2200" err="1">
                <a:latin typeface="monospace"/>
              </a:rPr>
              <a:t>buf</a:t>
            </a:r>
            <a:r>
              <a:rPr lang="en-US" sz="2200">
                <a:latin typeface="monospace"/>
              </a:rPr>
              <a:t>[5], buf2[5];</a:t>
            </a:r>
          </a:p>
          <a:p>
            <a:r>
              <a:rPr lang="en-US" sz="2200" err="1">
                <a:latin typeface="monospace"/>
              </a:rPr>
              <a:t>memset</a:t>
            </a:r>
            <a:r>
              <a:rPr lang="en-US" sz="2200">
                <a:latin typeface="monospace"/>
              </a:rPr>
              <a:t>(buf2, 'b', 5);</a:t>
            </a:r>
          </a:p>
          <a:p>
            <a:r>
              <a:rPr lang="en-US" sz="2200" err="1">
                <a:latin typeface="monospace"/>
              </a:rPr>
              <a:t>memset</a:t>
            </a:r>
            <a:r>
              <a:rPr lang="en-US" sz="2200">
                <a:latin typeface="monospace"/>
              </a:rPr>
              <a:t>(</a:t>
            </a:r>
            <a:r>
              <a:rPr lang="en-US" sz="2200" err="1">
                <a:latin typeface="monospace"/>
              </a:rPr>
              <a:t>buf</a:t>
            </a:r>
            <a:r>
              <a:rPr lang="en-US" sz="2200">
                <a:latin typeface="monospace"/>
              </a:rPr>
              <a:t>, 'a', 7);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B65E19-CF8D-1964-4C30-F06978E9B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622002"/>
              </p:ext>
            </p:extLst>
          </p:nvPr>
        </p:nvGraphicFramePr>
        <p:xfrm>
          <a:off x="739283" y="3633791"/>
          <a:ext cx="750473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046">
                  <a:extLst>
                    <a:ext uri="{9D8B030D-6E8A-4147-A177-3AD203B41FA5}">
                      <a16:colId xmlns:a16="http://schemas.microsoft.com/office/drawing/2014/main" val="574391437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3491993960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3928787617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3884495127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99507895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1949916217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617547095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3263965757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2375531040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3007407805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1445993955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2031055846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441645221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2171437599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1078224912"/>
                    </a:ext>
                  </a:extLst>
                </a:gridCol>
                <a:gridCol w="469046">
                  <a:extLst>
                    <a:ext uri="{9D8B030D-6E8A-4147-A177-3AD203B41FA5}">
                      <a16:colId xmlns:a16="http://schemas.microsoft.com/office/drawing/2014/main" val="1208588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Helvetica Neue"/>
                        </a:rPr>
                        <a:t>a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Helvetica Neue"/>
                        </a:rPr>
                        <a:t>a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Helvetica Neue"/>
                        </a:rPr>
                        <a:t>a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Helvetica Neue"/>
                        </a:rPr>
                        <a:t>a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b="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3668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62FCEED-9441-0FC3-04F0-7DE3BDCA45F3}"/>
              </a:ext>
            </a:extLst>
          </p:cNvPr>
          <p:cNvSpPr txBox="1"/>
          <p:nvPr/>
        </p:nvSpPr>
        <p:spPr>
          <a:xfrm>
            <a:off x="1582484" y="2818366"/>
            <a:ext cx="7059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err="1">
                <a:latin typeface="Helvetica Neue"/>
              </a:rPr>
              <a:t>buf</a:t>
            </a:r>
            <a:endParaRPr lang="en-US" sz="2400">
              <a:latin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8B9254-4564-9DA5-CF13-F9607F0456C7}"/>
              </a:ext>
            </a:extLst>
          </p:cNvPr>
          <p:cNvSpPr txBox="1"/>
          <p:nvPr/>
        </p:nvSpPr>
        <p:spPr>
          <a:xfrm>
            <a:off x="4818288" y="2818595"/>
            <a:ext cx="8353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buf2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AA650B4-5FB7-7828-7192-8A14F2F67338}"/>
              </a:ext>
            </a:extLst>
          </p:cNvPr>
          <p:cNvCxnSpPr/>
          <p:nvPr/>
        </p:nvCxnSpPr>
        <p:spPr>
          <a:xfrm>
            <a:off x="1928598" y="3211628"/>
            <a:ext cx="5602" cy="4034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6927756-34AB-5DC1-B77B-8D7BEB16192A}"/>
              </a:ext>
            </a:extLst>
          </p:cNvPr>
          <p:cNvCxnSpPr>
            <a:cxnSpLocks/>
          </p:cNvCxnSpPr>
          <p:nvPr/>
        </p:nvCxnSpPr>
        <p:spPr>
          <a:xfrm>
            <a:off x="5203200" y="3211857"/>
            <a:ext cx="5602" cy="4034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4C638A8-F9A9-5F84-9D9C-87E19E744B62}"/>
              </a:ext>
            </a:extLst>
          </p:cNvPr>
          <p:cNvSpPr txBox="1"/>
          <p:nvPr/>
        </p:nvSpPr>
        <p:spPr>
          <a:xfrm rot="5400000">
            <a:off x="990718" y="3631553"/>
            <a:ext cx="49643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0">
                <a:latin typeface="Helvetica Neue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22C152-A61E-B5F8-A42B-383CED5B7DD4}"/>
              </a:ext>
            </a:extLst>
          </p:cNvPr>
          <p:cNvSpPr txBox="1"/>
          <p:nvPr/>
        </p:nvSpPr>
        <p:spPr>
          <a:xfrm rot="5400000">
            <a:off x="4262263" y="3631553"/>
            <a:ext cx="49643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0">
                <a:latin typeface="Helvetica Neue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591EF9-66C6-625D-24FE-834CE1A8B08D}"/>
              </a:ext>
            </a:extLst>
          </p:cNvPr>
          <p:cNvSpPr txBox="1"/>
          <p:nvPr/>
        </p:nvSpPr>
        <p:spPr>
          <a:xfrm rot="5400000">
            <a:off x="7554963" y="3631553"/>
            <a:ext cx="49643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0">
                <a:latin typeface="Helvetica Neue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FB41CC-B9B4-7112-3CEB-7CFE4B905E7E}"/>
              </a:ext>
            </a:extLst>
          </p:cNvPr>
          <p:cNvSpPr txBox="1"/>
          <p:nvPr/>
        </p:nvSpPr>
        <p:spPr>
          <a:xfrm>
            <a:off x="3790889" y="4394650"/>
            <a:ext cx="167150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Helvetica Neue"/>
              </a:rPr>
              <a:t>red zones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48E682-7AF3-CAA2-C906-E2FA28A65192}"/>
              </a:ext>
            </a:extLst>
          </p:cNvPr>
          <p:cNvCxnSpPr/>
          <p:nvPr/>
        </p:nvCxnSpPr>
        <p:spPr>
          <a:xfrm flipH="1" flipV="1">
            <a:off x="1740668" y="4313462"/>
            <a:ext cx="2096873" cy="3250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3A9EE6A-0320-7F22-7475-031E550C0D46}"/>
              </a:ext>
            </a:extLst>
          </p:cNvPr>
          <p:cNvCxnSpPr>
            <a:cxnSpLocks/>
          </p:cNvCxnSpPr>
          <p:nvPr/>
        </p:nvCxnSpPr>
        <p:spPr>
          <a:xfrm flipV="1">
            <a:off x="5285732" y="4321007"/>
            <a:ext cx="2052505" cy="311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1164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403F2A3E-E432-3E56-326B-D895F18F5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EBD1D513-B2BF-6785-DF50-14B70FA5B0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121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2ABA1E8-0486-A454-CA49-0722600FD65C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E68827D6-22A5-064B-EA2D-0B20B28BA7E1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ACDB347E-2BCD-CEA6-69DC-BA43763DF88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1E5041F1-4423-8A7B-B1E1-9079A22912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Vulnerability Detection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889773-6017-5B7F-1E88-7A8BAD170B6E}"/>
              </a:ext>
            </a:extLst>
          </p:cNvPr>
          <p:cNvSpPr txBox="1"/>
          <p:nvPr/>
        </p:nvSpPr>
        <p:spPr>
          <a:xfrm>
            <a:off x="142874" y="989919"/>
            <a:ext cx="8837839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MSAN: Detect uninitialized memory using shadow memory.</a:t>
            </a:r>
          </a:p>
          <a:p>
            <a:pPr marL="457200" indent="-457200">
              <a:buChar char="•"/>
            </a:pP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A21148-6194-8257-5604-74F15D0A8BBD}"/>
              </a:ext>
            </a:extLst>
          </p:cNvPr>
          <p:cNvSpPr txBox="1"/>
          <p:nvPr/>
        </p:nvSpPr>
        <p:spPr>
          <a:xfrm>
            <a:off x="87474" y="2291831"/>
            <a:ext cx="423959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monospace"/>
              </a:rPr>
              <a:t>uint32_t n1, n2, n3;</a:t>
            </a:r>
          </a:p>
          <a:p>
            <a:r>
              <a:rPr lang="en-US" sz="2400" err="1">
                <a:latin typeface="monospace"/>
              </a:rPr>
              <a:t>scanf</a:t>
            </a:r>
            <a:r>
              <a:rPr lang="en-US" sz="2400">
                <a:latin typeface="monospace"/>
              </a:rPr>
              <a:t>("%d %d", &amp;n2, &amp;n3);</a:t>
            </a:r>
          </a:p>
          <a:p>
            <a:r>
              <a:rPr lang="en-US" sz="2400">
                <a:latin typeface="monospace"/>
              </a:rPr>
              <a:t>n3 = n1 + n2;</a:t>
            </a:r>
          </a:p>
          <a:p>
            <a:r>
              <a:rPr lang="en-US" sz="2400" err="1">
                <a:latin typeface="monospace"/>
              </a:rPr>
              <a:t>printf</a:t>
            </a:r>
            <a:r>
              <a:rPr lang="en-US" sz="2400">
                <a:latin typeface="monospace"/>
              </a:rPr>
              <a:t>("%d\n", n3);</a:t>
            </a:r>
          </a:p>
        </p:txBody>
      </p:sp>
    </p:spTree>
    <p:extLst>
      <p:ext uri="{BB962C8B-B14F-4D97-AF65-F5344CB8AC3E}">
        <p14:creationId xmlns:p14="http://schemas.microsoft.com/office/powerpoint/2010/main" val="207126123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58B07D1E-6A9E-094E-E581-497E97F8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22C6460C-FE92-3770-83CE-327AF426E8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122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C8063E69-302B-409E-5A1E-8255F52F5445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5FD313E2-156B-B416-92FE-692C58BA8F26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D946BEBA-9051-7D39-68B2-6D99EC8D3D1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C9DE3682-6AB2-CC3D-5E51-C7FB684D67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Vulnerability Detection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C3C640-0076-72C2-1C00-74FF9EB2E71F}"/>
              </a:ext>
            </a:extLst>
          </p:cNvPr>
          <p:cNvSpPr txBox="1"/>
          <p:nvPr/>
        </p:nvSpPr>
        <p:spPr>
          <a:xfrm>
            <a:off x="142874" y="989919"/>
            <a:ext cx="8837839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MSAN: Detect uninitialized memory using shadow memory.</a:t>
            </a:r>
          </a:p>
          <a:p>
            <a:pPr marL="457200" indent="-457200">
              <a:buChar char="•"/>
            </a:pP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481AD4-64D2-6C1F-57C3-B6BEB84B0038}"/>
              </a:ext>
            </a:extLst>
          </p:cNvPr>
          <p:cNvSpPr txBox="1"/>
          <p:nvPr/>
        </p:nvSpPr>
        <p:spPr>
          <a:xfrm>
            <a:off x="87474" y="2291831"/>
            <a:ext cx="423959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monospace"/>
              </a:rPr>
              <a:t>uint32_t n1, n2, n3;</a:t>
            </a:r>
          </a:p>
          <a:p>
            <a:r>
              <a:rPr lang="en-US" sz="2400" err="1">
                <a:latin typeface="monospace"/>
              </a:rPr>
              <a:t>scanf</a:t>
            </a:r>
            <a:r>
              <a:rPr lang="en-US" sz="2400">
                <a:latin typeface="monospace"/>
              </a:rPr>
              <a:t>("%d %d", &amp;n2, &amp;n3);</a:t>
            </a:r>
          </a:p>
          <a:p>
            <a:r>
              <a:rPr lang="en-US" sz="2400">
                <a:latin typeface="monospace"/>
              </a:rPr>
              <a:t>n3 = n1 + n2;</a:t>
            </a:r>
          </a:p>
          <a:p>
            <a:r>
              <a:rPr lang="en-US" sz="2400" err="1">
                <a:latin typeface="monospace"/>
              </a:rPr>
              <a:t>printf</a:t>
            </a:r>
            <a:r>
              <a:rPr lang="en-US" sz="2400">
                <a:latin typeface="monospace"/>
              </a:rPr>
              <a:t>("%d\n", n3);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86E0A8-49BC-EB0F-C703-ED8D7974C624}"/>
              </a:ext>
            </a:extLst>
          </p:cNvPr>
          <p:cNvGraphicFramePr>
            <a:graphicFrameLocks noGrp="1"/>
          </p:cNvGraphicFramePr>
          <p:nvPr/>
        </p:nvGraphicFramePr>
        <p:xfrm>
          <a:off x="3903452" y="2048773"/>
          <a:ext cx="5167275" cy="20542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424">
                  <a:extLst>
                    <a:ext uri="{9D8B030D-6E8A-4147-A177-3AD203B41FA5}">
                      <a16:colId xmlns:a16="http://schemas.microsoft.com/office/drawing/2014/main" val="3522865382"/>
                    </a:ext>
                  </a:extLst>
                </a:gridCol>
                <a:gridCol w="1452076">
                  <a:extLst>
                    <a:ext uri="{9D8B030D-6E8A-4147-A177-3AD203B41FA5}">
                      <a16:colId xmlns:a16="http://schemas.microsoft.com/office/drawing/2014/main" val="3537954495"/>
                    </a:ext>
                  </a:extLst>
                </a:gridCol>
                <a:gridCol w="1992775">
                  <a:extLst>
                    <a:ext uri="{9D8B030D-6E8A-4147-A177-3AD203B41FA5}">
                      <a16:colId xmlns:a16="http://schemas.microsoft.com/office/drawing/2014/main" val="3510332526"/>
                    </a:ext>
                  </a:extLst>
                </a:gridCol>
              </a:tblGrid>
              <a:tr h="513552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latin typeface="Helvetica Neue"/>
                        </a:rPr>
                        <a:t>Variable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latin typeface="Helvetica Neue"/>
                        </a:rPr>
                        <a:t>Value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latin typeface="Helvetica Neue"/>
                        </a:rPr>
                        <a:t>Shadow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757589"/>
                  </a:ext>
                </a:extLst>
              </a:tr>
              <a:tr h="51355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n1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?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0xFFFFFFFF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00556"/>
                  </a:ext>
                </a:extLst>
              </a:tr>
              <a:tr h="51355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n2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?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Helvetica Neue"/>
                        </a:rPr>
                        <a:t>0xFFFFFFFF</a:t>
                      </a:r>
                      <a:endParaRPr lang="en-US" sz="2400" b="0" i="0" u="none" strike="noStrike" noProof="0">
                        <a:solidFill>
                          <a:srgbClr val="000000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065668"/>
                  </a:ext>
                </a:extLst>
              </a:tr>
              <a:tr h="51355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n3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?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Helvetica Neue"/>
                        </a:rPr>
                        <a:t>0xFFFFFFFF</a:t>
                      </a:r>
                      <a:endParaRPr lang="en-US" sz="2400" b="0" i="0" u="none" strike="noStrike" noProof="0">
                        <a:solidFill>
                          <a:srgbClr val="000000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518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900012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9941E4BE-2404-93D4-30ED-F4C95E5EB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07D52D46-4A59-F812-EA6E-35E78D33AD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123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3F6D7A6-35C7-5C64-32E6-D913C5E2CAB5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CD28D8D2-7E8A-384E-AB89-D810A6ABB1FB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03E6161A-A3B8-A1FD-3F34-93F0C48E163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BB4B3821-7861-7A25-0BB2-8B55D36E69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Vulnerability Detection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16A3B7-A8C3-4EF7-7626-4FB7E870D611}"/>
              </a:ext>
            </a:extLst>
          </p:cNvPr>
          <p:cNvSpPr txBox="1"/>
          <p:nvPr/>
        </p:nvSpPr>
        <p:spPr>
          <a:xfrm>
            <a:off x="142874" y="989919"/>
            <a:ext cx="8837839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MSAN: Detect uninitialized memory using shadow memory.</a:t>
            </a:r>
          </a:p>
          <a:p>
            <a:pPr marL="457200" indent="-457200">
              <a:buChar char="•"/>
            </a:pP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50CA29-C7BF-1592-0D84-70C4E2486BD1}"/>
              </a:ext>
            </a:extLst>
          </p:cNvPr>
          <p:cNvSpPr txBox="1"/>
          <p:nvPr/>
        </p:nvSpPr>
        <p:spPr>
          <a:xfrm>
            <a:off x="87474" y="2291831"/>
            <a:ext cx="423959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monospace"/>
              </a:rPr>
              <a:t>uint32_t n1, n2, n3;</a:t>
            </a:r>
          </a:p>
          <a:p>
            <a:r>
              <a:rPr lang="en-US" sz="2400" b="1" err="1">
                <a:latin typeface="monospace"/>
              </a:rPr>
              <a:t>scanf</a:t>
            </a:r>
            <a:r>
              <a:rPr lang="en-US" sz="2400" b="1">
                <a:latin typeface="monospace"/>
              </a:rPr>
              <a:t>("%d %d", &amp;n2, &amp;n3);</a:t>
            </a:r>
          </a:p>
          <a:p>
            <a:r>
              <a:rPr lang="en-US" sz="2400">
                <a:latin typeface="monospace"/>
              </a:rPr>
              <a:t>n3 = n1 + n2;</a:t>
            </a:r>
          </a:p>
          <a:p>
            <a:r>
              <a:rPr lang="en-US" sz="2400" err="1">
                <a:latin typeface="monospace"/>
              </a:rPr>
              <a:t>printf</a:t>
            </a:r>
            <a:r>
              <a:rPr lang="en-US" sz="2400">
                <a:latin typeface="monospace"/>
              </a:rPr>
              <a:t>("%d\n", n3);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1B0DA9-4BC0-CA66-FCCF-13C74F8D1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729445"/>
              </p:ext>
            </p:extLst>
          </p:nvPr>
        </p:nvGraphicFramePr>
        <p:xfrm>
          <a:off x="3903452" y="2048773"/>
          <a:ext cx="5167275" cy="20542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424">
                  <a:extLst>
                    <a:ext uri="{9D8B030D-6E8A-4147-A177-3AD203B41FA5}">
                      <a16:colId xmlns:a16="http://schemas.microsoft.com/office/drawing/2014/main" val="3522865382"/>
                    </a:ext>
                  </a:extLst>
                </a:gridCol>
                <a:gridCol w="1452076">
                  <a:extLst>
                    <a:ext uri="{9D8B030D-6E8A-4147-A177-3AD203B41FA5}">
                      <a16:colId xmlns:a16="http://schemas.microsoft.com/office/drawing/2014/main" val="3537954495"/>
                    </a:ext>
                  </a:extLst>
                </a:gridCol>
                <a:gridCol w="1992775">
                  <a:extLst>
                    <a:ext uri="{9D8B030D-6E8A-4147-A177-3AD203B41FA5}">
                      <a16:colId xmlns:a16="http://schemas.microsoft.com/office/drawing/2014/main" val="3510332526"/>
                    </a:ext>
                  </a:extLst>
                </a:gridCol>
              </a:tblGrid>
              <a:tr h="513552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latin typeface="Helvetica Neue"/>
                        </a:rPr>
                        <a:t>Variable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latin typeface="Helvetica Neue"/>
                        </a:rPr>
                        <a:t>Value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latin typeface="Helvetica Neue"/>
                        </a:rPr>
                        <a:t>Shadow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757589"/>
                  </a:ext>
                </a:extLst>
              </a:tr>
              <a:tr h="51355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n1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?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0xFFFFFFFF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00556"/>
                  </a:ext>
                </a:extLst>
              </a:tr>
              <a:tr h="51355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n2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123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065668"/>
                  </a:ext>
                </a:extLst>
              </a:tr>
              <a:tr h="51355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n3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456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518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253965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338102F9-C20C-AE7B-2292-BD589A06E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C8794C99-7730-C3B9-C477-54D10BDC96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124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27F554BF-B450-80DF-51C4-172038BDB1E8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14D1EE17-1BA7-6BFF-0FAF-05CA4CCC89FF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07A52C5-A8A5-1D4B-C533-E3A711B80CB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41EBE6CD-A68E-B894-8562-CBD3EA271D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Vulnerability Detection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29646F-7869-BA0D-38A2-178C7936742C}"/>
              </a:ext>
            </a:extLst>
          </p:cNvPr>
          <p:cNvSpPr txBox="1"/>
          <p:nvPr/>
        </p:nvSpPr>
        <p:spPr>
          <a:xfrm>
            <a:off x="142874" y="989919"/>
            <a:ext cx="8837839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MSAN: Detect uninitialized memory using shadow memory.</a:t>
            </a:r>
          </a:p>
          <a:p>
            <a:pPr marL="457200" indent="-457200">
              <a:buChar char="•"/>
            </a:pP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F79812-C2B7-68CE-D6C4-EFF3EE3BDC70}"/>
              </a:ext>
            </a:extLst>
          </p:cNvPr>
          <p:cNvSpPr txBox="1"/>
          <p:nvPr/>
        </p:nvSpPr>
        <p:spPr>
          <a:xfrm>
            <a:off x="87474" y="2291831"/>
            <a:ext cx="423959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monospace"/>
              </a:rPr>
              <a:t>uint32_t n1, n2, n3;</a:t>
            </a:r>
          </a:p>
          <a:p>
            <a:r>
              <a:rPr lang="en-US" sz="2400" err="1">
                <a:latin typeface="monospace"/>
              </a:rPr>
              <a:t>scanf</a:t>
            </a:r>
            <a:r>
              <a:rPr lang="en-US" sz="2400">
                <a:latin typeface="monospace"/>
              </a:rPr>
              <a:t>("%d %d", &amp;n2, &amp;n3);</a:t>
            </a:r>
          </a:p>
          <a:p>
            <a:r>
              <a:rPr lang="en-US" sz="2400" b="1">
                <a:latin typeface="monospace"/>
              </a:rPr>
              <a:t>n3 = n1 + n2;</a:t>
            </a:r>
          </a:p>
          <a:p>
            <a:r>
              <a:rPr lang="en-US" sz="2400" err="1">
                <a:latin typeface="monospace"/>
              </a:rPr>
              <a:t>printf</a:t>
            </a:r>
            <a:r>
              <a:rPr lang="en-US" sz="2400">
                <a:latin typeface="monospace"/>
              </a:rPr>
              <a:t>("%d\n", n3);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1022BD-95BD-7572-F2DC-D871D8B57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098109"/>
              </p:ext>
            </p:extLst>
          </p:nvPr>
        </p:nvGraphicFramePr>
        <p:xfrm>
          <a:off x="3903452" y="2048773"/>
          <a:ext cx="5167275" cy="20542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424">
                  <a:extLst>
                    <a:ext uri="{9D8B030D-6E8A-4147-A177-3AD203B41FA5}">
                      <a16:colId xmlns:a16="http://schemas.microsoft.com/office/drawing/2014/main" val="3522865382"/>
                    </a:ext>
                  </a:extLst>
                </a:gridCol>
                <a:gridCol w="1452076">
                  <a:extLst>
                    <a:ext uri="{9D8B030D-6E8A-4147-A177-3AD203B41FA5}">
                      <a16:colId xmlns:a16="http://schemas.microsoft.com/office/drawing/2014/main" val="3537954495"/>
                    </a:ext>
                  </a:extLst>
                </a:gridCol>
                <a:gridCol w="1992775">
                  <a:extLst>
                    <a:ext uri="{9D8B030D-6E8A-4147-A177-3AD203B41FA5}">
                      <a16:colId xmlns:a16="http://schemas.microsoft.com/office/drawing/2014/main" val="3510332526"/>
                    </a:ext>
                  </a:extLst>
                </a:gridCol>
              </a:tblGrid>
              <a:tr h="513552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latin typeface="Helvetica Neue"/>
                        </a:rPr>
                        <a:t>Variable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latin typeface="Helvetica Neue"/>
                        </a:rPr>
                        <a:t>Value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latin typeface="Helvetica Neue"/>
                        </a:rPr>
                        <a:t>Shadow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757589"/>
                  </a:ext>
                </a:extLst>
              </a:tr>
              <a:tr h="51355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n1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?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0xFFFFFFFF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00556"/>
                  </a:ext>
                </a:extLst>
              </a:tr>
              <a:tr h="51355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n2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123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065668"/>
                  </a:ext>
                </a:extLst>
              </a:tr>
              <a:tr h="51355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n3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456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51856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E922EB5-F054-734B-7E93-F1D4A75F0AF2}"/>
              </a:ext>
            </a:extLst>
          </p:cNvPr>
          <p:cNvSpPr txBox="1"/>
          <p:nvPr/>
        </p:nvSpPr>
        <p:spPr>
          <a:xfrm>
            <a:off x="539997" y="4217217"/>
            <a:ext cx="803979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Helvetica Neue"/>
              </a:rPr>
              <a:t>WARNING: </a:t>
            </a:r>
            <a:r>
              <a:rPr lang="en-US" sz="2400" b="1" err="1">
                <a:solidFill>
                  <a:schemeClr val="tx1"/>
                </a:solidFill>
                <a:latin typeface="Helvetica Neue"/>
              </a:rPr>
              <a:t>MemorySanitizer</a:t>
            </a:r>
            <a:r>
              <a:rPr lang="en-US" sz="2400" b="1">
                <a:solidFill>
                  <a:schemeClr val="tx1"/>
                </a:solidFill>
                <a:latin typeface="Helvetica Neue"/>
              </a:rPr>
              <a:t>: use-of-uninitialized-value</a:t>
            </a:r>
          </a:p>
        </p:txBody>
      </p:sp>
    </p:spTree>
    <p:extLst>
      <p:ext uri="{BB962C8B-B14F-4D97-AF65-F5344CB8AC3E}">
        <p14:creationId xmlns:p14="http://schemas.microsoft.com/office/powerpoint/2010/main" val="7035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3DBB9153-5D8C-0359-B7D2-1B21A3AD1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06938A95-1027-5809-A578-125EFD818E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125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DE296602-9F4E-8CB4-77D8-A84015677597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FEBA8AF0-CAD0-169B-A072-94AAAD419A5F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7B0A6051-FC9E-91BD-B1BD-4512E2E4E81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4E915392-1FA5-63E4-539C-9A0A33411E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Vulnerability Detection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95576-79B9-27EF-CEE0-F6A9C0ADE7C8}"/>
              </a:ext>
            </a:extLst>
          </p:cNvPr>
          <p:cNvSpPr txBox="1"/>
          <p:nvPr/>
        </p:nvSpPr>
        <p:spPr>
          <a:xfrm>
            <a:off x="142874" y="869603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Helvetica Neue"/>
              </a:rPr>
              <a:t>TSAN: Detect data races in multi-threaded programs.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1F03E4-1F0A-EC7E-C560-5E6AE9F4C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249760"/>
              </p:ext>
            </p:extLst>
          </p:nvPr>
        </p:nvGraphicFramePr>
        <p:xfrm>
          <a:off x="306805" y="1419726"/>
          <a:ext cx="844749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073">
                  <a:extLst>
                    <a:ext uri="{9D8B030D-6E8A-4147-A177-3AD203B41FA5}">
                      <a16:colId xmlns:a16="http://schemas.microsoft.com/office/drawing/2014/main" val="1325680859"/>
                    </a:ext>
                  </a:extLst>
                </a:gridCol>
                <a:gridCol w="1826926">
                  <a:extLst>
                    <a:ext uri="{9D8B030D-6E8A-4147-A177-3AD203B41FA5}">
                      <a16:colId xmlns:a16="http://schemas.microsoft.com/office/drawing/2014/main" val="3423097553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480138012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3811460227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22203192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Thread ID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Clock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err="1">
                          <a:solidFill>
                            <a:schemeClr val="tx1"/>
                          </a:solidFill>
                          <a:latin typeface="Helvetica Neue"/>
                        </a:rPr>
                        <a:t>IsWrite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Offset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Size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63473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88B03A-6447-6BE8-7A00-D76D3FDF0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816987"/>
              </p:ext>
            </p:extLst>
          </p:nvPr>
        </p:nvGraphicFramePr>
        <p:xfrm>
          <a:off x="300788" y="2117557"/>
          <a:ext cx="844749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073">
                  <a:extLst>
                    <a:ext uri="{9D8B030D-6E8A-4147-A177-3AD203B41FA5}">
                      <a16:colId xmlns:a16="http://schemas.microsoft.com/office/drawing/2014/main" val="1325680859"/>
                    </a:ext>
                  </a:extLst>
                </a:gridCol>
                <a:gridCol w="1826926">
                  <a:extLst>
                    <a:ext uri="{9D8B030D-6E8A-4147-A177-3AD203B41FA5}">
                      <a16:colId xmlns:a16="http://schemas.microsoft.com/office/drawing/2014/main" val="3423097553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480138012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3811460227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22203192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100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True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63473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E5CE7A-F620-D361-CD90-E26D00659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841479"/>
              </p:ext>
            </p:extLst>
          </p:nvPr>
        </p:nvGraphicFramePr>
        <p:xfrm>
          <a:off x="300787" y="2833435"/>
          <a:ext cx="844749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073">
                  <a:extLst>
                    <a:ext uri="{9D8B030D-6E8A-4147-A177-3AD203B41FA5}">
                      <a16:colId xmlns:a16="http://schemas.microsoft.com/office/drawing/2014/main" val="1325680859"/>
                    </a:ext>
                  </a:extLst>
                </a:gridCol>
                <a:gridCol w="1826926">
                  <a:extLst>
                    <a:ext uri="{9D8B030D-6E8A-4147-A177-3AD203B41FA5}">
                      <a16:colId xmlns:a16="http://schemas.microsoft.com/office/drawing/2014/main" val="3423097553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480138012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3811460227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22203192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110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False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63473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FFAA1E-D05D-625A-53D7-BC86C8645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036584"/>
              </p:ext>
            </p:extLst>
          </p:nvPr>
        </p:nvGraphicFramePr>
        <p:xfrm>
          <a:off x="300786" y="3555329"/>
          <a:ext cx="844749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073">
                  <a:extLst>
                    <a:ext uri="{9D8B030D-6E8A-4147-A177-3AD203B41FA5}">
                      <a16:colId xmlns:a16="http://schemas.microsoft.com/office/drawing/2014/main" val="1325680859"/>
                    </a:ext>
                  </a:extLst>
                </a:gridCol>
                <a:gridCol w="1826926">
                  <a:extLst>
                    <a:ext uri="{9D8B030D-6E8A-4147-A177-3AD203B41FA5}">
                      <a16:colId xmlns:a16="http://schemas.microsoft.com/office/drawing/2014/main" val="3423097553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480138012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3811460227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22203192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120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False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63473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DDB32A7-BD39-EDF3-7EB2-E01F90D778F8}"/>
              </a:ext>
            </a:extLst>
          </p:cNvPr>
          <p:cNvSpPr txBox="1"/>
          <p:nvPr/>
        </p:nvSpPr>
        <p:spPr>
          <a:xfrm>
            <a:off x="619626" y="4090736"/>
            <a:ext cx="806717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Helvetica Neue"/>
              </a:rPr>
              <a:t>No data race.</a:t>
            </a:r>
          </a:p>
        </p:txBody>
      </p:sp>
    </p:spTree>
    <p:extLst>
      <p:ext uri="{BB962C8B-B14F-4D97-AF65-F5344CB8AC3E}">
        <p14:creationId xmlns:p14="http://schemas.microsoft.com/office/powerpoint/2010/main" val="130666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E307683A-FA99-B300-CD5D-34D5F9603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AE9F6F20-8EDB-4172-3C08-19D9FFE857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126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9412E42C-78ED-6F6B-A831-2DF5017FA3F3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F870E50F-2F28-7829-9442-5A69D863C423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A1F0FA3D-8828-BC95-AD64-E21786BD666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A3BF0AEF-8006-6D6F-ABF6-FAA12D29FA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Vulnerability Detection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D33EEE-86B1-C7DB-830B-C17C66B624A4}"/>
              </a:ext>
            </a:extLst>
          </p:cNvPr>
          <p:cNvSpPr txBox="1"/>
          <p:nvPr/>
        </p:nvSpPr>
        <p:spPr>
          <a:xfrm>
            <a:off x="142874" y="869603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Helvetica Neue"/>
              </a:rPr>
              <a:t>TSAN: Detect data races in multi-threaded programs.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55FB11-9A40-F544-C2DA-5EF175AA9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245212"/>
              </p:ext>
            </p:extLst>
          </p:nvPr>
        </p:nvGraphicFramePr>
        <p:xfrm>
          <a:off x="306805" y="1419726"/>
          <a:ext cx="844749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073">
                  <a:extLst>
                    <a:ext uri="{9D8B030D-6E8A-4147-A177-3AD203B41FA5}">
                      <a16:colId xmlns:a16="http://schemas.microsoft.com/office/drawing/2014/main" val="1325680859"/>
                    </a:ext>
                  </a:extLst>
                </a:gridCol>
                <a:gridCol w="1826926">
                  <a:extLst>
                    <a:ext uri="{9D8B030D-6E8A-4147-A177-3AD203B41FA5}">
                      <a16:colId xmlns:a16="http://schemas.microsoft.com/office/drawing/2014/main" val="3423097553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480138012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3811460227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22203192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Thread ID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Clock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err="1">
                          <a:solidFill>
                            <a:schemeClr val="tx1"/>
                          </a:solidFill>
                          <a:latin typeface="Helvetica Neue"/>
                        </a:rPr>
                        <a:t>IsWrite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Offset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Size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63473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E5DEBE-EAE8-5FE7-7FE2-2BF8D592D964}"/>
              </a:ext>
            </a:extLst>
          </p:cNvPr>
          <p:cNvGraphicFramePr>
            <a:graphicFrameLocks noGrp="1"/>
          </p:cNvGraphicFramePr>
          <p:nvPr/>
        </p:nvGraphicFramePr>
        <p:xfrm>
          <a:off x="300788" y="2117557"/>
          <a:ext cx="844749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073">
                  <a:extLst>
                    <a:ext uri="{9D8B030D-6E8A-4147-A177-3AD203B41FA5}">
                      <a16:colId xmlns:a16="http://schemas.microsoft.com/office/drawing/2014/main" val="1325680859"/>
                    </a:ext>
                  </a:extLst>
                </a:gridCol>
                <a:gridCol w="1826926">
                  <a:extLst>
                    <a:ext uri="{9D8B030D-6E8A-4147-A177-3AD203B41FA5}">
                      <a16:colId xmlns:a16="http://schemas.microsoft.com/office/drawing/2014/main" val="3423097553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480138012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3811460227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22203192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100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True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63473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A20443-2CC4-5C8D-8F89-D32259E2C0BC}"/>
              </a:ext>
            </a:extLst>
          </p:cNvPr>
          <p:cNvGraphicFramePr>
            <a:graphicFrameLocks noGrp="1"/>
          </p:cNvGraphicFramePr>
          <p:nvPr/>
        </p:nvGraphicFramePr>
        <p:xfrm>
          <a:off x="300787" y="2833435"/>
          <a:ext cx="844749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073">
                  <a:extLst>
                    <a:ext uri="{9D8B030D-6E8A-4147-A177-3AD203B41FA5}">
                      <a16:colId xmlns:a16="http://schemas.microsoft.com/office/drawing/2014/main" val="1325680859"/>
                    </a:ext>
                  </a:extLst>
                </a:gridCol>
                <a:gridCol w="1826926">
                  <a:extLst>
                    <a:ext uri="{9D8B030D-6E8A-4147-A177-3AD203B41FA5}">
                      <a16:colId xmlns:a16="http://schemas.microsoft.com/office/drawing/2014/main" val="3423097553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480138012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3811460227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22203192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110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False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63473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69E6A9-E49F-92BF-F126-F67A324BA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060386"/>
              </p:ext>
            </p:extLst>
          </p:nvPr>
        </p:nvGraphicFramePr>
        <p:xfrm>
          <a:off x="300786" y="3555329"/>
          <a:ext cx="844749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073">
                  <a:extLst>
                    <a:ext uri="{9D8B030D-6E8A-4147-A177-3AD203B41FA5}">
                      <a16:colId xmlns:a16="http://schemas.microsoft.com/office/drawing/2014/main" val="1325680859"/>
                    </a:ext>
                  </a:extLst>
                </a:gridCol>
                <a:gridCol w="1826926">
                  <a:extLst>
                    <a:ext uri="{9D8B030D-6E8A-4147-A177-3AD203B41FA5}">
                      <a16:colId xmlns:a16="http://schemas.microsoft.com/office/drawing/2014/main" val="3423097553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480138012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3811460227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22203192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80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False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634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722026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E4EC4397-466B-1D57-A778-214ABEEE1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402B5547-6046-6588-EB90-54B7FF6DCE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127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5950C21-B8B0-14B1-187D-09B3306EAD40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612FA548-B18C-4F19-3563-A3DB9975C094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C255497E-3577-6BBB-812C-B051EC864A7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376DF5A1-22CA-E041-2BFD-9E8920EB00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Vulnerability Detection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09795A-4615-401D-4408-EA4BC1EF413E}"/>
              </a:ext>
            </a:extLst>
          </p:cNvPr>
          <p:cNvSpPr txBox="1"/>
          <p:nvPr/>
        </p:nvSpPr>
        <p:spPr>
          <a:xfrm>
            <a:off x="142874" y="869603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Helvetica Neue"/>
              </a:rPr>
              <a:t>TSAN: Detect data races in multi-threaded programs.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9731DA-318A-D30D-563E-2C1D06AF27A7}"/>
              </a:ext>
            </a:extLst>
          </p:cNvPr>
          <p:cNvGraphicFramePr>
            <a:graphicFrameLocks noGrp="1"/>
          </p:cNvGraphicFramePr>
          <p:nvPr/>
        </p:nvGraphicFramePr>
        <p:xfrm>
          <a:off x="306805" y="1419726"/>
          <a:ext cx="844749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073">
                  <a:extLst>
                    <a:ext uri="{9D8B030D-6E8A-4147-A177-3AD203B41FA5}">
                      <a16:colId xmlns:a16="http://schemas.microsoft.com/office/drawing/2014/main" val="1325680859"/>
                    </a:ext>
                  </a:extLst>
                </a:gridCol>
                <a:gridCol w="1826926">
                  <a:extLst>
                    <a:ext uri="{9D8B030D-6E8A-4147-A177-3AD203B41FA5}">
                      <a16:colId xmlns:a16="http://schemas.microsoft.com/office/drawing/2014/main" val="3423097553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480138012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3811460227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22203192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Thread ID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Clock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err="1">
                          <a:solidFill>
                            <a:schemeClr val="tx1"/>
                          </a:solidFill>
                          <a:latin typeface="Helvetica Neue"/>
                        </a:rPr>
                        <a:t>IsWrite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Offset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Size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63473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6C6539-D7E1-899E-181C-D6F0D9561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559418"/>
              </p:ext>
            </p:extLst>
          </p:nvPr>
        </p:nvGraphicFramePr>
        <p:xfrm>
          <a:off x="300788" y="2117557"/>
          <a:ext cx="844749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073">
                  <a:extLst>
                    <a:ext uri="{9D8B030D-6E8A-4147-A177-3AD203B41FA5}">
                      <a16:colId xmlns:a16="http://schemas.microsoft.com/office/drawing/2014/main" val="1325680859"/>
                    </a:ext>
                  </a:extLst>
                </a:gridCol>
                <a:gridCol w="1826926">
                  <a:extLst>
                    <a:ext uri="{9D8B030D-6E8A-4147-A177-3AD203B41FA5}">
                      <a16:colId xmlns:a16="http://schemas.microsoft.com/office/drawing/2014/main" val="3423097553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480138012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3811460227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22203192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FF0000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Helvetica Neue"/>
                        </a:rPr>
                        <a:t>100</a:t>
                      </a:r>
                      <a:endParaRPr lang="en-US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Helvetica Neue"/>
                        </a:rPr>
                        <a:t>True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63473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2A34E8-4716-9E58-16AD-1C06114768D7}"/>
              </a:ext>
            </a:extLst>
          </p:cNvPr>
          <p:cNvGraphicFramePr>
            <a:graphicFrameLocks noGrp="1"/>
          </p:cNvGraphicFramePr>
          <p:nvPr/>
        </p:nvGraphicFramePr>
        <p:xfrm>
          <a:off x="300787" y="2833435"/>
          <a:ext cx="844749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073">
                  <a:extLst>
                    <a:ext uri="{9D8B030D-6E8A-4147-A177-3AD203B41FA5}">
                      <a16:colId xmlns:a16="http://schemas.microsoft.com/office/drawing/2014/main" val="1325680859"/>
                    </a:ext>
                  </a:extLst>
                </a:gridCol>
                <a:gridCol w="1826926">
                  <a:extLst>
                    <a:ext uri="{9D8B030D-6E8A-4147-A177-3AD203B41FA5}">
                      <a16:colId xmlns:a16="http://schemas.microsoft.com/office/drawing/2014/main" val="3423097553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480138012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3811460227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22203192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110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False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63473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6E047D-167F-CC90-68A5-746988702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25845"/>
              </p:ext>
            </p:extLst>
          </p:nvPr>
        </p:nvGraphicFramePr>
        <p:xfrm>
          <a:off x="300786" y="3555329"/>
          <a:ext cx="844749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073">
                  <a:extLst>
                    <a:ext uri="{9D8B030D-6E8A-4147-A177-3AD203B41FA5}">
                      <a16:colId xmlns:a16="http://schemas.microsoft.com/office/drawing/2014/main" val="1325680859"/>
                    </a:ext>
                  </a:extLst>
                </a:gridCol>
                <a:gridCol w="1826926">
                  <a:extLst>
                    <a:ext uri="{9D8B030D-6E8A-4147-A177-3AD203B41FA5}">
                      <a16:colId xmlns:a16="http://schemas.microsoft.com/office/drawing/2014/main" val="3423097553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480138012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3811460227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22203192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FF0000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Helvetica Neue"/>
                        </a:rPr>
                        <a:t>80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Helvetica Neue"/>
                        </a:rPr>
                        <a:t>False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63473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5DCEFE5-C6E0-BB63-9E4E-90C337E788A4}"/>
              </a:ext>
            </a:extLst>
          </p:cNvPr>
          <p:cNvSpPr txBox="1"/>
          <p:nvPr/>
        </p:nvSpPr>
        <p:spPr>
          <a:xfrm>
            <a:off x="619626" y="4090736"/>
            <a:ext cx="806717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Helvetica Neue"/>
              </a:rPr>
              <a:t>Data race between threads 1 and 3.</a:t>
            </a:r>
          </a:p>
        </p:txBody>
      </p:sp>
    </p:spTree>
    <p:extLst>
      <p:ext uri="{BB962C8B-B14F-4D97-AF65-F5344CB8AC3E}">
        <p14:creationId xmlns:p14="http://schemas.microsoft.com/office/powerpoint/2010/main" val="141535245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BCCABE8E-E3A8-4AA9-FF4F-A86443229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DF9F288E-2976-CD9D-B253-F32D28B357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128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CA31E40-4230-570C-86E2-FA6DADCEFB18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312DAD8F-8EC1-DCF9-A306-D4BA80664E0E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9A376796-8FC2-57F8-0FD3-F3B81891949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6F50509A-7A31-73D8-8490-66549BCCF5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Usability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1EEB0F-41A9-3144-13C8-FD6449F32BB9}"/>
              </a:ext>
            </a:extLst>
          </p:cNvPr>
          <p:cNvSpPr txBox="1"/>
          <p:nvPr/>
        </p:nvSpPr>
        <p:spPr>
          <a:xfrm>
            <a:off x="142874" y="890528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Human aspects of fuzzing somewhat ignored.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8DCFE8-7AED-9721-A448-C97A528F7687}"/>
              </a:ext>
            </a:extLst>
          </p:cNvPr>
          <p:cNvSpPr txBox="1"/>
          <p:nvPr/>
        </p:nvSpPr>
        <p:spPr>
          <a:xfrm>
            <a:off x="151375" y="4813892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“The Human Side of Fuzzing: Challenges Faced by Developers during Fuzzing Activities” ACM TOSEM 2023.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50319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A15E454D-27EE-7921-8A8E-3061003D8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A3877E62-A58F-F4A0-7191-C8B8734058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129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5940E5D-9B50-DB2D-B078-35F765445913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E4D31FCA-FC19-3786-1797-89D1D0B0054E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1529F26A-46B8-04E7-C04C-8BA6105DDEE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A90B6138-389D-0770-7F03-EF41B409D3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Usability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FE3B22-A094-665D-C3BE-5D596A50F31E}"/>
              </a:ext>
            </a:extLst>
          </p:cNvPr>
          <p:cNvSpPr txBox="1"/>
          <p:nvPr/>
        </p:nvSpPr>
        <p:spPr>
          <a:xfrm>
            <a:off x="142874" y="890528"/>
            <a:ext cx="8837839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Human aspects of fuzzing somewhat ignored.</a:t>
            </a:r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Selecting optimal fuzz target, configuring </a:t>
            </a:r>
            <a:r>
              <a:rPr lang="en-US" sz="2800" dirty="0" err="1">
                <a:latin typeface="Helvetica Neue"/>
              </a:rPr>
              <a:t>fuzzer</a:t>
            </a:r>
            <a:r>
              <a:rPr lang="en-US" sz="2800" dirty="0">
                <a:latin typeface="Helvetica Neue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BE6B1A-FDA1-F4AB-21AC-0C08DCB0983F}"/>
              </a:ext>
            </a:extLst>
          </p:cNvPr>
          <p:cNvSpPr txBox="1"/>
          <p:nvPr/>
        </p:nvSpPr>
        <p:spPr>
          <a:xfrm>
            <a:off x="151375" y="4813892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“The Human Side of Fuzzing: Challenges Faced by Developers during Fuzzing Activities” ACM TOSEM 2023.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77717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A41CF418-92C9-7D6C-FA78-AD3EE8EE5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9883380B-E8CB-3B47-D69B-3C5B5083A8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130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9DBEEDAA-6ADC-B014-2A3A-2F79530978D8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9A629504-F290-8869-0221-5BD094FFDFF3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AE19D7B6-EBDD-AF59-B6D9-CFD010ADCF0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783A7B25-0DE7-ABE1-8925-1EFCC39F74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Usability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DA91E-DAFD-3EA2-EEAD-BCC2F240EC0A}"/>
              </a:ext>
            </a:extLst>
          </p:cNvPr>
          <p:cNvSpPr txBox="1"/>
          <p:nvPr/>
        </p:nvSpPr>
        <p:spPr>
          <a:xfrm>
            <a:off x="142874" y="890528"/>
            <a:ext cx="8837839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Human aspects of fuzzing somewhat ignored.</a:t>
            </a:r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Selecting optimal fuzz target, configuring </a:t>
            </a:r>
            <a:r>
              <a:rPr lang="en-US" sz="2800" dirty="0" err="1">
                <a:latin typeface="Helvetica Neue"/>
              </a:rPr>
              <a:t>fuzzer</a:t>
            </a:r>
            <a:r>
              <a:rPr lang="en-US" sz="2800" dirty="0">
                <a:latin typeface="Helvetica Neue"/>
              </a:rPr>
              <a:t>.</a:t>
            </a:r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Limited introspection, efficient scaling.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32949-42EB-637C-662A-2586970C47BC}"/>
              </a:ext>
            </a:extLst>
          </p:cNvPr>
          <p:cNvSpPr txBox="1"/>
          <p:nvPr/>
        </p:nvSpPr>
        <p:spPr>
          <a:xfrm>
            <a:off x="151375" y="4813892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“The Human Side of Fuzzing: Challenges Faced by Developers during Fuzzing Activities” ACM TOSEM 2023.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07728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A2B9983E-037B-32B4-E039-9E3316867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A4F9FA32-3BBB-B286-5499-F5B933724D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131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05CABF66-989A-85EA-EBA3-49F09AFE986F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DF5EA7A5-826A-6D92-055C-C6BE6D1782BC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407C88D4-4C78-9F81-13EA-DEF25110EF2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EDEA7D26-4544-D17D-6872-BB4C196684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Usability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7253EE-B1B5-8613-7289-C5F4674B05AD}"/>
              </a:ext>
            </a:extLst>
          </p:cNvPr>
          <p:cNvSpPr txBox="1"/>
          <p:nvPr/>
        </p:nvSpPr>
        <p:spPr>
          <a:xfrm>
            <a:off x="142874" y="890528"/>
            <a:ext cx="8837839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Human aspects of fuzzing somewhat ignored.</a:t>
            </a:r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Selecting optimal fuzz target, configuring </a:t>
            </a:r>
            <a:r>
              <a:rPr lang="en-US" sz="2800" dirty="0" err="1">
                <a:latin typeface="Helvetica Neue"/>
              </a:rPr>
              <a:t>fuzzer</a:t>
            </a:r>
            <a:r>
              <a:rPr lang="en-US" sz="2800" dirty="0">
                <a:latin typeface="Helvetica Neue"/>
              </a:rPr>
              <a:t>.</a:t>
            </a:r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Limited introspection, efficient scaling.</a:t>
            </a:r>
            <a:endParaRPr lang="en-US" dirty="0"/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Potential next steps: Better usability and education.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996D4B-EE46-A11F-BC1D-D6132261306C}"/>
              </a:ext>
            </a:extLst>
          </p:cNvPr>
          <p:cNvSpPr txBox="1"/>
          <p:nvPr/>
        </p:nvSpPr>
        <p:spPr>
          <a:xfrm>
            <a:off x="151375" y="4813892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“The Human Side of Fuzzing: Challenges Faced by Developers during Fuzzing Activities” ACM TOSEM 2023.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67382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EFF264BD-D09F-1FE4-B227-A77DFFF76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C2DF75DA-E892-BF0B-180D-5C31F35854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132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4F295507-9333-27C0-41EA-1CD6C5BFA6AE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69A16995-8A56-52D1-EC89-625AB6305D3E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8D55CE87-076F-7798-7E79-8EC54578EC8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13C2DA8D-6801-4A3B-1356-A96B3646AD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Performance and Evaluation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8B4211-C827-D882-6496-0D5DE8AA88B3}"/>
              </a:ext>
            </a:extLst>
          </p:cNvPr>
          <p:cNvSpPr txBox="1"/>
          <p:nvPr/>
        </p:nvSpPr>
        <p:spPr>
          <a:xfrm>
            <a:off x="142874" y="890528"/>
            <a:ext cx="8837839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Deeper integration with other techniques.</a:t>
            </a:r>
          </a:p>
          <a:p>
            <a:pPr marL="457200" indent="-457200"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Font typeface="Arial,Sans-Serif"/>
              <a:buChar char="•"/>
            </a:pPr>
            <a:r>
              <a:rPr lang="en-US" sz="2800" dirty="0">
                <a:latin typeface="Helvetica Neue"/>
              </a:rPr>
              <a:t>Component level evaluation in addition to system level evaluation.</a:t>
            </a:r>
          </a:p>
          <a:p>
            <a:pPr marL="457200" indent="-457200">
              <a:buFont typeface="Arial,Sans-Serif"/>
              <a:buChar char="•"/>
            </a:pPr>
            <a:endParaRPr lang="en-US" sz="2800" dirty="0">
              <a:latin typeface="Helvetica Neue"/>
            </a:endParaRPr>
          </a:p>
          <a:p>
            <a:pPr marL="457200" indent="-457200">
              <a:buFont typeface="Arial,Sans-Serif"/>
              <a:buChar char="•"/>
            </a:pPr>
            <a:r>
              <a:rPr lang="en-US" sz="2800" dirty="0">
                <a:latin typeface="Helvetica Neue"/>
              </a:rPr>
              <a:t>Reproduce entire fuzzing campaign (record-and-replay?).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8198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0133C61D-40B3-DAC6-FEE4-B03C87025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7B447E87-2BDD-8C00-6DF0-884C10E6FF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133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ED7D0CB-F4A6-ACE7-3FB4-F8A69F7A5C92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2AAC9AAE-7684-231E-9454-EF2458C6BFBF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EA4E0ED6-00A1-8D99-217C-AFCEA747225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22C97226-4062-D994-B1CC-5881A9D3A2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Identifying interesting inputs (cont.)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D9134E-3AE5-634C-D81C-6AA7AFF384A7}"/>
              </a:ext>
            </a:extLst>
          </p:cNvPr>
          <p:cNvSpPr txBox="1"/>
          <p:nvPr/>
        </p:nvSpPr>
        <p:spPr>
          <a:xfrm>
            <a:off x="142874" y="889066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 err="1">
                <a:latin typeface="Helvetica Neue"/>
              </a:rPr>
              <a:t>CollAFL</a:t>
            </a:r>
            <a:r>
              <a:rPr lang="en-US" sz="2800" dirty="0">
                <a:latin typeface="Helvetica Neue"/>
              </a:rPr>
              <a:t>: Collision free edge ID assignment.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FC275AD-BEB7-F568-3599-4581248EF35F}"/>
              </a:ext>
            </a:extLst>
          </p:cNvPr>
          <p:cNvSpPr/>
          <p:nvPr/>
        </p:nvSpPr>
        <p:spPr>
          <a:xfrm>
            <a:off x="4089724" y="2456912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1DD7C46-CDAA-40EA-2B25-7F5528E1DF25}"/>
              </a:ext>
            </a:extLst>
          </p:cNvPr>
          <p:cNvSpPr/>
          <p:nvPr/>
        </p:nvSpPr>
        <p:spPr>
          <a:xfrm>
            <a:off x="4578507" y="3426957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FD75B1-8FFF-7492-1585-370DA339E6AB}"/>
              </a:ext>
            </a:extLst>
          </p:cNvPr>
          <p:cNvSpPr/>
          <p:nvPr/>
        </p:nvSpPr>
        <p:spPr>
          <a:xfrm>
            <a:off x="3585901" y="3426957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A2F454-94E8-8D48-1037-312A0A479DF4}"/>
              </a:ext>
            </a:extLst>
          </p:cNvPr>
          <p:cNvCxnSpPr/>
          <p:nvPr/>
        </p:nvCxnSpPr>
        <p:spPr>
          <a:xfrm flipH="1">
            <a:off x="3859685" y="2948485"/>
            <a:ext cx="491543" cy="4758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1D3656-4B56-2078-BE6D-BAE4CA3E2D19}"/>
              </a:ext>
            </a:extLst>
          </p:cNvPr>
          <p:cNvCxnSpPr>
            <a:cxnSpLocks/>
          </p:cNvCxnSpPr>
          <p:nvPr/>
        </p:nvCxnSpPr>
        <p:spPr>
          <a:xfrm>
            <a:off x="4346301" y="2953413"/>
            <a:ext cx="454388" cy="470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91BE9D-F39C-08CB-2824-4C1DE4E71E3A}"/>
              </a:ext>
            </a:extLst>
          </p:cNvPr>
          <p:cNvCxnSpPr/>
          <p:nvPr/>
        </p:nvCxnSpPr>
        <p:spPr>
          <a:xfrm>
            <a:off x="4332136" y="1885254"/>
            <a:ext cx="3733" cy="5668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ECC1EA1-160F-0722-B3CD-9B61DB33A775}"/>
              </a:ext>
            </a:extLst>
          </p:cNvPr>
          <p:cNvSpPr txBox="1"/>
          <p:nvPr/>
        </p:nvSpPr>
        <p:spPr>
          <a:xfrm>
            <a:off x="3485966" y="2888883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Helvetica Neue"/>
              </a:rPr>
              <a:t>2000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91552E-5008-3D5D-8825-80C79C771E44}"/>
              </a:ext>
            </a:extLst>
          </p:cNvPr>
          <p:cNvSpPr txBox="1"/>
          <p:nvPr/>
        </p:nvSpPr>
        <p:spPr>
          <a:xfrm>
            <a:off x="2986034" y="3441973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Helvetica Neue"/>
              </a:rPr>
              <a:t>303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64A2556-D608-03BE-4C6F-C884002D6324}"/>
              </a:ext>
            </a:extLst>
          </p:cNvPr>
          <p:cNvSpPr/>
          <p:nvPr/>
        </p:nvSpPr>
        <p:spPr>
          <a:xfrm>
            <a:off x="4064832" y="1405185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89C5ADA-7C45-E511-C889-7BD3DF593E79}"/>
              </a:ext>
            </a:extLst>
          </p:cNvPr>
          <p:cNvSpPr/>
          <p:nvPr/>
        </p:nvSpPr>
        <p:spPr>
          <a:xfrm>
            <a:off x="4124211" y="4324139"/>
            <a:ext cx="491517" cy="4776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srgbClr val="000000"/>
              </a:solidFill>
              <a:latin typeface="Helvetica Neue"/>
              <a:cs typeface="Arial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86B056-4511-B05C-C5AD-71A97C5222ED}"/>
              </a:ext>
            </a:extLst>
          </p:cNvPr>
          <p:cNvCxnSpPr/>
          <p:nvPr/>
        </p:nvCxnSpPr>
        <p:spPr>
          <a:xfrm>
            <a:off x="3861234" y="3918376"/>
            <a:ext cx="378042" cy="4460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622B815-84B5-CB3C-E225-D865060FF8DA}"/>
              </a:ext>
            </a:extLst>
          </p:cNvPr>
          <p:cNvCxnSpPr>
            <a:cxnSpLocks/>
          </p:cNvCxnSpPr>
          <p:nvPr/>
        </p:nvCxnSpPr>
        <p:spPr>
          <a:xfrm flipH="1">
            <a:off x="4526049" y="3918377"/>
            <a:ext cx="298336" cy="4510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2993371-B5B3-6B8D-DAD7-0AB53628CA3D}"/>
              </a:ext>
            </a:extLst>
          </p:cNvPr>
          <p:cNvSpPr txBox="1"/>
          <p:nvPr/>
        </p:nvSpPr>
        <p:spPr>
          <a:xfrm>
            <a:off x="4308728" y="1883830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Helvetica Neue"/>
              </a:rPr>
              <a:t>1000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81EC96-C82A-8F06-10CA-15E074E17FD7}"/>
              </a:ext>
            </a:extLst>
          </p:cNvPr>
          <p:cNvSpPr txBox="1"/>
          <p:nvPr/>
        </p:nvSpPr>
        <p:spPr>
          <a:xfrm>
            <a:off x="4505797" y="2888881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Helvetica Neue"/>
              </a:rPr>
              <a:t>3000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891077-7268-4E35-FD83-929BDAADBFDF}"/>
              </a:ext>
            </a:extLst>
          </p:cNvPr>
          <p:cNvSpPr txBox="1"/>
          <p:nvPr/>
        </p:nvSpPr>
        <p:spPr>
          <a:xfrm>
            <a:off x="5005991" y="3427192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Helvetica Neue"/>
              </a:rPr>
              <a:t>404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F8BC3C-5BD7-0BE7-44DD-3377A18E0696}"/>
              </a:ext>
            </a:extLst>
          </p:cNvPr>
          <p:cNvSpPr txBox="1"/>
          <p:nvPr/>
        </p:nvSpPr>
        <p:spPr>
          <a:xfrm>
            <a:off x="4557659" y="4363270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Helvetica Neue"/>
              </a:rPr>
              <a:t>505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10BF36-B85B-E75D-F06D-E2349AA519FB}"/>
              </a:ext>
            </a:extLst>
          </p:cNvPr>
          <p:cNvSpPr txBox="1"/>
          <p:nvPr/>
        </p:nvSpPr>
        <p:spPr>
          <a:xfrm>
            <a:off x="4675900" y="3826257"/>
            <a:ext cx="365850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Helvetica Neue"/>
              </a:rPr>
              <a:t>(505 &gt;&gt; x) </a:t>
            </a:r>
            <a:r>
              <a:rPr lang="en-US" sz="2800" dirty="0">
                <a:latin typeface="Helvetica Neue"/>
              </a:rPr>
              <a:t>⊕ </a:t>
            </a:r>
            <a:r>
              <a:rPr lang="en-US" sz="2000" dirty="0">
                <a:latin typeface="Helvetica Neue"/>
              </a:rPr>
              <a:t>(404 &gt;&gt; y) + z</a:t>
            </a:r>
            <a:endParaRPr lang="en-US" sz="2800" dirty="0">
              <a:latin typeface="Helvetica Neu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A73007-8ECF-F3AF-88BD-8F840141B0CA}"/>
              </a:ext>
            </a:extLst>
          </p:cNvPr>
          <p:cNvSpPr txBox="1"/>
          <p:nvPr/>
        </p:nvSpPr>
        <p:spPr>
          <a:xfrm>
            <a:off x="709886" y="3821330"/>
            <a:ext cx="365850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Helvetica Neue"/>
              </a:rPr>
              <a:t>(505 &gt;&gt; x) </a:t>
            </a:r>
            <a:r>
              <a:rPr lang="en-US" sz="2800" dirty="0">
                <a:latin typeface="Helvetica Neue"/>
              </a:rPr>
              <a:t>⊕ </a:t>
            </a:r>
            <a:r>
              <a:rPr lang="en-US" sz="2000" dirty="0">
                <a:latin typeface="Helvetica Neue"/>
              </a:rPr>
              <a:t>(303 &gt;&gt; y) + z</a:t>
            </a:r>
            <a:endParaRPr lang="en-US" sz="2800" dirty="0">
              <a:latin typeface="Helvetica Neu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601E6F-F727-5EA3-9964-70833BD4A2A3}"/>
              </a:ext>
            </a:extLst>
          </p:cNvPr>
          <p:cNvSpPr txBox="1"/>
          <p:nvPr/>
        </p:nvSpPr>
        <p:spPr>
          <a:xfrm>
            <a:off x="3513192" y="1446649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Helvetica Neue"/>
              </a:rPr>
              <a:t>101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A64A0B-E115-E7EF-8375-36F7706F0090}"/>
              </a:ext>
            </a:extLst>
          </p:cNvPr>
          <p:cNvSpPr txBox="1"/>
          <p:nvPr/>
        </p:nvSpPr>
        <p:spPr>
          <a:xfrm>
            <a:off x="3513193" y="2471407"/>
            <a:ext cx="8551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Helvetica Neue"/>
              </a:rPr>
              <a:t>202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A94BB5-5617-DC0E-10FF-ABC9598B288B}"/>
              </a:ext>
            </a:extLst>
          </p:cNvPr>
          <p:cNvSpPr txBox="1"/>
          <p:nvPr/>
        </p:nvSpPr>
        <p:spPr>
          <a:xfrm>
            <a:off x="145772" y="4725693"/>
            <a:ext cx="72272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latin typeface="Helvetica Neue"/>
              </a:rPr>
              <a:t>“</a:t>
            </a:r>
            <a:r>
              <a:rPr lang="en-US" sz="1000" dirty="0" err="1">
                <a:latin typeface="Helvetica Neue"/>
              </a:rPr>
              <a:t>CollAFL</a:t>
            </a:r>
            <a:r>
              <a:rPr lang="en-US" sz="1000" dirty="0">
                <a:latin typeface="Helvetica Neue"/>
              </a:rPr>
              <a:t>: Path Sensitive Fuzzing” IEEE S&amp;P 2018.</a:t>
            </a:r>
          </a:p>
        </p:txBody>
      </p:sp>
    </p:spTree>
    <p:extLst>
      <p:ext uri="{BB962C8B-B14F-4D97-AF65-F5344CB8AC3E}">
        <p14:creationId xmlns:p14="http://schemas.microsoft.com/office/powerpoint/2010/main" val="147471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16" grpId="0"/>
      <p:bldP spid="18" grpId="0"/>
      <p:bldP spid="22" grpId="0" animBg="1"/>
      <p:bldP spid="23" grpId="0" animBg="1"/>
      <p:bldP spid="2" grpId="0"/>
      <p:bldP spid="4" grpId="0"/>
      <p:bldP spid="6" grpId="0"/>
      <p:bldP spid="9" grpId="0"/>
      <p:bldP spid="11" grpId="0"/>
      <p:bldP spid="13" grpId="0"/>
      <p:bldP spid="15" grpId="0"/>
      <p:bldP spid="17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134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Thoughts/Insights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989919"/>
            <a:ext cx="8837839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Initial seed selection not well studied.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err="1">
                <a:latin typeface="Helvetica Neue"/>
              </a:rPr>
              <a:t>autofz</a:t>
            </a:r>
            <a:r>
              <a:rPr lang="en-US" sz="2800">
                <a:latin typeface="Helvetica Neue"/>
              </a:rPr>
              <a:t> does adaptive dynamic fuzzing strategy selection but better approaches to determine best fuzzing strategy including instrumentation needed?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Better evaluation of components in isolation needed in addition to overall fuzzing run.</a:t>
            </a:r>
          </a:p>
        </p:txBody>
      </p:sp>
    </p:spTree>
    <p:extLst>
      <p:ext uri="{BB962C8B-B14F-4D97-AF65-F5344CB8AC3E}">
        <p14:creationId xmlns:p14="http://schemas.microsoft.com/office/powerpoint/2010/main" val="378354291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2AB05D7E-B91B-580A-799D-629491E60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1AA6B81B-DAAD-50E1-9F91-EDDA60678B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135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9936F83-C926-DDE6-9F74-A002BE3D5DF6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8347D137-5B2B-6EFE-807A-4D3A22DCBD3C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AC53AAE1-B854-5C01-D467-52A255D22C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0A5F2E02-2C33-42C2-CC06-C1876287EE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Selective seed mutation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4C52E2-BAF8-76C2-6AFE-D29AD22C973F}"/>
              </a:ext>
            </a:extLst>
          </p:cNvPr>
          <p:cNvSpPr txBox="1"/>
          <p:nvPr/>
        </p:nvSpPr>
        <p:spPr>
          <a:xfrm>
            <a:off x="-1" y="861953"/>
            <a:ext cx="924741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REDQUEEN: Input bytes used as is in branch conditions.</a:t>
            </a:r>
            <a:endParaRPr lang="en-US"/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90B18569-D995-45BA-4EBA-3E1E9AC211B4}"/>
              </a:ext>
            </a:extLst>
          </p:cNvPr>
          <p:cNvSpPr/>
          <p:nvPr/>
        </p:nvSpPr>
        <p:spPr>
          <a:xfrm>
            <a:off x="1668008" y="1777147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677AC063-D81D-7CF5-29D4-BB8C6572EE52}"/>
              </a:ext>
            </a:extLst>
          </p:cNvPr>
          <p:cNvSpPr/>
          <p:nvPr/>
        </p:nvSpPr>
        <p:spPr>
          <a:xfrm>
            <a:off x="2653353" y="3508018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99046BB5-446B-734A-B11A-78FD11D03F27}"/>
              </a:ext>
            </a:extLst>
          </p:cNvPr>
          <p:cNvSpPr/>
          <p:nvPr/>
        </p:nvSpPr>
        <p:spPr>
          <a:xfrm>
            <a:off x="2042438" y="4392706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4F20E195-88FF-9EB1-9D7D-1771FCF3BDF5}"/>
              </a:ext>
            </a:extLst>
          </p:cNvPr>
          <p:cNvSpPr/>
          <p:nvPr/>
        </p:nvSpPr>
        <p:spPr>
          <a:xfrm>
            <a:off x="603835" y="3517871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96618AF-5579-B6EA-61FD-424168AEDC6C}"/>
              </a:ext>
            </a:extLst>
          </p:cNvPr>
          <p:cNvSpPr/>
          <p:nvPr/>
        </p:nvSpPr>
        <p:spPr>
          <a:xfrm>
            <a:off x="61895" y="4392706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999459-5F7E-283C-4CFB-090E749E98C6}"/>
              </a:ext>
            </a:extLst>
          </p:cNvPr>
          <p:cNvCxnSpPr>
            <a:cxnSpLocks/>
          </p:cNvCxnSpPr>
          <p:nvPr/>
        </p:nvCxnSpPr>
        <p:spPr>
          <a:xfrm flipH="1">
            <a:off x="2544395" y="4083677"/>
            <a:ext cx="335018" cy="394138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459339A-185E-4608-EDCC-20D293CF7148}"/>
              </a:ext>
            </a:extLst>
          </p:cNvPr>
          <p:cNvCxnSpPr>
            <a:cxnSpLocks/>
          </p:cNvCxnSpPr>
          <p:nvPr/>
        </p:nvCxnSpPr>
        <p:spPr>
          <a:xfrm flipH="1">
            <a:off x="514582" y="4063969"/>
            <a:ext cx="246339" cy="364578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B253F7-CF0B-EC02-F1AC-EED7C485EF1A}"/>
              </a:ext>
            </a:extLst>
          </p:cNvPr>
          <p:cNvCxnSpPr>
            <a:cxnSpLocks/>
          </p:cNvCxnSpPr>
          <p:nvPr/>
        </p:nvCxnSpPr>
        <p:spPr>
          <a:xfrm flipH="1">
            <a:off x="1101176" y="2248722"/>
            <a:ext cx="652076" cy="350371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ADF65E-FB88-A193-848A-A875500C6F4D}"/>
              </a:ext>
            </a:extLst>
          </p:cNvPr>
          <p:cNvCxnSpPr>
            <a:cxnSpLocks/>
          </p:cNvCxnSpPr>
          <p:nvPr/>
        </p:nvCxnSpPr>
        <p:spPr>
          <a:xfrm>
            <a:off x="2172333" y="2275353"/>
            <a:ext cx="552416" cy="3539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33F56B5D-2C6D-A371-F83D-24B5F7D558EB}"/>
              </a:ext>
            </a:extLst>
          </p:cNvPr>
          <p:cNvSpPr/>
          <p:nvPr/>
        </p:nvSpPr>
        <p:spPr>
          <a:xfrm>
            <a:off x="1165481" y="4382853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10B55972-8EB7-7F9C-F90B-CA40DD093A11}"/>
              </a:ext>
            </a:extLst>
          </p:cNvPr>
          <p:cNvSpPr/>
          <p:nvPr/>
        </p:nvSpPr>
        <p:spPr>
          <a:xfrm>
            <a:off x="3323386" y="4402559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3D8E17-7483-9B05-4AE7-4C9954232C6B}"/>
              </a:ext>
            </a:extLst>
          </p:cNvPr>
          <p:cNvCxnSpPr>
            <a:cxnSpLocks/>
          </p:cNvCxnSpPr>
          <p:nvPr/>
        </p:nvCxnSpPr>
        <p:spPr>
          <a:xfrm>
            <a:off x="1116142" y="4055739"/>
            <a:ext cx="234113" cy="346867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85E87E-1FD8-3AF1-3677-1BC3D6CAB8B4}"/>
              </a:ext>
            </a:extLst>
          </p:cNvPr>
          <p:cNvCxnSpPr>
            <a:cxnSpLocks/>
          </p:cNvCxnSpPr>
          <p:nvPr/>
        </p:nvCxnSpPr>
        <p:spPr>
          <a:xfrm>
            <a:off x="3062135" y="4078999"/>
            <a:ext cx="349859" cy="4192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D6B5AF4F-BFC1-B563-CCCF-9E6C26C69590}"/>
              </a:ext>
            </a:extLst>
          </p:cNvPr>
          <p:cNvSpPr/>
          <p:nvPr/>
        </p:nvSpPr>
        <p:spPr>
          <a:xfrm>
            <a:off x="603834" y="2541924"/>
            <a:ext cx="612913" cy="571499"/>
          </a:xfrm>
          <a:prstGeom prst="flowChartConnector">
            <a:avLst/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CE2FDB86-6057-0C93-9AF2-28DFA5AF1B39}"/>
              </a:ext>
            </a:extLst>
          </p:cNvPr>
          <p:cNvSpPr/>
          <p:nvPr/>
        </p:nvSpPr>
        <p:spPr>
          <a:xfrm>
            <a:off x="2652441" y="2541923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980FD5-9323-9524-3A93-883C96DAA237}"/>
              </a:ext>
            </a:extLst>
          </p:cNvPr>
          <p:cNvCxnSpPr>
            <a:cxnSpLocks/>
          </p:cNvCxnSpPr>
          <p:nvPr/>
        </p:nvCxnSpPr>
        <p:spPr>
          <a:xfrm flipH="1">
            <a:off x="912432" y="3110355"/>
            <a:ext cx="8792" cy="395654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2F82AA0-BB4A-9F7B-2259-FA05E3FEDD47}"/>
              </a:ext>
            </a:extLst>
          </p:cNvPr>
          <p:cNvCxnSpPr>
            <a:cxnSpLocks/>
          </p:cNvCxnSpPr>
          <p:nvPr/>
        </p:nvCxnSpPr>
        <p:spPr>
          <a:xfrm flipH="1">
            <a:off x="2961039" y="3119146"/>
            <a:ext cx="8792" cy="3956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973326-DFE3-B2F5-113A-F41FF8259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710847"/>
              </p:ext>
            </p:extLst>
          </p:nvPr>
        </p:nvGraphicFramePr>
        <p:xfrm>
          <a:off x="3414346" y="3238500"/>
          <a:ext cx="511634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483">
                  <a:extLst>
                    <a:ext uri="{9D8B030D-6E8A-4147-A177-3AD203B41FA5}">
                      <a16:colId xmlns:a16="http://schemas.microsoft.com/office/drawing/2014/main" val="133998855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3547847688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3280710382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572761877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1213649504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272815276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1379390889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1487338049"/>
                    </a:ext>
                  </a:extLst>
                </a:gridCol>
                <a:gridCol w="568483">
                  <a:extLst>
                    <a:ext uri="{9D8B030D-6E8A-4147-A177-3AD203B41FA5}">
                      <a16:colId xmlns:a16="http://schemas.microsoft.com/office/drawing/2014/main" val="4251109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</a:rPr>
                        <a:t>AB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</a:rPr>
                        <a:t>CD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</a:rPr>
                        <a:t>12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</a:rPr>
                        <a:t>34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Helvetica Neue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259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4C3C8CBC-5936-0691-0DFF-C85ED6321688}"/>
              </a:ext>
            </a:extLst>
          </p:cNvPr>
          <p:cNvSpPr txBox="1"/>
          <p:nvPr/>
        </p:nvSpPr>
        <p:spPr>
          <a:xfrm rot="16200000">
            <a:off x="3710789" y="2412742"/>
            <a:ext cx="49643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0">
                <a:latin typeface="Helvetica Neue"/>
              </a:rPr>
              <a:t>}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131BB74-637B-EFE0-77C2-AF2BA95BB22C}"/>
              </a:ext>
            </a:extLst>
          </p:cNvPr>
          <p:cNvCxnSpPr/>
          <p:nvPr/>
        </p:nvCxnSpPr>
        <p:spPr>
          <a:xfrm flipH="1">
            <a:off x="3981133" y="2139774"/>
            <a:ext cx="2997" cy="7744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154104E-4631-9EB1-7E8C-0E7FC4EB8F39}"/>
              </a:ext>
            </a:extLst>
          </p:cNvPr>
          <p:cNvSpPr txBox="1"/>
          <p:nvPr/>
        </p:nvSpPr>
        <p:spPr>
          <a:xfrm rot="5400000">
            <a:off x="7186680" y="3009133"/>
            <a:ext cx="51401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600" dirty="0">
                <a:latin typeface="Helvetica Neue"/>
              </a:rPr>
              <a:t>}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BA3A1E4-22FF-D92C-FFD7-4C8BEEEFB8E9}"/>
              </a:ext>
            </a:extLst>
          </p:cNvPr>
          <p:cNvCxnSpPr>
            <a:cxnSpLocks/>
          </p:cNvCxnSpPr>
          <p:nvPr/>
        </p:nvCxnSpPr>
        <p:spPr>
          <a:xfrm flipV="1">
            <a:off x="5802115" y="3905208"/>
            <a:ext cx="1123943" cy="18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240D7AF-7992-5B6D-43FC-6B0F0D836CBA}"/>
              </a:ext>
            </a:extLst>
          </p:cNvPr>
          <p:cNvSpPr txBox="1"/>
          <p:nvPr/>
        </p:nvSpPr>
        <p:spPr>
          <a:xfrm>
            <a:off x="2181959" y="1726223"/>
            <a:ext cx="312786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latin typeface="Helvetica Neue"/>
              </a:rPr>
              <a:t>var_x</a:t>
            </a:r>
            <a:r>
              <a:rPr lang="en-US" sz="2800">
                <a:latin typeface="Helvetica Neue"/>
              </a:rPr>
              <a:t> = 0xABCD</a:t>
            </a: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60B758-78DD-AE0C-4FB0-06A805CF94E6}"/>
              </a:ext>
            </a:extLst>
          </p:cNvPr>
          <p:cNvSpPr txBox="1"/>
          <p:nvPr/>
        </p:nvSpPr>
        <p:spPr>
          <a:xfrm>
            <a:off x="3230153" y="3659383"/>
            <a:ext cx="27908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 err="1">
                <a:latin typeface="Helvetica Neue"/>
              </a:rPr>
              <a:t>var_y</a:t>
            </a:r>
            <a:r>
              <a:rPr lang="en-US" sz="2800" dirty="0">
                <a:latin typeface="Helvetica Neue"/>
              </a:rPr>
              <a:t> = 0x1234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883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/>
      <p:bldP spid="30" grpId="0"/>
      <p:bldP spid="32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136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Thoughts/Insights (cont.)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989919"/>
            <a:ext cx="883783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Seed explosion (AFL-Hier concept) similar to state explosion in symbolic execution?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9924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137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Insert title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989919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Insert 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6813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138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AFL fuzzing pipeline</a:t>
            </a:r>
          </a:p>
        </p:txBody>
      </p:sp>
      <p:sp>
        <p:nvSpPr>
          <p:cNvPr id="2" name="Flowchart: Data 1">
            <a:extLst>
              <a:ext uri="{FF2B5EF4-FFF2-40B4-BE49-F238E27FC236}">
                <a16:creationId xmlns:a16="http://schemas.microsoft.com/office/drawing/2014/main" id="{05714327-374C-C670-2A21-6FF0ED38577F}"/>
              </a:ext>
            </a:extLst>
          </p:cNvPr>
          <p:cNvSpPr/>
          <p:nvPr/>
        </p:nvSpPr>
        <p:spPr>
          <a:xfrm>
            <a:off x="172145" y="1230714"/>
            <a:ext cx="1229556" cy="62636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Seed Pool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889D5A5A-6E7D-BE76-FFEA-6B31DC899C6F}"/>
              </a:ext>
            </a:extLst>
          </p:cNvPr>
          <p:cNvSpPr/>
          <p:nvPr/>
        </p:nvSpPr>
        <p:spPr>
          <a:xfrm>
            <a:off x="2214418" y="1258632"/>
            <a:ext cx="1053159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Schedule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9ADDB31C-7B60-5635-3739-F0369FCE3F43}"/>
              </a:ext>
            </a:extLst>
          </p:cNvPr>
          <p:cNvSpPr/>
          <p:nvPr/>
        </p:nvSpPr>
        <p:spPr>
          <a:xfrm>
            <a:off x="4088599" y="1281140"/>
            <a:ext cx="1055865" cy="626369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Seed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5FED3276-B56C-70F0-401D-E8D7695D81AF}"/>
              </a:ext>
            </a:extLst>
          </p:cNvPr>
          <p:cNvSpPr/>
          <p:nvPr/>
        </p:nvSpPr>
        <p:spPr>
          <a:xfrm>
            <a:off x="5962785" y="1258632"/>
            <a:ext cx="829043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Mutate</a:t>
            </a:r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68EF33-62FC-9CA7-EBB5-84CE810949A7}"/>
              </a:ext>
            </a:extLst>
          </p:cNvPr>
          <p:cNvCxnSpPr>
            <a:cxnSpLocks/>
          </p:cNvCxnSpPr>
          <p:nvPr/>
        </p:nvCxnSpPr>
        <p:spPr>
          <a:xfrm>
            <a:off x="6794336" y="1543992"/>
            <a:ext cx="818609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Data 4">
            <a:extLst>
              <a:ext uri="{FF2B5EF4-FFF2-40B4-BE49-F238E27FC236}">
                <a16:creationId xmlns:a16="http://schemas.microsoft.com/office/drawing/2014/main" id="{02A7EA8B-F00E-0D40-5D2B-EBE32E19CA10}"/>
              </a:ext>
            </a:extLst>
          </p:cNvPr>
          <p:cNvSpPr/>
          <p:nvPr/>
        </p:nvSpPr>
        <p:spPr>
          <a:xfrm>
            <a:off x="7612848" y="1213905"/>
            <a:ext cx="1083879" cy="626369"/>
          </a:xfrm>
          <a:prstGeom prst="flowChartMulti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New Seeds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lowchart: Data 1">
            <a:extLst>
              <a:ext uri="{FF2B5EF4-FFF2-40B4-BE49-F238E27FC236}">
                <a16:creationId xmlns:a16="http://schemas.microsoft.com/office/drawing/2014/main" id="{9466A67C-2D37-EDA1-AF26-6A1D93D0052A}"/>
              </a:ext>
            </a:extLst>
          </p:cNvPr>
          <p:cNvSpPr/>
          <p:nvPr/>
        </p:nvSpPr>
        <p:spPr>
          <a:xfrm>
            <a:off x="-1256" y="3770680"/>
            <a:ext cx="1571335" cy="68800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Target Program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2BD2CAF8-B0A0-3FE1-0CEE-611EC6341E30}"/>
              </a:ext>
            </a:extLst>
          </p:cNvPr>
          <p:cNvSpPr/>
          <p:nvPr/>
        </p:nvSpPr>
        <p:spPr>
          <a:xfrm>
            <a:off x="4728884" y="3819174"/>
            <a:ext cx="1164540" cy="556140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Instrument</a:t>
            </a:r>
            <a:endParaRPr lang="en-US"/>
          </a:p>
        </p:txBody>
      </p:sp>
      <p:sp>
        <p:nvSpPr>
          <p:cNvPr id="19" name="Flowchart: Data 1">
            <a:extLst>
              <a:ext uri="{FF2B5EF4-FFF2-40B4-BE49-F238E27FC236}">
                <a16:creationId xmlns:a16="http://schemas.microsoft.com/office/drawing/2014/main" id="{0DFAAF6F-4624-277E-0A43-36F6C89569AC}"/>
              </a:ext>
            </a:extLst>
          </p:cNvPr>
          <p:cNvSpPr/>
          <p:nvPr/>
        </p:nvSpPr>
        <p:spPr>
          <a:xfrm>
            <a:off x="6895675" y="3824029"/>
            <a:ext cx="2251933" cy="6371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Instrumented Program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D817EE70-A6D1-025B-4FAB-AB87C5E1FF19}"/>
              </a:ext>
            </a:extLst>
          </p:cNvPr>
          <p:cNvSpPr/>
          <p:nvPr/>
        </p:nvSpPr>
        <p:spPr>
          <a:xfrm>
            <a:off x="6629537" y="2474470"/>
            <a:ext cx="929895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Execute</a:t>
            </a:r>
            <a:endParaRPr lang="en-US"/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08B78309-C4B3-50C6-C9F1-0B07540DBEFC}"/>
              </a:ext>
            </a:extLst>
          </p:cNvPr>
          <p:cNvSpPr/>
          <p:nvPr/>
        </p:nvSpPr>
        <p:spPr>
          <a:xfrm>
            <a:off x="2298463" y="2474470"/>
            <a:ext cx="1109189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Filter</a:t>
            </a:r>
            <a:b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</a:br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Seeds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Flowchart: Data 1">
            <a:extLst>
              <a:ext uri="{FF2B5EF4-FFF2-40B4-BE49-F238E27FC236}">
                <a16:creationId xmlns:a16="http://schemas.microsoft.com/office/drawing/2014/main" id="{5C7E3AA5-2C2A-13A5-9967-A37158177FFE}"/>
              </a:ext>
            </a:extLst>
          </p:cNvPr>
          <p:cNvSpPr/>
          <p:nvPr/>
        </p:nvSpPr>
        <p:spPr>
          <a:xfrm>
            <a:off x="4139028" y="2474566"/>
            <a:ext cx="1756231" cy="62636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Coverage data</a:t>
            </a:r>
          </a:p>
        </p:txBody>
      </p:sp>
      <p:sp>
        <p:nvSpPr>
          <p:cNvPr id="24" name="Flowchart: Data 4">
            <a:extLst>
              <a:ext uri="{FF2B5EF4-FFF2-40B4-BE49-F238E27FC236}">
                <a16:creationId xmlns:a16="http://schemas.microsoft.com/office/drawing/2014/main" id="{0D4D689F-A3ED-985C-4DEE-EF67571D5400}"/>
              </a:ext>
            </a:extLst>
          </p:cNvPr>
          <p:cNvSpPr/>
          <p:nvPr/>
        </p:nvSpPr>
        <p:spPr>
          <a:xfrm>
            <a:off x="79597" y="2518713"/>
            <a:ext cx="1478982" cy="626369"/>
          </a:xfrm>
          <a:prstGeom prst="flowChartMulti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Interesting Seeds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1FC1609-F99E-5E45-E857-2171D2E77776}"/>
              </a:ext>
            </a:extLst>
          </p:cNvPr>
          <p:cNvCxnSpPr>
            <a:cxnSpLocks/>
          </p:cNvCxnSpPr>
          <p:nvPr/>
        </p:nvCxnSpPr>
        <p:spPr>
          <a:xfrm>
            <a:off x="5141468" y="1543992"/>
            <a:ext cx="818609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FB9A0B4-7A4D-98C7-11D7-48F01452B8E6}"/>
              </a:ext>
            </a:extLst>
          </p:cNvPr>
          <p:cNvCxnSpPr>
            <a:cxnSpLocks/>
          </p:cNvCxnSpPr>
          <p:nvPr/>
        </p:nvCxnSpPr>
        <p:spPr>
          <a:xfrm>
            <a:off x="3270085" y="1543992"/>
            <a:ext cx="818609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59049D-12A7-9327-DFB0-52EA7B597081}"/>
              </a:ext>
            </a:extLst>
          </p:cNvPr>
          <p:cNvCxnSpPr>
            <a:cxnSpLocks/>
          </p:cNvCxnSpPr>
          <p:nvPr/>
        </p:nvCxnSpPr>
        <p:spPr>
          <a:xfrm>
            <a:off x="1398702" y="1543992"/>
            <a:ext cx="818609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3E649A-EF7B-7F9E-8720-B7EA14CDA56C}"/>
              </a:ext>
            </a:extLst>
          </p:cNvPr>
          <p:cNvCxnSpPr>
            <a:cxnSpLocks/>
          </p:cNvCxnSpPr>
          <p:nvPr/>
        </p:nvCxnSpPr>
        <p:spPr>
          <a:xfrm flipH="1">
            <a:off x="1556162" y="2759831"/>
            <a:ext cx="733406" cy="22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D192716-F2F1-D5C1-D113-E7DBAAB088D2}"/>
              </a:ext>
            </a:extLst>
          </p:cNvPr>
          <p:cNvCxnSpPr>
            <a:cxnSpLocks/>
          </p:cNvCxnSpPr>
          <p:nvPr/>
        </p:nvCxnSpPr>
        <p:spPr>
          <a:xfrm flipH="1">
            <a:off x="3405132" y="2759831"/>
            <a:ext cx="733406" cy="22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1940365-3329-2E80-0656-3E8DD4C44EA6}"/>
              </a:ext>
            </a:extLst>
          </p:cNvPr>
          <p:cNvCxnSpPr>
            <a:cxnSpLocks/>
          </p:cNvCxnSpPr>
          <p:nvPr/>
        </p:nvCxnSpPr>
        <p:spPr>
          <a:xfrm flipH="1">
            <a:off x="5892837" y="2759831"/>
            <a:ext cx="733406" cy="22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8B233FC-0AEF-6711-932E-093BE132354A}"/>
              </a:ext>
            </a:extLst>
          </p:cNvPr>
          <p:cNvCxnSpPr/>
          <p:nvPr/>
        </p:nvCxnSpPr>
        <p:spPr>
          <a:xfrm flipH="1">
            <a:off x="8285239" y="1760831"/>
            <a:ext cx="5389" cy="2058650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94FFC90-F5ED-75AB-53EF-2DFBF2F8DEE1}"/>
              </a:ext>
            </a:extLst>
          </p:cNvPr>
          <p:cNvCxnSpPr>
            <a:cxnSpLocks/>
          </p:cNvCxnSpPr>
          <p:nvPr/>
        </p:nvCxnSpPr>
        <p:spPr>
          <a:xfrm flipH="1">
            <a:off x="7551307" y="2759831"/>
            <a:ext cx="733406" cy="22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0207061-F374-7C58-DE4A-7BB4E57EBA6F}"/>
              </a:ext>
            </a:extLst>
          </p:cNvPr>
          <p:cNvCxnSpPr/>
          <p:nvPr/>
        </p:nvCxnSpPr>
        <p:spPr>
          <a:xfrm flipV="1">
            <a:off x="795621" y="1854574"/>
            <a:ext cx="5596" cy="6611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C3F7D98B-D968-4DCE-F81B-8F3B9800DB4A}"/>
              </a:ext>
            </a:extLst>
          </p:cNvPr>
          <p:cNvSpPr/>
          <p:nvPr/>
        </p:nvSpPr>
        <p:spPr>
          <a:xfrm>
            <a:off x="2565722" y="3818847"/>
            <a:ext cx="1164540" cy="556140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Harness</a:t>
            </a:r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9B818CB-5CB7-B5E7-905A-4F4E872F36EF}"/>
              </a:ext>
            </a:extLst>
          </p:cNvPr>
          <p:cNvCxnSpPr>
            <a:cxnSpLocks/>
          </p:cNvCxnSpPr>
          <p:nvPr/>
        </p:nvCxnSpPr>
        <p:spPr>
          <a:xfrm>
            <a:off x="5895817" y="4124611"/>
            <a:ext cx="1000897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F71639D-E08B-FD18-B0A5-5CF51EB66C40}"/>
              </a:ext>
            </a:extLst>
          </p:cNvPr>
          <p:cNvCxnSpPr>
            <a:cxnSpLocks/>
          </p:cNvCxnSpPr>
          <p:nvPr/>
        </p:nvCxnSpPr>
        <p:spPr>
          <a:xfrm>
            <a:off x="3727730" y="4124283"/>
            <a:ext cx="1000897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E534C32-335E-943D-6C87-890839AE2852}"/>
              </a:ext>
            </a:extLst>
          </p:cNvPr>
          <p:cNvCxnSpPr>
            <a:cxnSpLocks/>
          </p:cNvCxnSpPr>
          <p:nvPr/>
        </p:nvCxnSpPr>
        <p:spPr>
          <a:xfrm>
            <a:off x="1559643" y="4123955"/>
            <a:ext cx="1000897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55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12" grpId="0" animBg="1"/>
      <p:bldP spid="14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9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139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AFL fuzzing pipeline</a:t>
            </a:r>
          </a:p>
        </p:txBody>
      </p:sp>
      <p:sp>
        <p:nvSpPr>
          <p:cNvPr id="2" name="Flowchart: Data 1">
            <a:extLst>
              <a:ext uri="{FF2B5EF4-FFF2-40B4-BE49-F238E27FC236}">
                <a16:creationId xmlns:a16="http://schemas.microsoft.com/office/drawing/2014/main" id="{05714327-374C-C670-2A21-6FF0ED38577F}"/>
              </a:ext>
            </a:extLst>
          </p:cNvPr>
          <p:cNvSpPr/>
          <p:nvPr/>
        </p:nvSpPr>
        <p:spPr>
          <a:xfrm>
            <a:off x="172145" y="3840062"/>
            <a:ext cx="1229556" cy="62636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Seed Pool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889D5A5A-6E7D-BE76-FFEA-6B31DC899C6F}"/>
              </a:ext>
            </a:extLst>
          </p:cNvPr>
          <p:cNvSpPr/>
          <p:nvPr/>
        </p:nvSpPr>
        <p:spPr>
          <a:xfrm>
            <a:off x="2214418" y="3867980"/>
            <a:ext cx="1053159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Schedule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9ADDB31C-7B60-5635-3739-F0369FCE3F43}"/>
              </a:ext>
            </a:extLst>
          </p:cNvPr>
          <p:cNvSpPr/>
          <p:nvPr/>
        </p:nvSpPr>
        <p:spPr>
          <a:xfrm>
            <a:off x="4088599" y="3890488"/>
            <a:ext cx="1055865" cy="626369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Seed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5FED3276-B56C-70F0-401D-E8D7695D81AF}"/>
              </a:ext>
            </a:extLst>
          </p:cNvPr>
          <p:cNvSpPr/>
          <p:nvPr/>
        </p:nvSpPr>
        <p:spPr>
          <a:xfrm>
            <a:off x="5962785" y="3867980"/>
            <a:ext cx="829043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Mutate</a:t>
            </a:r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68EF33-62FC-9CA7-EBB5-84CE810949A7}"/>
              </a:ext>
            </a:extLst>
          </p:cNvPr>
          <p:cNvCxnSpPr>
            <a:cxnSpLocks/>
          </p:cNvCxnSpPr>
          <p:nvPr/>
        </p:nvCxnSpPr>
        <p:spPr>
          <a:xfrm>
            <a:off x="6794336" y="4153341"/>
            <a:ext cx="818609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Data 4">
            <a:extLst>
              <a:ext uri="{FF2B5EF4-FFF2-40B4-BE49-F238E27FC236}">
                <a16:creationId xmlns:a16="http://schemas.microsoft.com/office/drawing/2014/main" id="{02A7EA8B-F00E-0D40-5D2B-EBE32E19CA10}"/>
              </a:ext>
            </a:extLst>
          </p:cNvPr>
          <p:cNvSpPr/>
          <p:nvPr/>
        </p:nvSpPr>
        <p:spPr>
          <a:xfrm>
            <a:off x="7612848" y="3823254"/>
            <a:ext cx="1083879" cy="626369"/>
          </a:xfrm>
          <a:prstGeom prst="flowChartMulti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New Seeds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lowchart: Data 1">
            <a:extLst>
              <a:ext uri="{FF2B5EF4-FFF2-40B4-BE49-F238E27FC236}">
                <a16:creationId xmlns:a16="http://schemas.microsoft.com/office/drawing/2014/main" id="{9466A67C-2D37-EDA1-AF26-6A1D93D0052A}"/>
              </a:ext>
            </a:extLst>
          </p:cNvPr>
          <p:cNvSpPr/>
          <p:nvPr/>
        </p:nvSpPr>
        <p:spPr>
          <a:xfrm>
            <a:off x="-1256" y="1078614"/>
            <a:ext cx="1571335" cy="68800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Target Program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2BD2CAF8-B0A0-3FE1-0CEE-611EC6341E30}"/>
              </a:ext>
            </a:extLst>
          </p:cNvPr>
          <p:cNvSpPr/>
          <p:nvPr/>
        </p:nvSpPr>
        <p:spPr>
          <a:xfrm>
            <a:off x="4728884" y="1127108"/>
            <a:ext cx="1164540" cy="556140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Instrument</a:t>
            </a:r>
            <a:endParaRPr lang="en-US"/>
          </a:p>
        </p:txBody>
      </p:sp>
      <p:sp>
        <p:nvSpPr>
          <p:cNvPr id="19" name="Flowchart: Data 1">
            <a:extLst>
              <a:ext uri="{FF2B5EF4-FFF2-40B4-BE49-F238E27FC236}">
                <a16:creationId xmlns:a16="http://schemas.microsoft.com/office/drawing/2014/main" id="{0DFAAF6F-4624-277E-0A43-36F6C89569AC}"/>
              </a:ext>
            </a:extLst>
          </p:cNvPr>
          <p:cNvSpPr/>
          <p:nvPr/>
        </p:nvSpPr>
        <p:spPr>
          <a:xfrm>
            <a:off x="6895675" y="1131963"/>
            <a:ext cx="2251933" cy="6371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Instrumented Program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D817EE70-A6D1-025B-4FAB-AB87C5E1FF19}"/>
              </a:ext>
            </a:extLst>
          </p:cNvPr>
          <p:cNvSpPr/>
          <p:nvPr/>
        </p:nvSpPr>
        <p:spPr>
          <a:xfrm>
            <a:off x="6629537" y="2474470"/>
            <a:ext cx="929895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Execute</a:t>
            </a:r>
            <a:endParaRPr lang="en-US"/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08B78309-C4B3-50C6-C9F1-0B07540DBEFC}"/>
              </a:ext>
            </a:extLst>
          </p:cNvPr>
          <p:cNvSpPr/>
          <p:nvPr/>
        </p:nvSpPr>
        <p:spPr>
          <a:xfrm>
            <a:off x="2298463" y="2474470"/>
            <a:ext cx="1109189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Filter</a:t>
            </a:r>
            <a:b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</a:br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Seeds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Flowchart: Data 1">
            <a:extLst>
              <a:ext uri="{FF2B5EF4-FFF2-40B4-BE49-F238E27FC236}">
                <a16:creationId xmlns:a16="http://schemas.microsoft.com/office/drawing/2014/main" id="{5C7E3AA5-2C2A-13A5-9967-A37158177FFE}"/>
              </a:ext>
            </a:extLst>
          </p:cNvPr>
          <p:cNvSpPr/>
          <p:nvPr/>
        </p:nvSpPr>
        <p:spPr>
          <a:xfrm>
            <a:off x="4139028" y="2474566"/>
            <a:ext cx="1756231" cy="62636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Coverage data</a:t>
            </a:r>
          </a:p>
        </p:txBody>
      </p:sp>
      <p:sp>
        <p:nvSpPr>
          <p:cNvPr id="24" name="Flowchart: Data 4">
            <a:extLst>
              <a:ext uri="{FF2B5EF4-FFF2-40B4-BE49-F238E27FC236}">
                <a16:creationId xmlns:a16="http://schemas.microsoft.com/office/drawing/2014/main" id="{0D4D689F-A3ED-985C-4DEE-EF67571D5400}"/>
              </a:ext>
            </a:extLst>
          </p:cNvPr>
          <p:cNvSpPr/>
          <p:nvPr/>
        </p:nvSpPr>
        <p:spPr>
          <a:xfrm>
            <a:off x="79597" y="2518713"/>
            <a:ext cx="1478982" cy="626369"/>
          </a:xfrm>
          <a:prstGeom prst="flowChartMulti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Interesting Seeds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1FC1609-F99E-5E45-E857-2171D2E77776}"/>
              </a:ext>
            </a:extLst>
          </p:cNvPr>
          <p:cNvCxnSpPr>
            <a:cxnSpLocks/>
          </p:cNvCxnSpPr>
          <p:nvPr/>
        </p:nvCxnSpPr>
        <p:spPr>
          <a:xfrm>
            <a:off x="5141468" y="4153341"/>
            <a:ext cx="818609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FB9A0B4-7A4D-98C7-11D7-48F01452B8E6}"/>
              </a:ext>
            </a:extLst>
          </p:cNvPr>
          <p:cNvCxnSpPr>
            <a:cxnSpLocks/>
          </p:cNvCxnSpPr>
          <p:nvPr/>
        </p:nvCxnSpPr>
        <p:spPr>
          <a:xfrm>
            <a:off x="3270085" y="4153341"/>
            <a:ext cx="818609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59049D-12A7-9327-DFB0-52EA7B597081}"/>
              </a:ext>
            </a:extLst>
          </p:cNvPr>
          <p:cNvCxnSpPr>
            <a:cxnSpLocks/>
          </p:cNvCxnSpPr>
          <p:nvPr/>
        </p:nvCxnSpPr>
        <p:spPr>
          <a:xfrm>
            <a:off x="1398702" y="4153341"/>
            <a:ext cx="818609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3E649A-EF7B-7F9E-8720-B7EA14CDA56C}"/>
              </a:ext>
            </a:extLst>
          </p:cNvPr>
          <p:cNvCxnSpPr>
            <a:cxnSpLocks/>
          </p:cNvCxnSpPr>
          <p:nvPr/>
        </p:nvCxnSpPr>
        <p:spPr>
          <a:xfrm flipH="1">
            <a:off x="1556162" y="2759831"/>
            <a:ext cx="733406" cy="22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D192716-F2F1-D5C1-D113-E7DBAAB088D2}"/>
              </a:ext>
            </a:extLst>
          </p:cNvPr>
          <p:cNvCxnSpPr>
            <a:cxnSpLocks/>
          </p:cNvCxnSpPr>
          <p:nvPr/>
        </p:nvCxnSpPr>
        <p:spPr>
          <a:xfrm flipH="1">
            <a:off x="3405132" y="2759831"/>
            <a:ext cx="733406" cy="22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1940365-3329-2E80-0656-3E8DD4C44EA6}"/>
              </a:ext>
            </a:extLst>
          </p:cNvPr>
          <p:cNvCxnSpPr>
            <a:cxnSpLocks/>
          </p:cNvCxnSpPr>
          <p:nvPr/>
        </p:nvCxnSpPr>
        <p:spPr>
          <a:xfrm flipH="1">
            <a:off x="5892837" y="2759831"/>
            <a:ext cx="733406" cy="22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8B233FC-0AEF-6711-932E-093BE132354A}"/>
              </a:ext>
            </a:extLst>
          </p:cNvPr>
          <p:cNvCxnSpPr/>
          <p:nvPr/>
        </p:nvCxnSpPr>
        <p:spPr>
          <a:xfrm flipH="1">
            <a:off x="8285239" y="1760831"/>
            <a:ext cx="5389" cy="2058650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94FFC90-F5ED-75AB-53EF-2DFBF2F8DEE1}"/>
              </a:ext>
            </a:extLst>
          </p:cNvPr>
          <p:cNvCxnSpPr>
            <a:cxnSpLocks/>
          </p:cNvCxnSpPr>
          <p:nvPr/>
        </p:nvCxnSpPr>
        <p:spPr>
          <a:xfrm flipH="1">
            <a:off x="7551307" y="2759831"/>
            <a:ext cx="733406" cy="22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0207061-F374-7C58-DE4A-7BB4E57EBA6F}"/>
              </a:ext>
            </a:extLst>
          </p:cNvPr>
          <p:cNvCxnSpPr/>
          <p:nvPr/>
        </p:nvCxnSpPr>
        <p:spPr>
          <a:xfrm flipH="1">
            <a:off x="763619" y="3102259"/>
            <a:ext cx="9443" cy="7375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C3F7D98B-D968-4DCE-F81B-8F3B9800DB4A}"/>
              </a:ext>
            </a:extLst>
          </p:cNvPr>
          <p:cNvSpPr/>
          <p:nvPr/>
        </p:nvSpPr>
        <p:spPr>
          <a:xfrm>
            <a:off x="2565722" y="1126781"/>
            <a:ext cx="1164540" cy="556140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Harness</a:t>
            </a:r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9B818CB-5CB7-B5E7-905A-4F4E872F36EF}"/>
              </a:ext>
            </a:extLst>
          </p:cNvPr>
          <p:cNvCxnSpPr>
            <a:cxnSpLocks/>
          </p:cNvCxnSpPr>
          <p:nvPr/>
        </p:nvCxnSpPr>
        <p:spPr>
          <a:xfrm>
            <a:off x="5895817" y="1432545"/>
            <a:ext cx="1000897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F71639D-E08B-FD18-B0A5-5CF51EB66C40}"/>
              </a:ext>
            </a:extLst>
          </p:cNvPr>
          <p:cNvCxnSpPr>
            <a:cxnSpLocks/>
          </p:cNvCxnSpPr>
          <p:nvPr/>
        </p:nvCxnSpPr>
        <p:spPr>
          <a:xfrm>
            <a:off x="3727730" y="1432217"/>
            <a:ext cx="1000897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E534C32-335E-943D-6C87-890839AE2852}"/>
              </a:ext>
            </a:extLst>
          </p:cNvPr>
          <p:cNvCxnSpPr>
            <a:cxnSpLocks/>
          </p:cNvCxnSpPr>
          <p:nvPr/>
        </p:nvCxnSpPr>
        <p:spPr>
          <a:xfrm>
            <a:off x="1559643" y="1431889"/>
            <a:ext cx="1000897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69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12" grpId="0" animBg="1"/>
      <p:bldP spid="14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9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140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Fuzzing research</a:t>
            </a:r>
            <a:endParaRPr lang="en-US"/>
          </a:p>
        </p:txBody>
      </p:sp>
      <p:sp>
        <p:nvSpPr>
          <p:cNvPr id="2" name="Flowchart: Data 1">
            <a:extLst>
              <a:ext uri="{FF2B5EF4-FFF2-40B4-BE49-F238E27FC236}">
                <a16:creationId xmlns:a16="http://schemas.microsoft.com/office/drawing/2014/main" id="{05714327-374C-C670-2A21-6FF0ED38577F}"/>
              </a:ext>
            </a:extLst>
          </p:cNvPr>
          <p:cNvSpPr/>
          <p:nvPr/>
        </p:nvSpPr>
        <p:spPr>
          <a:xfrm>
            <a:off x="172145" y="3840062"/>
            <a:ext cx="1229556" cy="62636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Seed Pool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889D5A5A-6E7D-BE76-FFEA-6B31DC899C6F}"/>
              </a:ext>
            </a:extLst>
          </p:cNvPr>
          <p:cNvSpPr/>
          <p:nvPr/>
        </p:nvSpPr>
        <p:spPr>
          <a:xfrm>
            <a:off x="2214418" y="3867980"/>
            <a:ext cx="1053159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Schedule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9ADDB31C-7B60-5635-3739-F0369FCE3F43}"/>
              </a:ext>
            </a:extLst>
          </p:cNvPr>
          <p:cNvSpPr/>
          <p:nvPr/>
        </p:nvSpPr>
        <p:spPr>
          <a:xfrm>
            <a:off x="4088599" y="3890488"/>
            <a:ext cx="1055865" cy="626369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Seed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5FED3276-B56C-70F0-401D-E8D7695D81AF}"/>
              </a:ext>
            </a:extLst>
          </p:cNvPr>
          <p:cNvSpPr/>
          <p:nvPr/>
        </p:nvSpPr>
        <p:spPr>
          <a:xfrm>
            <a:off x="5962785" y="3867980"/>
            <a:ext cx="829043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Mutate</a:t>
            </a:r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68EF33-62FC-9CA7-EBB5-84CE810949A7}"/>
              </a:ext>
            </a:extLst>
          </p:cNvPr>
          <p:cNvCxnSpPr>
            <a:cxnSpLocks/>
          </p:cNvCxnSpPr>
          <p:nvPr/>
        </p:nvCxnSpPr>
        <p:spPr>
          <a:xfrm>
            <a:off x="6794336" y="4153341"/>
            <a:ext cx="818609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Data 4">
            <a:extLst>
              <a:ext uri="{FF2B5EF4-FFF2-40B4-BE49-F238E27FC236}">
                <a16:creationId xmlns:a16="http://schemas.microsoft.com/office/drawing/2014/main" id="{02A7EA8B-F00E-0D40-5D2B-EBE32E19CA10}"/>
              </a:ext>
            </a:extLst>
          </p:cNvPr>
          <p:cNvSpPr/>
          <p:nvPr/>
        </p:nvSpPr>
        <p:spPr>
          <a:xfrm>
            <a:off x="7612848" y="3823254"/>
            <a:ext cx="1083879" cy="626369"/>
          </a:xfrm>
          <a:prstGeom prst="flowChartMulti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New Seeds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lowchart: Data 1">
            <a:extLst>
              <a:ext uri="{FF2B5EF4-FFF2-40B4-BE49-F238E27FC236}">
                <a16:creationId xmlns:a16="http://schemas.microsoft.com/office/drawing/2014/main" id="{9466A67C-2D37-EDA1-AF26-6A1D93D0052A}"/>
              </a:ext>
            </a:extLst>
          </p:cNvPr>
          <p:cNvSpPr/>
          <p:nvPr/>
        </p:nvSpPr>
        <p:spPr>
          <a:xfrm>
            <a:off x="-1256" y="1078614"/>
            <a:ext cx="1571335" cy="68800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Target Program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2BD2CAF8-B0A0-3FE1-0CEE-611EC6341E30}"/>
              </a:ext>
            </a:extLst>
          </p:cNvPr>
          <p:cNvSpPr/>
          <p:nvPr/>
        </p:nvSpPr>
        <p:spPr>
          <a:xfrm>
            <a:off x="4728884" y="1127108"/>
            <a:ext cx="1164540" cy="556140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Instrument</a:t>
            </a:r>
            <a:endParaRPr lang="en-US"/>
          </a:p>
        </p:txBody>
      </p:sp>
      <p:sp>
        <p:nvSpPr>
          <p:cNvPr id="19" name="Flowchart: Data 1">
            <a:extLst>
              <a:ext uri="{FF2B5EF4-FFF2-40B4-BE49-F238E27FC236}">
                <a16:creationId xmlns:a16="http://schemas.microsoft.com/office/drawing/2014/main" id="{0DFAAF6F-4624-277E-0A43-36F6C89569AC}"/>
              </a:ext>
            </a:extLst>
          </p:cNvPr>
          <p:cNvSpPr/>
          <p:nvPr/>
        </p:nvSpPr>
        <p:spPr>
          <a:xfrm>
            <a:off x="6895675" y="1131963"/>
            <a:ext cx="2251933" cy="6371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Instrumented Program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D817EE70-A6D1-025B-4FAB-AB87C5E1FF19}"/>
              </a:ext>
            </a:extLst>
          </p:cNvPr>
          <p:cNvSpPr/>
          <p:nvPr/>
        </p:nvSpPr>
        <p:spPr>
          <a:xfrm>
            <a:off x="6629537" y="2474470"/>
            <a:ext cx="929895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Execute</a:t>
            </a:r>
            <a:endParaRPr lang="en-US"/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08B78309-C4B3-50C6-C9F1-0B07540DBEFC}"/>
              </a:ext>
            </a:extLst>
          </p:cNvPr>
          <p:cNvSpPr/>
          <p:nvPr/>
        </p:nvSpPr>
        <p:spPr>
          <a:xfrm>
            <a:off x="2298463" y="2474470"/>
            <a:ext cx="1109189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Filter</a:t>
            </a:r>
            <a:b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</a:br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Seeds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Flowchart: Data 1">
            <a:extLst>
              <a:ext uri="{FF2B5EF4-FFF2-40B4-BE49-F238E27FC236}">
                <a16:creationId xmlns:a16="http://schemas.microsoft.com/office/drawing/2014/main" id="{5C7E3AA5-2C2A-13A5-9967-A37158177FFE}"/>
              </a:ext>
            </a:extLst>
          </p:cNvPr>
          <p:cNvSpPr/>
          <p:nvPr/>
        </p:nvSpPr>
        <p:spPr>
          <a:xfrm>
            <a:off x="4139028" y="2474566"/>
            <a:ext cx="1756231" cy="62636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Coverage data</a:t>
            </a:r>
          </a:p>
        </p:txBody>
      </p:sp>
      <p:sp>
        <p:nvSpPr>
          <p:cNvPr id="24" name="Flowchart: Data 4">
            <a:extLst>
              <a:ext uri="{FF2B5EF4-FFF2-40B4-BE49-F238E27FC236}">
                <a16:creationId xmlns:a16="http://schemas.microsoft.com/office/drawing/2014/main" id="{0D4D689F-A3ED-985C-4DEE-EF67571D5400}"/>
              </a:ext>
            </a:extLst>
          </p:cNvPr>
          <p:cNvSpPr/>
          <p:nvPr/>
        </p:nvSpPr>
        <p:spPr>
          <a:xfrm>
            <a:off x="79597" y="2518713"/>
            <a:ext cx="1478982" cy="626369"/>
          </a:xfrm>
          <a:prstGeom prst="flowChartMulti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Interesting Seeds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1FC1609-F99E-5E45-E857-2171D2E77776}"/>
              </a:ext>
            </a:extLst>
          </p:cNvPr>
          <p:cNvCxnSpPr>
            <a:cxnSpLocks/>
          </p:cNvCxnSpPr>
          <p:nvPr/>
        </p:nvCxnSpPr>
        <p:spPr>
          <a:xfrm>
            <a:off x="5141468" y="4153341"/>
            <a:ext cx="818609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FB9A0B4-7A4D-98C7-11D7-48F01452B8E6}"/>
              </a:ext>
            </a:extLst>
          </p:cNvPr>
          <p:cNvCxnSpPr>
            <a:cxnSpLocks/>
          </p:cNvCxnSpPr>
          <p:nvPr/>
        </p:nvCxnSpPr>
        <p:spPr>
          <a:xfrm>
            <a:off x="3270085" y="4153341"/>
            <a:ext cx="818609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59049D-12A7-9327-DFB0-52EA7B597081}"/>
              </a:ext>
            </a:extLst>
          </p:cNvPr>
          <p:cNvCxnSpPr>
            <a:cxnSpLocks/>
          </p:cNvCxnSpPr>
          <p:nvPr/>
        </p:nvCxnSpPr>
        <p:spPr>
          <a:xfrm>
            <a:off x="1398702" y="4153341"/>
            <a:ext cx="818609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3E649A-EF7B-7F9E-8720-B7EA14CDA56C}"/>
              </a:ext>
            </a:extLst>
          </p:cNvPr>
          <p:cNvCxnSpPr>
            <a:cxnSpLocks/>
          </p:cNvCxnSpPr>
          <p:nvPr/>
        </p:nvCxnSpPr>
        <p:spPr>
          <a:xfrm flipH="1">
            <a:off x="1556162" y="2759831"/>
            <a:ext cx="733406" cy="22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D192716-F2F1-D5C1-D113-E7DBAAB088D2}"/>
              </a:ext>
            </a:extLst>
          </p:cNvPr>
          <p:cNvCxnSpPr>
            <a:cxnSpLocks/>
          </p:cNvCxnSpPr>
          <p:nvPr/>
        </p:nvCxnSpPr>
        <p:spPr>
          <a:xfrm flipH="1">
            <a:off x="3405132" y="2759831"/>
            <a:ext cx="733406" cy="22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1940365-3329-2E80-0656-3E8DD4C44EA6}"/>
              </a:ext>
            </a:extLst>
          </p:cNvPr>
          <p:cNvCxnSpPr>
            <a:cxnSpLocks/>
          </p:cNvCxnSpPr>
          <p:nvPr/>
        </p:nvCxnSpPr>
        <p:spPr>
          <a:xfrm flipH="1">
            <a:off x="5892837" y="2759831"/>
            <a:ext cx="733406" cy="22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8B233FC-0AEF-6711-932E-093BE132354A}"/>
              </a:ext>
            </a:extLst>
          </p:cNvPr>
          <p:cNvCxnSpPr/>
          <p:nvPr/>
        </p:nvCxnSpPr>
        <p:spPr>
          <a:xfrm flipH="1">
            <a:off x="8285239" y="1760831"/>
            <a:ext cx="5389" cy="2058650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94FFC90-F5ED-75AB-53EF-2DFBF2F8DEE1}"/>
              </a:ext>
            </a:extLst>
          </p:cNvPr>
          <p:cNvCxnSpPr>
            <a:cxnSpLocks/>
          </p:cNvCxnSpPr>
          <p:nvPr/>
        </p:nvCxnSpPr>
        <p:spPr>
          <a:xfrm flipH="1">
            <a:off x="7551307" y="2759831"/>
            <a:ext cx="733406" cy="22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0207061-F374-7C58-DE4A-7BB4E57EBA6F}"/>
              </a:ext>
            </a:extLst>
          </p:cNvPr>
          <p:cNvCxnSpPr/>
          <p:nvPr/>
        </p:nvCxnSpPr>
        <p:spPr>
          <a:xfrm flipH="1">
            <a:off x="763619" y="3102259"/>
            <a:ext cx="9443" cy="7375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C3F7D98B-D968-4DCE-F81B-8F3B9800DB4A}"/>
              </a:ext>
            </a:extLst>
          </p:cNvPr>
          <p:cNvSpPr/>
          <p:nvPr/>
        </p:nvSpPr>
        <p:spPr>
          <a:xfrm>
            <a:off x="2565722" y="1126781"/>
            <a:ext cx="1164540" cy="556140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Harness</a:t>
            </a:r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9B818CB-5CB7-B5E7-905A-4F4E872F36EF}"/>
              </a:ext>
            </a:extLst>
          </p:cNvPr>
          <p:cNvCxnSpPr>
            <a:cxnSpLocks/>
          </p:cNvCxnSpPr>
          <p:nvPr/>
        </p:nvCxnSpPr>
        <p:spPr>
          <a:xfrm>
            <a:off x="5895817" y="1432545"/>
            <a:ext cx="1000897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F71639D-E08B-FD18-B0A5-5CF51EB66C40}"/>
              </a:ext>
            </a:extLst>
          </p:cNvPr>
          <p:cNvCxnSpPr>
            <a:cxnSpLocks/>
          </p:cNvCxnSpPr>
          <p:nvPr/>
        </p:nvCxnSpPr>
        <p:spPr>
          <a:xfrm>
            <a:off x="3727730" y="1432217"/>
            <a:ext cx="1000897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E534C32-335E-943D-6C87-890839AE2852}"/>
              </a:ext>
            </a:extLst>
          </p:cNvPr>
          <p:cNvCxnSpPr>
            <a:cxnSpLocks/>
          </p:cNvCxnSpPr>
          <p:nvPr/>
        </p:nvCxnSpPr>
        <p:spPr>
          <a:xfrm>
            <a:off x="1559643" y="1431889"/>
            <a:ext cx="1000897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C0CF2A7C-2F5B-8E50-6A38-797744BFD98D}"/>
              </a:ext>
            </a:extLst>
          </p:cNvPr>
          <p:cNvSpPr/>
          <p:nvPr/>
        </p:nvSpPr>
        <p:spPr>
          <a:xfrm>
            <a:off x="50848" y="3743947"/>
            <a:ext cx="1474199" cy="8415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3B2F39-49DF-55E0-769A-81FC37799E47}"/>
              </a:ext>
            </a:extLst>
          </p:cNvPr>
          <p:cNvSpPr/>
          <p:nvPr/>
        </p:nvSpPr>
        <p:spPr>
          <a:xfrm>
            <a:off x="1924499" y="3722244"/>
            <a:ext cx="1611647" cy="9211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5675259-AEC8-EB04-5090-5CC931AA18C3}"/>
              </a:ext>
            </a:extLst>
          </p:cNvPr>
          <p:cNvSpPr/>
          <p:nvPr/>
        </p:nvSpPr>
        <p:spPr>
          <a:xfrm>
            <a:off x="5597590" y="3758807"/>
            <a:ext cx="1536709" cy="84187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D463C3-D682-598A-0971-8B435D81E70E}"/>
              </a:ext>
            </a:extLst>
          </p:cNvPr>
          <p:cNvSpPr/>
          <p:nvPr/>
        </p:nvSpPr>
        <p:spPr>
          <a:xfrm>
            <a:off x="6281311" y="2291698"/>
            <a:ext cx="1616286" cy="9720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97B6B88-E4A8-1DBF-4ED6-E343B2A39388}"/>
              </a:ext>
            </a:extLst>
          </p:cNvPr>
          <p:cNvSpPr/>
          <p:nvPr/>
        </p:nvSpPr>
        <p:spPr>
          <a:xfrm>
            <a:off x="4053183" y="2421912"/>
            <a:ext cx="1963526" cy="7406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E4C1A80-5807-4EEA-2EF2-C0F3E0F2B4D8}"/>
              </a:ext>
            </a:extLst>
          </p:cNvPr>
          <p:cNvSpPr/>
          <p:nvPr/>
        </p:nvSpPr>
        <p:spPr>
          <a:xfrm>
            <a:off x="4461824" y="973648"/>
            <a:ext cx="1695860" cy="8708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46EEF3E-11A5-E57D-0FB1-9C5BB3F8612B}"/>
              </a:ext>
            </a:extLst>
          </p:cNvPr>
          <p:cNvSpPr/>
          <p:nvPr/>
        </p:nvSpPr>
        <p:spPr>
          <a:xfrm>
            <a:off x="2298804" y="966413"/>
            <a:ext cx="1695860" cy="8708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0913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F374EA1F-B605-8C6F-1EF7-EACC33A2B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FF7FAB1E-C604-CAF8-AF20-BB06463597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141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21B650BB-D88A-1527-C59D-373034AB76F0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7B07EDCD-1E2F-51D9-C3E1-C3B91281814D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BF47D656-DA61-2298-B61A-39843332BD7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D3B5E40F-496C-F924-B9D0-D07DEB88B7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Selective seed mutation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B1ED59-D678-5033-B801-4C5ED5C24753}"/>
              </a:ext>
            </a:extLst>
          </p:cNvPr>
          <p:cNvSpPr txBox="1"/>
          <p:nvPr/>
        </p:nvSpPr>
        <p:spPr>
          <a:xfrm>
            <a:off x="-1" y="861953"/>
            <a:ext cx="92474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Angora/JIGSAW: Solving using gradient descent.</a:t>
            </a:r>
            <a:endParaRPr lang="en-US"/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692081D5-C97F-0B8D-9A46-20751C5637AA}"/>
              </a:ext>
            </a:extLst>
          </p:cNvPr>
          <p:cNvSpPr/>
          <p:nvPr/>
        </p:nvSpPr>
        <p:spPr>
          <a:xfrm>
            <a:off x="1668008" y="1777147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D431784E-9A8A-AE3E-D142-B10E89184122}"/>
              </a:ext>
            </a:extLst>
          </p:cNvPr>
          <p:cNvSpPr/>
          <p:nvPr/>
        </p:nvSpPr>
        <p:spPr>
          <a:xfrm>
            <a:off x="2653353" y="3508018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5427133E-993D-0EAC-B8DA-6C1B439D7EA9}"/>
              </a:ext>
            </a:extLst>
          </p:cNvPr>
          <p:cNvSpPr/>
          <p:nvPr/>
        </p:nvSpPr>
        <p:spPr>
          <a:xfrm>
            <a:off x="2042438" y="4392706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D0440C4E-741C-B9CA-B327-5F4A353DD36D}"/>
              </a:ext>
            </a:extLst>
          </p:cNvPr>
          <p:cNvSpPr/>
          <p:nvPr/>
        </p:nvSpPr>
        <p:spPr>
          <a:xfrm>
            <a:off x="603835" y="3517871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95D23CD-12B1-3FE2-42F9-521360EF7B94}"/>
              </a:ext>
            </a:extLst>
          </p:cNvPr>
          <p:cNvSpPr/>
          <p:nvPr/>
        </p:nvSpPr>
        <p:spPr>
          <a:xfrm>
            <a:off x="61895" y="4392706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BC794C-4680-6D0A-29C3-547DBDE9D879}"/>
              </a:ext>
            </a:extLst>
          </p:cNvPr>
          <p:cNvCxnSpPr>
            <a:cxnSpLocks/>
          </p:cNvCxnSpPr>
          <p:nvPr/>
        </p:nvCxnSpPr>
        <p:spPr>
          <a:xfrm flipH="1">
            <a:off x="2544395" y="4083677"/>
            <a:ext cx="335018" cy="3941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1E6F7E-FB20-EB32-4E91-1E3E7A32520B}"/>
              </a:ext>
            </a:extLst>
          </p:cNvPr>
          <p:cNvCxnSpPr>
            <a:cxnSpLocks/>
          </p:cNvCxnSpPr>
          <p:nvPr/>
        </p:nvCxnSpPr>
        <p:spPr>
          <a:xfrm flipH="1">
            <a:off x="514582" y="4063969"/>
            <a:ext cx="246339" cy="3645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AF8FBE-A70C-8B40-29A4-B96173CDFFB3}"/>
              </a:ext>
            </a:extLst>
          </p:cNvPr>
          <p:cNvCxnSpPr>
            <a:cxnSpLocks/>
          </p:cNvCxnSpPr>
          <p:nvPr/>
        </p:nvCxnSpPr>
        <p:spPr>
          <a:xfrm flipH="1">
            <a:off x="1101176" y="2248722"/>
            <a:ext cx="652076" cy="3503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4C30E5C-40F2-24A1-9531-57A7EC982AF7}"/>
              </a:ext>
            </a:extLst>
          </p:cNvPr>
          <p:cNvCxnSpPr>
            <a:cxnSpLocks/>
          </p:cNvCxnSpPr>
          <p:nvPr/>
        </p:nvCxnSpPr>
        <p:spPr>
          <a:xfrm>
            <a:off x="2172333" y="2275353"/>
            <a:ext cx="552416" cy="3539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5233612D-2E61-732D-CD1B-51AD6E1AF517}"/>
              </a:ext>
            </a:extLst>
          </p:cNvPr>
          <p:cNvSpPr/>
          <p:nvPr/>
        </p:nvSpPr>
        <p:spPr>
          <a:xfrm>
            <a:off x="1165481" y="4382853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2E3C5DC9-33B0-DEB0-D3A6-3844264DE24B}"/>
              </a:ext>
            </a:extLst>
          </p:cNvPr>
          <p:cNvSpPr/>
          <p:nvPr/>
        </p:nvSpPr>
        <p:spPr>
          <a:xfrm>
            <a:off x="3323386" y="4402559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E6B1C1-AF8A-A98B-4CD2-D8DE60EC00B3}"/>
              </a:ext>
            </a:extLst>
          </p:cNvPr>
          <p:cNvCxnSpPr>
            <a:cxnSpLocks/>
          </p:cNvCxnSpPr>
          <p:nvPr/>
        </p:nvCxnSpPr>
        <p:spPr>
          <a:xfrm>
            <a:off x="1116142" y="4055739"/>
            <a:ext cx="234113" cy="3468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04FE992-446E-CF23-33FE-F2E4621AE715}"/>
              </a:ext>
            </a:extLst>
          </p:cNvPr>
          <p:cNvCxnSpPr>
            <a:cxnSpLocks/>
          </p:cNvCxnSpPr>
          <p:nvPr/>
        </p:nvCxnSpPr>
        <p:spPr>
          <a:xfrm>
            <a:off x="3062135" y="4078999"/>
            <a:ext cx="349859" cy="4192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D4F984A2-9DA0-BAC5-64B1-488E0AA3C562}"/>
              </a:ext>
            </a:extLst>
          </p:cNvPr>
          <p:cNvSpPr/>
          <p:nvPr/>
        </p:nvSpPr>
        <p:spPr>
          <a:xfrm>
            <a:off x="603834" y="2541924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DEE02478-05C3-0F33-41AA-59D6F9C9A518}"/>
              </a:ext>
            </a:extLst>
          </p:cNvPr>
          <p:cNvSpPr/>
          <p:nvPr/>
        </p:nvSpPr>
        <p:spPr>
          <a:xfrm>
            <a:off x="2652441" y="2541923"/>
            <a:ext cx="612913" cy="571499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0F9857-631F-5E94-DB77-6FDF8DE81D7B}"/>
              </a:ext>
            </a:extLst>
          </p:cNvPr>
          <p:cNvCxnSpPr>
            <a:cxnSpLocks/>
          </p:cNvCxnSpPr>
          <p:nvPr/>
        </p:nvCxnSpPr>
        <p:spPr>
          <a:xfrm flipH="1">
            <a:off x="912432" y="3110355"/>
            <a:ext cx="8792" cy="3956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368C4F1-3CDA-B0E6-8D56-3FFBDFE9D5AB}"/>
              </a:ext>
            </a:extLst>
          </p:cNvPr>
          <p:cNvCxnSpPr>
            <a:cxnSpLocks/>
          </p:cNvCxnSpPr>
          <p:nvPr/>
        </p:nvCxnSpPr>
        <p:spPr>
          <a:xfrm flipH="1">
            <a:off x="2961039" y="3119146"/>
            <a:ext cx="8792" cy="3956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EF829A1-D1BB-9B5F-E295-7DC3C55B6C11}"/>
              </a:ext>
            </a:extLst>
          </p:cNvPr>
          <p:cNvSpPr txBox="1"/>
          <p:nvPr/>
        </p:nvSpPr>
        <p:spPr>
          <a:xfrm>
            <a:off x="2215846" y="2078000"/>
            <a:ext cx="615461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C</a:t>
            </a:r>
            <a:r>
              <a:rPr lang="en-US" sz="2400" baseline="-25000">
                <a:latin typeface="Helvetica Neue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289E4F-7675-A66D-5B23-4817D0AACF78}"/>
              </a:ext>
            </a:extLst>
          </p:cNvPr>
          <p:cNvSpPr txBox="1"/>
          <p:nvPr/>
        </p:nvSpPr>
        <p:spPr>
          <a:xfrm>
            <a:off x="3064812" y="3958697"/>
            <a:ext cx="6154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C</a:t>
            </a:r>
            <a:r>
              <a:rPr lang="en-US" sz="2400" baseline="-25000" dirty="0">
                <a:latin typeface="Helvetica Neue"/>
              </a:rPr>
              <a:t>2</a:t>
            </a:r>
            <a:endParaRPr lang="en-US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22A3648-6893-F260-0BF5-1817F7D56C9A}"/>
              </a:ext>
            </a:extLst>
          </p:cNvPr>
          <p:cNvGraphicFramePr>
            <a:graphicFrameLocks noGrp="1"/>
          </p:cNvGraphicFramePr>
          <p:nvPr/>
        </p:nvGraphicFramePr>
        <p:xfrm>
          <a:off x="3586793" y="3236303"/>
          <a:ext cx="51206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">
                  <a:extLst>
                    <a:ext uri="{9D8B030D-6E8A-4147-A177-3AD203B41FA5}">
                      <a16:colId xmlns:a16="http://schemas.microsoft.com/office/drawing/2014/main" val="133998855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3547847688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3280710382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335872662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572761877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1213649504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72815276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1379390889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1487338049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4251109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259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1980F0B-AECB-0B90-FA20-4788AC36DF7B}"/>
              </a:ext>
            </a:extLst>
          </p:cNvPr>
          <p:cNvSpPr txBox="1"/>
          <p:nvPr/>
        </p:nvSpPr>
        <p:spPr>
          <a:xfrm rot="16200000">
            <a:off x="4824481" y="2376107"/>
            <a:ext cx="49643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0">
                <a:latin typeface="Helvetica Neue"/>
              </a:rPr>
              <a:t>}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742D9D0-7FFB-6CED-314D-DECE69EE926F}"/>
              </a:ext>
            </a:extLst>
          </p:cNvPr>
          <p:cNvCxnSpPr/>
          <p:nvPr/>
        </p:nvCxnSpPr>
        <p:spPr>
          <a:xfrm flipH="1">
            <a:off x="2596343" y="2269190"/>
            <a:ext cx="2516130" cy="155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CBE97A8-BE92-906E-ADA8-E3D080CB9C1E}"/>
              </a:ext>
            </a:extLst>
          </p:cNvPr>
          <p:cNvCxnSpPr/>
          <p:nvPr/>
        </p:nvCxnSpPr>
        <p:spPr>
          <a:xfrm>
            <a:off x="5114887" y="2262897"/>
            <a:ext cx="8282" cy="604630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B449C64-3806-FB16-42D8-E1317C7C8089}"/>
              </a:ext>
            </a:extLst>
          </p:cNvPr>
          <p:cNvSpPr txBox="1"/>
          <p:nvPr/>
        </p:nvSpPr>
        <p:spPr>
          <a:xfrm rot="5400000">
            <a:off x="7281930" y="3009133"/>
            <a:ext cx="51401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600" dirty="0">
                <a:latin typeface="Helvetica Neue"/>
              </a:rPr>
              <a:t>}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ADEE71E-491A-06A8-A695-72687B1C8199}"/>
              </a:ext>
            </a:extLst>
          </p:cNvPr>
          <p:cNvCxnSpPr>
            <a:cxnSpLocks/>
          </p:cNvCxnSpPr>
          <p:nvPr/>
        </p:nvCxnSpPr>
        <p:spPr>
          <a:xfrm flipH="1" flipV="1">
            <a:off x="3538303" y="4197462"/>
            <a:ext cx="3946450" cy="165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C52A2CB-F679-BC7D-AC5C-7BDC24E9B713}"/>
              </a:ext>
            </a:extLst>
          </p:cNvPr>
          <p:cNvCxnSpPr/>
          <p:nvPr/>
        </p:nvCxnSpPr>
        <p:spPr>
          <a:xfrm flipH="1">
            <a:off x="7479842" y="4012586"/>
            <a:ext cx="2402" cy="199704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E85E7F6-4FB6-0642-1C4F-01B06863636F}"/>
              </a:ext>
            </a:extLst>
          </p:cNvPr>
          <p:cNvSpPr txBox="1"/>
          <p:nvPr/>
        </p:nvSpPr>
        <p:spPr>
          <a:xfrm>
            <a:off x="2914650" y="1828799"/>
            <a:ext cx="27908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Helvetica Neue"/>
              </a:rPr>
              <a:t>Taint analysis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EF0959-D950-8545-D826-6568541930B3}"/>
              </a:ext>
            </a:extLst>
          </p:cNvPr>
          <p:cNvSpPr txBox="1"/>
          <p:nvPr/>
        </p:nvSpPr>
        <p:spPr>
          <a:xfrm>
            <a:off x="4417115" y="4142960"/>
            <a:ext cx="27908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Helvetica Neue"/>
              </a:rPr>
              <a:t>Taint analysis</a:t>
            </a:r>
          </a:p>
        </p:txBody>
      </p:sp>
    </p:spTree>
    <p:extLst>
      <p:ext uri="{BB962C8B-B14F-4D97-AF65-F5344CB8AC3E}">
        <p14:creationId xmlns:p14="http://schemas.microsoft.com/office/powerpoint/2010/main" val="11261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/>
      <p:bldP spid="30" grpId="0"/>
      <p:bldP spid="32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922E4BD6-262F-D54B-E4AA-A6710D755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3877421E-C0FE-0C67-A956-2AD33EAD3B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142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75B7BDD-ED59-3AA0-1609-D7DB26ABF20A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A368E267-F38A-8B7B-E709-B6921C120CFB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9519713D-AB50-B8F2-7C99-74B9B222462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9CF4D30C-E141-5AF6-A576-2A10062642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Fuzz driver generation (</a:t>
            </a:r>
            <a:r>
              <a:rPr lang="en-US" sz="4000" err="1">
                <a:solidFill>
                  <a:schemeClr val="lt1"/>
                </a:solidFill>
                <a:latin typeface="Helvetica Neue"/>
              </a:rPr>
              <a:t>cont</a:t>
            </a:r>
            <a:r>
              <a:rPr lang="en-US" sz="4000">
                <a:solidFill>
                  <a:schemeClr val="lt1"/>
                </a:solidFill>
                <a:latin typeface="Helvetica Neue"/>
              </a:rPr>
              <a:t>).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FE7101-671A-DF43-89EC-7CA635DEC688}"/>
              </a:ext>
            </a:extLst>
          </p:cNvPr>
          <p:cNvSpPr txBox="1"/>
          <p:nvPr/>
        </p:nvSpPr>
        <p:spPr>
          <a:xfrm>
            <a:off x="8007852" y="2571963"/>
            <a:ext cx="108895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Fuzz</a:t>
            </a:r>
            <a:br>
              <a:rPr lang="en-US" sz="2400">
                <a:latin typeface="Helvetica Neue"/>
              </a:rPr>
            </a:br>
            <a:r>
              <a:rPr lang="en-US" sz="2400">
                <a:latin typeface="Helvetica Neue"/>
              </a:rPr>
              <a:t>Driver</a:t>
            </a:r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AE77833-9511-B20A-F3D1-4376371E8FF3}"/>
              </a:ext>
            </a:extLst>
          </p:cNvPr>
          <p:cNvSpPr/>
          <p:nvPr/>
        </p:nvSpPr>
        <p:spPr>
          <a:xfrm>
            <a:off x="7367652" y="2777549"/>
            <a:ext cx="640277" cy="5356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05E203-F073-701F-6974-5A5AEC950392}"/>
              </a:ext>
            </a:extLst>
          </p:cNvPr>
          <p:cNvSpPr txBox="1"/>
          <p:nvPr/>
        </p:nvSpPr>
        <p:spPr>
          <a:xfrm>
            <a:off x="5408716" y="2652794"/>
            <a:ext cx="192314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Helvetica Neue"/>
              </a:rPr>
              <a:t>Library Automaton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F456CA-C43A-A504-A52E-D72EB4A311C7}"/>
              </a:ext>
            </a:extLst>
          </p:cNvPr>
          <p:cNvSpPr txBox="1"/>
          <p:nvPr/>
        </p:nvSpPr>
        <p:spPr>
          <a:xfrm>
            <a:off x="2964393" y="1533071"/>
            <a:ext cx="192314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API 1 Automaton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F2D660-BF1C-413D-2BA2-ACB110A6B71F}"/>
              </a:ext>
            </a:extLst>
          </p:cNvPr>
          <p:cNvSpPr txBox="1"/>
          <p:nvPr/>
        </p:nvSpPr>
        <p:spPr>
          <a:xfrm>
            <a:off x="2964392" y="2685142"/>
            <a:ext cx="192314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API 2 Automaton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D9F31D-CE73-A22D-C29F-302B18C9301D}"/>
              </a:ext>
            </a:extLst>
          </p:cNvPr>
          <p:cNvSpPr txBox="1"/>
          <p:nvPr/>
        </p:nvSpPr>
        <p:spPr>
          <a:xfrm>
            <a:off x="2982534" y="3804864"/>
            <a:ext cx="192314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API 3 Automaton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6D70E6-3141-2CC1-C6E5-D6F4EAEBF1C4}"/>
              </a:ext>
            </a:extLst>
          </p:cNvPr>
          <p:cNvSpPr txBox="1"/>
          <p:nvPr/>
        </p:nvSpPr>
        <p:spPr>
          <a:xfrm>
            <a:off x="142874" y="890528"/>
            <a:ext cx="88378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Helvetica Neue"/>
              </a:rPr>
              <a:t>RUBICK: Automata-guided fuzz driver generation</a:t>
            </a:r>
            <a:endParaRPr lang="en-US" sz="280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B0D4EA2-8678-CC83-51E5-49B24B996076}"/>
              </a:ext>
            </a:extLst>
          </p:cNvPr>
          <p:cNvCxnSpPr>
            <a:cxnSpLocks/>
          </p:cNvCxnSpPr>
          <p:nvPr/>
        </p:nvCxnSpPr>
        <p:spPr>
          <a:xfrm flipV="1">
            <a:off x="4911233" y="2987357"/>
            <a:ext cx="497481" cy="27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AAFC6E0-FCA9-EB8A-C19C-6F7C92BA824F}"/>
              </a:ext>
            </a:extLst>
          </p:cNvPr>
          <p:cNvCxnSpPr>
            <a:cxnSpLocks/>
          </p:cNvCxnSpPr>
          <p:nvPr/>
        </p:nvCxnSpPr>
        <p:spPr>
          <a:xfrm>
            <a:off x="4864069" y="2374878"/>
            <a:ext cx="543494" cy="3727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48A4DD-9337-77A8-BDE5-D02F7800C3A1}"/>
              </a:ext>
            </a:extLst>
          </p:cNvPr>
          <p:cNvCxnSpPr>
            <a:cxnSpLocks/>
          </p:cNvCxnSpPr>
          <p:nvPr/>
        </p:nvCxnSpPr>
        <p:spPr>
          <a:xfrm flipV="1">
            <a:off x="4869732" y="3303282"/>
            <a:ext cx="531513" cy="4968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D1F701E-C6E3-2CAB-E0FE-0BFD9526158E}"/>
              </a:ext>
            </a:extLst>
          </p:cNvPr>
          <p:cNvSpPr txBox="1"/>
          <p:nvPr/>
        </p:nvSpPr>
        <p:spPr>
          <a:xfrm>
            <a:off x="171166" y="1548847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Consumer 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E9B83E-0564-A360-9BA5-12B68909F825}"/>
              </a:ext>
            </a:extLst>
          </p:cNvPr>
          <p:cNvSpPr txBox="1"/>
          <p:nvPr/>
        </p:nvSpPr>
        <p:spPr>
          <a:xfrm>
            <a:off x="171165" y="2245049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Consumer 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126E80-B902-9AA3-D979-9D2C06634162}"/>
              </a:ext>
            </a:extLst>
          </p:cNvPr>
          <p:cNvSpPr txBox="1"/>
          <p:nvPr/>
        </p:nvSpPr>
        <p:spPr>
          <a:xfrm>
            <a:off x="171164" y="2908871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Consumer 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17A680-7DD7-DFD7-1D81-390A7563B1C1}"/>
              </a:ext>
            </a:extLst>
          </p:cNvPr>
          <p:cNvSpPr txBox="1"/>
          <p:nvPr/>
        </p:nvSpPr>
        <p:spPr>
          <a:xfrm>
            <a:off x="171165" y="3610586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⋮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B0214E-A74F-427B-DF4E-03EFA9AD967A}"/>
              </a:ext>
            </a:extLst>
          </p:cNvPr>
          <p:cNvSpPr txBox="1"/>
          <p:nvPr/>
        </p:nvSpPr>
        <p:spPr>
          <a:xfrm>
            <a:off x="171164" y="4312301"/>
            <a:ext cx="194620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Helvetica Neue"/>
              </a:rPr>
              <a:t>Consumer 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AD21D35-4667-0CC3-9FEB-4CF96AC65B40}"/>
              </a:ext>
            </a:extLst>
          </p:cNvPr>
          <p:cNvSpPr/>
          <p:nvPr/>
        </p:nvSpPr>
        <p:spPr>
          <a:xfrm>
            <a:off x="35686" y="1462767"/>
            <a:ext cx="2251982" cy="35242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AF29079-8526-6C15-CBCC-93946DAA3CB0}"/>
              </a:ext>
            </a:extLst>
          </p:cNvPr>
          <p:cNvSpPr/>
          <p:nvPr/>
        </p:nvSpPr>
        <p:spPr>
          <a:xfrm>
            <a:off x="2311854" y="2843685"/>
            <a:ext cx="640277" cy="5356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67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5" grpId="0" animBg="1"/>
      <p:bldP spid="18" grpId="0" animBg="1"/>
      <p:bldP spid="3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C09BF890-B25C-8B5A-453C-8DA66A26D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B8F00925-ADF4-F523-6926-66D3A6C93A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143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4FF4ACF8-B3C7-A3F8-D7C2-92D9A495608D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31F4E78C-E6A8-C356-5E67-135DD2D8ADD8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8718AC2D-6DDE-EB74-44F8-7DB6A8133A6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23BB9C3A-05AB-DD3E-6B3E-4D55510C00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Execution feedback (cont.)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EBC967-6AB7-CA25-76EB-E517D0514ACE}"/>
              </a:ext>
            </a:extLst>
          </p:cNvPr>
          <p:cNvSpPr txBox="1"/>
          <p:nvPr/>
        </p:nvSpPr>
        <p:spPr>
          <a:xfrm>
            <a:off x="142874" y="989919"/>
            <a:ext cx="883783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 err="1">
                <a:latin typeface="Helvetica Neue"/>
              </a:rPr>
              <a:t>CollAFL</a:t>
            </a:r>
            <a:r>
              <a:rPr lang="en-US" sz="2800" dirty="0">
                <a:latin typeface="Helvetica Neue"/>
              </a:rPr>
              <a:t>: Collision free edge ID assignment.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6093519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507C0FC8-DE34-1B09-0004-E6297611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D33CF58D-C4BA-6370-3DA9-7E841D1F24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144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775FAD7-53CD-291B-E3D5-6723F629E400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241F4DE7-92BB-1F55-EB9A-176022B0AD7A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A77A717D-F1E4-B407-AC65-C2646721DCE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FC1E5BDD-C750-68B0-4C6B-9D4CABAAAA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Execution feedback (cont.)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4D737E-B906-6FF4-6FBD-1C30E703732E}"/>
              </a:ext>
            </a:extLst>
          </p:cNvPr>
          <p:cNvSpPr txBox="1"/>
          <p:nvPr/>
        </p:nvSpPr>
        <p:spPr>
          <a:xfrm>
            <a:off x="142874" y="989919"/>
            <a:ext cx="8837839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 err="1">
                <a:latin typeface="Helvetica Neue"/>
              </a:rPr>
              <a:t>CollAFL</a:t>
            </a:r>
            <a:r>
              <a:rPr lang="en-US" sz="2800" dirty="0">
                <a:latin typeface="Helvetica Neue"/>
              </a:rPr>
              <a:t>: Collision free edge ID assignment.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Single predecessor: Assign static edge ID.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Multiple predecessors: </a:t>
            </a:r>
            <a:r>
              <a:rPr lang="en-US" sz="2800" i="1" dirty="0">
                <a:latin typeface="Helvetica Neue"/>
              </a:rPr>
              <a:t>(</a:t>
            </a:r>
            <a:r>
              <a:rPr lang="en-US" sz="2800" i="1" dirty="0" err="1">
                <a:latin typeface="Helvetica Neue"/>
              </a:rPr>
              <a:t>curr</a:t>
            </a:r>
            <a:r>
              <a:rPr lang="en-US" sz="2800" i="1" dirty="0">
                <a:latin typeface="Helvetica Neue"/>
              </a:rPr>
              <a:t> &gt;&gt; x) </a:t>
            </a:r>
            <a:r>
              <a:rPr lang="en-US" sz="2800" dirty="0">
                <a:latin typeface="Helvetica Neue"/>
              </a:rPr>
              <a:t>⊕</a:t>
            </a:r>
            <a:r>
              <a:rPr lang="en-US" sz="2800" i="1" dirty="0">
                <a:latin typeface="Helvetica Neue"/>
              </a:rPr>
              <a:t> (</a:t>
            </a:r>
            <a:r>
              <a:rPr lang="en-US" sz="2800" i="1" dirty="0" err="1">
                <a:latin typeface="Helvetica Neue"/>
              </a:rPr>
              <a:t>prev</a:t>
            </a:r>
            <a:r>
              <a:rPr lang="en-US" sz="2800" i="1" dirty="0">
                <a:latin typeface="Helvetica Neue"/>
              </a:rPr>
              <a:t> &gt;&gt; y) + z</a:t>
            </a:r>
          </a:p>
        </p:txBody>
      </p:sp>
    </p:spTree>
    <p:extLst>
      <p:ext uri="{BB962C8B-B14F-4D97-AF65-F5344CB8AC3E}">
        <p14:creationId xmlns:p14="http://schemas.microsoft.com/office/powerpoint/2010/main" val="16733731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CF9C13C2-90DE-E16E-7E57-82960E8A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D30E55D3-09AC-7326-316D-DAB18BCEA5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145</a:t>
            </a:fld>
            <a:endParaRPr>
              <a:latin typeface="Helvetica Neue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68EE53B-C32D-D65A-8D26-6D1A44015823}"/>
              </a:ext>
            </a:extLst>
          </p:cNvPr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>
            <a:extLst>
              <a:ext uri="{FF2B5EF4-FFF2-40B4-BE49-F238E27FC236}">
                <a16:creationId xmlns:a16="http://schemas.microsoft.com/office/drawing/2014/main" id="{04D99987-CC86-CE32-DE36-6A1DFF8C92A2}"/>
              </a:ext>
            </a:extLst>
          </p:cNvPr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FE2C7C5C-7ED7-6026-BF49-6007B33194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6D06C779-CDBD-5DAB-5DFC-5EC13C9E1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Execution feedback (cont.)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73D45-3447-4994-A24B-FD54E4EE0244}"/>
              </a:ext>
            </a:extLst>
          </p:cNvPr>
          <p:cNvSpPr txBox="1"/>
          <p:nvPr/>
        </p:nvSpPr>
        <p:spPr>
          <a:xfrm>
            <a:off x="142874" y="989919"/>
            <a:ext cx="8837839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 err="1">
                <a:latin typeface="Helvetica Neue"/>
              </a:rPr>
              <a:t>CollAFL</a:t>
            </a:r>
            <a:r>
              <a:rPr lang="en-US" sz="2800" dirty="0">
                <a:latin typeface="Helvetica Neue"/>
              </a:rPr>
              <a:t>: Collision free edge ID assignment.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Single predecessor: Assign static edge ID.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Multiple predecessors: </a:t>
            </a:r>
            <a:r>
              <a:rPr lang="en-US" sz="2800" i="1" dirty="0">
                <a:latin typeface="Helvetica Neue"/>
              </a:rPr>
              <a:t>(</a:t>
            </a:r>
            <a:r>
              <a:rPr lang="en-US" sz="2800" i="1" dirty="0" err="1">
                <a:latin typeface="Helvetica Neue"/>
              </a:rPr>
              <a:t>curr</a:t>
            </a:r>
            <a:r>
              <a:rPr lang="en-US" sz="2800" i="1" dirty="0">
                <a:latin typeface="Helvetica Neue"/>
              </a:rPr>
              <a:t> &gt;&gt; x) </a:t>
            </a:r>
            <a:r>
              <a:rPr lang="en-US" sz="2800" dirty="0">
                <a:latin typeface="Helvetica Neue"/>
              </a:rPr>
              <a:t>⊕</a:t>
            </a:r>
            <a:r>
              <a:rPr lang="en-US" sz="2800" i="1" dirty="0">
                <a:latin typeface="Helvetica Neue"/>
              </a:rPr>
              <a:t> (</a:t>
            </a:r>
            <a:r>
              <a:rPr lang="en-US" sz="2800" i="1" dirty="0" err="1">
                <a:latin typeface="Helvetica Neue"/>
              </a:rPr>
              <a:t>prev</a:t>
            </a:r>
            <a:r>
              <a:rPr lang="en-US" sz="2800" i="1" dirty="0">
                <a:latin typeface="Helvetica Neue"/>
              </a:rPr>
              <a:t> &gt;&gt; y) + z</a:t>
            </a:r>
          </a:p>
          <a:p>
            <a:pPr marL="457200" indent="-457200">
              <a:buChar char="•"/>
            </a:pPr>
            <a:endParaRPr lang="en-US" sz="2800" i="1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 dirty="0">
                <a:latin typeface="Helvetica Neue"/>
              </a:rPr>
              <a:t>ID computed and assigned using LLVM LTO.</a:t>
            </a:r>
          </a:p>
        </p:txBody>
      </p:sp>
    </p:spTree>
    <p:extLst>
      <p:ext uri="{BB962C8B-B14F-4D97-AF65-F5344CB8AC3E}">
        <p14:creationId xmlns:p14="http://schemas.microsoft.com/office/powerpoint/2010/main" val="19846093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146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Software is ubiquitous</a:t>
            </a:r>
            <a:endParaRPr lang="en-US">
              <a:solidFill>
                <a:schemeClr val="lt1"/>
              </a:solidFill>
            </a:endParaRPr>
          </a:p>
        </p:txBody>
      </p:sp>
      <p:pic>
        <p:nvPicPr>
          <p:cNvPr id="2" name="Picture 1" descr="A person driving a car&#10;&#10;Description automatically generated">
            <a:extLst>
              <a:ext uri="{FF2B5EF4-FFF2-40B4-BE49-F238E27FC236}">
                <a16:creationId xmlns:a16="http://schemas.microsoft.com/office/drawing/2014/main" id="{9C937430-C07F-BEC5-0354-6618B6AA0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389" y="985327"/>
            <a:ext cx="2740910" cy="1582356"/>
          </a:xfrm>
          <a:prstGeom prst="rect">
            <a:avLst/>
          </a:prstGeom>
        </p:spPr>
      </p:pic>
      <p:pic>
        <p:nvPicPr>
          <p:cNvPr id="4" name="Picture 3" descr="A cell phone on a table&#10;&#10;Description automatically generated">
            <a:extLst>
              <a:ext uri="{FF2B5EF4-FFF2-40B4-BE49-F238E27FC236}">
                <a16:creationId xmlns:a16="http://schemas.microsoft.com/office/drawing/2014/main" id="{7F431902-92D0-0821-C944-97F6909C3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404" y="985837"/>
            <a:ext cx="2507611" cy="1740849"/>
          </a:xfrm>
          <a:prstGeom prst="rect">
            <a:avLst/>
          </a:prstGeom>
        </p:spPr>
      </p:pic>
      <p:pic>
        <p:nvPicPr>
          <p:cNvPr id="6" name="Picture 5" descr="A group of electrical equipment&#10;&#10;Description automatically generated">
            <a:extLst>
              <a:ext uri="{FF2B5EF4-FFF2-40B4-BE49-F238E27FC236}">
                <a16:creationId xmlns:a16="http://schemas.microsoft.com/office/drawing/2014/main" id="{2855F9E5-7E7A-A2C0-80CD-2FF5FB91AB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22" y="2700445"/>
            <a:ext cx="2796887" cy="1846768"/>
          </a:xfrm>
          <a:prstGeom prst="rect">
            <a:avLst/>
          </a:prstGeom>
        </p:spPr>
      </p:pic>
      <p:pic>
        <p:nvPicPr>
          <p:cNvPr id="7" name="Picture 6" descr="The cockpit of an airplane&#10;&#10;Description automatically generated">
            <a:extLst>
              <a:ext uri="{FF2B5EF4-FFF2-40B4-BE49-F238E27FC236}">
                <a16:creationId xmlns:a16="http://schemas.microsoft.com/office/drawing/2014/main" id="{8CAD57E9-CD1F-B71D-0FF2-7D4A937983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9005" y="985405"/>
            <a:ext cx="2395103" cy="3571008"/>
          </a:xfrm>
          <a:prstGeom prst="rect">
            <a:avLst/>
          </a:prstGeom>
        </p:spPr>
      </p:pic>
      <p:pic>
        <p:nvPicPr>
          <p:cNvPr id="8" name="Picture 7" descr="A pair of electronic devices on a table&#10;&#10;Description automatically generated">
            <a:extLst>
              <a:ext uri="{FF2B5EF4-FFF2-40B4-BE49-F238E27FC236}">
                <a16:creationId xmlns:a16="http://schemas.microsoft.com/office/drawing/2014/main" id="{AE851CB1-AC52-481A-6977-C9AED007E6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796" y="2837605"/>
            <a:ext cx="2511137" cy="171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92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147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AFL components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890528"/>
            <a:ext cx="8837839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Initial seeds: Manually curated set of valid inputs.</a:t>
            </a:r>
            <a:endParaRPr lang="en-US"/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Seed scheduler: FIFO + favorable seeds.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780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148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Seed scheduling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890528"/>
            <a:ext cx="8837839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Two key challenges – scheduling order and energy assignment.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Scheduling order: Selecting optimal seeds earlier.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Energy assignment: Effort to spend fuzzing seed chosen by scheduling order.</a:t>
            </a:r>
          </a:p>
        </p:txBody>
      </p:sp>
    </p:spTree>
    <p:extLst>
      <p:ext uri="{BB962C8B-B14F-4D97-AF65-F5344CB8AC3E}">
        <p14:creationId xmlns:p14="http://schemas.microsoft.com/office/powerpoint/2010/main" val="1152851101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149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26760" cy="603316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Seed mutation</a:t>
            </a: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890528"/>
            <a:ext cx="8837839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Two types: whole seed mutation and selective seed mutation.</a:t>
            </a:r>
            <a:endParaRPr lang="en-US"/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Treat all bytes as equal vs prioritize specific bytes.</a:t>
            </a:r>
          </a:p>
          <a:p>
            <a:pPr marL="457200" indent="-457200">
              <a:buChar char="•"/>
            </a:pPr>
            <a:endParaRPr lang="en-US" sz="2800">
              <a:latin typeface="Helvetica Neue"/>
            </a:endParaRPr>
          </a:p>
          <a:p>
            <a:pPr marL="457200" indent="-457200">
              <a:buChar char="•"/>
            </a:pPr>
            <a:r>
              <a:rPr lang="en-US" sz="2800">
                <a:latin typeface="Helvetica Neue"/>
              </a:rPr>
              <a:t>Key decisions: which bytes to mutate and how to mutate them.</a:t>
            </a:r>
          </a:p>
        </p:txBody>
      </p:sp>
    </p:spTree>
    <p:extLst>
      <p:ext uri="{BB962C8B-B14F-4D97-AF65-F5344CB8AC3E}">
        <p14:creationId xmlns:p14="http://schemas.microsoft.com/office/powerpoint/2010/main" val="150208126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150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844090" cy="65896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 dirty="0">
                <a:solidFill>
                  <a:schemeClr val="lt1"/>
                </a:solidFill>
                <a:latin typeface="Helvetica Neue"/>
              </a:rPr>
              <a:t>Whole seed mutation (cont.)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5432D-029C-BF21-ED45-4CF27DD09282}"/>
              </a:ext>
            </a:extLst>
          </p:cNvPr>
          <p:cNvSpPr txBox="1"/>
          <p:nvPr/>
        </p:nvSpPr>
        <p:spPr>
          <a:xfrm>
            <a:off x="142874" y="890528"/>
            <a:ext cx="883783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en-US" sz="2800" dirty="0" err="1">
                <a:latin typeface="Helvetica Neue"/>
              </a:rPr>
              <a:t>NestFuzz</a:t>
            </a:r>
            <a:r>
              <a:rPr lang="en-US" sz="2800" dirty="0">
                <a:latin typeface="Helvetica Neue"/>
              </a:rPr>
              <a:t>/AIFORE: Input fields, types and dependencies aware mutation.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AC8F88-CD77-4BC4-ED19-90880E479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838670"/>
              </p:ext>
            </p:extLst>
          </p:nvPr>
        </p:nvGraphicFramePr>
        <p:xfrm>
          <a:off x="233309" y="2446221"/>
          <a:ext cx="68095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969">
                  <a:extLst>
                    <a:ext uri="{9D8B030D-6E8A-4147-A177-3AD203B41FA5}">
                      <a16:colId xmlns:a16="http://schemas.microsoft.com/office/drawing/2014/main" val="3459204964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435805187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365799089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1020516640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319526133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1409241397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3453058704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3339816550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1896230967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3275051956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1453205061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1003975039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1168062724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2514068713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2985898593"/>
                    </a:ext>
                  </a:extLst>
                </a:gridCol>
              </a:tblGrid>
              <a:tr h="40464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 Neue"/>
                        </a:rPr>
                        <a:t>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 Neue"/>
                        </a:rPr>
                        <a:t>P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 Neue"/>
                        </a:rPr>
                        <a:t>D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 Neue"/>
                        </a:rPr>
                        <a:t>F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6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6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 Neue"/>
                        </a:rPr>
                        <a:t>C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83721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3316A6C-AC35-77CE-0EEE-33CD89370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663157"/>
              </p:ext>
            </p:extLst>
          </p:nvPr>
        </p:nvGraphicFramePr>
        <p:xfrm>
          <a:off x="233309" y="3322669"/>
          <a:ext cx="68095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969">
                  <a:extLst>
                    <a:ext uri="{9D8B030D-6E8A-4147-A177-3AD203B41FA5}">
                      <a16:colId xmlns:a16="http://schemas.microsoft.com/office/drawing/2014/main" val="3459204964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435805187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365799089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1020516640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319526133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1409241397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3453058704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3339816550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1896230967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3275051956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1453205061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1003975039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1168062724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2514068713"/>
                    </a:ext>
                  </a:extLst>
                </a:gridCol>
                <a:gridCol w="453969">
                  <a:extLst>
                    <a:ext uri="{9D8B030D-6E8A-4147-A177-3AD203B41FA5}">
                      <a16:colId xmlns:a16="http://schemas.microsoft.com/office/drawing/2014/main" val="2985898593"/>
                    </a:ext>
                  </a:extLst>
                </a:gridCol>
              </a:tblGrid>
              <a:tr h="40464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 Neue"/>
                        </a:rPr>
                        <a:t>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 Neue"/>
                        </a:rPr>
                        <a:t>P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 Neue"/>
                        </a:rPr>
                        <a:t>D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 Neue"/>
                        </a:rPr>
                        <a:t>F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accent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accent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 Neue"/>
                        </a:rPr>
                        <a:t>C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83721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3C3961-9C0D-672D-E331-8C999934C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875721"/>
              </p:ext>
            </p:extLst>
          </p:nvPr>
        </p:nvGraphicFramePr>
        <p:xfrm>
          <a:off x="233309" y="1981177"/>
          <a:ext cx="680953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5876">
                  <a:extLst>
                    <a:ext uri="{9D8B030D-6E8A-4147-A177-3AD203B41FA5}">
                      <a16:colId xmlns:a16="http://schemas.microsoft.com/office/drawing/2014/main" val="3459204964"/>
                    </a:ext>
                  </a:extLst>
                </a:gridCol>
                <a:gridCol w="1815876">
                  <a:extLst>
                    <a:ext uri="{9D8B030D-6E8A-4147-A177-3AD203B41FA5}">
                      <a16:colId xmlns:a16="http://schemas.microsoft.com/office/drawing/2014/main" val="319526133"/>
                    </a:ext>
                  </a:extLst>
                </a:gridCol>
                <a:gridCol w="1815876">
                  <a:extLst>
                    <a:ext uri="{9D8B030D-6E8A-4147-A177-3AD203B41FA5}">
                      <a16:colId xmlns:a16="http://schemas.microsoft.com/office/drawing/2014/main" val="1896230967"/>
                    </a:ext>
                  </a:extLst>
                </a:gridCol>
                <a:gridCol w="1361906">
                  <a:extLst>
                    <a:ext uri="{9D8B030D-6E8A-4147-A177-3AD203B41FA5}">
                      <a16:colId xmlns:a16="http://schemas.microsoft.com/office/drawing/2014/main" val="1168062724"/>
                    </a:ext>
                  </a:extLst>
                </a:gridCol>
              </a:tblGrid>
              <a:tr h="40464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 Neue"/>
                        </a:rPr>
                        <a:t>Magic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 Neue"/>
                        </a:rPr>
                        <a:t>Integer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 Neue"/>
                        </a:rPr>
                        <a:t>Integer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 Neue"/>
                        </a:rPr>
                        <a:t>String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837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9060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0D1141C7-2EB6-C15B-B717-FCFD53FEE3BD}"/>
              </a:ext>
            </a:extLst>
          </p:cNvPr>
          <p:cNvSpPr/>
          <p:nvPr/>
        </p:nvSpPr>
        <p:spPr>
          <a:xfrm>
            <a:off x="2326785" y="3600132"/>
            <a:ext cx="1616286" cy="97209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FD463C3-D682-598A-0971-8B435D81E70E}"/>
              </a:ext>
            </a:extLst>
          </p:cNvPr>
          <p:cNvSpPr/>
          <p:nvPr/>
        </p:nvSpPr>
        <p:spPr>
          <a:xfrm>
            <a:off x="6259608" y="2291698"/>
            <a:ext cx="1616286" cy="97209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675259-AEC8-EB04-5090-5CC931AA18C3}"/>
              </a:ext>
            </a:extLst>
          </p:cNvPr>
          <p:cNvSpPr/>
          <p:nvPr/>
        </p:nvSpPr>
        <p:spPr>
          <a:xfrm>
            <a:off x="5590354" y="1111099"/>
            <a:ext cx="1616286" cy="97209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DDDD32F-BA87-5B89-85FB-BD6D7375687D}"/>
              </a:ext>
            </a:extLst>
          </p:cNvPr>
          <p:cNvSpPr/>
          <p:nvPr/>
        </p:nvSpPr>
        <p:spPr>
          <a:xfrm>
            <a:off x="1920722" y="1088540"/>
            <a:ext cx="1616286" cy="97209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C03142-708B-FC93-0FE7-E4955438BD5D}"/>
              </a:ext>
            </a:extLst>
          </p:cNvPr>
          <p:cNvSpPr/>
          <p:nvPr/>
        </p:nvSpPr>
        <p:spPr>
          <a:xfrm>
            <a:off x="3950941" y="2085394"/>
            <a:ext cx="2318344" cy="26806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070C212-B1E4-D298-79EA-F07B75967459}"/>
              </a:ext>
            </a:extLst>
          </p:cNvPr>
          <p:cNvSpPr/>
          <p:nvPr/>
        </p:nvSpPr>
        <p:spPr>
          <a:xfrm>
            <a:off x="55828" y="1148697"/>
            <a:ext cx="1473411" cy="791621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dirty="0">
                <a:latin typeface="Helvetica Neue"/>
              </a:rPr>
              <a:t>151</a:t>
            </a:fld>
            <a:endParaRPr>
              <a:latin typeface="Helvetica Neu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49284" y="9186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>
                <a:solidFill>
                  <a:schemeClr val="lt1"/>
                </a:solidFill>
                <a:latin typeface="Helvetica Neue"/>
              </a:rPr>
              <a:t>Fuzzing Research</a:t>
            </a:r>
          </a:p>
        </p:txBody>
      </p:sp>
      <p:sp>
        <p:nvSpPr>
          <p:cNvPr id="2" name="Flowchart: Data 1">
            <a:extLst>
              <a:ext uri="{FF2B5EF4-FFF2-40B4-BE49-F238E27FC236}">
                <a16:creationId xmlns:a16="http://schemas.microsoft.com/office/drawing/2014/main" id="{05714327-374C-C670-2A21-6FF0ED38577F}"/>
              </a:ext>
            </a:extLst>
          </p:cNvPr>
          <p:cNvSpPr/>
          <p:nvPr/>
        </p:nvSpPr>
        <p:spPr>
          <a:xfrm>
            <a:off x="172145" y="1230714"/>
            <a:ext cx="1229556" cy="62636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Seed Pool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889D5A5A-6E7D-BE76-FFEA-6B31DC899C6F}"/>
              </a:ext>
            </a:extLst>
          </p:cNvPr>
          <p:cNvSpPr/>
          <p:nvPr/>
        </p:nvSpPr>
        <p:spPr>
          <a:xfrm>
            <a:off x="2214418" y="1258632"/>
            <a:ext cx="1053159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Schedule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9ADDB31C-7B60-5635-3739-F0369FCE3F43}"/>
              </a:ext>
            </a:extLst>
          </p:cNvPr>
          <p:cNvSpPr/>
          <p:nvPr/>
        </p:nvSpPr>
        <p:spPr>
          <a:xfrm>
            <a:off x="4088599" y="1281140"/>
            <a:ext cx="1055865" cy="626369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Seed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5FED3276-B56C-70F0-401D-E8D7695D81AF}"/>
              </a:ext>
            </a:extLst>
          </p:cNvPr>
          <p:cNvSpPr/>
          <p:nvPr/>
        </p:nvSpPr>
        <p:spPr>
          <a:xfrm>
            <a:off x="5962785" y="1258632"/>
            <a:ext cx="829043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Mutate</a:t>
            </a:r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68EF33-62FC-9CA7-EBB5-84CE810949A7}"/>
              </a:ext>
            </a:extLst>
          </p:cNvPr>
          <p:cNvCxnSpPr>
            <a:cxnSpLocks/>
          </p:cNvCxnSpPr>
          <p:nvPr/>
        </p:nvCxnSpPr>
        <p:spPr>
          <a:xfrm>
            <a:off x="6794336" y="1543992"/>
            <a:ext cx="818609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Data 4">
            <a:extLst>
              <a:ext uri="{FF2B5EF4-FFF2-40B4-BE49-F238E27FC236}">
                <a16:creationId xmlns:a16="http://schemas.microsoft.com/office/drawing/2014/main" id="{02A7EA8B-F00E-0D40-5D2B-EBE32E19CA10}"/>
              </a:ext>
            </a:extLst>
          </p:cNvPr>
          <p:cNvSpPr/>
          <p:nvPr/>
        </p:nvSpPr>
        <p:spPr>
          <a:xfrm>
            <a:off x="7612848" y="1213905"/>
            <a:ext cx="1083879" cy="626369"/>
          </a:xfrm>
          <a:prstGeom prst="flowChartMulti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New Seeds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lowchart: Data 1">
            <a:extLst>
              <a:ext uri="{FF2B5EF4-FFF2-40B4-BE49-F238E27FC236}">
                <a16:creationId xmlns:a16="http://schemas.microsoft.com/office/drawing/2014/main" id="{9466A67C-2D37-EDA1-AF26-6A1D93D0052A}"/>
              </a:ext>
            </a:extLst>
          </p:cNvPr>
          <p:cNvSpPr/>
          <p:nvPr/>
        </p:nvSpPr>
        <p:spPr>
          <a:xfrm>
            <a:off x="-1256" y="3770680"/>
            <a:ext cx="1571335" cy="68800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Target Program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2BD2CAF8-B0A0-3FE1-0CEE-611EC6341E30}"/>
              </a:ext>
            </a:extLst>
          </p:cNvPr>
          <p:cNvSpPr/>
          <p:nvPr/>
        </p:nvSpPr>
        <p:spPr>
          <a:xfrm>
            <a:off x="4728884" y="3819174"/>
            <a:ext cx="1164540" cy="556140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Instrument</a:t>
            </a:r>
            <a:endParaRPr lang="en-US"/>
          </a:p>
        </p:txBody>
      </p:sp>
      <p:sp>
        <p:nvSpPr>
          <p:cNvPr id="19" name="Flowchart: Data 1">
            <a:extLst>
              <a:ext uri="{FF2B5EF4-FFF2-40B4-BE49-F238E27FC236}">
                <a16:creationId xmlns:a16="http://schemas.microsoft.com/office/drawing/2014/main" id="{0DFAAF6F-4624-277E-0A43-36F6C89569AC}"/>
              </a:ext>
            </a:extLst>
          </p:cNvPr>
          <p:cNvSpPr/>
          <p:nvPr/>
        </p:nvSpPr>
        <p:spPr>
          <a:xfrm>
            <a:off x="6895675" y="3824029"/>
            <a:ext cx="2251933" cy="6371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Instrumented Program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D817EE70-A6D1-025B-4FAB-AB87C5E1FF19}"/>
              </a:ext>
            </a:extLst>
          </p:cNvPr>
          <p:cNvSpPr/>
          <p:nvPr/>
        </p:nvSpPr>
        <p:spPr>
          <a:xfrm>
            <a:off x="6629537" y="2474470"/>
            <a:ext cx="929895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Execute</a:t>
            </a:r>
            <a:endParaRPr lang="en-US"/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08B78309-C4B3-50C6-C9F1-0B07540DBEFC}"/>
              </a:ext>
            </a:extLst>
          </p:cNvPr>
          <p:cNvSpPr/>
          <p:nvPr/>
        </p:nvSpPr>
        <p:spPr>
          <a:xfrm>
            <a:off x="2298463" y="2474470"/>
            <a:ext cx="1109189" cy="625114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Filter</a:t>
            </a:r>
            <a:b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</a:br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Seeds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Flowchart: Data 1">
            <a:extLst>
              <a:ext uri="{FF2B5EF4-FFF2-40B4-BE49-F238E27FC236}">
                <a16:creationId xmlns:a16="http://schemas.microsoft.com/office/drawing/2014/main" id="{5C7E3AA5-2C2A-13A5-9967-A37158177FFE}"/>
              </a:ext>
            </a:extLst>
          </p:cNvPr>
          <p:cNvSpPr/>
          <p:nvPr/>
        </p:nvSpPr>
        <p:spPr>
          <a:xfrm>
            <a:off x="4139028" y="2474566"/>
            <a:ext cx="1756231" cy="62636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Coverage data</a:t>
            </a:r>
          </a:p>
        </p:txBody>
      </p:sp>
      <p:sp>
        <p:nvSpPr>
          <p:cNvPr id="24" name="Flowchart: Data 4">
            <a:extLst>
              <a:ext uri="{FF2B5EF4-FFF2-40B4-BE49-F238E27FC236}">
                <a16:creationId xmlns:a16="http://schemas.microsoft.com/office/drawing/2014/main" id="{0D4D689F-A3ED-985C-4DEE-EF67571D5400}"/>
              </a:ext>
            </a:extLst>
          </p:cNvPr>
          <p:cNvSpPr/>
          <p:nvPr/>
        </p:nvSpPr>
        <p:spPr>
          <a:xfrm>
            <a:off x="79597" y="2518713"/>
            <a:ext cx="1478982" cy="626369"/>
          </a:xfrm>
          <a:prstGeom prst="flowChartMulti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Helvetica Neue"/>
                <a:cs typeface="Arial"/>
              </a:rPr>
              <a:t>Interesting Seeds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1FC1609-F99E-5E45-E857-2171D2E77776}"/>
              </a:ext>
            </a:extLst>
          </p:cNvPr>
          <p:cNvCxnSpPr>
            <a:cxnSpLocks/>
          </p:cNvCxnSpPr>
          <p:nvPr/>
        </p:nvCxnSpPr>
        <p:spPr>
          <a:xfrm>
            <a:off x="5141468" y="1543992"/>
            <a:ext cx="818609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FB9A0B4-7A4D-98C7-11D7-48F01452B8E6}"/>
              </a:ext>
            </a:extLst>
          </p:cNvPr>
          <p:cNvCxnSpPr>
            <a:cxnSpLocks/>
          </p:cNvCxnSpPr>
          <p:nvPr/>
        </p:nvCxnSpPr>
        <p:spPr>
          <a:xfrm>
            <a:off x="3270085" y="1543992"/>
            <a:ext cx="818609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59049D-12A7-9327-DFB0-52EA7B597081}"/>
              </a:ext>
            </a:extLst>
          </p:cNvPr>
          <p:cNvCxnSpPr>
            <a:cxnSpLocks/>
          </p:cNvCxnSpPr>
          <p:nvPr/>
        </p:nvCxnSpPr>
        <p:spPr>
          <a:xfrm>
            <a:off x="1398702" y="1543992"/>
            <a:ext cx="818609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3E649A-EF7B-7F9E-8720-B7EA14CDA56C}"/>
              </a:ext>
            </a:extLst>
          </p:cNvPr>
          <p:cNvCxnSpPr>
            <a:cxnSpLocks/>
          </p:cNvCxnSpPr>
          <p:nvPr/>
        </p:nvCxnSpPr>
        <p:spPr>
          <a:xfrm flipH="1">
            <a:off x="1556162" y="2759831"/>
            <a:ext cx="733406" cy="22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D192716-F2F1-D5C1-D113-E7DBAAB088D2}"/>
              </a:ext>
            </a:extLst>
          </p:cNvPr>
          <p:cNvCxnSpPr>
            <a:cxnSpLocks/>
          </p:cNvCxnSpPr>
          <p:nvPr/>
        </p:nvCxnSpPr>
        <p:spPr>
          <a:xfrm flipH="1">
            <a:off x="3405132" y="2759831"/>
            <a:ext cx="733406" cy="22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1940365-3329-2E80-0656-3E8DD4C44EA6}"/>
              </a:ext>
            </a:extLst>
          </p:cNvPr>
          <p:cNvCxnSpPr>
            <a:cxnSpLocks/>
          </p:cNvCxnSpPr>
          <p:nvPr/>
        </p:nvCxnSpPr>
        <p:spPr>
          <a:xfrm flipH="1">
            <a:off x="5892837" y="2759831"/>
            <a:ext cx="733406" cy="22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8B233FC-0AEF-6711-932E-093BE132354A}"/>
              </a:ext>
            </a:extLst>
          </p:cNvPr>
          <p:cNvCxnSpPr/>
          <p:nvPr/>
        </p:nvCxnSpPr>
        <p:spPr>
          <a:xfrm flipH="1">
            <a:off x="8285239" y="1760831"/>
            <a:ext cx="5389" cy="2058650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94FFC90-F5ED-75AB-53EF-2DFBF2F8DEE1}"/>
              </a:ext>
            </a:extLst>
          </p:cNvPr>
          <p:cNvCxnSpPr>
            <a:cxnSpLocks/>
          </p:cNvCxnSpPr>
          <p:nvPr/>
        </p:nvCxnSpPr>
        <p:spPr>
          <a:xfrm flipH="1">
            <a:off x="7551307" y="2759831"/>
            <a:ext cx="733406" cy="22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0207061-F374-7C58-DE4A-7BB4E57EBA6F}"/>
              </a:ext>
            </a:extLst>
          </p:cNvPr>
          <p:cNvCxnSpPr/>
          <p:nvPr/>
        </p:nvCxnSpPr>
        <p:spPr>
          <a:xfrm flipV="1">
            <a:off x="795621" y="1854574"/>
            <a:ext cx="5596" cy="6611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C3F7D98B-D968-4DCE-F81B-8F3B9800DB4A}"/>
              </a:ext>
            </a:extLst>
          </p:cNvPr>
          <p:cNvSpPr/>
          <p:nvPr/>
        </p:nvSpPr>
        <p:spPr>
          <a:xfrm>
            <a:off x="2565722" y="3818847"/>
            <a:ext cx="1164540" cy="556140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Helvetica Neue"/>
                <a:cs typeface="Arial"/>
              </a:rPr>
              <a:t>Harness</a:t>
            </a:r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9B818CB-5CB7-B5E7-905A-4F4E872F36EF}"/>
              </a:ext>
            </a:extLst>
          </p:cNvPr>
          <p:cNvCxnSpPr>
            <a:cxnSpLocks/>
          </p:cNvCxnSpPr>
          <p:nvPr/>
        </p:nvCxnSpPr>
        <p:spPr>
          <a:xfrm>
            <a:off x="5895817" y="4124611"/>
            <a:ext cx="1000897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F71639D-E08B-FD18-B0A5-5CF51EB66C40}"/>
              </a:ext>
            </a:extLst>
          </p:cNvPr>
          <p:cNvCxnSpPr>
            <a:cxnSpLocks/>
          </p:cNvCxnSpPr>
          <p:nvPr/>
        </p:nvCxnSpPr>
        <p:spPr>
          <a:xfrm>
            <a:off x="3727730" y="4124283"/>
            <a:ext cx="1000897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E534C32-335E-943D-6C87-890839AE2852}"/>
              </a:ext>
            </a:extLst>
          </p:cNvPr>
          <p:cNvCxnSpPr>
            <a:cxnSpLocks/>
          </p:cNvCxnSpPr>
          <p:nvPr/>
        </p:nvCxnSpPr>
        <p:spPr>
          <a:xfrm>
            <a:off x="1559643" y="4123955"/>
            <a:ext cx="1000897" cy="2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64003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151</Slides>
  <Notes>151</Notes>
  <HiddenSlides>25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151</vt:i4>
      </vt:variant>
    </vt:vector>
  </HeadingPairs>
  <TitlesOfParts>
    <vt:vector size="152" baseType="lpstr">
      <vt:lpstr>Simple Light</vt:lpstr>
      <vt:lpstr>A Brief History of Modern Fuzzing</vt:lpstr>
      <vt:lpstr>Software is large and complex</vt:lpstr>
      <vt:lpstr>Fuzz testing</vt:lpstr>
      <vt:lpstr>PowerPoint Presentation</vt:lpstr>
      <vt:lpstr>AFL fundamentals</vt:lpstr>
      <vt:lpstr>AFL fundamentals</vt:lpstr>
      <vt:lpstr>AFL fundamentals</vt:lpstr>
      <vt:lpstr>AFL fundamentals</vt:lpstr>
      <vt:lpstr>AFL fuzzing workflow</vt:lpstr>
      <vt:lpstr>Fuzzing research</vt:lpstr>
      <vt:lpstr>PowerPoint Presentation</vt:lpstr>
      <vt:lpstr>Generating Fuzz Drivers</vt:lpstr>
      <vt:lpstr>Generating Fuzz Drivers</vt:lpstr>
      <vt:lpstr>Generating Fuzz Drivers (cont.) </vt:lpstr>
      <vt:lpstr>Generating Fuzz Drivers (cont.) </vt:lpstr>
      <vt:lpstr>Generating Fuzz Drivers (cont.) </vt:lpstr>
      <vt:lpstr>Generating Fuzz Drivers (cont.)</vt:lpstr>
      <vt:lpstr>Generating Fuzz Drivers (cont).</vt:lpstr>
      <vt:lpstr>Generating Fuzz Drivers</vt:lpstr>
      <vt:lpstr>PowerPoint Presentation</vt:lpstr>
      <vt:lpstr>Seed scheduling</vt:lpstr>
      <vt:lpstr>Seed scheduling (cont.)</vt:lpstr>
      <vt:lpstr>Seed scheduling (cont.)</vt:lpstr>
      <vt:lpstr>Seed scheduling (cont.)</vt:lpstr>
      <vt:lpstr>Seed scheduling</vt:lpstr>
      <vt:lpstr>PowerPoint Presentation</vt:lpstr>
      <vt:lpstr>Whole seed mutation</vt:lpstr>
      <vt:lpstr>Whole seed mutation</vt:lpstr>
      <vt:lpstr>Whole seed mutation</vt:lpstr>
      <vt:lpstr>Whole seed mutation (cont.)</vt:lpstr>
      <vt:lpstr>Whole seed mutation (cont.)</vt:lpstr>
      <vt:lpstr>Whole seed mutation (cont.) </vt:lpstr>
      <vt:lpstr>Whole seed mutation (cont.) </vt:lpstr>
      <vt:lpstr>Whole seed mutation </vt:lpstr>
      <vt:lpstr>Selective seed mutation</vt:lpstr>
      <vt:lpstr>Selective seed mutation</vt:lpstr>
      <vt:lpstr>Selective seed mutation</vt:lpstr>
      <vt:lpstr>Selective seed mutation</vt:lpstr>
      <vt:lpstr>Selective seed mutation</vt:lpstr>
      <vt:lpstr>Selective seed mutation</vt:lpstr>
      <vt:lpstr>Selective seed mutation (cont.)</vt:lpstr>
      <vt:lpstr>Selective seed mutation (cont.) </vt:lpstr>
      <vt:lpstr>Selective seed mutation (cont.) </vt:lpstr>
      <vt:lpstr>Selective seed mutation (cont.) </vt:lpstr>
      <vt:lpstr>Selective seed mutation (cont.) </vt:lpstr>
      <vt:lpstr>Selective seed mutation </vt:lpstr>
      <vt:lpstr>PowerPoint Presentation</vt:lpstr>
      <vt:lpstr>Detecting vulnerabilities</vt:lpstr>
      <vt:lpstr>Detecting vulnerabilities (cont.)</vt:lpstr>
      <vt:lpstr>Detecting vulnerabilities</vt:lpstr>
      <vt:lpstr>Identifying interesting inputs </vt:lpstr>
      <vt:lpstr>Identifying interesting inputs (cont.) </vt:lpstr>
      <vt:lpstr>Identifying interesting inputs (cont.) </vt:lpstr>
      <vt:lpstr>Identifying interesting inputs (cont.)</vt:lpstr>
      <vt:lpstr>Identifying interesting inputs (cont.)</vt:lpstr>
      <vt:lpstr>Identifying interesting inputs (cont.)</vt:lpstr>
      <vt:lpstr>Identifying interesting inputs (cont.)</vt:lpstr>
      <vt:lpstr>Identifying interesting inputs (cont.)</vt:lpstr>
      <vt:lpstr>Identifying interesting inputs (cont.)</vt:lpstr>
      <vt:lpstr>Identifying interesting inputs (cont.)</vt:lpstr>
      <vt:lpstr>Identifying interesting inputs</vt:lpstr>
      <vt:lpstr>Identifying interesting inputs</vt:lpstr>
      <vt:lpstr>Identifying interesting inputs (cont.)</vt:lpstr>
      <vt:lpstr>Identifying interesting inputs (cont.)</vt:lpstr>
      <vt:lpstr>Identifying interesting inputs (cont.)</vt:lpstr>
      <vt:lpstr>PowerPoint Presentation</vt:lpstr>
      <vt:lpstr>Fuzzer evaluation</vt:lpstr>
      <vt:lpstr>Fuzzer evaluation (cont.)</vt:lpstr>
      <vt:lpstr>Fuzzer evaluation (cont.)</vt:lpstr>
      <vt:lpstr>Fuzzer evaluation (cont.)</vt:lpstr>
      <vt:lpstr>Fuzzer evaluation (cont.)</vt:lpstr>
      <vt:lpstr>Fuzzer evaluation</vt:lpstr>
      <vt:lpstr>PowerPoint Presentation</vt:lpstr>
      <vt:lpstr>What next in fuzzing?</vt:lpstr>
      <vt:lpstr>What next in fuzzing?</vt:lpstr>
      <vt:lpstr>What next in fuzzing?</vt:lpstr>
      <vt:lpstr>Conclusion</vt:lpstr>
      <vt:lpstr>PowerPoint Presentation</vt:lpstr>
      <vt:lpstr>Harnessing target</vt:lpstr>
      <vt:lpstr>Harnessing target</vt:lpstr>
      <vt:lpstr>Harnessing target</vt:lpstr>
      <vt:lpstr>Harnessing target</vt:lpstr>
      <vt:lpstr>Measuring coverage</vt:lpstr>
      <vt:lpstr>Measuring coverage </vt:lpstr>
      <vt:lpstr>Measuring coverage </vt:lpstr>
      <vt:lpstr>Measuring coverage </vt:lpstr>
      <vt:lpstr>Measuring coverage </vt:lpstr>
      <vt:lpstr>Deterministic seed mutations</vt:lpstr>
      <vt:lpstr>Non-deterministic seed mutations</vt:lpstr>
      <vt:lpstr>Non-deterministic seed mutations</vt:lpstr>
      <vt:lpstr>Selective seed mutation (cont.)</vt:lpstr>
      <vt:lpstr>Selective seed mutation (cont.)</vt:lpstr>
      <vt:lpstr>Selective seed mutation</vt:lpstr>
      <vt:lpstr>Seed scheduling (cont.)</vt:lpstr>
      <vt:lpstr>Seed scheduling (cont.)</vt:lpstr>
      <vt:lpstr>Seed scheduling (cont.)</vt:lpstr>
      <vt:lpstr>Seed scheduling (cont.)</vt:lpstr>
      <vt:lpstr>Seed scheduling (cont.)</vt:lpstr>
      <vt:lpstr>PowerPoint Presentation</vt:lpstr>
      <vt:lpstr>Execution Speedup</vt:lpstr>
      <vt:lpstr>Execution Speedup</vt:lpstr>
      <vt:lpstr>Execution Speedup</vt:lpstr>
      <vt:lpstr>PowerPoint Presentation</vt:lpstr>
      <vt:lpstr>Miscellaneous enhancements (cont.)</vt:lpstr>
      <vt:lpstr>Miscellaneous enhancements (cont.)</vt:lpstr>
      <vt:lpstr>Miscellaneous enhancements (cont.)</vt:lpstr>
      <vt:lpstr>Fuzz driver generation (cont.) </vt:lpstr>
      <vt:lpstr>Fuzz driver generation (cont.) </vt:lpstr>
      <vt:lpstr>Fuzz driver generation (cont).</vt:lpstr>
      <vt:lpstr>PowerPoint Presentation</vt:lpstr>
      <vt:lpstr>Initial seeds</vt:lpstr>
      <vt:lpstr>PowerPoint Presentation</vt:lpstr>
      <vt:lpstr>Binary-only fuzzing</vt:lpstr>
      <vt:lpstr>Binary-only fuzzing</vt:lpstr>
      <vt:lpstr>Binary-only fuzzing</vt:lpstr>
      <vt:lpstr>Vulnerability Detection</vt:lpstr>
      <vt:lpstr>Vulnerability Detection</vt:lpstr>
      <vt:lpstr>Vulnerability Detection</vt:lpstr>
      <vt:lpstr>Vulnerability Detection</vt:lpstr>
      <vt:lpstr>Vulnerability Detection</vt:lpstr>
      <vt:lpstr>Vulnerability Detection</vt:lpstr>
      <vt:lpstr>Vulnerability Detection</vt:lpstr>
      <vt:lpstr>Vulnerability Detection</vt:lpstr>
      <vt:lpstr>Vulnerability Detection</vt:lpstr>
      <vt:lpstr>Vulnerability Detection</vt:lpstr>
      <vt:lpstr>Vulnerability Detection</vt:lpstr>
      <vt:lpstr>Vulnerability Detection</vt:lpstr>
      <vt:lpstr>Usability</vt:lpstr>
      <vt:lpstr>Usability</vt:lpstr>
      <vt:lpstr>Usability</vt:lpstr>
      <vt:lpstr>Usability</vt:lpstr>
      <vt:lpstr>Performance and Evaluation</vt:lpstr>
      <vt:lpstr>Identifying interesting inputs (cont.)</vt:lpstr>
      <vt:lpstr>Thoughts/Insights</vt:lpstr>
      <vt:lpstr>Selective seed mutation</vt:lpstr>
      <vt:lpstr>Thoughts/Insights (cont.)</vt:lpstr>
      <vt:lpstr>Insert title</vt:lpstr>
      <vt:lpstr>AFL fuzzing pipeline</vt:lpstr>
      <vt:lpstr>AFL fuzzing pipeline</vt:lpstr>
      <vt:lpstr>Fuzzing research</vt:lpstr>
      <vt:lpstr>Selective seed mutation</vt:lpstr>
      <vt:lpstr>Fuzz driver generation (cont).</vt:lpstr>
      <vt:lpstr>Execution feedback (cont.)</vt:lpstr>
      <vt:lpstr>Execution feedback (cont.)</vt:lpstr>
      <vt:lpstr>Execution feedback (cont.)</vt:lpstr>
      <vt:lpstr>Software is ubiquitous</vt:lpstr>
      <vt:lpstr>AFL components</vt:lpstr>
      <vt:lpstr>Seed scheduling</vt:lpstr>
      <vt:lpstr>Seed mutation</vt:lpstr>
      <vt:lpstr>Whole seed mutation (cont.)</vt:lpstr>
      <vt:lpstr>Fuzzing Research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Fuzz to the Future: Uncovering Occluded Future Vulnerabilities via Robust Fuzzing</dc:title>
  <cp:revision>1811</cp:revision>
  <dcterms:modified xsi:type="dcterms:W3CDTF">2025-03-11T19:53:41Z</dcterms:modified>
</cp:coreProperties>
</file>