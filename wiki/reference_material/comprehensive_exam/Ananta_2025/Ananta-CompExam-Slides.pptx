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36"/>
  </p:notesMasterIdLst>
  <p:sldIdLst>
    <p:sldId id="256" r:id="rId2"/>
    <p:sldId id="336" r:id="rId3"/>
    <p:sldId id="302" r:id="rId4"/>
    <p:sldId id="309" r:id="rId5"/>
    <p:sldId id="307" r:id="rId6"/>
    <p:sldId id="274" r:id="rId7"/>
    <p:sldId id="267" r:id="rId8"/>
    <p:sldId id="272" r:id="rId9"/>
    <p:sldId id="305" r:id="rId10"/>
    <p:sldId id="296" r:id="rId11"/>
    <p:sldId id="277" r:id="rId12"/>
    <p:sldId id="278" r:id="rId13"/>
    <p:sldId id="337" r:id="rId14"/>
    <p:sldId id="304" r:id="rId15"/>
    <p:sldId id="314" r:id="rId16"/>
    <p:sldId id="260" r:id="rId17"/>
    <p:sldId id="316" r:id="rId18"/>
    <p:sldId id="257" r:id="rId19"/>
    <p:sldId id="317" r:id="rId20"/>
    <p:sldId id="271" r:id="rId21"/>
    <p:sldId id="318" r:id="rId22"/>
    <p:sldId id="320" r:id="rId23"/>
    <p:sldId id="319" r:id="rId24"/>
    <p:sldId id="321" r:id="rId25"/>
    <p:sldId id="322" r:id="rId26"/>
    <p:sldId id="323" r:id="rId27"/>
    <p:sldId id="325" r:id="rId28"/>
    <p:sldId id="291" r:id="rId29"/>
    <p:sldId id="328" r:id="rId30"/>
    <p:sldId id="324" r:id="rId31"/>
    <p:sldId id="327" r:id="rId32"/>
    <p:sldId id="295" r:id="rId33"/>
    <p:sldId id="335" r:id="rId34"/>
    <p:sldId id="32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0031"/>
    <a:srgbClr val="FFC1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82"/>
    <p:restoredTop sz="96763"/>
  </p:normalViewPr>
  <p:slideViewPr>
    <p:cSldViewPr snapToGrid="0">
      <p:cViewPr varScale="1">
        <p:scale>
          <a:sx n="138" d="100"/>
          <a:sy n="138" d="100"/>
        </p:scale>
        <p:origin x="184" y="3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54B238-D6E8-AE4F-929C-6FC29F77475B}" type="datetimeFigureOut">
              <a:rPr lang="en-US" smtClean="0"/>
              <a:t>3/6/25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676AAF-63E4-0641-ACFB-720DB9F6099B}" type="slidenum">
              <a:rPr lang="en-US" smtClean="0"/>
              <a:t>‹#›</a:t>
            </a:fld>
            <a:endParaRPr lang="en-US"/>
          </a:p>
        </p:txBody>
      </p:sp>
    </p:spTree>
    <p:extLst>
      <p:ext uri="{BB962C8B-B14F-4D97-AF65-F5344CB8AC3E}">
        <p14:creationId xmlns:p14="http://schemas.microsoft.com/office/powerpoint/2010/main" val="3853424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i="1"/>
              <a:t>Good afternoon everyone. Thank you all for being here today. My name is Ananta Soneji, and in this presentation, I will provide a comprehensive review of research on human factors in cybersecurity.</a:t>
            </a:r>
          </a:p>
          <a:p>
            <a:endParaRPr lang="en-US" i="1"/>
          </a:p>
          <a:p>
            <a:endParaRPr lang="en-US" i="1"/>
          </a:p>
          <a:p>
            <a:pPr marL="0" marR="0" lvl="0" indent="0" algn="l" defTabSz="914400" rtl="0" eaLnBrk="1" fontAlgn="auto" latinLnBrk="0" hangingPunct="1">
              <a:lnSpc>
                <a:spcPct val="100000"/>
              </a:lnSpc>
              <a:spcBef>
                <a:spcPts val="0"/>
              </a:spcBef>
              <a:spcAft>
                <a:spcPts val="0"/>
              </a:spcAft>
              <a:buClrTx/>
              <a:buSzTx/>
              <a:buFontTx/>
              <a:buNone/>
              <a:tabLst/>
              <a:defRPr/>
            </a:pPr>
            <a:r>
              <a:rPr lang="en-US"/>
              <a:t>When do you want people to ask Qs?</a:t>
            </a:r>
          </a:p>
          <a:p>
            <a:endParaRPr lang="en-US"/>
          </a:p>
          <a:p>
            <a:endParaRPr lang="en-US"/>
          </a:p>
          <a:p>
            <a:endParaRPr lang="en-US"/>
          </a:p>
          <a:p>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1</a:t>
            </a:fld>
            <a:endParaRPr lang="en-US"/>
          </a:p>
        </p:txBody>
      </p:sp>
    </p:spTree>
    <p:extLst>
      <p:ext uri="{BB962C8B-B14F-4D97-AF65-F5344CB8AC3E}">
        <p14:creationId xmlns:p14="http://schemas.microsoft.com/office/powerpoint/2010/main" val="2417969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time and time, human error has also become news headlines: </a:t>
            </a:r>
          </a:p>
        </p:txBody>
      </p:sp>
      <p:sp>
        <p:nvSpPr>
          <p:cNvPr id="4" name="Slide Number Placeholder 3"/>
          <p:cNvSpPr>
            <a:spLocks noGrp="1"/>
          </p:cNvSpPr>
          <p:nvPr>
            <p:ph type="sldNum" sz="quarter" idx="5"/>
          </p:nvPr>
        </p:nvSpPr>
        <p:spPr/>
        <p:txBody>
          <a:bodyPr/>
          <a:lstStyle/>
          <a:p>
            <a:fld id="{A5676AAF-63E4-0641-ACFB-720DB9F6099B}" type="slidenum">
              <a:rPr lang="en-US" smtClean="0"/>
              <a:t>2</a:t>
            </a:fld>
            <a:endParaRPr lang="en-US"/>
          </a:p>
        </p:txBody>
      </p:sp>
    </p:spTree>
    <p:extLst>
      <p:ext uri="{BB962C8B-B14F-4D97-AF65-F5344CB8AC3E}">
        <p14:creationId xmlns:p14="http://schemas.microsoft.com/office/powerpoint/2010/main" val="1579765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 recurring theme in cybersecurity discussions is that </a:t>
            </a:r>
            <a:r>
              <a:rPr lang="en-US" b="1" i="1" dirty="0"/>
              <a:t>humans are the weakest link.</a:t>
            </a:r>
            <a:r>
              <a:rPr lang="en-US" i="1" dirty="0"/>
              <a:t> We often hear statements like:"</a:t>
            </a:r>
            <a:endParaRPr lang="en-US" dirty="0"/>
          </a:p>
          <a:p>
            <a:pPr>
              <a:buFont typeface="Arial" panose="020B0604020202020204" pitchFamily="34" charset="0"/>
              <a:buChar char="•"/>
            </a:pPr>
            <a:r>
              <a:rPr lang="en-US" i="1" dirty="0"/>
              <a:t>“Users make security mistakes.”</a:t>
            </a:r>
            <a:endParaRPr lang="en-US" dirty="0"/>
          </a:p>
          <a:p>
            <a:pPr>
              <a:buFont typeface="Arial" panose="020B0604020202020204" pitchFamily="34" charset="0"/>
              <a:buChar char="•"/>
            </a:pPr>
            <a:r>
              <a:rPr lang="en-US" i="1" dirty="0"/>
              <a:t>“They reuse passwords.”</a:t>
            </a:r>
            <a:endParaRPr lang="en-US" dirty="0"/>
          </a:p>
          <a:p>
            <a:pPr>
              <a:buFont typeface="Arial" panose="020B0604020202020204" pitchFamily="34" charset="0"/>
              <a:buChar char="•"/>
            </a:pPr>
            <a:r>
              <a:rPr lang="en-US" i="1" dirty="0"/>
              <a:t>“They fall for scams.”</a:t>
            </a:r>
            <a:endParaRPr lang="en-US" dirty="0"/>
          </a:p>
          <a:p>
            <a:r>
              <a:rPr lang="en-US" i="1" dirty="0"/>
              <a:t>While these statements have some truth, they oversimplify a more complex issue. </a:t>
            </a:r>
          </a:p>
          <a:p>
            <a:endParaRPr lang="en-US" i="1" dirty="0"/>
          </a:p>
          <a:p>
            <a:endParaRPr lang="en-US" i="1" dirty="0"/>
          </a:p>
          <a:p>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3</a:t>
            </a:fld>
            <a:endParaRPr lang="en-US"/>
          </a:p>
        </p:txBody>
      </p:sp>
    </p:spTree>
    <p:extLst>
      <p:ext uri="{BB962C8B-B14F-4D97-AF65-F5344CB8AC3E}">
        <p14:creationId xmlns:p14="http://schemas.microsoft.com/office/powerpoint/2010/main" val="4071937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63E9C-1D8F-3470-7BFD-B82BAC8CF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2FA5B-0A36-C513-862D-D11A37B96A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95D92E-B18E-DB86-A30A-6BC9A027BE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take a look at some common human security failures. The question is: Why do users choose insecurity?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Users often choose simple, easily guessable passwords or reuse them across multiple sites.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Users and organizations </a:t>
            </a:r>
            <a:r>
              <a:rPr lang="en-US" b="1" dirty="0"/>
              <a:t>delay or ignore critical software updates</a:t>
            </a:r>
            <a:r>
              <a:rPr lang="en-US" dirty="0"/>
              <a:t>, leaving systems vulnerable to known exploits. Developers sometimes overlook security in software updates, leaving systems exposed.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Attackers exploit </a:t>
            </a:r>
            <a:r>
              <a:rPr lang="en-US" b="1" dirty="0"/>
              <a:t>psychological manipulation</a:t>
            </a:r>
            <a:r>
              <a:rPr lang="en-US" dirty="0"/>
              <a:t> to trick users into revealing sensitive information.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Many users </a:t>
            </a:r>
            <a:r>
              <a:rPr lang="en-US" b="1" dirty="0"/>
              <a:t>fail to enable MFA</a:t>
            </a:r>
            <a:r>
              <a:rPr lang="en-US" dirty="0"/>
              <a:t>, even when it’s available.</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Users frequently connect to </a:t>
            </a:r>
            <a:r>
              <a:rPr lang="en-US" b="1" dirty="0"/>
              <a:t>public Wi-Fi</a:t>
            </a:r>
            <a:r>
              <a:rPr lang="en-US" dirty="0"/>
              <a:t> without a VPN, exposing sensitive data.</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Individuals </a:t>
            </a:r>
            <a:r>
              <a:rPr lang="en-US" b="1" dirty="0"/>
              <a:t>overshare sensitive information</a:t>
            </a:r>
            <a:r>
              <a:rPr lang="en-US" dirty="0"/>
              <a:t> on social media and internet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Users become </a:t>
            </a:r>
            <a:r>
              <a:rPr lang="en-US" b="1" dirty="0"/>
              <a:t>desensitized to security alerts</a:t>
            </a:r>
            <a:r>
              <a:rPr lang="en-US" dirty="0"/>
              <a:t> and ignore critical warnings.</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Users frequently </a:t>
            </a:r>
            <a:r>
              <a:rPr lang="en-US" b="1" dirty="0"/>
              <a:t>open unknown email attachments</a:t>
            </a:r>
            <a:r>
              <a:rPr lang="en-US" dirty="0"/>
              <a:t>, leading to malware infections.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Employees sometimes </a:t>
            </a:r>
            <a:r>
              <a:rPr lang="en-US" b="1" dirty="0"/>
              <a:t>misuse</a:t>
            </a:r>
            <a:r>
              <a:rPr lang="en-US" dirty="0"/>
              <a:t> their access privileges, intentionally or accidentally.</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endParaRPr lang="en-US" dirty="0"/>
          </a:p>
        </p:txBody>
      </p:sp>
      <p:sp>
        <p:nvSpPr>
          <p:cNvPr id="4" name="Slide Number Placeholder 3">
            <a:extLst>
              <a:ext uri="{FF2B5EF4-FFF2-40B4-BE49-F238E27FC236}">
                <a16:creationId xmlns:a16="http://schemas.microsoft.com/office/drawing/2014/main" id="{DA788672-0B5E-C19E-9CBD-723F0CD858DB}"/>
              </a:ext>
            </a:extLst>
          </p:cNvPr>
          <p:cNvSpPr>
            <a:spLocks noGrp="1"/>
          </p:cNvSpPr>
          <p:nvPr>
            <p:ph type="sldNum" sz="quarter" idx="5"/>
          </p:nvPr>
        </p:nvSpPr>
        <p:spPr/>
        <p:txBody>
          <a:bodyPr/>
          <a:lstStyle/>
          <a:p>
            <a:fld id="{A5676AAF-63E4-0641-ACFB-720DB9F6099B}" type="slidenum">
              <a:rPr lang="en-US" smtClean="0"/>
              <a:t>4</a:t>
            </a:fld>
            <a:endParaRPr lang="en-US"/>
          </a:p>
        </p:txBody>
      </p:sp>
    </p:spTree>
    <p:extLst>
      <p:ext uri="{BB962C8B-B14F-4D97-AF65-F5344CB8AC3E}">
        <p14:creationId xmlns:p14="http://schemas.microsoft.com/office/powerpoint/2010/main" val="2845809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Security experts often assume that if we just build better technology—stronger encryption, better firewalls, more sophisticated authentication methods—then security problems will go away. But despite these advancements, cyberattacks continue to rise. Why? </a:t>
            </a:r>
          </a:p>
          <a:p>
            <a:endParaRPr lang="en-US" i="1" dirty="0"/>
          </a:p>
          <a:p>
            <a:r>
              <a:rPr lang="en-US" i="1" dirty="0"/>
              <a:t>Because attackers exploit not just technical vulnerabilities but human psychology."</a:t>
            </a:r>
            <a:endParaRPr lang="en-US" dirty="0"/>
          </a:p>
          <a:p>
            <a:r>
              <a:rPr lang="en-US" i="1" dirty="0"/>
              <a:t>Some common human-targeted attacks:</a:t>
            </a:r>
            <a:endParaRPr lang="en-US" dirty="0"/>
          </a:p>
          <a:p>
            <a:pPr>
              <a:buFont typeface="Arial" panose="020B0604020202020204" pitchFamily="34" charset="0"/>
              <a:buChar char="•"/>
            </a:pPr>
            <a:r>
              <a:rPr lang="en-US" b="1" dirty="0"/>
              <a:t>Phishing</a:t>
            </a:r>
            <a:r>
              <a:rPr lang="en-US" dirty="0"/>
              <a:t>: Users receive an email that appears to be from a trusted source, prompting them to enter their login credentials.</a:t>
            </a:r>
          </a:p>
          <a:p>
            <a:pPr>
              <a:buFont typeface="Arial" panose="020B0604020202020204" pitchFamily="34" charset="0"/>
              <a:buChar char="•"/>
            </a:pPr>
            <a:r>
              <a:rPr lang="en-US" b="1" dirty="0"/>
              <a:t>Social engineering</a:t>
            </a:r>
            <a:r>
              <a:rPr lang="en-US" dirty="0"/>
              <a:t>: Attackers manipulate trust through fake phone calls, emails, or websites.</a:t>
            </a:r>
          </a:p>
          <a:p>
            <a:pPr>
              <a:buFont typeface="Arial" panose="020B0604020202020204" pitchFamily="34" charset="0"/>
              <a:buChar char="•"/>
            </a:pPr>
            <a:r>
              <a:rPr lang="en-US" b="1" dirty="0"/>
              <a:t>Ransomware</a:t>
            </a:r>
            <a:r>
              <a:rPr lang="en-US" dirty="0"/>
              <a:t>: Users or organizations are tricked into downloading malicious files, leading to their data being locked behind ransom demands.</a:t>
            </a:r>
          </a:p>
          <a:p>
            <a:endParaRPr lang="en-US" i="1"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5</a:t>
            </a:fld>
            <a:endParaRPr lang="en-US"/>
          </a:p>
        </p:txBody>
      </p:sp>
    </p:spTree>
    <p:extLst>
      <p:ext uri="{BB962C8B-B14F-4D97-AF65-F5344CB8AC3E}">
        <p14:creationId xmlns:p14="http://schemas.microsoft.com/office/powerpoint/2010/main" val="2677861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wont initiate an action, if they do not believe them to be effective.</a:t>
            </a:r>
          </a:p>
        </p:txBody>
      </p:sp>
      <p:sp>
        <p:nvSpPr>
          <p:cNvPr id="4" name="Slide Number Placeholder 3"/>
          <p:cNvSpPr>
            <a:spLocks noGrp="1"/>
          </p:cNvSpPr>
          <p:nvPr>
            <p:ph type="sldNum" sz="quarter" idx="5"/>
          </p:nvPr>
        </p:nvSpPr>
        <p:spPr/>
        <p:txBody>
          <a:bodyPr/>
          <a:lstStyle/>
          <a:p>
            <a:fld id="{A5676AAF-63E4-0641-ACFB-720DB9F6099B}" type="slidenum">
              <a:rPr lang="en-US" smtClean="0"/>
              <a:t>6</a:t>
            </a:fld>
            <a:endParaRPr lang="en-US"/>
          </a:p>
        </p:txBody>
      </p:sp>
    </p:spTree>
    <p:extLst>
      <p:ext uri="{BB962C8B-B14F-4D97-AF65-F5344CB8AC3E}">
        <p14:creationId xmlns:p14="http://schemas.microsoft.com/office/powerpoint/2010/main" val="2924869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"Take password security, for example. Users are told to create long, unique passwords for every account. But in reality, people struggle to remember them. Instead, they reuse passwords, write them down, or create minor variations. They are not being irrational—they are prioritizing usability over security."</a:t>
            </a:r>
            <a:endParaRPr lang="en-US" dirty="0"/>
          </a:p>
          <a:p>
            <a:r>
              <a:rPr lang="en-US" i="1" dirty="0"/>
              <a:t>"This is why many well-intended security policies fail: They do not consider how users actually behave."</a:t>
            </a:r>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7</a:t>
            </a:fld>
            <a:endParaRPr lang="en-US"/>
          </a:p>
        </p:txBody>
      </p:sp>
    </p:spTree>
    <p:extLst>
      <p:ext uri="{BB962C8B-B14F-4D97-AF65-F5344CB8AC3E}">
        <p14:creationId xmlns:p14="http://schemas.microsoft.com/office/powerpoint/2010/main" val="3460044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[CLICK] When it comes to security, people don’t always make what we consider 'rational' decisions. Instead, they prioritize convenience, efficiency, and/or usability—sometimes at the expense of security. This is often referred to as the 'dancing pigs' problem: if security gets in the way of something users want to do, they will ignore it in favor of a smoother experience.”</a:t>
            </a:r>
          </a:p>
          <a:p>
            <a:r>
              <a:rPr lang="en-US" i="1" dirty="0"/>
              <a:t>[CLICK]</a:t>
            </a:r>
            <a:endParaRPr lang="en-US" dirty="0"/>
          </a:p>
          <a:p>
            <a:r>
              <a:rPr lang="en-US" i="1" dirty="0"/>
              <a:t>"From a cost-benefit perspective, users are always trying to [CLICK] minimize effort or inconvenience while maximizing benefits. If a security measure adds too many steps, slows them down, or disrupts their workflow, they are likely to bypass it—even if they know the risks.</a:t>
            </a:r>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8</a:t>
            </a:fld>
            <a:endParaRPr lang="en-US"/>
          </a:p>
        </p:txBody>
      </p:sp>
    </p:spTree>
    <p:extLst>
      <p:ext uri="{BB962C8B-B14F-4D97-AF65-F5344CB8AC3E}">
        <p14:creationId xmlns:p14="http://schemas.microsoft.com/office/powerpoint/2010/main" val="2090701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Security rules are often made without considering how real users behave. We see this in overly complex password requirements that frustrate users—leading them to reuse passwords or store them insecurely. Multi-factor authentication (MFA) is another example: while it enhances security, it also introduces friction, which can discourage adoption."</a:t>
            </a:r>
            <a:endParaRPr lang="en-US" dirty="0"/>
          </a:p>
          <a:p>
            <a:r>
              <a:rPr lang="en-US" i="1" dirty="0"/>
              <a:t>"But security isn’t just about technology—it’s about people. Humans are social creatures with different levels of experience, cognitive abilities, and risk perception. These factors influence how they make security decisions in practice."</a:t>
            </a:r>
            <a:endParaRPr lang="en-US" dirty="0"/>
          </a:p>
          <a:p>
            <a:r>
              <a:rPr lang="en-US" i="1" dirty="0"/>
              <a:t>"Critically, not everyone understands security systems the same way. While one user might see a security prompt as necessary protection, another might see it as an annoying obstacle. These differences matter, and if we fail to account for them, our security measures will be less effective."</a:t>
            </a:r>
            <a:endParaRPr lang="en-US" dirty="0"/>
          </a:p>
          <a:p>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9</a:t>
            </a:fld>
            <a:endParaRPr lang="en-US"/>
          </a:p>
        </p:txBody>
      </p:sp>
    </p:spTree>
    <p:extLst>
      <p:ext uri="{BB962C8B-B14F-4D97-AF65-F5344CB8AC3E}">
        <p14:creationId xmlns:p14="http://schemas.microsoft.com/office/powerpoint/2010/main" val="1057684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shows that [READ]</a:t>
            </a:r>
          </a:p>
          <a:p>
            <a:endParaRPr lang="en-US" dirty="0"/>
          </a:p>
          <a:p>
            <a:r>
              <a:rPr lang="en-US" i="1" dirty="0"/>
              <a:t>"To build stronger security, we need to bridge the gap between security design and human behavior."</a:t>
            </a:r>
            <a:endParaRPr lang="en-US" dirty="0"/>
          </a:p>
          <a:p>
            <a:endParaRPr lang="en-US" i="1" dirty="0"/>
          </a:p>
          <a:p>
            <a:r>
              <a:rPr lang="en-US" i="1" dirty="0"/>
              <a:t>So, instead of blaming users, we need to rethink security design. What if, we could learn from people about experiences, feelings, and perceptions toward security systems and make adjustments to security design?</a:t>
            </a:r>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10</a:t>
            </a:fld>
            <a:endParaRPr lang="en-US"/>
          </a:p>
        </p:txBody>
      </p:sp>
    </p:spTree>
    <p:extLst>
      <p:ext uri="{BB962C8B-B14F-4D97-AF65-F5344CB8AC3E}">
        <p14:creationId xmlns:p14="http://schemas.microsoft.com/office/powerpoint/2010/main" val="3662052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dirty="0"/>
              <a:t>A commonly used method in psychology to elicit users’ understanding about a problem is mental models. </a:t>
            </a:r>
            <a:r>
              <a:rPr lang="en-US" sz="2800" dirty="0"/>
              <a:t>User mental models refer to how individuals </a:t>
            </a:r>
            <a:r>
              <a:rPr lang="en-US" sz="2800" b="1" dirty="0"/>
              <a:t>perceive, interpret, and predict</a:t>
            </a:r>
            <a:r>
              <a:rPr lang="en-US" sz="2800" dirty="0"/>
              <a:t> various situations. Understanding these models helps us gain deeper insights into </a:t>
            </a:r>
            <a:r>
              <a:rPr lang="en-US" sz="2800" b="1" dirty="0"/>
              <a:t>how people interact with security systems</a:t>
            </a:r>
            <a:r>
              <a:rPr lang="en-US" sz="2800" dirty="0"/>
              <a:t>, including their expectations, misconceptions, and behaviors.</a:t>
            </a:r>
          </a:p>
          <a:p>
            <a:endParaRPr lang="en-US" sz="2800" dirty="0"/>
          </a:p>
          <a:p>
            <a:r>
              <a:rPr lang="en-US" sz="2800" dirty="0"/>
              <a:t>By studying mental models, we can </a:t>
            </a:r>
            <a:r>
              <a:rPr lang="en-US" sz="2800" b="1" dirty="0"/>
              <a:t>design better solutions and interventions</a:t>
            </a:r>
            <a:r>
              <a:rPr lang="en-US" sz="2800" dirty="0"/>
              <a:t> that align with user expectations, ultimately improving usability and security effectiveness</a:t>
            </a:r>
          </a:p>
          <a:p>
            <a:endParaRPr lang="en-US" sz="1800" dirty="0">
              <a:latin typeface="Roboto" panose="02000000000000000000" pitchFamily="2" charset="0"/>
              <a:ea typeface="Roboto" panose="02000000000000000000" pitchFamily="2" charset="0"/>
              <a:cs typeface="Roboto" panose="02000000000000000000" pitchFamily="2" charset="0"/>
            </a:endParaRPr>
          </a:p>
          <a:p>
            <a:endParaRPr lang="en-US" sz="1800" dirty="0">
              <a:latin typeface="Roboto" panose="02000000000000000000" pitchFamily="2" charset="0"/>
              <a:ea typeface="Roboto" panose="02000000000000000000" pitchFamily="2" charset="0"/>
              <a:cs typeface="Roboto" panose="02000000000000000000" pitchFamily="2" charset="0"/>
            </a:endParaRPr>
          </a:p>
          <a:p>
            <a:r>
              <a:rPr lang="en-US" sz="1800" dirty="0">
                <a:latin typeface="Roboto" panose="02000000000000000000" pitchFamily="2" charset="0"/>
                <a:ea typeface="Roboto" panose="02000000000000000000" pitchFamily="2" charset="0"/>
                <a:cs typeface="Roboto" panose="02000000000000000000" pitchFamily="2" charset="0"/>
              </a:rPr>
              <a:t>Examples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Roboto" panose="02000000000000000000" pitchFamily="2" charset="0"/>
                <a:ea typeface="Roboto" panose="02000000000000000000" pitchFamily="2" charset="0"/>
                <a:cs typeface="Roboto" panose="02000000000000000000" pitchFamily="2"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Roboto" panose="02000000000000000000" pitchFamily="2" charset="0"/>
                <a:ea typeface="Roboto" panose="02000000000000000000" pitchFamily="2" charset="0"/>
                <a:cs typeface="Roboto" panose="02000000000000000000" pitchFamily="2" charset="0"/>
              </a:rPr>
              <a:t>E.g.: Users often assume longer passwords are always more secure, overlooking complexity and uniqueness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Roboto" panose="02000000000000000000" pitchFamily="2" charset="0"/>
                <a:ea typeface="Roboto" panose="02000000000000000000" pitchFamily="2" charset="0"/>
                <a:cs typeface="Roboto" panose="02000000000000000000" pitchFamily="2" charset="0"/>
              </a:rPr>
              <a:t>[15]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A mental models approach, in contrast to surveys or other methods, revealed subtle differences in people’s knowledge of the Internet. Our results suggest that user perceptions do vary as a function of their personal experiences and technical education level. Users’ technical knowledge partly influences their perception of how their data flows on the Internet. However their technical knowledge does not seem to directly correlate with behaving more securely online. </a:t>
            </a:r>
            <a:endParaRPr lang="en-US" sz="1800" dirty="0">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Roboto" panose="02000000000000000000" pitchFamily="2" charset="0"/>
                <a:ea typeface="Roboto" panose="02000000000000000000" pitchFamily="2" charset="0"/>
                <a:cs typeface="Roboto" panose="02000000000000000000" pitchFamily="2" charset="0"/>
              </a:rPr>
              <a:t>[16]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to learn about the root causes for user misconceptions by formalizing mental models of end users and administrators. In particular, we focus on how users think that HTTPS works and against which types of attackers they think they are protected. By doing so, we get a detailed understanding of which knowledge gaps have to be filled in future protocol designs. We thereby contribute a qualitative study with 18 end users and 12 experienced administrators; our findings reveal interesting differences in the mental models of these two distinct user groups</a:t>
            </a:r>
            <a:endParaRPr lang="en-US" sz="1800" dirty="0">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Mental models of a system can be useful in informing interface design or educational materials because they suggest natural ways to visualize complex system components or user interactions with them.</a:t>
            </a:r>
            <a:endParaRPr lang="en-US" sz="1800" dirty="0">
              <a:latin typeface="Roboto" panose="02000000000000000000" pitchFamily="2" charset="0"/>
              <a:ea typeface="Roboto" panose="02000000000000000000" pitchFamily="2" charset="0"/>
              <a:cs typeface="Roboto" panose="02000000000000000000" pitchFamily="2" charset="0"/>
            </a:endParaRPr>
          </a:p>
          <a:p>
            <a:endParaRPr lang="en-US" sz="1800" dirty="0">
              <a:latin typeface="Roboto" panose="02000000000000000000" pitchFamily="2" charset="0"/>
              <a:ea typeface="Roboto" panose="02000000000000000000" pitchFamily="2" charset="0"/>
              <a:cs typeface="Roboto" panose="02000000000000000000" pitchFamily="2" charset="0"/>
            </a:endParaRPr>
          </a:p>
        </p:txBody>
      </p:sp>
      <p:sp>
        <p:nvSpPr>
          <p:cNvPr id="4" name="Slide Number Placeholder 3"/>
          <p:cNvSpPr>
            <a:spLocks noGrp="1"/>
          </p:cNvSpPr>
          <p:nvPr>
            <p:ph type="sldNum" sz="quarter" idx="5"/>
          </p:nvPr>
        </p:nvSpPr>
        <p:spPr/>
        <p:txBody>
          <a:bodyPr/>
          <a:lstStyle/>
          <a:p>
            <a:fld id="{A5676AAF-63E4-0641-ACFB-720DB9F6099B}" type="slidenum">
              <a:rPr lang="en-US" smtClean="0"/>
              <a:t>11</a:t>
            </a:fld>
            <a:endParaRPr lang="en-US"/>
          </a:p>
        </p:txBody>
      </p:sp>
    </p:spTree>
    <p:extLst>
      <p:ext uri="{BB962C8B-B14F-4D97-AF65-F5344CB8AC3E}">
        <p14:creationId xmlns:p14="http://schemas.microsoft.com/office/powerpoint/2010/main" val="10524196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a:p>
            <a:r>
              <a:rPr lang="en-US" i="1" dirty="0"/>
              <a:t>technology alone is not enough. No matter how advanced our defenses become, security ultimately depends on the people using them."</a:t>
            </a:r>
            <a:endParaRPr lang="en-US" dirty="0"/>
          </a:p>
          <a:p>
            <a:r>
              <a:rPr lang="en-US" i="1" dirty="0"/>
              <a:t>"Traditionally, we’ve framed users as the weak link in security—the ones who fall for phishing scams, reuse passwords, or ignore security warnings. But instead of treating humans as the problem, we need to shift our perspective and see them as part of the solution."</a:t>
            </a:r>
            <a:endParaRPr lang="en-US" dirty="0"/>
          </a:p>
          <a:p>
            <a:r>
              <a:rPr lang="en-US" i="1" dirty="0"/>
              <a:t>"Cybersecurity is not just a technical challenge; it’s a </a:t>
            </a:r>
            <a:r>
              <a:rPr lang="en-US" b="1" i="1" dirty="0"/>
              <a:t>socio-technical</a:t>
            </a:r>
            <a:r>
              <a:rPr lang="en-US" i="1" dirty="0"/>
              <a:t> system, where human behavior, decision-making, and usability directly impact security outcomes. If we design security with human factors in mind, we create systems that people can and will use effectively, rather than work around."</a:t>
            </a:r>
            <a:endParaRPr lang="en-US" dirty="0"/>
          </a:p>
          <a:p>
            <a:r>
              <a:rPr lang="en-US" i="1" dirty="0"/>
              <a:t>"This is exactly what my research focuses on—understanding the human side of security. In the next section, I’ll walk through some of the major works and practices that have shaped this field today.</a:t>
            </a:r>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12</a:t>
            </a:fld>
            <a:endParaRPr lang="en-US"/>
          </a:p>
        </p:txBody>
      </p:sp>
    </p:spTree>
    <p:extLst>
      <p:ext uri="{BB962C8B-B14F-4D97-AF65-F5344CB8AC3E}">
        <p14:creationId xmlns:p14="http://schemas.microsoft.com/office/powerpoint/2010/main" val="2606495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idea that security should be designed for </a:t>
            </a:r>
            <a:r>
              <a:rPr lang="en-US" b="1" dirty="0"/>
              <a:t>real-world users</a:t>
            </a:r>
            <a:r>
              <a:rPr lang="en-US" dirty="0"/>
              <a:t> is not new. It emerged from three foundational studies in </a:t>
            </a:r>
            <a:r>
              <a:rPr lang="en-US" b="1" dirty="0"/>
              <a:t>usable security</a:t>
            </a:r>
            <a:endParaRPr lang="en-US" dirty="0"/>
          </a:p>
          <a:p>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13</a:t>
            </a:fld>
            <a:endParaRPr lang="en-US"/>
          </a:p>
        </p:txBody>
      </p:sp>
    </p:spTree>
    <p:extLst>
      <p:ext uri="{BB962C8B-B14F-4D97-AF65-F5344CB8AC3E}">
        <p14:creationId xmlns:p14="http://schemas.microsoft.com/office/powerpoint/2010/main" val="2390277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US" b="1" dirty="0"/>
              <a:t>Zurko &amp; Simon (User-Centered Security) [91]</a:t>
            </a:r>
            <a:endParaRPr lang="en-US" dirty="0"/>
          </a:p>
          <a:p>
            <a:pPr>
              <a:buFont typeface="+mj-lt"/>
              <a:buAutoNum type="arabicPeriod"/>
            </a:pPr>
            <a:r>
              <a:rPr lang="en-US" b="1" dirty="0"/>
              <a:t>Adams &amp; Sasse (Users Are Not the Enemy) [5]</a:t>
            </a:r>
            <a:endParaRPr lang="en-US" dirty="0"/>
          </a:p>
          <a:p>
            <a:pPr>
              <a:buFont typeface="+mj-lt"/>
              <a:buAutoNum type="arabicPeriod"/>
            </a:pPr>
            <a:r>
              <a:rPr lang="en-US" b="1" dirty="0"/>
              <a:t>Whitten &amp; </a:t>
            </a:r>
            <a:r>
              <a:rPr lang="en-US" b="1" dirty="0" err="1"/>
              <a:t>Tygar</a:t>
            </a:r>
            <a:r>
              <a:rPr lang="en-US" b="1" dirty="0"/>
              <a:t> (Why Johnny Can’t Encrypt) [84]</a:t>
            </a:r>
            <a:endParaRPr lang="en-US" dirty="0"/>
          </a:p>
          <a:p>
            <a:endParaRPr lang="en-US" dirty="0"/>
          </a:p>
          <a:p>
            <a:endParaRPr lang="en-US" dirty="0"/>
          </a:p>
          <a:p>
            <a:r>
              <a:rPr lang="en-US" i="1" dirty="0"/>
              <a:t>"These studies established </a:t>
            </a:r>
            <a:r>
              <a:rPr lang="en-US" b="1" i="1" dirty="0"/>
              <a:t>the importance of usability in security</a:t>
            </a:r>
            <a:r>
              <a:rPr lang="en-US" i="1" dirty="0"/>
              <a:t> and paved the way for modern research on human factors in cybersecurity."</a:t>
            </a:r>
            <a:endParaRPr lang="en-US" dirty="0"/>
          </a:p>
          <a:p>
            <a:r>
              <a:rPr lang="en-US" i="1" dirty="0"/>
              <a:t>"Since then, researchers have continued to explore how human behavior impacts security, using a variety of </a:t>
            </a:r>
            <a:r>
              <a:rPr lang="en-US" b="1" i="1" dirty="0"/>
              <a:t>research methods</a:t>
            </a:r>
            <a:r>
              <a:rPr lang="en-US" i="1" dirty="0"/>
              <a:t> to study these issues."</a:t>
            </a:r>
            <a:endParaRPr lang="en-US" dirty="0"/>
          </a:p>
          <a:p>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14</a:t>
            </a:fld>
            <a:endParaRPr lang="en-US"/>
          </a:p>
        </p:txBody>
      </p:sp>
    </p:spTree>
    <p:extLst>
      <p:ext uri="{BB962C8B-B14F-4D97-AF65-F5344CB8AC3E}">
        <p14:creationId xmlns:p14="http://schemas.microsoft.com/office/powerpoint/2010/main" val="552405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Now, I want to highlight the three main types of human factors research in cybersecurity. These studies generally fall into three categories: </a:t>
            </a:r>
            <a:r>
              <a:rPr lang="en-US" b="1" i="1" dirty="0"/>
              <a:t>Observation, Inquiry, and Evaluation.</a:t>
            </a:r>
            <a:r>
              <a:rPr lang="en-US" i="1" dirty="0"/>
              <a:t> Each approach helps us understand security behaviors in different ways."</a:t>
            </a:r>
            <a:endParaRPr lang="en-US" dirty="0"/>
          </a:p>
          <a:p>
            <a:r>
              <a:rPr lang="en-US" b="1" dirty="0"/>
              <a:t>Observation</a:t>
            </a:r>
          </a:p>
          <a:p>
            <a:r>
              <a:rPr lang="en-US" i="1" dirty="0"/>
              <a:t>"Observation studies focus on watching how users interact with security mechanisms in real-world settings, without direct interference from researchers. These studies help us identify patterns in user behavior and uncover usability issues.”</a:t>
            </a:r>
          </a:p>
          <a:p>
            <a:endParaRPr lang="en-US" dirty="0"/>
          </a:p>
          <a:p>
            <a:r>
              <a:rPr lang="en-US" b="1" dirty="0"/>
              <a:t>Inquiry</a:t>
            </a:r>
          </a:p>
          <a:p>
            <a:r>
              <a:rPr lang="en-US" i="1" dirty="0"/>
              <a:t>"Inquiry-based research involves directly engaging with users through methods like interviews and surveys to understand their security perceptions, motivations, and decision-making processes."</a:t>
            </a:r>
            <a:endParaRPr lang="en-US" dirty="0"/>
          </a:p>
          <a:p>
            <a:pPr>
              <a:buFont typeface="Arial" panose="020B0604020202020204" pitchFamily="34" charset="0"/>
              <a:buChar char="•"/>
            </a:pPr>
            <a:endParaRPr lang="en-US" dirty="0"/>
          </a:p>
          <a:p>
            <a:r>
              <a:rPr lang="en-US" b="1" dirty="0"/>
              <a:t>Evaluation</a:t>
            </a:r>
          </a:p>
          <a:p>
            <a:r>
              <a:rPr lang="en-US" i="1" dirty="0"/>
              <a:t>"Evaluation studies assess how security tools and policies impact user behavior. These studies test different interventions to determine what improves security outcomes."</a:t>
            </a:r>
            <a:endParaRPr lang="en-US" dirty="0"/>
          </a:p>
          <a:p>
            <a:endParaRPr lang="en-US" i="1" dirty="0"/>
          </a:p>
          <a:p>
            <a:pPr>
              <a:buFont typeface="Arial" panose="020B0604020202020204" pitchFamily="34" charset="0"/>
              <a:buChar char="•"/>
            </a:pPr>
            <a:r>
              <a:rPr lang="en-US" b="1" dirty="0"/>
              <a:t>Observation</a:t>
            </a:r>
            <a:r>
              <a:rPr lang="en-US" dirty="0"/>
              <a:t> studies analyze behavior in real-time, such as </a:t>
            </a:r>
            <a:r>
              <a:rPr lang="en-US" b="1" dirty="0"/>
              <a:t>how users react to browser warnings</a:t>
            </a:r>
            <a:r>
              <a:rPr lang="en-US" dirty="0"/>
              <a:t> or </a:t>
            </a:r>
            <a:r>
              <a:rPr lang="en-US" b="1" dirty="0"/>
              <a:t>the mistakes hackers make in Capture The Flag (CTF) challenges</a:t>
            </a:r>
            <a:r>
              <a:rPr lang="en-US" dirty="0"/>
              <a:t> without relying on self-reports.</a:t>
            </a:r>
          </a:p>
          <a:p>
            <a:pPr>
              <a:buFont typeface="Arial" panose="020B0604020202020204" pitchFamily="34" charset="0"/>
              <a:buChar char="•"/>
            </a:pPr>
            <a:r>
              <a:rPr lang="en-US" b="1" dirty="0"/>
              <a:t>Inquiry</a:t>
            </a:r>
            <a:r>
              <a:rPr lang="en-US" dirty="0"/>
              <a:t> studies involve direct questioning to understand gaps, like </a:t>
            </a:r>
            <a:r>
              <a:rPr lang="en-US" b="1" dirty="0"/>
              <a:t>comparing expert vs. non-expert security practices</a:t>
            </a:r>
            <a:r>
              <a:rPr lang="en-US" dirty="0"/>
              <a:t> or </a:t>
            </a:r>
            <a:r>
              <a:rPr lang="en-US" b="1" dirty="0"/>
              <a:t>examining organizational challenges that hamper Security Operations Centers (SOC) efficiency.</a:t>
            </a:r>
            <a:endParaRPr lang="en-US" dirty="0"/>
          </a:p>
          <a:p>
            <a:pPr>
              <a:buFont typeface="Arial" panose="020B0604020202020204" pitchFamily="34" charset="0"/>
              <a:buChar char="•"/>
            </a:pPr>
            <a:r>
              <a:rPr lang="en-US" b="1" dirty="0"/>
              <a:t>Evaluation</a:t>
            </a:r>
            <a:r>
              <a:rPr lang="en-US" dirty="0"/>
              <a:t> studies assess the impact of interventions, such as </a:t>
            </a:r>
            <a:r>
              <a:rPr lang="en-US" b="1" dirty="0"/>
              <a:t>how users respond to GDPR consent notices</a:t>
            </a:r>
            <a:r>
              <a:rPr lang="en-US" dirty="0"/>
              <a:t> or </a:t>
            </a:r>
            <a:r>
              <a:rPr lang="en-US" b="1" dirty="0"/>
              <a:t>whether developers using Stack Overflow write less secure code.</a:t>
            </a:r>
          </a:p>
          <a:p>
            <a:pPr>
              <a:buFont typeface="Arial" panose="020B0604020202020204" pitchFamily="34" charset="0"/>
              <a:buChar char="•"/>
            </a:pPr>
            <a:endParaRPr lang="en-US" b="1" dirty="0"/>
          </a:p>
          <a:p>
            <a:pPr>
              <a:buFont typeface="Arial" panose="020B0604020202020204" pitchFamily="34" charset="0"/>
              <a:buChar char="•"/>
            </a:pPr>
            <a:endParaRPr lang="en-US" dirty="0"/>
          </a:p>
          <a:p>
            <a:r>
              <a:rPr lang="en-US" dirty="0"/>
              <a:t>Each method provides unique insights, helping improve security practices and policies.</a:t>
            </a:r>
          </a:p>
          <a:p>
            <a:endParaRPr lang="en-US" dirty="0"/>
          </a:p>
          <a:p>
            <a:endParaRPr lang="en-US" dirty="0"/>
          </a:p>
          <a:p>
            <a:endParaRPr lang="en-US" dirty="0"/>
          </a:p>
          <a:p>
            <a:r>
              <a:rPr lang="en-US" dirty="0"/>
              <a:t>-------------</a:t>
            </a:r>
          </a:p>
          <a:p>
            <a:r>
              <a:rPr lang="en-US" dirty="0"/>
              <a:t>For instance, while experts most frequently report installing software updates, using two-factor authentication and using a password manager to stay safe online, non-experts report using antivirus software, visiting only known websites, and changing passwords frequently</a:t>
            </a:r>
          </a:p>
        </p:txBody>
      </p:sp>
      <p:sp>
        <p:nvSpPr>
          <p:cNvPr id="4" name="Slide Number Placeholder 3"/>
          <p:cNvSpPr>
            <a:spLocks noGrp="1"/>
          </p:cNvSpPr>
          <p:nvPr>
            <p:ph type="sldNum" sz="quarter" idx="5"/>
          </p:nvPr>
        </p:nvSpPr>
        <p:spPr/>
        <p:txBody>
          <a:bodyPr/>
          <a:lstStyle/>
          <a:p>
            <a:fld id="{A5676AAF-63E4-0641-ACFB-720DB9F6099B}" type="slidenum">
              <a:rPr lang="en-US" smtClean="0"/>
              <a:t>15</a:t>
            </a:fld>
            <a:endParaRPr lang="en-US"/>
          </a:p>
        </p:txBody>
      </p:sp>
    </p:spTree>
    <p:extLst>
      <p:ext uri="{BB962C8B-B14F-4D97-AF65-F5344CB8AC3E}">
        <p14:creationId xmlns:p14="http://schemas.microsoft.com/office/powerpoint/2010/main" val="2402543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methodological elements of a human factors security paper</a:t>
            </a:r>
          </a:p>
        </p:txBody>
      </p:sp>
      <p:sp>
        <p:nvSpPr>
          <p:cNvPr id="4" name="Slide Number Placeholder 3"/>
          <p:cNvSpPr>
            <a:spLocks noGrp="1"/>
          </p:cNvSpPr>
          <p:nvPr>
            <p:ph type="sldNum" sz="quarter" idx="5"/>
          </p:nvPr>
        </p:nvSpPr>
        <p:spPr/>
        <p:txBody>
          <a:bodyPr/>
          <a:lstStyle/>
          <a:p>
            <a:fld id="{A5676AAF-63E4-0641-ACFB-720DB9F6099B}" type="slidenum">
              <a:rPr lang="en-US" smtClean="0"/>
              <a:t>16</a:t>
            </a:fld>
            <a:endParaRPr lang="en-US"/>
          </a:p>
        </p:txBody>
      </p:sp>
    </p:spTree>
    <p:extLst>
      <p:ext uri="{BB962C8B-B14F-4D97-AF65-F5344CB8AC3E}">
        <p14:creationId xmlns:p14="http://schemas.microsoft.com/office/powerpoint/2010/main" val="1824744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3008F-4878-5AB6-83B4-3134C4FEE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AE957-92F2-5FE7-7A7C-A6BF1C4520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956B0-27B2-46F3-7237-5133ED857D36}"/>
              </a:ext>
            </a:extLst>
          </p:cNvPr>
          <p:cNvSpPr>
            <a:spLocks noGrp="1"/>
          </p:cNvSpPr>
          <p:nvPr>
            <p:ph type="body" idx="1"/>
          </p:nvPr>
        </p:nvSpPr>
        <p:spPr/>
        <p:txBody>
          <a:bodyPr/>
          <a:lstStyle/>
          <a:p>
            <a:r>
              <a:rPr lang="en-US" dirty="0"/>
              <a:t>Experts: </a:t>
            </a:r>
          </a:p>
          <a:p>
            <a:r>
              <a:rPr lang="en-US" dirty="0"/>
              <a:t>Expert users are those who build and run systems. Contrary to end users, they directly influence the security of systems used by someone.</a:t>
            </a:r>
          </a:p>
          <a:p>
            <a:endParaRPr lang="en-US" dirty="0"/>
          </a:p>
          <a:p>
            <a:r>
              <a:rPr lang="en-US" dirty="0"/>
              <a:t>Investigating </a:t>
            </a:r>
            <a:r>
              <a:rPr lang="en-US" b="1" dirty="0"/>
              <a:t>how security professionals balance usability, risk, and policy enforcement</a:t>
            </a:r>
            <a:r>
              <a:rPr lang="en-US" dirty="0"/>
              <a:t>. Understand expert </a:t>
            </a:r>
            <a:r>
              <a:rPr lang="en-US" b="1" dirty="0"/>
              <a:t>mental models</a:t>
            </a:r>
            <a:r>
              <a:rPr lang="en-US" dirty="0"/>
              <a:t> and how they differ from those of end-users. Improve communication and </a:t>
            </a:r>
            <a:r>
              <a:rPr lang="en-US" b="1" dirty="0"/>
              <a:t>security guidance</a:t>
            </a:r>
            <a:r>
              <a:rPr lang="en-US" dirty="0"/>
              <a:t> for non-experts. </a:t>
            </a:r>
          </a:p>
          <a:p>
            <a:endParaRPr lang="en-US" dirty="0"/>
          </a:p>
          <a:p>
            <a:r>
              <a:rPr lang="en-US" dirty="0"/>
              <a:t>Vulnerable: </a:t>
            </a:r>
          </a:p>
          <a:p>
            <a:r>
              <a:rPr lang="en-US" dirty="0"/>
              <a:t>Identify </a:t>
            </a:r>
            <a:r>
              <a:rPr lang="en-US" b="1" dirty="0"/>
              <a:t>unique security challenges</a:t>
            </a:r>
            <a:r>
              <a:rPr lang="en-US" dirty="0"/>
              <a:t> they face, such as lack of </a:t>
            </a:r>
            <a:r>
              <a:rPr lang="en-US" b="1" dirty="0"/>
              <a:t>technical literacy or fear of digital </a:t>
            </a:r>
            <a:r>
              <a:rPr lang="en-US" b="1" dirty="0" err="1"/>
              <a:t>tracking.</a:t>
            </a:r>
            <a:r>
              <a:rPr lang="en-US" dirty="0" err="1"/>
              <a:t>Develop</a:t>
            </a:r>
            <a:r>
              <a:rPr lang="en-US" dirty="0"/>
              <a:t> </a:t>
            </a:r>
            <a:r>
              <a:rPr lang="en-US" b="1" dirty="0"/>
              <a:t>accessible, easy-to-use security tools</a:t>
            </a:r>
            <a:r>
              <a:rPr lang="en-US" dirty="0"/>
              <a:t> that account for their </a:t>
            </a:r>
            <a:r>
              <a:rPr lang="en-US" dirty="0" err="1"/>
              <a:t>limitations.Inform</a:t>
            </a:r>
            <a:r>
              <a:rPr lang="en-US" dirty="0"/>
              <a:t> policy on </a:t>
            </a:r>
            <a:r>
              <a:rPr lang="en-US" b="1" dirty="0"/>
              <a:t>privacy, online harassment protection, and digital rights.</a:t>
            </a:r>
          </a:p>
          <a:p>
            <a:endParaRPr lang="en-US" b="1" dirty="0"/>
          </a:p>
          <a:p>
            <a:r>
              <a:rPr lang="en-US" b="1" dirty="0"/>
              <a:t>Overall, </a:t>
            </a:r>
          </a:p>
          <a:p>
            <a:r>
              <a:rPr lang="en-US" b="1" dirty="0"/>
              <a:t>Tailored Security Solutions</a:t>
            </a:r>
            <a:r>
              <a:rPr lang="en-US" dirty="0"/>
              <a:t> – One-size-fits-all security does not work; different groups have different needs.</a:t>
            </a:r>
            <a:br>
              <a:rPr lang="en-US" dirty="0"/>
            </a:br>
            <a:r>
              <a:rPr lang="en-US" b="1" dirty="0"/>
              <a:t>Improved Security Education</a:t>
            </a:r>
            <a:r>
              <a:rPr lang="en-US" dirty="0"/>
              <a:t> – Research helps design security training that fits each group’s knowledge level.</a:t>
            </a:r>
            <a:br>
              <a:rPr lang="en-US" dirty="0"/>
            </a:br>
            <a:r>
              <a:rPr lang="en-US" b="1" dirty="0"/>
              <a:t>More Inclusive Cybersecurity - </a:t>
            </a:r>
            <a:r>
              <a:rPr lang="en-US" dirty="0"/>
              <a:t>Ensuring that security practices work for </a:t>
            </a:r>
            <a:r>
              <a:rPr lang="en-US" b="1" dirty="0"/>
              <a:t>everyone, not just tech-savvy users.</a:t>
            </a:r>
            <a:endParaRPr lang="en-US" dirty="0"/>
          </a:p>
        </p:txBody>
      </p:sp>
      <p:sp>
        <p:nvSpPr>
          <p:cNvPr id="4" name="Slide Number Placeholder 3">
            <a:extLst>
              <a:ext uri="{FF2B5EF4-FFF2-40B4-BE49-F238E27FC236}">
                <a16:creationId xmlns:a16="http://schemas.microsoft.com/office/drawing/2014/main" id="{CA6E5578-703E-2004-A8E1-4E95E2BF0DD3}"/>
              </a:ext>
            </a:extLst>
          </p:cNvPr>
          <p:cNvSpPr>
            <a:spLocks noGrp="1"/>
          </p:cNvSpPr>
          <p:nvPr>
            <p:ph type="sldNum" sz="quarter" idx="5"/>
          </p:nvPr>
        </p:nvSpPr>
        <p:spPr/>
        <p:txBody>
          <a:bodyPr/>
          <a:lstStyle/>
          <a:p>
            <a:fld id="{A5676AAF-63E4-0641-ACFB-720DB9F6099B}" type="slidenum">
              <a:rPr lang="en-US" smtClean="0"/>
              <a:t>17</a:t>
            </a:fld>
            <a:endParaRPr lang="en-US"/>
          </a:p>
        </p:txBody>
      </p:sp>
    </p:spTree>
    <p:extLst>
      <p:ext uri="{BB962C8B-B14F-4D97-AF65-F5344CB8AC3E}">
        <p14:creationId xmlns:p14="http://schemas.microsoft.com/office/powerpoint/2010/main" val="10005574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study how users interact with security systems, researchers use a mix of </a:t>
            </a:r>
            <a:r>
              <a:rPr lang="en-US" b="1" dirty="0"/>
              <a:t>qualitative</a:t>
            </a:r>
            <a:r>
              <a:rPr lang="en-US" dirty="0"/>
              <a:t> and </a:t>
            </a:r>
            <a:r>
              <a:rPr lang="en-US" b="1" dirty="0"/>
              <a:t>quantitative</a:t>
            </a:r>
            <a:r>
              <a:rPr lang="en-US" dirty="0"/>
              <a:t> methods. These methods help us understand not only </a:t>
            </a:r>
            <a:r>
              <a:rPr lang="en-US" b="1" dirty="0"/>
              <a:t>what security behaviors occur</a:t>
            </a:r>
            <a:r>
              <a:rPr lang="en-US" dirty="0"/>
              <a:t>, but also </a:t>
            </a:r>
            <a:r>
              <a:rPr lang="en-US" b="1" dirty="0"/>
              <a:t>why they happen.</a:t>
            </a:r>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18</a:t>
            </a:fld>
            <a:endParaRPr lang="en-US"/>
          </a:p>
        </p:txBody>
      </p:sp>
    </p:spTree>
    <p:extLst>
      <p:ext uri="{BB962C8B-B14F-4D97-AF65-F5344CB8AC3E}">
        <p14:creationId xmlns:p14="http://schemas.microsoft.com/office/powerpoint/2010/main" val="7377983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06E5C-E8EA-8E0E-A077-3607C2339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AD15A-9618-7FA7-4C3C-6BE2D4578B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B4300A-AA84-6E23-4756-88E3312952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9DB936-3693-A93A-137B-3517A885F30C}"/>
              </a:ext>
            </a:extLst>
          </p:cNvPr>
          <p:cNvSpPr>
            <a:spLocks noGrp="1"/>
          </p:cNvSpPr>
          <p:nvPr>
            <p:ph type="sldNum" sz="quarter" idx="5"/>
          </p:nvPr>
        </p:nvSpPr>
        <p:spPr/>
        <p:txBody>
          <a:bodyPr/>
          <a:lstStyle/>
          <a:p>
            <a:fld id="{A5676AAF-63E4-0641-ACFB-720DB9F6099B}" type="slidenum">
              <a:rPr lang="en-US" smtClean="0"/>
              <a:t>19</a:t>
            </a:fld>
            <a:endParaRPr lang="en-US"/>
          </a:p>
        </p:txBody>
      </p:sp>
    </p:spTree>
    <p:extLst>
      <p:ext uri="{BB962C8B-B14F-4D97-AF65-F5344CB8AC3E}">
        <p14:creationId xmlns:p14="http://schemas.microsoft.com/office/powerpoint/2010/main" val="1101413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20</a:t>
            </a:fld>
            <a:endParaRPr lang="en-US"/>
          </a:p>
        </p:txBody>
      </p:sp>
    </p:spTree>
    <p:extLst>
      <p:ext uri="{BB962C8B-B14F-4D97-AF65-F5344CB8AC3E}">
        <p14:creationId xmlns:p14="http://schemas.microsoft.com/office/powerpoint/2010/main" val="24794109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47BFF-1191-E13D-6F40-AABCA0962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40469-31A0-1422-2DD3-57A7F42226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E4BED5-92A4-4ACD-0D88-370E754ACAA4}"/>
              </a:ext>
            </a:extLst>
          </p:cNvPr>
          <p:cNvSpPr>
            <a:spLocks noGrp="1"/>
          </p:cNvSpPr>
          <p:nvPr>
            <p:ph type="body" idx="1"/>
          </p:nvPr>
        </p:nvSpPr>
        <p:spPr/>
        <p:txBody>
          <a:bodyPr/>
          <a:lstStyle/>
          <a:p>
            <a:r>
              <a:rPr lang="en-US" dirty="0"/>
              <a:t>Balances flexibility and Consistency</a:t>
            </a:r>
          </a:p>
          <a:p>
            <a:r>
              <a:rPr lang="en-US" dirty="0"/>
              <a:t>Deeper Insights</a:t>
            </a:r>
          </a:p>
          <a:p>
            <a:r>
              <a:rPr lang="en-US" dirty="0"/>
              <a:t>Adaptability for Richer Data</a:t>
            </a:r>
          </a:p>
        </p:txBody>
      </p:sp>
      <p:sp>
        <p:nvSpPr>
          <p:cNvPr id="4" name="Slide Number Placeholder 3">
            <a:extLst>
              <a:ext uri="{FF2B5EF4-FFF2-40B4-BE49-F238E27FC236}">
                <a16:creationId xmlns:a16="http://schemas.microsoft.com/office/drawing/2014/main" id="{DC97B316-9FF5-A11B-429A-AB206B22682C}"/>
              </a:ext>
            </a:extLst>
          </p:cNvPr>
          <p:cNvSpPr>
            <a:spLocks noGrp="1"/>
          </p:cNvSpPr>
          <p:nvPr>
            <p:ph type="sldNum" sz="quarter" idx="5"/>
          </p:nvPr>
        </p:nvSpPr>
        <p:spPr/>
        <p:txBody>
          <a:bodyPr/>
          <a:lstStyle/>
          <a:p>
            <a:fld id="{A5676AAF-63E4-0641-ACFB-720DB9F6099B}" type="slidenum">
              <a:rPr lang="en-US" smtClean="0"/>
              <a:t>21</a:t>
            </a:fld>
            <a:endParaRPr lang="en-US"/>
          </a:p>
        </p:txBody>
      </p:sp>
    </p:spTree>
    <p:extLst>
      <p:ext uri="{BB962C8B-B14F-4D97-AF65-F5344CB8AC3E}">
        <p14:creationId xmlns:p14="http://schemas.microsoft.com/office/powerpoint/2010/main" val="25752750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E0DE-70C9-2B11-C724-689571423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27EAB-5B5F-CB90-1C8C-B880F8044D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B9FA72-4D90-36C4-0272-51C7482091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24C45A-71CB-2897-72C1-F6BEEC3B0C56}"/>
              </a:ext>
            </a:extLst>
          </p:cNvPr>
          <p:cNvSpPr>
            <a:spLocks noGrp="1"/>
          </p:cNvSpPr>
          <p:nvPr>
            <p:ph type="sldNum" sz="quarter" idx="5"/>
          </p:nvPr>
        </p:nvSpPr>
        <p:spPr/>
        <p:txBody>
          <a:bodyPr/>
          <a:lstStyle/>
          <a:p>
            <a:fld id="{A5676AAF-63E4-0641-ACFB-720DB9F6099B}" type="slidenum">
              <a:rPr lang="en-US" smtClean="0"/>
              <a:t>22</a:t>
            </a:fld>
            <a:endParaRPr lang="en-US"/>
          </a:p>
        </p:txBody>
      </p:sp>
    </p:spTree>
    <p:extLst>
      <p:ext uri="{BB962C8B-B14F-4D97-AF65-F5344CB8AC3E}">
        <p14:creationId xmlns:p14="http://schemas.microsoft.com/office/powerpoint/2010/main" val="1793212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EEB88-5B6E-C654-CBD3-A897206E1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ED9DA-A362-7E1F-6EE2-80B7C14BE1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A4ED0-2504-5F52-AB94-093E56D3A65A}"/>
              </a:ext>
            </a:extLst>
          </p:cNvPr>
          <p:cNvSpPr>
            <a:spLocks noGrp="1"/>
          </p:cNvSpPr>
          <p:nvPr>
            <p:ph type="body" idx="1"/>
          </p:nvPr>
        </p:nvSpPr>
        <p:spPr/>
        <p:txBody>
          <a:bodyPr/>
          <a:lstStyle/>
          <a:p>
            <a:r>
              <a:rPr lang="en-US" dirty="0"/>
              <a:t>Now, let’s look at some examples of how surveys have been used in cybersecurity research.</a:t>
            </a:r>
          </a:p>
          <a:p>
            <a:endParaRPr lang="en-US" dirty="0"/>
          </a:p>
          <a:p>
            <a:r>
              <a:rPr lang="en-US" dirty="0"/>
              <a:t>2FA - This type of studies can help understand the barriers to adoption and how organizations can implement security changes with minimal friction for users.</a:t>
            </a:r>
          </a:p>
          <a:p>
            <a:endParaRPr lang="en-US" dirty="0"/>
          </a:p>
          <a:p>
            <a:r>
              <a:rPr lang="en-US" dirty="0"/>
              <a:t>Breach - This is critical for shaping security policies and breach notification laws</a:t>
            </a:r>
          </a:p>
          <a:p>
            <a:endParaRPr lang="en-US" dirty="0"/>
          </a:p>
          <a:p>
            <a:r>
              <a:rPr lang="en-US" dirty="0"/>
              <a:t>Conducting security-related surveys can be </a:t>
            </a:r>
            <a:r>
              <a:rPr lang="en-US" b="1" dirty="0"/>
              <a:t>challenging</a:t>
            </a:r>
            <a:r>
              <a:rPr lang="en-US" dirty="0"/>
              <a:t>—if questions are unclear or biased, the results won’t be reliable. </a:t>
            </a:r>
          </a:p>
          <a:p>
            <a:r>
              <a:rPr lang="en-US" dirty="0"/>
              <a:t>This study helps security researchers design </a:t>
            </a:r>
            <a:r>
              <a:rPr lang="en-US" b="1" dirty="0"/>
              <a:t>more effective and accurate surveys</a:t>
            </a:r>
            <a:r>
              <a:rPr lang="en-US" dirty="0"/>
              <a:t> to improve research quality.</a:t>
            </a:r>
          </a:p>
        </p:txBody>
      </p:sp>
      <p:sp>
        <p:nvSpPr>
          <p:cNvPr id="4" name="Slide Number Placeholder 3">
            <a:extLst>
              <a:ext uri="{FF2B5EF4-FFF2-40B4-BE49-F238E27FC236}">
                <a16:creationId xmlns:a16="http://schemas.microsoft.com/office/drawing/2014/main" id="{AA4BF531-19D7-D5F4-8EBB-2A98AAD94A10}"/>
              </a:ext>
            </a:extLst>
          </p:cNvPr>
          <p:cNvSpPr>
            <a:spLocks noGrp="1"/>
          </p:cNvSpPr>
          <p:nvPr>
            <p:ph type="sldNum" sz="quarter" idx="5"/>
          </p:nvPr>
        </p:nvSpPr>
        <p:spPr/>
        <p:txBody>
          <a:bodyPr/>
          <a:lstStyle/>
          <a:p>
            <a:fld id="{A5676AAF-63E4-0641-ACFB-720DB9F6099B}" type="slidenum">
              <a:rPr lang="en-US" smtClean="0"/>
              <a:t>23</a:t>
            </a:fld>
            <a:endParaRPr lang="en-US"/>
          </a:p>
        </p:txBody>
      </p:sp>
    </p:spTree>
    <p:extLst>
      <p:ext uri="{BB962C8B-B14F-4D97-AF65-F5344CB8AC3E}">
        <p14:creationId xmlns:p14="http://schemas.microsoft.com/office/powerpoint/2010/main" val="20290796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E8342-ACBC-2AB2-2F80-C7EA5FF73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228F8-4BF4-71DE-CD71-1A24349105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E5930-BCF3-207C-D42B-361430714D8C}"/>
              </a:ext>
            </a:extLst>
          </p:cNvPr>
          <p:cNvSpPr>
            <a:spLocks noGrp="1"/>
          </p:cNvSpPr>
          <p:nvPr>
            <p:ph type="body" idx="1"/>
          </p:nvPr>
        </p:nvSpPr>
        <p:spPr/>
        <p:txBody>
          <a:bodyPr/>
          <a:lstStyle/>
          <a:p>
            <a:r>
              <a:rPr lang="en-US" i="1" dirty="0"/>
              <a:t>By integrating qualitative and quantitative research, we can </a:t>
            </a:r>
            <a:r>
              <a:rPr lang="en-US" b="1" i="1" dirty="0"/>
              <a:t>triangulate findings</a:t>
            </a:r>
            <a:r>
              <a:rPr lang="en-US" i="1" dirty="0"/>
              <a:t>—ensuring that insights from interviews and observations align with broader survey and experimental data."</a:t>
            </a:r>
            <a:endParaRPr lang="en-US" dirty="0"/>
          </a:p>
          <a:p>
            <a:r>
              <a:rPr lang="en-US" b="1" dirty="0"/>
              <a:t>Example study:</a:t>
            </a:r>
            <a:br>
              <a:rPr lang="en-US" dirty="0"/>
            </a:br>
            <a:r>
              <a:rPr lang="en-US" i="1" dirty="0"/>
              <a:t>"A study on smart contract security combined:"</a:t>
            </a:r>
            <a:endParaRPr lang="en-US" dirty="0"/>
          </a:p>
          <a:p>
            <a:pPr>
              <a:buFont typeface="+mj-lt"/>
              <a:buAutoNum type="arabicPeriod"/>
            </a:pPr>
            <a:r>
              <a:rPr lang="en-US" b="1" dirty="0"/>
              <a:t>Interviews</a:t>
            </a:r>
            <a:r>
              <a:rPr lang="en-US" dirty="0"/>
              <a:t> with developers to understand their security challenges.</a:t>
            </a:r>
          </a:p>
          <a:p>
            <a:pPr>
              <a:buFont typeface="+mj-lt"/>
              <a:buAutoNum type="arabicPeriod"/>
            </a:pPr>
            <a:r>
              <a:rPr lang="en-US" b="1" dirty="0"/>
              <a:t>Code review tasks</a:t>
            </a:r>
            <a:r>
              <a:rPr lang="en-US" dirty="0"/>
              <a:t> to assess real-world security practices.</a:t>
            </a:r>
          </a:p>
          <a:p>
            <a:pPr>
              <a:buFont typeface="+mj-lt"/>
              <a:buAutoNum type="arabicPeriod"/>
            </a:pPr>
            <a:r>
              <a:rPr lang="en-US" b="1" dirty="0"/>
              <a:t>A follow-up survey</a:t>
            </a:r>
            <a:r>
              <a:rPr lang="en-US" dirty="0"/>
              <a:t> to measure perceptions of security risks.</a:t>
            </a:r>
          </a:p>
          <a:p>
            <a:r>
              <a:rPr lang="en-US" i="1" dirty="0"/>
              <a:t>"This multi-method approach provided both depth (why developers make certain security decisions) and breadth (how common these behaviors are across the industry)."</a:t>
            </a:r>
            <a:endParaRPr lang="en-US" dirty="0"/>
          </a:p>
          <a:p>
            <a:endParaRPr lang="en-US" dirty="0"/>
          </a:p>
          <a:p>
            <a:endParaRPr lang="en-US" dirty="0"/>
          </a:p>
          <a:p>
            <a:r>
              <a:rPr lang="en-US" dirty="0"/>
              <a:t>task performance data told us the actual review behavior but it did not tell us why they had such behavior. The interviews and surveys helped us understand why they had such behavior.</a:t>
            </a:r>
          </a:p>
        </p:txBody>
      </p:sp>
      <p:sp>
        <p:nvSpPr>
          <p:cNvPr id="4" name="Slide Number Placeholder 3">
            <a:extLst>
              <a:ext uri="{FF2B5EF4-FFF2-40B4-BE49-F238E27FC236}">
                <a16:creationId xmlns:a16="http://schemas.microsoft.com/office/drawing/2014/main" id="{1F4BCF2F-98DD-DD4A-CEEF-DA3B9ADED835}"/>
              </a:ext>
            </a:extLst>
          </p:cNvPr>
          <p:cNvSpPr>
            <a:spLocks noGrp="1"/>
          </p:cNvSpPr>
          <p:nvPr>
            <p:ph type="sldNum" sz="quarter" idx="5"/>
          </p:nvPr>
        </p:nvSpPr>
        <p:spPr/>
        <p:txBody>
          <a:bodyPr/>
          <a:lstStyle/>
          <a:p>
            <a:fld id="{A5676AAF-63E4-0641-ACFB-720DB9F6099B}" type="slidenum">
              <a:rPr lang="en-US" smtClean="0"/>
              <a:t>24</a:t>
            </a:fld>
            <a:endParaRPr lang="en-US"/>
          </a:p>
        </p:txBody>
      </p:sp>
    </p:spTree>
    <p:extLst>
      <p:ext uri="{BB962C8B-B14F-4D97-AF65-F5344CB8AC3E}">
        <p14:creationId xmlns:p14="http://schemas.microsoft.com/office/powerpoint/2010/main" val="14779163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C18FD-7D88-B861-C520-C516051AA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5858F-768A-D2D0-0D71-01A63F975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D6723-2375-47B4-CBED-74B8939F237D}"/>
              </a:ext>
            </a:extLst>
          </p:cNvPr>
          <p:cNvSpPr>
            <a:spLocks noGrp="1"/>
          </p:cNvSpPr>
          <p:nvPr>
            <p:ph type="body" idx="1"/>
          </p:nvPr>
        </p:nvSpPr>
        <p:spPr/>
        <p:txBody>
          <a:bodyPr/>
          <a:lstStyle/>
          <a:p>
            <a:r>
              <a:rPr lang="en-US" dirty="0"/>
              <a:t>Recruiting the right participants is a crucial step in human factors security research. To ensure meaningful and reliable findings, researchers must carefully select participants based on </a:t>
            </a:r>
            <a:r>
              <a:rPr lang="en-US" b="1" dirty="0"/>
              <a:t>clear inclusion criteria</a:t>
            </a:r>
            <a:r>
              <a:rPr lang="en-US" dirty="0"/>
              <a:t>, conduct </a:t>
            </a:r>
            <a:r>
              <a:rPr lang="en-US" b="1" dirty="0"/>
              <a:t>screening when necessary</a:t>
            </a:r>
            <a:r>
              <a:rPr lang="en-US" dirty="0"/>
              <a:t>, and use </a:t>
            </a:r>
            <a:r>
              <a:rPr lang="en-US" b="1" dirty="0"/>
              <a:t>effective recruitment methods</a:t>
            </a:r>
            <a:r>
              <a:rPr lang="en-US" dirty="0"/>
              <a:t> to reach diverse user groups</a:t>
            </a:r>
          </a:p>
          <a:p>
            <a:endParaRPr lang="en-US" dirty="0"/>
          </a:p>
          <a:p>
            <a:r>
              <a:rPr lang="en-US" i="1" dirty="0"/>
              <a:t>The first step is defining </a:t>
            </a:r>
            <a:r>
              <a:rPr lang="en-US" b="1" i="1" dirty="0"/>
              <a:t>who qualifies</a:t>
            </a:r>
            <a:r>
              <a:rPr lang="en-US" i="1" dirty="0"/>
              <a:t> to participate in the study. Inclusion criteria help researchers ensure that the participants are </a:t>
            </a:r>
            <a:r>
              <a:rPr lang="en-US" b="1" i="1" dirty="0"/>
              <a:t>relevant to the research goals.</a:t>
            </a:r>
            <a:r>
              <a:rPr lang="en-US" i="1" dirty="0"/>
              <a:t>"</a:t>
            </a:r>
            <a:endParaRPr lang="en-US" dirty="0"/>
          </a:p>
          <a:p>
            <a:r>
              <a:rPr lang="en-US" dirty="0"/>
              <a:t>🔹 </a:t>
            </a:r>
            <a:r>
              <a:rPr lang="en-US" b="1" dirty="0"/>
              <a:t>Example criteria might include:</a:t>
            </a:r>
            <a:endParaRPr lang="en-US" dirty="0"/>
          </a:p>
          <a:p>
            <a:pPr>
              <a:buFont typeface="Arial" panose="020B0604020202020204" pitchFamily="34" charset="0"/>
              <a:buChar char="•"/>
            </a:pPr>
            <a:r>
              <a:rPr lang="en-US" b="1" dirty="0"/>
              <a:t>Technical expertise level</a:t>
            </a:r>
            <a:r>
              <a:rPr lang="en-US" dirty="0"/>
              <a:t> – Do we need cybersecurity experts, general users, or vulnerable populations?</a:t>
            </a:r>
          </a:p>
          <a:p>
            <a:pPr>
              <a:buFont typeface="Arial" panose="020B0604020202020204" pitchFamily="34" charset="0"/>
              <a:buChar char="•"/>
            </a:pPr>
            <a:r>
              <a:rPr lang="en-US" b="1" dirty="0"/>
              <a:t>Experience with specific technologies</a:t>
            </a:r>
            <a:r>
              <a:rPr lang="en-US" dirty="0"/>
              <a:t> – Are we studying users of password managers, IoT devices, or multi-factor authentication?</a:t>
            </a:r>
          </a:p>
          <a:p>
            <a:pPr>
              <a:buFont typeface="Arial" panose="020B0604020202020204" pitchFamily="34" charset="0"/>
              <a:buChar char="•"/>
            </a:pPr>
            <a:r>
              <a:rPr lang="en-US" b="1" dirty="0"/>
              <a:t>Demographics</a:t>
            </a:r>
            <a:r>
              <a:rPr lang="en-US" dirty="0"/>
              <a:t> – Does the study require a diverse participant pool (e.g., age, profession, geographic location)?</a:t>
            </a:r>
          </a:p>
          <a:p>
            <a:r>
              <a:rPr lang="en-US" i="1" dirty="0"/>
              <a:t>"By defining inclusion criteria early, we ensure that our findings accurately reflect the population we want to study.</a:t>
            </a:r>
          </a:p>
          <a:p>
            <a:endParaRPr lang="en-US" i="1" dirty="0"/>
          </a:p>
          <a:p>
            <a:endParaRPr lang="en-US" dirty="0"/>
          </a:p>
        </p:txBody>
      </p:sp>
      <p:sp>
        <p:nvSpPr>
          <p:cNvPr id="4" name="Slide Number Placeholder 3">
            <a:extLst>
              <a:ext uri="{FF2B5EF4-FFF2-40B4-BE49-F238E27FC236}">
                <a16:creationId xmlns:a16="http://schemas.microsoft.com/office/drawing/2014/main" id="{DEF1A62A-0616-05DA-FBB6-572F75BCD7BB}"/>
              </a:ext>
            </a:extLst>
          </p:cNvPr>
          <p:cNvSpPr>
            <a:spLocks noGrp="1"/>
          </p:cNvSpPr>
          <p:nvPr>
            <p:ph type="sldNum" sz="quarter" idx="5"/>
          </p:nvPr>
        </p:nvSpPr>
        <p:spPr/>
        <p:txBody>
          <a:bodyPr/>
          <a:lstStyle/>
          <a:p>
            <a:fld id="{A5676AAF-63E4-0641-ACFB-720DB9F6099B}" type="slidenum">
              <a:rPr lang="en-US" smtClean="0"/>
              <a:t>25</a:t>
            </a:fld>
            <a:endParaRPr lang="en-US"/>
          </a:p>
        </p:txBody>
      </p:sp>
    </p:spTree>
    <p:extLst>
      <p:ext uri="{BB962C8B-B14F-4D97-AF65-F5344CB8AC3E}">
        <p14:creationId xmlns:p14="http://schemas.microsoft.com/office/powerpoint/2010/main" val="37546065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5D3D4-18C8-8462-2489-EC80644F3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9640F-F205-D971-6013-1367A94D78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98358-293B-A238-CC54-F4045EA678C8}"/>
              </a:ext>
            </a:extLst>
          </p:cNvPr>
          <p:cNvSpPr>
            <a:spLocks noGrp="1"/>
          </p:cNvSpPr>
          <p:nvPr>
            <p:ph type="body" idx="1"/>
          </p:nvPr>
        </p:nvSpPr>
        <p:spPr/>
        <p:txBody>
          <a:bodyPr/>
          <a:lstStyle/>
          <a:p>
            <a:r>
              <a:rPr lang="en-US" dirty="0"/>
              <a:t>"In human factors studies, </a:t>
            </a:r>
            <a:r>
              <a:rPr lang="en-US" b="1" dirty="0"/>
              <a:t>disclosure and priming choices</a:t>
            </a:r>
            <a:r>
              <a:rPr lang="en-US" dirty="0"/>
              <a:t> shape participant behavior and responses. </a:t>
            </a:r>
            <a:r>
              <a:rPr lang="en-US" b="1" dirty="0"/>
              <a:t>Full vs. partial disclosure</a:t>
            </a:r>
            <a:r>
              <a:rPr lang="en-US" dirty="0"/>
              <a:t> controls how much information is shared, potentially influencing natural behavior. </a:t>
            </a:r>
            <a:r>
              <a:rPr lang="en-US" b="1" dirty="0"/>
              <a:t>Priming vs. non-priming</a:t>
            </a:r>
            <a:r>
              <a:rPr lang="en-US" dirty="0"/>
              <a:t> determines whether participants receive subtle cues that may guide their thinking. These decisions directly impact the </a:t>
            </a:r>
            <a:r>
              <a:rPr lang="en-US" b="1" dirty="0"/>
              <a:t>accuracy of self-reporting and the risk of self-selection bias</a:t>
            </a:r>
            <a:r>
              <a:rPr lang="en-US" dirty="0"/>
              <a:t>, affecting the reliability of study outcomes.</a:t>
            </a:r>
          </a:p>
          <a:p>
            <a:endParaRPr lang="en-US" dirty="0"/>
          </a:p>
          <a:p>
            <a:endParaRPr lang="en-US" dirty="0"/>
          </a:p>
          <a:p>
            <a:r>
              <a:rPr lang="en-US" dirty="0"/>
              <a:t>Since users usually have a primary objective that is not related to security or privacy, instructing participants to pay particular attention to privacy and security would lead to bias and “security priming” </a:t>
            </a:r>
          </a:p>
          <a:p>
            <a:r>
              <a:rPr lang="en-US" dirty="0"/>
              <a:t>when people who care about security are more likely to participate, making the sample </a:t>
            </a:r>
            <a:r>
              <a:rPr lang="en-US" b="1" dirty="0"/>
              <a:t>non-representative of the general population</a:t>
            </a:r>
            <a:endParaRPr lang="en-US" dirty="0"/>
          </a:p>
        </p:txBody>
      </p:sp>
      <p:sp>
        <p:nvSpPr>
          <p:cNvPr id="4" name="Slide Number Placeholder 3">
            <a:extLst>
              <a:ext uri="{FF2B5EF4-FFF2-40B4-BE49-F238E27FC236}">
                <a16:creationId xmlns:a16="http://schemas.microsoft.com/office/drawing/2014/main" id="{A24DAF60-332A-7D6F-492D-AF6616E9FAA0}"/>
              </a:ext>
            </a:extLst>
          </p:cNvPr>
          <p:cNvSpPr>
            <a:spLocks noGrp="1"/>
          </p:cNvSpPr>
          <p:nvPr>
            <p:ph type="sldNum" sz="quarter" idx="5"/>
          </p:nvPr>
        </p:nvSpPr>
        <p:spPr/>
        <p:txBody>
          <a:bodyPr/>
          <a:lstStyle/>
          <a:p>
            <a:fld id="{A5676AAF-63E4-0641-ACFB-720DB9F6099B}" type="slidenum">
              <a:rPr lang="en-US" smtClean="0"/>
              <a:t>26</a:t>
            </a:fld>
            <a:endParaRPr lang="en-US"/>
          </a:p>
        </p:txBody>
      </p:sp>
    </p:spTree>
    <p:extLst>
      <p:ext uri="{BB962C8B-B14F-4D97-AF65-F5344CB8AC3E}">
        <p14:creationId xmlns:p14="http://schemas.microsoft.com/office/powerpoint/2010/main" val="18573047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3F786-422D-5D56-A95C-D1273CABE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2B929-C806-C4B2-8D52-25927B8898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92129-59DA-935E-150D-B06FF9435CA9}"/>
              </a:ext>
            </a:extLst>
          </p:cNvPr>
          <p:cNvSpPr>
            <a:spLocks noGrp="1"/>
          </p:cNvSpPr>
          <p:nvPr>
            <p:ph type="body" idx="1"/>
          </p:nvPr>
        </p:nvSpPr>
        <p:spPr/>
        <p:txBody>
          <a:bodyPr/>
          <a:lstStyle/>
          <a:p>
            <a:endParaRPr lang="en-US" dirty="0"/>
          </a:p>
          <a:p>
            <a:r>
              <a:rPr lang="en-US" dirty="0"/>
              <a:t>In qualitative research, various methods help analyze data systematically [CLICK]. </a:t>
            </a:r>
            <a:r>
              <a:rPr lang="en-US" b="1" dirty="0"/>
              <a:t>Grounded Theory</a:t>
            </a:r>
            <a:r>
              <a:rPr lang="en-US" dirty="0"/>
              <a:t>, </a:t>
            </a:r>
            <a:r>
              <a:rPr lang="en-US" b="1" dirty="0"/>
              <a:t>Open Coding</a:t>
            </a:r>
            <a:r>
              <a:rPr lang="en-US" dirty="0"/>
              <a:t>, and </a:t>
            </a:r>
            <a:r>
              <a:rPr lang="en-US" b="1" dirty="0"/>
              <a:t>Thematic Analysis</a:t>
            </a:r>
            <a:r>
              <a:rPr lang="en-US" dirty="0"/>
              <a:t> are common approaches for identifying patterns in qualitative data.</a:t>
            </a:r>
          </a:p>
          <a:p>
            <a:endParaRPr lang="en-US" dirty="0"/>
          </a:p>
          <a:p>
            <a:r>
              <a:rPr lang="en-US" dirty="0"/>
              <a:t>[CLICK]</a:t>
            </a:r>
          </a:p>
          <a:p>
            <a:r>
              <a:rPr lang="en-US" dirty="0"/>
              <a:t>To facilitate this, researchers use platforms like </a:t>
            </a:r>
            <a:r>
              <a:rPr lang="en-US" b="1" dirty="0" err="1"/>
              <a:t>Atlas.ti</a:t>
            </a:r>
            <a:r>
              <a:rPr lang="en-US" dirty="0"/>
              <a:t> and </a:t>
            </a:r>
            <a:r>
              <a:rPr lang="en-US" b="1" dirty="0" err="1"/>
              <a:t>MaxQDA</a:t>
            </a:r>
            <a:r>
              <a:rPr lang="en-US" dirty="0"/>
              <a:t>, though some rely on </a:t>
            </a:r>
            <a:r>
              <a:rPr lang="en-US" b="1" dirty="0"/>
              <a:t>Google Sheets or manual analysis</a:t>
            </a:r>
            <a:r>
              <a:rPr lang="en-US" dirty="0"/>
              <a:t> for flexibility.</a:t>
            </a:r>
          </a:p>
          <a:p>
            <a:endParaRPr lang="en-US" dirty="0"/>
          </a:p>
          <a:p>
            <a:r>
              <a:rPr lang="en-US" dirty="0"/>
              <a:t>[CLICK]</a:t>
            </a:r>
          </a:p>
          <a:p>
            <a:r>
              <a:rPr lang="en-US" dirty="0"/>
              <a:t>Ensuring reliability is critical, and techniques like </a:t>
            </a:r>
            <a:r>
              <a:rPr lang="en-US" b="1" dirty="0"/>
              <a:t>double coding</a:t>
            </a:r>
            <a:r>
              <a:rPr lang="en-US" dirty="0"/>
              <a:t> enhance rigor. </a:t>
            </a:r>
            <a:r>
              <a:rPr lang="en-US" b="1" dirty="0"/>
              <a:t>Cohen’s Kappa</a:t>
            </a:r>
            <a:r>
              <a:rPr lang="en-US" dirty="0"/>
              <a:t> measures agreement between two coders, while </a:t>
            </a:r>
            <a:r>
              <a:rPr lang="en-US" b="1" dirty="0" err="1"/>
              <a:t>Krippendorff’s</a:t>
            </a:r>
            <a:r>
              <a:rPr lang="en-US" b="1" dirty="0"/>
              <a:t> Alpha</a:t>
            </a:r>
            <a:r>
              <a:rPr lang="en-US" dirty="0"/>
              <a:t> extends this to multiple coders, providing a more robust reliability metric.</a:t>
            </a:r>
          </a:p>
          <a:p>
            <a:endParaRPr lang="en-US" i="1" dirty="0"/>
          </a:p>
        </p:txBody>
      </p:sp>
      <p:sp>
        <p:nvSpPr>
          <p:cNvPr id="4" name="Slide Number Placeholder 3">
            <a:extLst>
              <a:ext uri="{FF2B5EF4-FFF2-40B4-BE49-F238E27FC236}">
                <a16:creationId xmlns:a16="http://schemas.microsoft.com/office/drawing/2014/main" id="{1F3B0971-A610-6E89-F559-46C73703178F}"/>
              </a:ext>
            </a:extLst>
          </p:cNvPr>
          <p:cNvSpPr>
            <a:spLocks noGrp="1"/>
          </p:cNvSpPr>
          <p:nvPr>
            <p:ph type="sldNum" sz="quarter" idx="5"/>
          </p:nvPr>
        </p:nvSpPr>
        <p:spPr/>
        <p:txBody>
          <a:bodyPr/>
          <a:lstStyle/>
          <a:p>
            <a:fld id="{A5676AAF-63E4-0641-ACFB-720DB9F6099B}" type="slidenum">
              <a:rPr lang="en-US" smtClean="0"/>
              <a:t>27</a:t>
            </a:fld>
            <a:endParaRPr lang="en-US"/>
          </a:p>
        </p:txBody>
      </p:sp>
    </p:spTree>
    <p:extLst>
      <p:ext uri="{BB962C8B-B14F-4D97-AF65-F5344CB8AC3E}">
        <p14:creationId xmlns:p14="http://schemas.microsoft.com/office/powerpoint/2010/main" val="31529045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scientific papers, qualitative results  </a:t>
            </a:r>
          </a:p>
          <a:p>
            <a:r>
              <a:rPr lang="en-US" dirty="0"/>
              <a:t>[CLICK]</a:t>
            </a:r>
          </a:p>
          <a:p>
            <a:r>
              <a:rPr lang="en-US" dirty="0"/>
              <a:t>are </a:t>
            </a:r>
            <a:r>
              <a:rPr lang="en-US" b="1" dirty="0"/>
              <a:t>structured yet narrative-driven</a:t>
            </a:r>
            <a:r>
              <a:rPr lang="en-US" dirty="0"/>
              <a:t> to convey </a:t>
            </a:r>
            <a:r>
              <a:rPr lang="en-US" b="1" dirty="0"/>
              <a:t>rich, contextual insights</a:t>
            </a:r>
            <a:r>
              <a:rPr lang="en-US" dirty="0"/>
              <a:t> from subjective data. </a:t>
            </a:r>
          </a:p>
          <a:p>
            <a:r>
              <a:rPr lang="en-US" dirty="0"/>
              <a:t>[CLICK]</a:t>
            </a:r>
          </a:p>
          <a:p>
            <a:r>
              <a:rPr lang="en-US" dirty="0"/>
              <a:t>Since qualitative methods generate </a:t>
            </a:r>
            <a:r>
              <a:rPr lang="en-US" b="1" dirty="0"/>
              <a:t>raw, unstructured data</a:t>
            </a:r>
            <a:r>
              <a:rPr lang="en-US" dirty="0"/>
              <a:t>, we analyze it to identify </a:t>
            </a:r>
            <a:r>
              <a:rPr lang="en-US" b="1" dirty="0"/>
              <a:t>themes and patterns</a:t>
            </a:r>
            <a:r>
              <a:rPr lang="en-US" dirty="0"/>
              <a:t>, which become the core findings. </a:t>
            </a:r>
            <a:r>
              <a:rPr lang="en-US" b="1" dirty="0"/>
              <a:t>Participant quotes and observations</a:t>
            </a:r>
            <a:r>
              <a:rPr lang="en-US" dirty="0"/>
              <a:t> illustrate these themes, adding authenticity. </a:t>
            </a:r>
          </a:p>
          <a:p>
            <a:r>
              <a:rPr lang="en-US" dirty="0"/>
              <a:t>[CLICK] </a:t>
            </a:r>
          </a:p>
          <a:p>
            <a:r>
              <a:rPr lang="en-US" dirty="0"/>
              <a:t>Finally, connecting results to </a:t>
            </a:r>
            <a:r>
              <a:rPr lang="en-US" b="1" dirty="0"/>
              <a:t>prior research</a:t>
            </a:r>
            <a:r>
              <a:rPr lang="en-US" dirty="0"/>
              <a:t> strengthens their validity and situates them within the broader academic discourse.</a:t>
            </a:r>
          </a:p>
        </p:txBody>
      </p:sp>
      <p:sp>
        <p:nvSpPr>
          <p:cNvPr id="4" name="Slide Number Placeholder 3"/>
          <p:cNvSpPr>
            <a:spLocks noGrp="1"/>
          </p:cNvSpPr>
          <p:nvPr>
            <p:ph type="sldNum" sz="quarter" idx="5"/>
          </p:nvPr>
        </p:nvSpPr>
        <p:spPr/>
        <p:txBody>
          <a:bodyPr/>
          <a:lstStyle/>
          <a:p>
            <a:fld id="{A5676AAF-63E4-0641-ACFB-720DB9F6099B}" type="slidenum">
              <a:rPr lang="en-US" smtClean="0"/>
              <a:t>28</a:t>
            </a:fld>
            <a:endParaRPr lang="en-US"/>
          </a:p>
        </p:txBody>
      </p:sp>
    </p:spTree>
    <p:extLst>
      <p:ext uri="{BB962C8B-B14F-4D97-AF65-F5344CB8AC3E}">
        <p14:creationId xmlns:p14="http://schemas.microsoft.com/office/powerpoint/2010/main" val="41439540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16740-70EA-67DF-753C-A46E6D39F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009D8E-A435-6370-5BFE-772F95976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27D75-27FB-D865-8716-A5C0B1D467D8}"/>
              </a:ext>
            </a:extLst>
          </p:cNvPr>
          <p:cNvSpPr>
            <a:spLocks noGrp="1"/>
          </p:cNvSpPr>
          <p:nvPr>
            <p:ph type="body" idx="1"/>
          </p:nvPr>
        </p:nvSpPr>
        <p:spPr/>
        <p:txBody>
          <a:bodyPr/>
          <a:lstStyle/>
          <a:p>
            <a:r>
              <a:rPr lang="en-US" dirty="0"/>
              <a:t>Explanation of How Findings Are Reported</a:t>
            </a:r>
          </a:p>
          <a:p>
            <a:endParaRPr lang="en-US" dirty="0"/>
          </a:p>
          <a:p>
            <a:r>
              <a:rPr lang="en-US" dirty="0"/>
              <a:t>Justification for Not Using Statistical Hypothesis Testing</a:t>
            </a:r>
          </a:p>
          <a:p>
            <a:endParaRPr lang="en-US" dirty="0"/>
          </a:p>
          <a:p>
            <a:r>
              <a:rPr lang="en-US" dirty="0"/>
              <a:t>Limitation on Generalizability (qualitative studies are usually on a small-scale, non random sample)</a:t>
            </a:r>
          </a:p>
          <a:p>
            <a:endParaRPr lang="en-US" dirty="0"/>
          </a:p>
          <a:p>
            <a:r>
              <a:rPr lang="en-US" dirty="0"/>
              <a:t>Emphasizing the Value of Insights for Future Research</a:t>
            </a:r>
          </a:p>
          <a:p>
            <a:endParaRPr lang="en-US" dirty="0"/>
          </a:p>
          <a:p>
            <a:r>
              <a:rPr lang="en-US" dirty="0"/>
              <a:t>Acknowledging the Limitation of Absence of Evidence</a:t>
            </a:r>
          </a:p>
          <a:p>
            <a:endParaRPr lang="en-US" dirty="0"/>
          </a:p>
          <a:p>
            <a:endParaRPr lang="en-US" dirty="0"/>
          </a:p>
        </p:txBody>
      </p:sp>
      <p:sp>
        <p:nvSpPr>
          <p:cNvPr id="4" name="Slide Number Placeholder 3">
            <a:extLst>
              <a:ext uri="{FF2B5EF4-FFF2-40B4-BE49-F238E27FC236}">
                <a16:creationId xmlns:a16="http://schemas.microsoft.com/office/drawing/2014/main" id="{2AFE369E-D908-766D-0B3E-178F4C5D99C9}"/>
              </a:ext>
            </a:extLst>
          </p:cNvPr>
          <p:cNvSpPr>
            <a:spLocks noGrp="1"/>
          </p:cNvSpPr>
          <p:nvPr>
            <p:ph type="sldNum" sz="quarter" idx="5"/>
          </p:nvPr>
        </p:nvSpPr>
        <p:spPr/>
        <p:txBody>
          <a:bodyPr/>
          <a:lstStyle/>
          <a:p>
            <a:fld id="{A5676AAF-63E4-0641-ACFB-720DB9F6099B}" type="slidenum">
              <a:rPr lang="en-US" smtClean="0"/>
              <a:t>29</a:t>
            </a:fld>
            <a:endParaRPr lang="en-US"/>
          </a:p>
        </p:txBody>
      </p:sp>
    </p:spTree>
    <p:extLst>
      <p:ext uri="{BB962C8B-B14F-4D97-AF65-F5344CB8AC3E}">
        <p14:creationId xmlns:p14="http://schemas.microsoft.com/office/powerpoint/2010/main" val="9318431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2E6A5-4580-452E-81E3-758FEF6B75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7B93F-2311-B83D-0D8C-AF0473212D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63013-598C-67F3-DF69-67E715101DD6}"/>
              </a:ext>
            </a:extLst>
          </p:cNvPr>
          <p:cNvSpPr>
            <a:spLocks noGrp="1"/>
          </p:cNvSpPr>
          <p:nvPr>
            <p:ph type="body" idx="1"/>
          </p:nvPr>
        </p:nvSpPr>
        <p:spPr/>
        <p:txBody>
          <a:bodyPr/>
          <a:lstStyle/>
          <a:p>
            <a:r>
              <a:rPr lang="en-US" dirty="0"/>
              <a:t>Ethical considerations  [CLICK] are </a:t>
            </a:r>
            <a:r>
              <a:rPr lang="en-US" b="1" dirty="0"/>
              <a:t>crucial</a:t>
            </a:r>
            <a:r>
              <a:rPr lang="en-US" dirty="0"/>
              <a:t> in human-subject research because they help </a:t>
            </a:r>
            <a:r>
              <a:rPr lang="en-US" b="1" dirty="0"/>
              <a:t>build trust</a:t>
            </a:r>
            <a:r>
              <a:rPr lang="en-US" dirty="0"/>
              <a:t> with participants. </a:t>
            </a:r>
          </a:p>
          <a:p>
            <a:r>
              <a:rPr lang="en-US" dirty="0"/>
              <a:t>[CLICK]</a:t>
            </a:r>
          </a:p>
          <a:p>
            <a:r>
              <a:rPr lang="en-US" dirty="0"/>
              <a:t>We ensure this by </a:t>
            </a:r>
            <a:r>
              <a:rPr lang="en-US" b="1" dirty="0"/>
              <a:t>obtaining informed consent</a:t>
            </a:r>
            <a:r>
              <a:rPr lang="en-US" dirty="0"/>
              <a:t>, maintaining </a:t>
            </a:r>
            <a:r>
              <a:rPr lang="en-US" b="1" dirty="0"/>
              <a:t>confidentiality</a:t>
            </a:r>
            <a:r>
              <a:rPr lang="en-US" dirty="0"/>
              <a:t>, and being </a:t>
            </a:r>
            <a:r>
              <a:rPr lang="en-US" b="1" dirty="0"/>
              <a:t>transparent</a:t>
            </a:r>
            <a:r>
              <a:rPr lang="en-US" dirty="0"/>
              <a:t> about how data is collected, analyzed, and stored. </a:t>
            </a:r>
            <a:endParaRPr lang="en-US" i="1" dirty="0"/>
          </a:p>
          <a:p>
            <a:r>
              <a:rPr lang="en-US" dirty="0"/>
              <a:t>[CLICK]</a:t>
            </a:r>
          </a:p>
          <a:p>
            <a:r>
              <a:rPr lang="en-US" dirty="0"/>
              <a:t>We also </a:t>
            </a:r>
            <a:r>
              <a:rPr lang="en-US" b="1" dirty="0"/>
              <a:t>minimize risks</a:t>
            </a:r>
            <a:r>
              <a:rPr lang="en-US" dirty="0"/>
              <a:t>, including psychological harm. [CLICK] For </a:t>
            </a:r>
            <a:r>
              <a:rPr lang="en-US" b="1" dirty="0"/>
              <a:t>vulnerable populations</a:t>
            </a:r>
            <a:r>
              <a:rPr lang="en-US" dirty="0"/>
              <a:t>, such as refugees or trauma survivors, studies should be designed to </a:t>
            </a:r>
            <a:r>
              <a:rPr lang="en-US" b="1" dirty="0"/>
              <a:t>avoid distressing questions that could trigger past trauma</a:t>
            </a:r>
            <a:r>
              <a:rPr lang="en-US" dirty="0"/>
              <a:t>.</a:t>
            </a:r>
          </a:p>
          <a:p>
            <a:r>
              <a:rPr lang="en-US" dirty="0"/>
              <a:t>Ethical research fosters trust, encouraging honest participation and improving the reliability of findings</a:t>
            </a:r>
          </a:p>
          <a:p>
            <a:endParaRPr lang="en-US" dirty="0"/>
          </a:p>
          <a:p>
            <a:r>
              <a:rPr lang="en-US" dirty="0"/>
              <a:t>-----------</a:t>
            </a:r>
          </a:p>
          <a:p>
            <a:endParaRPr lang="en-US" dirty="0"/>
          </a:p>
          <a:p>
            <a:r>
              <a:rPr lang="en-US" b="1" dirty="0"/>
              <a:t>Key ethical concerns in cybersecurity research:</a:t>
            </a:r>
          </a:p>
          <a:p>
            <a:pPr>
              <a:buFont typeface="+mj-lt"/>
              <a:buAutoNum type="arabicPeriod"/>
            </a:pPr>
            <a:r>
              <a:rPr lang="en-US" b="1" dirty="0"/>
              <a:t>Informed Consent</a:t>
            </a:r>
            <a:r>
              <a:rPr lang="en-US" dirty="0"/>
              <a:t> – Participants must fully understand the study’s purpose, risks, and benefits before participating.</a:t>
            </a:r>
          </a:p>
          <a:p>
            <a:pPr>
              <a:buFont typeface="+mj-lt"/>
              <a:buAutoNum type="arabicPeriod"/>
            </a:pPr>
            <a:r>
              <a:rPr lang="en-US" b="1" dirty="0"/>
              <a:t>Confidentiality &amp; Anonymity</a:t>
            </a:r>
            <a:r>
              <a:rPr lang="en-US" dirty="0"/>
              <a:t> – Sensitive data, such as security behaviors, must be protected to prevent harm.</a:t>
            </a:r>
          </a:p>
          <a:p>
            <a:pPr>
              <a:buFont typeface="+mj-lt"/>
              <a:buAutoNum type="arabicPeriod"/>
            </a:pPr>
            <a:r>
              <a:rPr lang="en-US" b="1" dirty="0"/>
              <a:t>Minimizing Psychological Risk</a:t>
            </a:r>
            <a:r>
              <a:rPr lang="en-US" dirty="0"/>
              <a:t> – Some security topics, like </a:t>
            </a:r>
            <a:r>
              <a:rPr lang="en-US" b="1" dirty="0"/>
              <a:t>online harassment or cyberstalking</a:t>
            </a:r>
            <a:r>
              <a:rPr lang="en-US" dirty="0"/>
              <a:t>, can be </a:t>
            </a:r>
            <a:r>
              <a:rPr lang="en-US" b="1" dirty="0"/>
              <a:t>emotionally distressing</a:t>
            </a:r>
            <a:r>
              <a:rPr lang="en-US" dirty="0"/>
              <a:t> for participants.</a:t>
            </a:r>
          </a:p>
          <a:p>
            <a:pPr>
              <a:buFont typeface="+mj-lt"/>
              <a:buAutoNum type="arabicPeriod"/>
            </a:pPr>
            <a:r>
              <a:rPr lang="en-US" b="1" dirty="0"/>
              <a:t>Transparency in Data Collection</a:t>
            </a:r>
            <a:r>
              <a:rPr lang="en-US" dirty="0"/>
              <a:t> – Researchers must clearly communicate </a:t>
            </a:r>
            <a:r>
              <a:rPr lang="en-US" b="1" dirty="0"/>
              <a:t>how data is collected, stored, and used.</a:t>
            </a:r>
            <a:endParaRPr lang="en-US" dirty="0"/>
          </a:p>
          <a:p>
            <a:r>
              <a:rPr lang="en-US" i="1" dirty="0"/>
              <a:t>"For example, a study on phishing behavior must ensure that participants are not tricked into </a:t>
            </a:r>
            <a:r>
              <a:rPr lang="en-US" b="1" i="1" dirty="0"/>
              <a:t>real harm</a:t>
            </a:r>
            <a:r>
              <a:rPr lang="en-US" i="1" dirty="0"/>
              <a:t>, and studies on marginalized populations must take </a:t>
            </a:r>
            <a:r>
              <a:rPr lang="en-US" b="1" i="1" dirty="0"/>
              <a:t>extra precautions</a:t>
            </a:r>
            <a:r>
              <a:rPr lang="en-US" i="1" dirty="0"/>
              <a:t> to protect participant privacy."</a:t>
            </a:r>
            <a:endParaRPr lang="en-US" dirty="0"/>
          </a:p>
          <a:p>
            <a:r>
              <a:rPr lang="en-US" i="1" dirty="0"/>
              <a:t>"These ethical challenges are compounded by </a:t>
            </a:r>
            <a:r>
              <a:rPr lang="en-US" b="1" i="1" dirty="0"/>
              <a:t>difficulties in recruitment</a:t>
            </a:r>
            <a:r>
              <a:rPr lang="en-US" i="1" dirty="0"/>
              <a:t>, which I will discuss next.</a:t>
            </a:r>
            <a:endParaRPr lang="en-US" dirty="0"/>
          </a:p>
          <a:p>
            <a:endParaRPr lang="en-US" dirty="0"/>
          </a:p>
        </p:txBody>
      </p:sp>
      <p:sp>
        <p:nvSpPr>
          <p:cNvPr id="4" name="Slide Number Placeholder 3">
            <a:extLst>
              <a:ext uri="{FF2B5EF4-FFF2-40B4-BE49-F238E27FC236}">
                <a16:creationId xmlns:a16="http://schemas.microsoft.com/office/drawing/2014/main" id="{9A388A37-4D22-395A-A4CE-B627CD411A07}"/>
              </a:ext>
            </a:extLst>
          </p:cNvPr>
          <p:cNvSpPr>
            <a:spLocks noGrp="1"/>
          </p:cNvSpPr>
          <p:nvPr>
            <p:ph type="sldNum" sz="quarter" idx="5"/>
          </p:nvPr>
        </p:nvSpPr>
        <p:spPr/>
        <p:txBody>
          <a:bodyPr/>
          <a:lstStyle/>
          <a:p>
            <a:fld id="{A5676AAF-63E4-0641-ACFB-720DB9F6099B}" type="slidenum">
              <a:rPr lang="en-US" smtClean="0"/>
              <a:t>30</a:t>
            </a:fld>
            <a:endParaRPr lang="en-US"/>
          </a:p>
        </p:txBody>
      </p:sp>
    </p:spTree>
    <p:extLst>
      <p:ext uri="{BB962C8B-B14F-4D97-AF65-F5344CB8AC3E}">
        <p14:creationId xmlns:p14="http://schemas.microsoft.com/office/powerpoint/2010/main" val="11206042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BDFD5-D641-8823-2380-8EE84E7F67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A0A29-B88B-0591-BF7C-F5FE8431E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14DEA-989A-E178-7974-90682017CB65}"/>
              </a:ext>
            </a:extLst>
          </p:cNvPr>
          <p:cNvSpPr>
            <a:spLocks noGrp="1"/>
          </p:cNvSpPr>
          <p:nvPr>
            <p:ph type="body" idx="1"/>
          </p:nvPr>
        </p:nvSpPr>
        <p:spPr/>
        <p:txBody>
          <a:bodyPr/>
          <a:lstStyle/>
          <a:p>
            <a:r>
              <a:rPr lang="en-US" dirty="0"/>
              <a:t>In qualitative human factors research, several challenges arise that impact data quality and interpretation. One major issue is </a:t>
            </a:r>
            <a:r>
              <a:rPr lang="en-US" b="1" dirty="0"/>
              <a:t>generalizability</a:t>
            </a:r>
            <a:r>
              <a:rPr lang="en-US" dirty="0"/>
              <a:t>, as findings may not extend beyond the study sample. This ties into </a:t>
            </a:r>
            <a:r>
              <a:rPr lang="en-US" b="1" dirty="0"/>
              <a:t>sampling bias</a:t>
            </a:r>
            <a:r>
              <a:rPr lang="en-US" dirty="0"/>
              <a:t>, often influenced by </a:t>
            </a:r>
            <a:r>
              <a:rPr lang="en-US" b="1" dirty="0"/>
              <a:t>demographics</a:t>
            </a:r>
            <a:r>
              <a:rPr lang="en-US" dirty="0"/>
              <a:t> such as age, gender, education, and location.</a:t>
            </a:r>
          </a:p>
          <a:p>
            <a:r>
              <a:rPr lang="en-US" dirty="0"/>
              <a:t>Participants may also engage in </a:t>
            </a:r>
            <a:r>
              <a:rPr lang="en-US" b="1" dirty="0"/>
              <a:t>satisficing</a:t>
            </a:r>
            <a:r>
              <a:rPr lang="en-US" dirty="0"/>
              <a:t>, providing incomplete or suboptimal responses due to </a:t>
            </a:r>
            <a:r>
              <a:rPr lang="en-US" b="1" dirty="0"/>
              <a:t>fatigue</a:t>
            </a:r>
            <a:r>
              <a:rPr lang="en-US" dirty="0"/>
              <a:t>, </a:t>
            </a:r>
            <a:r>
              <a:rPr lang="en-US" b="1" dirty="0"/>
              <a:t>social desirability bias</a:t>
            </a:r>
            <a:r>
              <a:rPr lang="en-US" dirty="0"/>
              <a:t>, or </a:t>
            </a:r>
            <a:r>
              <a:rPr lang="en-US" b="1" dirty="0"/>
              <a:t>topic sensitivity and privacy concerns</a:t>
            </a:r>
            <a:r>
              <a:rPr lang="en-US" dirty="0"/>
              <a:t>.</a:t>
            </a:r>
          </a:p>
          <a:p>
            <a:r>
              <a:rPr lang="en-US" dirty="0"/>
              <a:t>Lastly, </a:t>
            </a:r>
            <a:r>
              <a:rPr lang="en-US" b="1" dirty="0"/>
              <a:t>recruitment difficulties </a:t>
            </a:r>
            <a:r>
              <a:rPr lang="en-US" dirty="0"/>
              <a:t>can further limit the study’s scope, especially when seeking experts or committed participants </a:t>
            </a:r>
          </a:p>
          <a:p>
            <a:endParaRPr lang="en-US" dirty="0"/>
          </a:p>
          <a:p>
            <a:endParaRPr lang="en-US" dirty="0"/>
          </a:p>
          <a:p>
            <a:endParaRPr lang="en-US" dirty="0"/>
          </a:p>
          <a:p>
            <a:endParaRPr lang="en-US" dirty="0"/>
          </a:p>
          <a:p>
            <a:r>
              <a:rPr lang="en-US" dirty="0"/>
              <a:t>--------------------</a:t>
            </a:r>
          </a:p>
          <a:p>
            <a:r>
              <a:rPr lang="en-US" b="1" dirty="0"/>
              <a:t>1. Generalizability</a:t>
            </a:r>
          </a:p>
          <a:p>
            <a:pPr>
              <a:buFont typeface="Arial" panose="020B0604020202020204" pitchFamily="34" charset="0"/>
              <a:buChar char="•"/>
            </a:pPr>
            <a:r>
              <a:rPr lang="en-US" dirty="0"/>
              <a:t>Use </a:t>
            </a:r>
            <a:r>
              <a:rPr lang="en-US" b="1" dirty="0"/>
              <a:t>purposive or stratified sampling</a:t>
            </a:r>
            <a:r>
              <a:rPr lang="en-US" dirty="0"/>
              <a:t> to capture diverse perspectives.</a:t>
            </a:r>
          </a:p>
          <a:p>
            <a:pPr>
              <a:buFont typeface="Arial" panose="020B0604020202020204" pitchFamily="34" charset="0"/>
              <a:buChar char="•"/>
            </a:pPr>
            <a:r>
              <a:rPr lang="en-US" dirty="0"/>
              <a:t>Combine </a:t>
            </a:r>
            <a:r>
              <a:rPr lang="en-US" b="1" dirty="0"/>
              <a:t>qualitative insights with quantitative methods</a:t>
            </a:r>
            <a:r>
              <a:rPr lang="en-US" dirty="0"/>
              <a:t> to strengthen findings.</a:t>
            </a:r>
          </a:p>
          <a:p>
            <a:pPr>
              <a:buFont typeface="Arial" panose="020B0604020202020204" pitchFamily="34" charset="0"/>
              <a:buChar char="•"/>
            </a:pPr>
            <a:r>
              <a:rPr lang="en-US" dirty="0"/>
              <a:t>Conduct </a:t>
            </a:r>
            <a:r>
              <a:rPr lang="en-US" b="1" dirty="0"/>
              <a:t>multi-site studies</a:t>
            </a:r>
            <a:r>
              <a:rPr lang="en-US" dirty="0"/>
              <a:t> to increase external validity.</a:t>
            </a:r>
          </a:p>
          <a:p>
            <a:r>
              <a:rPr lang="en-US" b="1" dirty="0"/>
              <a:t>2. Sampling Bias</a:t>
            </a:r>
          </a:p>
          <a:p>
            <a:pPr>
              <a:buFont typeface="Arial" panose="020B0604020202020204" pitchFamily="34" charset="0"/>
              <a:buChar char="•"/>
            </a:pPr>
            <a:r>
              <a:rPr lang="en-US" dirty="0"/>
              <a:t>Use </a:t>
            </a:r>
            <a:r>
              <a:rPr lang="en-US" b="1" dirty="0"/>
              <a:t>randomized recruitment</a:t>
            </a:r>
            <a:r>
              <a:rPr lang="en-US" dirty="0"/>
              <a:t> where possible.</a:t>
            </a:r>
          </a:p>
          <a:p>
            <a:pPr>
              <a:buFont typeface="Arial" panose="020B0604020202020204" pitchFamily="34" charset="0"/>
              <a:buChar char="•"/>
            </a:pPr>
            <a:r>
              <a:rPr lang="en-US" dirty="0"/>
              <a:t>Diversify recruitment channels (social media, professional networks, community outreach).</a:t>
            </a:r>
          </a:p>
          <a:p>
            <a:pPr>
              <a:buFont typeface="Arial" panose="020B0604020202020204" pitchFamily="34" charset="0"/>
              <a:buChar char="•"/>
            </a:pPr>
            <a:r>
              <a:rPr lang="en-US" dirty="0"/>
              <a:t>Clearly define </a:t>
            </a:r>
            <a:r>
              <a:rPr lang="en-US" b="1" dirty="0"/>
              <a:t>inclusion/exclusion criteria</a:t>
            </a:r>
            <a:r>
              <a:rPr lang="en-US" dirty="0"/>
              <a:t> to avoid unintended bias.</a:t>
            </a:r>
          </a:p>
          <a:p>
            <a:r>
              <a:rPr lang="en-US" b="1" dirty="0"/>
              <a:t>3. Demographics-Induced Bias (Age, Gender, Education, Location)</a:t>
            </a:r>
          </a:p>
          <a:p>
            <a:pPr>
              <a:buFont typeface="Arial" panose="020B0604020202020204" pitchFamily="34" charset="0"/>
              <a:buChar char="•"/>
            </a:pPr>
            <a:r>
              <a:rPr lang="en-US" dirty="0"/>
              <a:t>Ensure </a:t>
            </a:r>
            <a:r>
              <a:rPr lang="en-US" b="1" dirty="0"/>
              <a:t>balanced participant representation</a:t>
            </a:r>
            <a:r>
              <a:rPr lang="en-US" dirty="0"/>
              <a:t> across key demographic groups.</a:t>
            </a:r>
          </a:p>
          <a:p>
            <a:pPr>
              <a:buFont typeface="Arial" panose="020B0604020202020204" pitchFamily="34" charset="0"/>
              <a:buChar char="•"/>
            </a:pPr>
            <a:r>
              <a:rPr lang="en-US" dirty="0"/>
              <a:t>Use </a:t>
            </a:r>
            <a:r>
              <a:rPr lang="en-US" b="1" dirty="0"/>
              <a:t>quota sampling</a:t>
            </a:r>
            <a:r>
              <a:rPr lang="en-US" dirty="0"/>
              <a:t> to achieve diversity.</a:t>
            </a:r>
          </a:p>
          <a:p>
            <a:pPr>
              <a:buFont typeface="Arial" panose="020B0604020202020204" pitchFamily="34" charset="0"/>
              <a:buChar char="•"/>
            </a:pPr>
            <a:r>
              <a:rPr lang="en-US" dirty="0"/>
              <a:t>Provide </a:t>
            </a:r>
            <a:r>
              <a:rPr lang="en-US" b="1" dirty="0"/>
              <a:t>multiple participation options</a:t>
            </a:r>
            <a:r>
              <a:rPr lang="en-US" dirty="0"/>
              <a:t> (e.g., online, in-person) to include different groups.</a:t>
            </a:r>
          </a:p>
          <a:p>
            <a:r>
              <a:rPr lang="en-US" b="1" dirty="0"/>
              <a:t>4. Satisficing (Providing Sub-Optimal/Incomplete Responses)</a:t>
            </a:r>
          </a:p>
          <a:p>
            <a:pPr>
              <a:buFont typeface="Arial" panose="020B0604020202020204" pitchFamily="34" charset="0"/>
              <a:buChar char="•"/>
            </a:pPr>
            <a:r>
              <a:rPr lang="en-US" dirty="0"/>
              <a:t>Design </a:t>
            </a:r>
            <a:r>
              <a:rPr lang="en-US" b="1" dirty="0"/>
              <a:t>engaging and interactive tasks</a:t>
            </a:r>
            <a:r>
              <a:rPr lang="en-US" dirty="0"/>
              <a:t> to maintain attention.</a:t>
            </a:r>
          </a:p>
          <a:p>
            <a:pPr>
              <a:buFont typeface="Arial" panose="020B0604020202020204" pitchFamily="34" charset="0"/>
              <a:buChar char="•"/>
            </a:pPr>
            <a:r>
              <a:rPr lang="en-US" dirty="0"/>
              <a:t>Keep studies </a:t>
            </a:r>
            <a:r>
              <a:rPr lang="en-US" b="1" dirty="0"/>
              <a:t>concise and well-structured</a:t>
            </a:r>
            <a:r>
              <a:rPr lang="en-US" dirty="0"/>
              <a:t> to reduce cognitive overload.</a:t>
            </a:r>
          </a:p>
          <a:p>
            <a:pPr>
              <a:buFont typeface="Arial" panose="020B0604020202020204" pitchFamily="34" charset="0"/>
              <a:buChar char="•"/>
            </a:pPr>
            <a:r>
              <a:rPr lang="en-US" dirty="0"/>
              <a:t>Use </a:t>
            </a:r>
            <a:r>
              <a:rPr lang="en-US" b="1" dirty="0"/>
              <a:t>probing questions</a:t>
            </a:r>
            <a:r>
              <a:rPr lang="en-US" dirty="0"/>
              <a:t> during interviews to encourage deeper responses.</a:t>
            </a:r>
          </a:p>
          <a:p>
            <a:r>
              <a:rPr lang="en-US" b="1" dirty="0"/>
              <a:t>5. Fatigue</a:t>
            </a:r>
          </a:p>
          <a:p>
            <a:pPr>
              <a:buFont typeface="Arial" panose="020B0604020202020204" pitchFamily="34" charset="0"/>
              <a:buChar char="•"/>
            </a:pPr>
            <a:r>
              <a:rPr lang="en-US" dirty="0"/>
              <a:t>Limit session duration (e.g., </a:t>
            </a:r>
            <a:r>
              <a:rPr lang="en-US" b="1" dirty="0"/>
              <a:t>under 60 minutes</a:t>
            </a:r>
            <a:r>
              <a:rPr lang="en-US" dirty="0"/>
              <a:t> for interviews/focus groups).</a:t>
            </a:r>
          </a:p>
          <a:p>
            <a:pPr>
              <a:buFont typeface="Arial" panose="020B0604020202020204" pitchFamily="34" charset="0"/>
              <a:buChar char="•"/>
            </a:pPr>
            <a:r>
              <a:rPr lang="en-US" dirty="0"/>
              <a:t>Allow </a:t>
            </a:r>
            <a:r>
              <a:rPr lang="en-US" b="1" dirty="0"/>
              <a:t>breaks</a:t>
            </a:r>
            <a:r>
              <a:rPr lang="en-US" dirty="0"/>
              <a:t> for longer studies.</a:t>
            </a:r>
          </a:p>
          <a:p>
            <a:pPr>
              <a:buFont typeface="Arial" panose="020B0604020202020204" pitchFamily="34" charset="0"/>
              <a:buChar char="•"/>
            </a:pPr>
            <a:r>
              <a:rPr lang="en-US" dirty="0"/>
              <a:t>Use </a:t>
            </a:r>
            <a:r>
              <a:rPr lang="en-US" b="1" dirty="0"/>
              <a:t>adaptive questioning</a:t>
            </a:r>
            <a:r>
              <a:rPr lang="en-US" dirty="0"/>
              <a:t> to reduce redundancy in surveys.</a:t>
            </a:r>
          </a:p>
          <a:p>
            <a:r>
              <a:rPr lang="en-US" b="1" dirty="0"/>
              <a:t>6. Social Desirability Bias</a:t>
            </a:r>
          </a:p>
          <a:p>
            <a:pPr>
              <a:buFont typeface="Arial" panose="020B0604020202020204" pitchFamily="34" charset="0"/>
              <a:buChar char="•"/>
            </a:pPr>
            <a:r>
              <a:rPr lang="en-US" dirty="0"/>
              <a:t>Ensure </a:t>
            </a:r>
            <a:r>
              <a:rPr lang="en-US" b="1" dirty="0"/>
              <a:t>anonymity</a:t>
            </a:r>
            <a:r>
              <a:rPr lang="en-US" dirty="0"/>
              <a:t> to encourage honest responses.</a:t>
            </a:r>
          </a:p>
          <a:p>
            <a:pPr>
              <a:buFont typeface="Arial" panose="020B0604020202020204" pitchFamily="34" charset="0"/>
              <a:buChar char="•"/>
            </a:pPr>
            <a:r>
              <a:rPr lang="en-US" dirty="0"/>
              <a:t>Use </a:t>
            </a:r>
            <a:r>
              <a:rPr lang="en-US" b="1" dirty="0"/>
              <a:t>indirect questioning techniques</a:t>
            </a:r>
            <a:r>
              <a:rPr lang="en-US" dirty="0"/>
              <a:t> (e.g., "What do you think most people would do?").</a:t>
            </a:r>
          </a:p>
          <a:p>
            <a:pPr>
              <a:buFont typeface="Arial" panose="020B0604020202020204" pitchFamily="34" charset="0"/>
              <a:buChar char="•"/>
            </a:pPr>
            <a:r>
              <a:rPr lang="en-US" dirty="0"/>
              <a:t>Frame questions </a:t>
            </a:r>
            <a:r>
              <a:rPr lang="en-US" b="1" dirty="0"/>
              <a:t>neutrally</a:t>
            </a:r>
            <a:r>
              <a:rPr lang="en-US" dirty="0"/>
              <a:t> to avoid leading responses.</a:t>
            </a:r>
          </a:p>
          <a:p>
            <a:r>
              <a:rPr lang="en-US" b="1" dirty="0"/>
              <a:t>7. Topic Sensitivity/Privacy Concerns</a:t>
            </a:r>
          </a:p>
          <a:p>
            <a:pPr>
              <a:buFont typeface="Arial" panose="020B0604020202020204" pitchFamily="34" charset="0"/>
              <a:buChar char="•"/>
            </a:pPr>
            <a:r>
              <a:rPr lang="en-US" dirty="0"/>
              <a:t>Provide </a:t>
            </a:r>
            <a:r>
              <a:rPr lang="en-US" b="1" dirty="0"/>
              <a:t>clear consent forms</a:t>
            </a:r>
            <a:r>
              <a:rPr lang="en-US" dirty="0"/>
              <a:t> outlining data confidentiality.</a:t>
            </a:r>
          </a:p>
          <a:p>
            <a:pPr>
              <a:buFont typeface="Arial" panose="020B0604020202020204" pitchFamily="34" charset="0"/>
              <a:buChar char="•"/>
            </a:pPr>
            <a:r>
              <a:rPr lang="en-US" dirty="0"/>
              <a:t>Allow participants to </a:t>
            </a:r>
            <a:r>
              <a:rPr lang="en-US" b="1" dirty="0"/>
              <a:t>skip questions</a:t>
            </a:r>
            <a:r>
              <a:rPr lang="en-US" dirty="0"/>
              <a:t> or </a:t>
            </a:r>
            <a:r>
              <a:rPr lang="en-US" b="1" dirty="0"/>
              <a:t>withdraw</a:t>
            </a:r>
            <a:r>
              <a:rPr lang="en-US" dirty="0"/>
              <a:t> at any time.</a:t>
            </a:r>
          </a:p>
          <a:p>
            <a:pPr>
              <a:buFont typeface="Arial" panose="020B0604020202020204" pitchFamily="34" charset="0"/>
              <a:buChar char="•"/>
            </a:pPr>
            <a:r>
              <a:rPr lang="en-US" dirty="0"/>
              <a:t>Use </a:t>
            </a:r>
            <a:r>
              <a:rPr lang="en-US" b="1" dirty="0"/>
              <a:t>secure, encrypted storage</a:t>
            </a:r>
            <a:r>
              <a:rPr lang="en-US" dirty="0"/>
              <a:t> for sensitive data.</a:t>
            </a:r>
          </a:p>
          <a:p>
            <a:r>
              <a:rPr lang="en-US" b="1" dirty="0"/>
              <a:t>8. Difficulty Recruiting Participants (Expertise, Time, Commitment)</a:t>
            </a:r>
          </a:p>
          <a:p>
            <a:pPr>
              <a:buFont typeface="Arial" panose="020B0604020202020204" pitchFamily="34" charset="0"/>
              <a:buChar char="•"/>
            </a:pPr>
            <a:r>
              <a:rPr lang="en-US" dirty="0"/>
              <a:t>Offer </a:t>
            </a:r>
            <a:r>
              <a:rPr lang="en-US" b="1" dirty="0"/>
              <a:t>incentives</a:t>
            </a:r>
            <a:r>
              <a:rPr lang="en-US" dirty="0"/>
              <a:t> (gift cards, honorariums, professional credits).</a:t>
            </a:r>
          </a:p>
          <a:p>
            <a:pPr>
              <a:buFont typeface="Arial" panose="020B0604020202020204" pitchFamily="34" charset="0"/>
              <a:buChar char="•"/>
            </a:pPr>
            <a:r>
              <a:rPr lang="en-US" dirty="0"/>
              <a:t>Use </a:t>
            </a:r>
            <a:r>
              <a:rPr lang="en-US" b="1" dirty="0"/>
              <a:t>flexible scheduling</a:t>
            </a:r>
            <a:r>
              <a:rPr lang="en-US" dirty="0"/>
              <a:t> (weekends, evenings, asynchronous participation).</a:t>
            </a:r>
          </a:p>
          <a:p>
            <a:pPr>
              <a:buFont typeface="Arial" panose="020B0604020202020204" pitchFamily="34" charset="0"/>
              <a:buChar char="•"/>
            </a:pPr>
            <a:r>
              <a:rPr lang="en-US" dirty="0"/>
              <a:t>Leverage </a:t>
            </a:r>
            <a:r>
              <a:rPr lang="en-US" b="1" dirty="0"/>
              <a:t>existing networks</a:t>
            </a:r>
            <a:r>
              <a:rPr lang="en-US" dirty="0"/>
              <a:t> (universities, organizations, online communities).</a:t>
            </a:r>
          </a:p>
          <a:p>
            <a:endParaRPr lang="en-US" dirty="0"/>
          </a:p>
        </p:txBody>
      </p:sp>
      <p:sp>
        <p:nvSpPr>
          <p:cNvPr id="4" name="Slide Number Placeholder 3">
            <a:extLst>
              <a:ext uri="{FF2B5EF4-FFF2-40B4-BE49-F238E27FC236}">
                <a16:creationId xmlns:a16="http://schemas.microsoft.com/office/drawing/2014/main" id="{389CD8D2-2D7B-7881-7676-A6C931A74DE0}"/>
              </a:ext>
            </a:extLst>
          </p:cNvPr>
          <p:cNvSpPr>
            <a:spLocks noGrp="1"/>
          </p:cNvSpPr>
          <p:nvPr>
            <p:ph type="sldNum" sz="quarter" idx="5"/>
          </p:nvPr>
        </p:nvSpPr>
        <p:spPr/>
        <p:txBody>
          <a:bodyPr/>
          <a:lstStyle/>
          <a:p>
            <a:fld id="{A5676AAF-63E4-0641-ACFB-720DB9F6099B}" type="slidenum">
              <a:rPr lang="en-US" smtClean="0"/>
              <a:t>31</a:t>
            </a:fld>
            <a:endParaRPr lang="en-US"/>
          </a:p>
        </p:txBody>
      </p:sp>
    </p:spTree>
    <p:extLst>
      <p:ext uri="{BB962C8B-B14F-4D97-AF65-F5344CB8AC3E}">
        <p14:creationId xmlns:p14="http://schemas.microsoft.com/office/powerpoint/2010/main" val="35274428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challenges in human factors security research is </a:t>
            </a:r>
            <a:r>
              <a:rPr lang="en-US" b="1" dirty="0"/>
              <a:t>recruiting experts.</a:t>
            </a:r>
            <a:r>
              <a:rPr lang="en-US" dirty="0"/>
              <a:t> A previous study puts it simply: READ quote:</a:t>
            </a:r>
          </a:p>
          <a:p>
            <a:endParaRPr lang="en-US" dirty="0"/>
          </a:p>
          <a:p>
            <a:r>
              <a:rPr lang="en-US" dirty="0"/>
              <a:t>Given this challenge, recent research has focused on </a:t>
            </a:r>
            <a:r>
              <a:rPr lang="en-US" b="1" i="1" dirty="0"/>
              <a:t>better understanding of the advantages and disadvantages</a:t>
            </a:r>
            <a:r>
              <a:rPr lang="en-US" i="1" dirty="0"/>
              <a:t> of different recruitment platforms specifically for recruiting participants with software development experience. Specifically, it:"</a:t>
            </a:r>
            <a:endParaRPr lang="en-US" dirty="0"/>
          </a:p>
          <a:p>
            <a:pPr>
              <a:buFont typeface="Arial" panose="020B0604020202020204" pitchFamily="34" charset="0"/>
              <a:buChar char="•"/>
            </a:pPr>
            <a:r>
              <a:rPr lang="en-US" b="1" dirty="0"/>
              <a:t>Identifies popular platforms</a:t>
            </a:r>
            <a:r>
              <a:rPr lang="en-US" dirty="0"/>
              <a:t> where security-focused developers are active.</a:t>
            </a:r>
          </a:p>
          <a:p>
            <a:pPr>
              <a:buFont typeface="Arial" panose="020B0604020202020204" pitchFamily="34" charset="0"/>
              <a:buChar char="•"/>
            </a:pPr>
            <a:r>
              <a:rPr lang="en-US" b="1" dirty="0"/>
              <a:t>Analyzes the characteristics</a:t>
            </a:r>
            <a:r>
              <a:rPr lang="en-US" dirty="0"/>
              <a:t> of experts on these platforms—what backgrounds they come from, how they engage with research, and their motivations for participation.</a:t>
            </a:r>
          </a:p>
          <a:p>
            <a:pPr>
              <a:buFont typeface="Arial" panose="020B0604020202020204" pitchFamily="34" charset="0"/>
              <a:buChar char="•"/>
            </a:pPr>
            <a:r>
              <a:rPr lang="en-US" b="1" dirty="0"/>
              <a:t>Offers recruitment advice</a:t>
            </a:r>
            <a:r>
              <a:rPr lang="en-US" dirty="0"/>
              <a:t> to help researchers find and attract the right experts efficiently.</a:t>
            </a:r>
          </a:p>
          <a:p>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32</a:t>
            </a:fld>
            <a:endParaRPr lang="en-US"/>
          </a:p>
        </p:txBody>
      </p:sp>
    </p:spTree>
    <p:extLst>
      <p:ext uri="{BB962C8B-B14F-4D97-AF65-F5344CB8AC3E}">
        <p14:creationId xmlns:p14="http://schemas.microsoft.com/office/powerpoint/2010/main" val="38000084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"Cybersecurity is not just about technology—it’s about people. While we continue to push technological advancements, we must also focus on designing security that truly aligns with real-world user behavior. This means recognizing how people actually interact with security measures and addressing the human factors that contribute to breaches."</a:t>
            </a:r>
            <a:endParaRPr lang="en-US" dirty="0"/>
          </a:p>
          <a:p>
            <a:r>
              <a:rPr lang="en-US" i="1" dirty="0"/>
              <a:t>"To make meaningful progress, we must also improve methodological rigor in qualitative cybersecurity research. This includes addressing self-reporting biases, strengthening empirical methods, and ensuring transparent reporting to build more reliable insights into human behavior in security.”</a:t>
            </a:r>
            <a:r>
              <a:rPr lang="en-US" dirty="0"/>
              <a:t> they design studies—whether in the lab, online, or in-situ—that focus on people’s perceptions of and response to security and privacy risks.</a:t>
            </a:r>
            <a:r>
              <a:rPr lang="en-US" i="1" dirty="0"/>
              <a:t>]</a:t>
            </a:r>
          </a:p>
          <a:p>
            <a:r>
              <a:rPr lang="en-US" i="1" dirty="0"/>
              <a:t>[</a:t>
            </a:r>
            <a:r>
              <a:rPr lang="en-US" dirty="0"/>
              <a:t>a lack of transparent research reporting significantly contributes to replication issues and is essential goal toward improving the Science of Security</a:t>
            </a:r>
            <a:endParaRPr lang="en-US" i="1" dirty="0"/>
          </a:p>
          <a:p>
            <a:r>
              <a:rPr lang="en-US" i="1" dirty="0"/>
              <a:t>[</a:t>
            </a:r>
            <a:r>
              <a:rPr lang="en-US" dirty="0"/>
              <a:t>Usable privacy and security (UPS) researchers regularly encounter challenges when, recent research has also attempted to gather recommendations for transparency practices and guidance from 24 semi-structured interviews with UPS researchers.</a:t>
            </a:r>
            <a:r>
              <a:rPr lang="en-US" i="1" dirty="0"/>
              <a:t>]</a:t>
            </a:r>
            <a:endParaRPr lang="en-US" dirty="0"/>
          </a:p>
          <a:p>
            <a:r>
              <a:rPr lang="en-US" i="1" dirty="0"/>
              <a:t>"Additionally, we need to reflect on how we evaluate security research itself. The peer review process and research standards shape the direction of cybersecurity innovation, and ensuring fairness, inclusivity, and practical relevance is essential."</a:t>
            </a:r>
            <a:endParaRPr lang="en-US" dirty="0"/>
          </a:p>
          <a:p>
            <a:r>
              <a:rPr lang="en-US" i="1" dirty="0"/>
              <a:t>"A human-centered approach isn’t just a nice-to-have—it’s essential. By designing security that prioritizes both technology and human behavior, we can build stronger, more effective cybersecurity practices that truly protect people."</a:t>
            </a:r>
            <a:endParaRPr lang="en-US" dirty="0"/>
          </a:p>
          <a:p>
            <a:endParaRPr lang="en-US" dirty="0"/>
          </a:p>
        </p:txBody>
      </p:sp>
      <p:sp>
        <p:nvSpPr>
          <p:cNvPr id="4" name="Slide Number Placeholder 3"/>
          <p:cNvSpPr>
            <a:spLocks noGrp="1"/>
          </p:cNvSpPr>
          <p:nvPr>
            <p:ph type="sldNum" sz="quarter" idx="5"/>
          </p:nvPr>
        </p:nvSpPr>
        <p:spPr/>
        <p:txBody>
          <a:bodyPr/>
          <a:lstStyle/>
          <a:p>
            <a:fld id="{A5676AAF-63E4-0641-ACFB-720DB9F6099B}" type="slidenum">
              <a:rPr lang="en-US" smtClean="0"/>
              <a:t>33</a:t>
            </a:fld>
            <a:endParaRPr lang="en-US"/>
          </a:p>
        </p:txBody>
      </p:sp>
    </p:spTree>
    <p:extLst>
      <p:ext uri="{BB962C8B-B14F-4D97-AF65-F5344CB8AC3E}">
        <p14:creationId xmlns:p14="http://schemas.microsoft.com/office/powerpoint/2010/main" val="38349096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F5BD6-7A3A-B1AF-F646-D24E13AC8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446D7-CF1B-F458-390C-C18CDB9A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9D907-9522-314C-DB13-4A050658B4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9F34A4-F321-E9A2-285D-13C49B06342B}"/>
              </a:ext>
            </a:extLst>
          </p:cNvPr>
          <p:cNvSpPr>
            <a:spLocks noGrp="1"/>
          </p:cNvSpPr>
          <p:nvPr>
            <p:ph type="sldNum" sz="quarter" idx="5"/>
          </p:nvPr>
        </p:nvSpPr>
        <p:spPr/>
        <p:txBody>
          <a:bodyPr/>
          <a:lstStyle/>
          <a:p>
            <a:fld id="{A5676AAF-63E4-0641-ACFB-720DB9F6099B}" type="slidenum">
              <a:rPr lang="en-US" smtClean="0"/>
              <a:t>34</a:t>
            </a:fld>
            <a:endParaRPr lang="en-US"/>
          </a:p>
        </p:txBody>
      </p:sp>
    </p:spTree>
    <p:extLst>
      <p:ext uri="{BB962C8B-B14F-4D97-AF65-F5344CB8AC3E}">
        <p14:creationId xmlns:p14="http://schemas.microsoft.com/office/powerpoint/2010/main" val="1822451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66B116-4ED3-3C46-87FA-4C41D621B70B}" type="datetime1">
              <a:rPr lang="en-US" smtClean="0"/>
              <a:t>3/6/25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5FE90F-C88A-C24D-9FD5-52F0990CFAC0}" type="slidenum">
              <a:rPr lang="en-US" smtClean="0"/>
              <a:t>‹#›</a:t>
            </a:fld>
            <a:endParaRPr lang="en-US"/>
          </a:p>
        </p:txBody>
      </p:sp>
    </p:spTree>
    <p:extLst>
      <p:ext uri="{BB962C8B-B14F-4D97-AF65-F5344CB8AC3E}">
        <p14:creationId xmlns:p14="http://schemas.microsoft.com/office/powerpoint/2010/main" val="3015231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566195-22B1-4948-8C61-0BD66EF9111D}" type="datetime1">
              <a:rPr lang="en-US" smtClean="0"/>
              <a:t>3/6/25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5FE90F-C88A-C24D-9FD5-52F0990CFAC0}" type="slidenum">
              <a:rPr lang="en-US" smtClean="0"/>
              <a:t>‹#›</a:t>
            </a:fld>
            <a:endParaRPr lang="en-US"/>
          </a:p>
        </p:txBody>
      </p:sp>
    </p:spTree>
    <p:extLst>
      <p:ext uri="{BB962C8B-B14F-4D97-AF65-F5344CB8AC3E}">
        <p14:creationId xmlns:p14="http://schemas.microsoft.com/office/powerpoint/2010/main" val="1658048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B24200-4716-B942-B628-1B224D5E15C6}" type="datetime1">
              <a:rPr lang="en-US" smtClean="0"/>
              <a:t>3/6/25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5FE90F-C88A-C24D-9FD5-52F0990CFAC0}" type="slidenum">
              <a:rPr lang="en-US" smtClean="0"/>
              <a:t>‹#›</a:t>
            </a:fld>
            <a:endParaRPr lang="en-US"/>
          </a:p>
        </p:txBody>
      </p:sp>
    </p:spTree>
    <p:extLst>
      <p:ext uri="{BB962C8B-B14F-4D97-AF65-F5344CB8AC3E}">
        <p14:creationId xmlns:p14="http://schemas.microsoft.com/office/powerpoint/2010/main" val="2882937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F059FF-728F-A242-A7C5-83A01078C969}" type="datetime1">
              <a:rPr lang="en-US" smtClean="0"/>
              <a:t>3/6/25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5FE90F-C88A-C24D-9FD5-52F0990CFAC0}" type="slidenum">
              <a:rPr lang="en-US" smtClean="0"/>
              <a:t>‹#›</a:t>
            </a:fld>
            <a:endParaRPr lang="en-US"/>
          </a:p>
        </p:txBody>
      </p:sp>
    </p:spTree>
    <p:extLst>
      <p:ext uri="{BB962C8B-B14F-4D97-AF65-F5344CB8AC3E}">
        <p14:creationId xmlns:p14="http://schemas.microsoft.com/office/powerpoint/2010/main" val="161481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3697D5-CC84-404A-BD7C-A18FB5ED843D}" type="datetime1">
              <a:rPr lang="en-US" smtClean="0"/>
              <a:t>3/6/25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5FE90F-C88A-C24D-9FD5-52F0990CFAC0}" type="slidenum">
              <a:rPr lang="en-US" smtClean="0"/>
              <a:t>‹#›</a:t>
            </a:fld>
            <a:endParaRPr lang="en-US"/>
          </a:p>
        </p:txBody>
      </p:sp>
    </p:spTree>
    <p:extLst>
      <p:ext uri="{BB962C8B-B14F-4D97-AF65-F5344CB8AC3E}">
        <p14:creationId xmlns:p14="http://schemas.microsoft.com/office/powerpoint/2010/main" val="383582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668F2F-FC1F-3E4F-BA10-9E7A0FE6124E}" type="datetime1">
              <a:rPr lang="en-US" smtClean="0"/>
              <a:t>3/6/25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5FE90F-C88A-C24D-9FD5-52F0990CFAC0}" type="slidenum">
              <a:rPr lang="en-US" smtClean="0"/>
              <a:t>‹#›</a:t>
            </a:fld>
            <a:endParaRPr lang="en-US"/>
          </a:p>
        </p:txBody>
      </p:sp>
    </p:spTree>
    <p:extLst>
      <p:ext uri="{BB962C8B-B14F-4D97-AF65-F5344CB8AC3E}">
        <p14:creationId xmlns:p14="http://schemas.microsoft.com/office/powerpoint/2010/main" val="17786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FD4EB4-B387-304B-A191-85862085442F}" type="datetime1">
              <a:rPr lang="en-US" smtClean="0"/>
              <a:t>3/6/25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5FE90F-C88A-C24D-9FD5-52F0990CFAC0}" type="slidenum">
              <a:rPr lang="en-US" smtClean="0"/>
              <a:t>‹#›</a:t>
            </a:fld>
            <a:endParaRPr lang="en-US"/>
          </a:p>
        </p:txBody>
      </p:sp>
    </p:spTree>
    <p:extLst>
      <p:ext uri="{BB962C8B-B14F-4D97-AF65-F5344CB8AC3E}">
        <p14:creationId xmlns:p14="http://schemas.microsoft.com/office/powerpoint/2010/main" val="130043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BD42E9-0A03-8C4C-A0E3-5AF5FF19026F}" type="datetime1">
              <a:rPr lang="en-US" smtClean="0"/>
              <a:t>3/6/25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5FE90F-C88A-C24D-9FD5-52F0990CFAC0}" type="slidenum">
              <a:rPr lang="en-US" smtClean="0"/>
              <a:t>‹#›</a:t>
            </a:fld>
            <a:endParaRPr lang="en-US"/>
          </a:p>
        </p:txBody>
      </p:sp>
    </p:spTree>
    <p:extLst>
      <p:ext uri="{BB962C8B-B14F-4D97-AF65-F5344CB8AC3E}">
        <p14:creationId xmlns:p14="http://schemas.microsoft.com/office/powerpoint/2010/main" val="208311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2335F1-3456-6C4C-9128-CE9DDC996A12}" type="datetime1">
              <a:rPr lang="en-US" smtClean="0"/>
              <a:t>3/6/25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5FE90F-C88A-C24D-9FD5-52F0990CFAC0}" type="slidenum">
              <a:rPr lang="en-US" smtClean="0"/>
              <a:t>‹#›</a:t>
            </a:fld>
            <a:endParaRPr lang="en-US"/>
          </a:p>
        </p:txBody>
      </p:sp>
    </p:spTree>
    <p:extLst>
      <p:ext uri="{BB962C8B-B14F-4D97-AF65-F5344CB8AC3E}">
        <p14:creationId xmlns:p14="http://schemas.microsoft.com/office/powerpoint/2010/main" val="1964552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57327-87E1-D54E-85BB-CCECB6E8E880}" type="datetime1">
              <a:rPr lang="en-US" smtClean="0"/>
              <a:t>3/6/25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5FE90F-C88A-C24D-9FD5-52F0990CFAC0}" type="slidenum">
              <a:rPr lang="en-US" smtClean="0"/>
              <a:t>‹#›</a:t>
            </a:fld>
            <a:endParaRPr lang="en-US"/>
          </a:p>
        </p:txBody>
      </p:sp>
    </p:spTree>
    <p:extLst>
      <p:ext uri="{BB962C8B-B14F-4D97-AF65-F5344CB8AC3E}">
        <p14:creationId xmlns:p14="http://schemas.microsoft.com/office/powerpoint/2010/main" val="4209847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A4BD4F-B02A-8C44-A026-23B9A43F235C}" type="datetime1">
              <a:rPr lang="en-US" smtClean="0"/>
              <a:t>3/6/25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5FE90F-C88A-C24D-9FD5-52F0990CFAC0}" type="slidenum">
              <a:rPr lang="en-US" smtClean="0"/>
              <a:t>‹#›</a:t>
            </a:fld>
            <a:endParaRPr lang="en-US"/>
          </a:p>
        </p:txBody>
      </p:sp>
    </p:spTree>
    <p:extLst>
      <p:ext uri="{BB962C8B-B14F-4D97-AF65-F5344CB8AC3E}">
        <p14:creationId xmlns:p14="http://schemas.microsoft.com/office/powerpoint/2010/main" val="228708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6E13D8-DFB3-FD40-84A7-DDBE20988B24}" type="datetime1">
              <a:rPr lang="en-US" smtClean="0"/>
              <a:t>3/6/25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5FE90F-C88A-C24D-9FD5-52F0990CFAC0}" type="slidenum">
              <a:rPr lang="en-US" smtClean="0"/>
              <a:t>‹#›</a:t>
            </a:fld>
            <a:endParaRPr lang="en-US"/>
          </a:p>
        </p:txBody>
      </p:sp>
    </p:spTree>
    <p:extLst>
      <p:ext uri="{BB962C8B-B14F-4D97-AF65-F5344CB8AC3E}">
        <p14:creationId xmlns:p14="http://schemas.microsoft.com/office/powerpoint/2010/main" val="72085154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14EBE-0E88-5F20-9796-F1D7FDD8FB17}"/>
              </a:ext>
            </a:extLst>
          </p:cNvPr>
          <p:cNvSpPr>
            <a:spLocks noGrp="1"/>
          </p:cNvSpPr>
          <p:nvPr>
            <p:ph type="ctrTitle"/>
          </p:nvPr>
        </p:nvSpPr>
        <p:spPr/>
        <p:txBody>
          <a:bodyPr anchor="ctr">
            <a:noAutofit/>
          </a:bodyPr>
          <a:lstStyle/>
          <a:p>
            <a:r>
              <a:rPr lang="en-US" sz="4400" b="1" dirty="0">
                <a:solidFill>
                  <a:srgbClr val="9A0031"/>
                </a:solidFill>
                <a:latin typeface="Fjalla One" panose="02000506040000020004" pitchFamily="2" charset="0"/>
                <a:ea typeface="Roboto" panose="02000000000000000000" pitchFamily="2" charset="0"/>
                <a:cs typeface="Roboto" panose="02000000000000000000" pitchFamily="2" charset="0"/>
              </a:rPr>
              <a:t>Understanding Human Factors in Cybersecurity Research</a:t>
            </a:r>
          </a:p>
        </p:txBody>
      </p:sp>
      <p:sp>
        <p:nvSpPr>
          <p:cNvPr id="3" name="Subtitle 2">
            <a:extLst>
              <a:ext uri="{FF2B5EF4-FFF2-40B4-BE49-F238E27FC236}">
                <a16:creationId xmlns:a16="http://schemas.microsoft.com/office/drawing/2014/main" id="{27AF8682-4361-9995-A4C7-328282FAC0CC}"/>
              </a:ext>
            </a:extLst>
          </p:cNvPr>
          <p:cNvSpPr>
            <a:spLocks noGrp="1"/>
          </p:cNvSpPr>
          <p:nvPr>
            <p:ph type="subTitle" idx="1"/>
          </p:nvPr>
        </p:nvSpPr>
        <p:spPr>
          <a:xfrm>
            <a:off x="1524000" y="3509963"/>
            <a:ext cx="9144000" cy="2895744"/>
          </a:xfrm>
        </p:spPr>
        <p:txBody>
          <a:bodyPr>
            <a:normAutofit fontScale="92500" lnSpcReduction="20000"/>
          </a:bodyPr>
          <a:lstStyle/>
          <a:p>
            <a:r>
              <a:rPr lang="en-US" sz="4900" b="1" dirty="0">
                <a:solidFill>
                  <a:srgbClr val="FFC10E"/>
                </a:solidFill>
                <a:latin typeface="Roboto" panose="02000000000000000000" pitchFamily="2" charset="0"/>
                <a:ea typeface="Roboto" panose="02000000000000000000" pitchFamily="2" charset="0"/>
                <a:cs typeface="Roboto" panose="02000000000000000000" pitchFamily="2" charset="0"/>
              </a:rPr>
              <a:t>Ananta Soneji</a:t>
            </a:r>
          </a:p>
          <a:p>
            <a:r>
              <a:rPr lang="en-US" sz="2100" b="1" dirty="0">
                <a:latin typeface="Roboto" panose="02000000000000000000" pitchFamily="2" charset="0"/>
                <a:ea typeface="Roboto" panose="02000000000000000000" pitchFamily="2" charset="0"/>
                <a:cs typeface="Roboto" panose="02000000000000000000" pitchFamily="2" charset="0"/>
              </a:rPr>
              <a:t>Comprehensive Exam, Spring 2025</a:t>
            </a:r>
          </a:p>
          <a:p>
            <a:endParaRPr lang="en-US" sz="1800" dirty="0">
              <a:latin typeface="Roboto" panose="02000000000000000000" pitchFamily="2" charset="0"/>
              <a:ea typeface="Roboto" panose="02000000000000000000" pitchFamily="2" charset="0"/>
              <a:cs typeface="Roboto" panose="02000000000000000000" pitchFamily="2" charset="0"/>
            </a:endParaRPr>
          </a:p>
          <a:p>
            <a:r>
              <a:rPr lang="en-US" sz="1800" u="sng" dirty="0">
                <a:latin typeface="Roboto" panose="02000000000000000000" pitchFamily="2" charset="0"/>
                <a:ea typeface="Roboto" panose="02000000000000000000" pitchFamily="2" charset="0"/>
                <a:cs typeface="Roboto" panose="02000000000000000000" pitchFamily="2" charset="0"/>
              </a:rPr>
              <a:t>Ph.D. Committee Members:</a:t>
            </a:r>
          </a:p>
          <a:p>
            <a:r>
              <a:rPr lang="en-US" sz="1800" dirty="0">
                <a:latin typeface="Roboto" panose="02000000000000000000" pitchFamily="2" charset="0"/>
                <a:ea typeface="Roboto" panose="02000000000000000000" pitchFamily="2" charset="0"/>
                <a:cs typeface="Roboto" panose="02000000000000000000" pitchFamily="2" charset="0"/>
              </a:rPr>
              <a:t>Dr. Adam Doupé (Chair)</a:t>
            </a:r>
          </a:p>
          <a:p>
            <a:pPr>
              <a:spcBef>
                <a:spcPts val="400"/>
              </a:spcBef>
            </a:pPr>
            <a:r>
              <a:rPr lang="en-US" sz="1800" dirty="0">
                <a:latin typeface="Roboto" panose="02000000000000000000" pitchFamily="2" charset="0"/>
                <a:ea typeface="Roboto" panose="02000000000000000000" pitchFamily="2" charset="0"/>
                <a:cs typeface="Roboto" panose="02000000000000000000" pitchFamily="2" charset="0"/>
              </a:rPr>
              <a:t>Dr. Tiffany Bao</a:t>
            </a:r>
          </a:p>
          <a:p>
            <a:pPr>
              <a:spcBef>
                <a:spcPts val="400"/>
              </a:spcBef>
            </a:pPr>
            <a:r>
              <a:rPr lang="en-US" sz="1800" dirty="0">
                <a:latin typeface="Roboto" panose="02000000000000000000" pitchFamily="2" charset="0"/>
                <a:ea typeface="Roboto" panose="02000000000000000000" pitchFamily="2" charset="0"/>
                <a:cs typeface="Roboto" panose="02000000000000000000" pitchFamily="2" charset="0"/>
              </a:rPr>
              <a:t>Dr. Fish Wang</a:t>
            </a:r>
          </a:p>
          <a:p>
            <a:pPr>
              <a:spcBef>
                <a:spcPts val="400"/>
              </a:spcBef>
            </a:pPr>
            <a:r>
              <a:rPr lang="en-US" sz="1800" b="0" dirty="0">
                <a:effectLst/>
                <a:latin typeface="Roboto" panose="02000000000000000000" pitchFamily="2" charset="0"/>
                <a:ea typeface="Roboto" panose="02000000000000000000" pitchFamily="2" charset="0"/>
                <a:cs typeface="Roboto" panose="02000000000000000000" pitchFamily="2" charset="0"/>
              </a:rPr>
              <a:t>Dr. Yan Shoshitaishvili</a:t>
            </a:r>
            <a:endParaRPr lang="en-US" sz="1800" dirty="0">
              <a:latin typeface="Roboto" panose="02000000000000000000" pitchFamily="2" charset="0"/>
              <a:ea typeface="Roboto" panose="02000000000000000000" pitchFamily="2" charset="0"/>
              <a:cs typeface="Roboto" panose="02000000000000000000" pitchFamily="2" charset="0"/>
            </a:endParaRPr>
          </a:p>
          <a:p>
            <a:pPr>
              <a:spcBef>
                <a:spcPts val="400"/>
              </a:spcBef>
            </a:pPr>
            <a:r>
              <a:rPr lang="en-US" sz="1800" dirty="0">
                <a:latin typeface="Roboto" panose="02000000000000000000" pitchFamily="2" charset="0"/>
                <a:ea typeface="Roboto" panose="02000000000000000000" pitchFamily="2" charset="0"/>
                <a:cs typeface="Roboto" panose="02000000000000000000" pitchFamily="2" charset="0"/>
              </a:rPr>
              <a:t>Dr. Yasemin Acar</a:t>
            </a:r>
          </a:p>
          <a:p>
            <a:endParaRPr lang="en-US" sz="1600" dirty="0">
              <a:latin typeface="Roboto" panose="02000000000000000000" pitchFamily="2" charset="0"/>
              <a:ea typeface="Roboto" panose="02000000000000000000" pitchFamily="2" charset="0"/>
              <a:cs typeface="Roboto" panose="02000000000000000000" pitchFamily="2" charset="0"/>
            </a:endParaRPr>
          </a:p>
        </p:txBody>
      </p:sp>
      <p:pic>
        <p:nvPicPr>
          <p:cNvPr id="4" name="Google Shape;104;p16">
            <a:extLst>
              <a:ext uri="{FF2B5EF4-FFF2-40B4-BE49-F238E27FC236}">
                <a16:creationId xmlns:a16="http://schemas.microsoft.com/office/drawing/2014/main" id="{0DB10653-7C11-7BCA-1C4D-968FC1E32A95}"/>
              </a:ext>
            </a:extLst>
          </p:cNvPr>
          <p:cNvPicPr preferRelativeResize="0">
            <a:picLocks noChangeAspect="1"/>
          </p:cNvPicPr>
          <p:nvPr/>
        </p:nvPicPr>
        <p:blipFill>
          <a:blip r:embed="rId3">
            <a:alphaModFix/>
          </a:blip>
          <a:stretch>
            <a:fillRect/>
          </a:stretch>
        </p:blipFill>
        <p:spPr>
          <a:xfrm>
            <a:off x="756100" y="5658915"/>
            <a:ext cx="1535799" cy="640080"/>
          </a:xfrm>
          <a:prstGeom prst="rect">
            <a:avLst/>
          </a:prstGeom>
          <a:noFill/>
          <a:ln>
            <a:noFill/>
          </a:ln>
        </p:spPr>
      </p:pic>
      <p:pic>
        <p:nvPicPr>
          <p:cNvPr id="6" name="Picture 5" descr="A red logo with a lock and a black background&#10;&#10;AI-generated content may be incorrect.">
            <a:extLst>
              <a:ext uri="{FF2B5EF4-FFF2-40B4-BE49-F238E27FC236}">
                <a16:creationId xmlns:a16="http://schemas.microsoft.com/office/drawing/2014/main" id="{32648748-B284-CB3C-4B60-27863B1F0EFF}"/>
              </a:ext>
            </a:extLst>
          </p:cNvPr>
          <p:cNvPicPr>
            <a:picLocks noChangeAspect="1"/>
          </p:cNvPicPr>
          <p:nvPr/>
        </p:nvPicPr>
        <p:blipFill>
          <a:blip r:embed="rId4"/>
          <a:srcRect b="6881"/>
          <a:stretch/>
        </p:blipFill>
        <p:spPr>
          <a:xfrm>
            <a:off x="8821817" y="5466642"/>
            <a:ext cx="2908345" cy="827001"/>
          </a:xfrm>
          <a:prstGeom prst="rect">
            <a:avLst/>
          </a:prstGeom>
        </p:spPr>
      </p:pic>
    </p:spTree>
    <p:extLst>
      <p:ext uri="{BB962C8B-B14F-4D97-AF65-F5344CB8AC3E}">
        <p14:creationId xmlns:p14="http://schemas.microsoft.com/office/powerpoint/2010/main" val="4279208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lose-up of a sign&#10;&#10;AI-generated content may be incorrect.">
            <a:extLst>
              <a:ext uri="{FF2B5EF4-FFF2-40B4-BE49-F238E27FC236}">
                <a16:creationId xmlns:a16="http://schemas.microsoft.com/office/drawing/2014/main" id="{3253009E-AF49-E223-46D5-59A66B530DB0}"/>
              </a:ext>
            </a:extLst>
          </p:cNvPr>
          <p:cNvPicPr>
            <a:picLocks noChangeAspect="1"/>
          </p:cNvPicPr>
          <p:nvPr/>
        </p:nvPicPr>
        <p:blipFill>
          <a:blip r:embed="rId3"/>
          <a:stretch>
            <a:fillRect/>
          </a:stretch>
        </p:blipFill>
        <p:spPr>
          <a:xfrm>
            <a:off x="695071" y="2922923"/>
            <a:ext cx="5810661" cy="1533369"/>
          </a:xfrm>
          <a:prstGeom prst="rect">
            <a:avLst/>
          </a:prstGeom>
          <a:effectLst>
            <a:outerShdw blurRad="50800" dist="38100" dir="2700000" algn="tl" rotWithShape="0">
              <a:prstClr val="black">
                <a:alpha val="40000"/>
              </a:prstClr>
            </a:outerShdw>
          </a:effectLst>
        </p:spPr>
      </p:pic>
      <p:pic>
        <p:nvPicPr>
          <p:cNvPr id="10" name="Picture 9" descr="A black background with white text&#10;&#10;AI-generated content may be incorrect.">
            <a:extLst>
              <a:ext uri="{FF2B5EF4-FFF2-40B4-BE49-F238E27FC236}">
                <a16:creationId xmlns:a16="http://schemas.microsoft.com/office/drawing/2014/main" id="{A9D9875B-B5D8-987B-2335-9CEC3F12FEE6}"/>
              </a:ext>
            </a:extLst>
          </p:cNvPr>
          <p:cNvPicPr>
            <a:picLocks noChangeAspect="1"/>
          </p:cNvPicPr>
          <p:nvPr/>
        </p:nvPicPr>
        <p:blipFill>
          <a:blip r:embed="rId4"/>
          <a:stretch>
            <a:fillRect/>
          </a:stretch>
        </p:blipFill>
        <p:spPr>
          <a:xfrm>
            <a:off x="2104259" y="5156543"/>
            <a:ext cx="7772400" cy="1293814"/>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3D4887AA-3868-411F-A13D-4B325C75440A}"/>
              </a:ext>
            </a:extLst>
          </p:cNvPr>
          <p:cNvPicPr>
            <a:picLocks noChangeAspect="1"/>
          </p:cNvPicPr>
          <p:nvPr/>
        </p:nvPicPr>
        <p:blipFill>
          <a:blip r:embed="rId5"/>
          <a:stretch>
            <a:fillRect/>
          </a:stretch>
        </p:blipFill>
        <p:spPr>
          <a:xfrm>
            <a:off x="2602042" y="4015862"/>
            <a:ext cx="9202908" cy="1008363"/>
          </a:xfrm>
          <a:prstGeom prst="rect">
            <a:avLst/>
          </a:prstGeom>
          <a:effectLst>
            <a:outerShdw blurRad="50800" dist="38100" dir="2700000" algn="tl" rotWithShape="0">
              <a:prstClr val="black">
                <a:alpha val="40000"/>
              </a:prstClr>
            </a:outerShdw>
          </a:effectLst>
        </p:spPr>
      </p:pic>
      <p:pic>
        <p:nvPicPr>
          <p:cNvPr id="16" name="Picture 15" descr="A close up of white text&#10;&#10;AI-generated content may be incorrect.">
            <a:extLst>
              <a:ext uri="{FF2B5EF4-FFF2-40B4-BE49-F238E27FC236}">
                <a16:creationId xmlns:a16="http://schemas.microsoft.com/office/drawing/2014/main" id="{97CB5CF5-B6CE-DC64-ADC6-179FECF9E306}"/>
              </a:ext>
            </a:extLst>
          </p:cNvPr>
          <p:cNvPicPr>
            <a:picLocks noChangeAspect="1"/>
          </p:cNvPicPr>
          <p:nvPr/>
        </p:nvPicPr>
        <p:blipFill>
          <a:blip r:embed="rId6"/>
          <a:stretch>
            <a:fillRect/>
          </a:stretch>
        </p:blipFill>
        <p:spPr>
          <a:xfrm>
            <a:off x="455228" y="228123"/>
            <a:ext cx="5156616" cy="1317674"/>
          </a:xfrm>
          <a:prstGeom prst="rect">
            <a:avLst/>
          </a:prstGeom>
          <a:effectLst>
            <a:outerShdw blurRad="50800" dist="38100" dir="2700000" algn="tl" rotWithShape="0">
              <a:prstClr val="black">
                <a:alpha val="40000"/>
              </a:prstClr>
            </a:outerShdw>
          </a:effectLst>
        </p:spPr>
      </p:pic>
      <p:pic>
        <p:nvPicPr>
          <p:cNvPr id="12" name="Picture 11" descr="A close up of a sign&#10;&#10;AI-generated content may be incorrect.">
            <a:extLst>
              <a:ext uri="{FF2B5EF4-FFF2-40B4-BE49-F238E27FC236}">
                <a16:creationId xmlns:a16="http://schemas.microsoft.com/office/drawing/2014/main" id="{C9D796E6-8DF6-870B-39E5-DA4376AFEE46}"/>
              </a:ext>
            </a:extLst>
          </p:cNvPr>
          <p:cNvPicPr>
            <a:picLocks noChangeAspect="1"/>
          </p:cNvPicPr>
          <p:nvPr/>
        </p:nvPicPr>
        <p:blipFill>
          <a:blip r:embed="rId7"/>
          <a:stretch>
            <a:fillRect/>
          </a:stretch>
        </p:blipFill>
        <p:spPr>
          <a:xfrm>
            <a:off x="4465274" y="1056018"/>
            <a:ext cx="7091863" cy="908733"/>
          </a:xfrm>
          <a:prstGeom prst="rect">
            <a:avLst/>
          </a:prstGeom>
          <a:effectLst>
            <a:outerShdw blurRad="50800" dist="38100" dir="2700000" algn="tl" rotWithShape="0">
              <a:prstClr val="black">
                <a:alpha val="40000"/>
              </a:prstClr>
            </a:outerShdw>
          </a:effectLst>
        </p:spPr>
      </p:pic>
      <p:pic>
        <p:nvPicPr>
          <p:cNvPr id="14" name="Picture 13" descr="A close up of a sign&#10;&#10;AI-generated content may be incorrect.">
            <a:extLst>
              <a:ext uri="{FF2B5EF4-FFF2-40B4-BE49-F238E27FC236}">
                <a16:creationId xmlns:a16="http://schemas.microsoft.com/office/drawing/2014/main" id="{220E6DC9-3E2E-E839-5710-870FEAF39C26}"/>
              </a:ext>
            </a:extLst>
          </p:cNvPr>
          <p:cNvPicPr>
            <a:picLocks noChangeAspect="1"/>
          </p:cNvPicPr>
          <p:nvPr/>
        </p:nvPicPr>
        <p:blipFill>
          <a:blip r:embed="rId8"/>
          <a:stretch>
            <a:fillRect/>
          </a:stretch>
        </p:blipFill>
        <p:spPr>
          <a:xfrm>
            <a:off x="2029195" y="2026519"/>
            <a:ext cx="6859972" cy="915233"/>
          </a:xfrm>
          <a:prstGeom prst="rect">
            <a:avLst/>
          </a:prstGeom>
          <a:effectLst>
            <a:outerShdw blurRad="50800" dist="38100" dir="2700000" algn="tl" rotWithShape="0">
              <a:prstClr val="black">
                <a:alpha val="40000"/>
              </a:prstClr>
            </a:outerShdw>
          </a:effectLst>
        </p:spPr>
      </p:pic>
      <p:sp>
        <p:nvSpPr>
          <p:cNvPr id="24" name="TextBox 23">
            <a:extLst>
              <a:ext uri="{FF2B5EF4-FFF2-40B4-BE49-F238E27FC236}">
                <a16:creationId xmlns:a16="http://schemas.microsoft.com/office/drawing/2014/main" id="{04A5166E-B2F2-F222-6266-6796813075CF}"/>
              </a:ext>
            </a:extLst>
          </p:cNvPr>
          <p:cNvSpPr txBox="1"/>
          <p:nvPr/>
        </p:nvSpPr>
        <p:spPr>
          <a:xfrm>
            <a:off x="8370028" y="6450357"/>
            <a:ext cx="1611339" cy="369332"/>
          </a:xfrm>
          <a:prstGeom prst="rect">
            <a:avLst/>
          </a:prstGeom>
          <a:noFill/>
        </p:spPr>
        <p:txBody>
          <a:bodyPr wrap="none" rtlCol="0">
            <a:spAutoFit/>
          </a:bodyPr>
          <a:lstStyle/>
          <a:p>
            <a:r>
              <a:rPr lang="en-US" dirty="0">
                <a:latin typeface="Roboto" panose="02000000000000000000" pitchFamily="2" charset="0"/>
                <a:ea typeface="Roboto" panose="02000000000000000000" pitchFamily="2" charset="0"/>
                <a:cs typeface="Roboto" panose="02000000000000000000" pitchFamily="2" charset="0"/>
              </a:rPr>
              <a:t>[August 2024]</a:t>
            </a:r>
          </a:p>
        </p:txBody>
      </p:sp>
      <p:sp>
        <p:nvSpPr>
          <p:cNvPr id="27" name="TextBox 26">
            <a:extLst>
              <a:ext uri="{FF2B5EF4-FFF2-40B4-BE49-F238E27FC236}">
                <a16:creationId xmlns:a16="http://schemas.microsoft.com/office/drawing/2014/main" id="{B7CD5C37-E011-BCFE-FB0B-FBDBEE38773D}"/>
              </a:ext>
            </a:extLst>
          </p:cNvPr>
          <p:cNvSpPr txBox="1"/>
          <p:nvPr/>
        </p:nvSpPr>
        <p:spPr>
          <a:xfrm>
            <a:off x="695071" y="4456292"/>
            <a:ext cx="1319592" cy="369332"/>
          </a:xfrm>
          <a:prstGeom prst="rect">
            <a:avLst/>
          </a:prstGeom>
          <a:noFill/>
        </p:spPr>
        <p:txBody>
          <a:bodyPr wrap="none" rtlCol="0">
            <a:spAutoFit/>
          </a:bodyPr>
          <a:lstStyle/>
          <a:p>
            <a:r>
              <a:rPr lang="en-US" dirty="0">
                <a:latin typeface="Roboto" panose="02000000000000000000" pitchFamily="2" charset="0"/>
                <a:ea typeface="Roboto" panose="02000000000000000000" pitchFamily="2" charset="0"/>
                <a:cs typeface="Roboto" panose="02000000000000000000" pitchFamily="2" charset="0"/>
              </a:rPr>
              <a:t>[May 2023]</a:t>
            </a:r>
          </a:p>
        </p:txBody>
      </p:sp>
      <p:sp>
        <p:nvSpPr>
          <p:cNvPr id="29" name="TextBox 28">
            <a:extLst>
              <a:ext uri="{FF2B5EF4-FFF2-40B4-BE49-F238E27FC236}">
                <a16:creationId xmlns:a16="http://schemas.microsoft.com/office/drawing/2014/main" id="{D187A3E2-5B78-CCA1-0D18-8F06D6CEAE51}"/>
              </a:ext>
            </a:extLst>
          </p:cNvPr>
          <p:cNvSpPr txBox="1"/>
          <p:nvPr/>
        </p:nvSpPr>
        <p:spPr>
          <a:xfrm>
            <a:off x="10353173" y="5024225"/>
            <a:ext cx="1535998" cy="369332"/>
          </a:xfrm>
          <a:prstGeom prst="rect">
            <a:avLst/>
          </a:prstGeom>
          <a:noFill/>
        </p:spPr>
        <p:txBody>
          <a:bodyPr wrap="none" rtlCol="0">
            <a:spAutoFit/>
          </a:bodyPr>
          <a:lstStyle/>
          <a:p>
            <a:r>
              <a:rPr lang="en-US" dirty="0">
                <a:latin typeface="Roboto" panose="02000000000000000000" pitchFamily="2" charset="0"/>
                <a:ea typeface="Roboto" panose="02000000000000000000" pitchFamily="2" charset="0"/>
                <a:cs typeface="Roboto" panose="02000000000000000000" pitchFamily="2" charset="0"/>
              </a:rPr>
              <a:t>[March 2020]</a:t>
            </a:r>
          </a:p>
        </p:txBody>
      </p:sp>
      <p:sp>
        <p:nvSpPr>
          <p:cNvPr id="30" name="TextBox 29">
            <a:extLst>
              <a:ext uri="{FF2B5EF4-FFF2-40B4-BE49-F238E27FC236}">
                <a16:creationId xmlns:a16="http://schemas.microsoft.com/office/drawing/2014/main" id="{CBAB2C8A-0A91-6549-B001-2606B0DD65D4}"/>
              </a:ext>
            </a:extLst>
          </p:cNvPr>
          <p:cNvSpPr txBox="1"/>
          <p:nvPr/>
        </p:nvSpPr>
        <p:spPr>
          <a:xfrm>
            <a:off x="7038021" y="2941752"/>
            <a:ext cx="1946367" cy="369332"/>
          </a:xfrm>
          <a:prstGeom prst="rect">
            <a:avLst/>
          </a:prstGeom>
          <a:noFill/>
        </p:spPr>
        <p:txBody>
          <a:bodyPr wrap="none" rtlCol="0">
            <a:spAutoFit/>
          </a:bodyPr>
          <a:lstStyle/>
          <a:p>
            <a:r>
              <a:rPr lang="en-US" dirty="0">
                <a:latin typeface="Roboto" panose="02000000000000000000" pitchFamily="2" charset="0"/>
                <a:ea typeface="Roboto" panose="02000000000000000000" pitchFamily="2" charset="0"/>
                <a:cs typeface="Roboto" panose="02000000000000000000" pitchFamily="2" charset="0"/>
              </a:rPr>
              <a:t>[November 2023]</a:t>
            </a:r>
          </a:p>
        </p:txBody>
      </p:sp>
      <p:sp>
        <p:nvSpPr>
          <p:cNvPr id="31" name="TextBox 30">
            <a:extLst>
              <a:ext uri="{FF2B5EF4-FFF2-40B4-BE49-F238E27FC236}">
                <a16:creationId xmlns:a16="http://schemas.microsoft.com/office/drawing/2014/main" id="{28887985-70E2-EADA-EB34-98D8E2DDBF95}"/>
              </a:ext>
            </a:extLst>
          </p:cNvPr>
          <p:cNvSpPr txBox="1"/>
          <p:nvPr/>
        </p:nvSpPr>
        <p:spPr>
          <a:xfrm>
            <a:off x="455228" y="1595419"/>
            <a:ext cx="2002471" cy="369332"/>
          </a:xfrm>
          <a:prstGeom prst="rect">
            <a:avLst/>
          </a:prstGeom>
          <a:noFill/>
        </p:spPr>
        <p:txBody>
          <a:bodyPr wrap="none" rtlCol="0">
            <a:spAutoFit/>
          </a:bodyPr>
          <a:lstStyle/>
          <a:p>
            <a:r>
              <a:rPr lang="en-US" dirty="0">
                <a:latin typeface="Roboto" panose="02000000000000000000" pitchFamily="2" charset="0"/>
                <a:ea typeface="Roboto" panose="02000000000000000000" pitchFamily="2" charset="0"/>
                <a:cs typeface="Roboto" panose="02000000000000000000" pitchFamily="2" charset="0"/>
              </a:rPr>
              <a:t>[September 2023]</a:t>
            </a:r>
          </a:p>
        </p:txBody>
      </p:sp>
      <p:sp>
        <p:nvSpPr>
          <p:cNvPr id="32" name="TextBox 31">
            <a:extLst>
              <a:ext uri="{FF2B5EF4-FFF2-40B4-BE49-F238E27FC236}">
                <a16:creationId xmlns:a16="http://schemas.microsoft.com/office/drawing/2014/main" id="{785C5113-0EDA-ECEF-0447-BAA8C56FB1DB}"/>
              </a:ext>
            </a:extLst>
          </p:cNvPr>
          <p:cNvSpPr txBox="1"/>
          <p:nvPr/>
        </p:nvSpPr>
        <p:spPr>
          <a:xfrm>
            <a:off x="10202279" y="702294"/>
            <a:ext cx="1354858" cy="369332"/>
          </a:xfrm>
          <a:prstGeom prst="rect">
            <a:avLst/>
          </a:prstGeom>
          <a:noFill/>
        </p:spPr>
        <p:txBody>
          <a:bodyPr wrap="none" rtlCol="0">
            <a:spAutoFit/>
          </a:bodyPr>
          <a:lstStyle/>
          <a:p>
            <a:r>
              <a:rPr lang="en-US" dirty="0">
                <a:latin typeface="Roboto" panose="02000000000000000000" pitchFamily="2" charset="0"/>
                <a:ea typeface="Roboto" panose="02000000000000000000" pitchFamily="2" charset="0"/>
                <a:cs typeface="Roboto" panose="02000000000000000000" pitchFamily="2" charset="0"/>
              </a:rPr>
              <a:t>[April 2015]</a:t>
            </a:r>
          </a:p>
        </p:txBody>
      </p:sp>
      <p:sp>
        <p:nvSpPr>
          <p:cNvPr id="35" name="Slide Number Placeholder 34">
            <a:extLst>
              <a:ext uri="{FF2B5EF4-FFF2-40B4-BE49-F238E27FC236}">
                <a16:creationId xmlns:a16="http://schemas.microsoft.com/office/drawing/2014/main" id="{FA7DC6AD-EC46-FE91-4F80-656A30B69FDD}"/>
              </a:ext>
            </a:extLst>
          </p:cNvPr>
          <p:cNvSpPr>
            <a:spLocks noGrp="1"/>
          </p:cNvSpPr>
          <p:nvPr>
            <p:ph type="sldNum" sz="quarter" idx="12"/>
          </p:nvPr>
        </p:nvSpPr>
        <p:spPr/>
        <p:txBody>
          <a:bodyPr/>
          <a:lstStyle/>
          <a:p>
            <a:fld id="{835FE90F-C88A-C24D-9FD5-52F0990CFAC0}" type="slidenum">
              <a:rPr lang="en-US" smtClean="0"/>
              <a:t>2</a:t>
            </a:fld>
            <a:endParaRPr lang="en-US"/>
          </a:p>
        </p:txBody>
      </p:sp>
    </p:spTree>
    <p:extLst>
      <p:ext uri="{BB962C8B-B14F-4D97-AF65-F5344CB8AC3E}">
        <p14:creationId xmlns:p14="http://schemas.microsoft.com/office/powerpoint/2010/main" val="261127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childTnLst>
                                </p:cTn>
                              </p:par>
                              <p:par>
                                <p:cTn id="25" presetID="23" presetClass="entr" presetSubtype="16"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p:cTn id="31" dur="500" fill="hold"/>
                                        <p:tgtEl>
                                          <p:spTgt spid="31"/>
                                        </p:tgtEl>
                                        <p:attrNameLst>
                                          <p:attrName>ppt_w</p:attrName>
                                        </p:attrNameLst>
                                      </p:cBhvr>
                                      <p:tavLst>
                                        <p:tav tm="0">
                                          <p:val>
                                            <p:fltVal val="0"/>
                                          </p:val>
                                        </p:tav>
                                        <p:tav tm="100000">
                                          <p:val>
                                            <p:strVal val="#ppt_w"/>
                                          </p:val>
                                        </p:tav>
                                      </p:tavLst>
                                    </p:anim>
                                    <p:anim calcmode="lin" valueType="num">
                                      <p:cBhvr>
                                        <p:cTn id="32" dur="500" fill="hold"/>
                                        <p:tgtEl>
                                          <p:spTgt spid="31"/>
                                        </p:tgtEl>
                                        <p:attrNameLst>
                                          <p:attrName>ppt_h</p:attrName>
                                        </p:attrNameLst>
                                      </p:cBhvr>
                                      <p:tavLst>
                                        <p:tav tm="0">
                                          <p:val>
                                            <p:fltVal val="0"/>
                                          </p:val>
                                        </p:tav>
                                        <p:tav tm="100000">
                                          <p:val>
                                            <p:strVal val="#ppt_h"/>
                                          </p:val>
                                        </p:tav>
                                      </p:tavLst>
                                    </p:anim>
                                    <p:animEffect transition="in" filter="fade">
                                      <p:cBhvr>
                                        <p:cTn id="33" dur="500"/>
                                        <p:tgtEl>
                                          <p:spTgt spid="31"/>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 calcmode="lin" valueType="num">
                                      <p:cBhvr>
                                        <p:cTn id="36" dur="500" fill="hold"/>
                                        <p:tgtEl>
                                          <p:spTgt spid="32"/>
                                        </p:tgtEl>
                                        <p:attrNameLst>
                                          <p:attrName>ppt_w</p:attrName>
                                        </p:attrNameLst>
                                      </p:cBhvr>
                                      <p:tavLst>
                                        <p:tav tm="0">
                                          <p:val>
                                            <p:fltVal val="0"/>
                                          </p:val>
                                        </p:tav>
                                        <p:tav tm="100000">
                                          <p:val>
                                            <p:strVal val="#ppt_w"/>
                                          </p:val>
                                        </p:tav>
                                      </p:tavLst>
                                    </p:anim>
                                    <p:anim calcmode="lin" valueType="num">
                                      <p:cBhvr>
                                        <p:cTn id="37" dur="500" fill="hold"/>
                                        <p:tgtEl>
                                          <p:spTgt spid="32"/>
                                        </p:tgtEl>
                                        <p:attrNameLst>
                                          <p:attrName>ppt_h</p:attrName>
                                        </p:attrNameLst>
                                      </p:cBhvr>
                                      <p:tavLst>
                                        <p:tav tm="0">
                                          <p:val>
                                            <p:fltVal val="0"/>
                                          </p:val>
                                        </p:tav>
                                        <p:tav tm="100000">
                                          <p:val>
                                            <p:strVal val="#ppt_h"/>
                                          </p:val>
                                        </p:tav>
                                      </p:tavLst>
                                    </p:anim>
                                    <p:animEffect transition="in" filter="fade">
                                      <p:cBhvr>
                                        <p:cTn id="38" dur="500"/>
                                        <p:tgtEl>
                                          <p:spTgt spid="32"/>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 calcmode="lin" valueType="num">
                                      <p:cBhvr>
                                        <p:cTn id="46" dur="500" fill="hold"/>
                                        <p:tgtEl>
                                          <p:spTgt spid="29"/>
                                        </p:tgtEl>
                                        <p:attrNameLst>
                                          <p:attrName>ppt_w</p:attrName>
                                        </p:attrNameLst>
                                      </p:cBhvr>
                                      <p:tavLst>
                                        <p:tav tm="0">
                                          <p:val>
                                            <p:fltVal val="0"/>
                                          </p:val>
                                        </p:tav>
                                        <p:tav tm="100000">
                                          <p:val>
                                            <p:strVal val="#ppt_w"/>
                                          </p:val>
                                        </p:tav>
                                      </p:tavLst>
                                    </p:anim>
                                    <p:anim calcmode="lin" valueType="num">
                                      <p:cBhvr>
                                        <p:cTn id="47" dur="500" fill="hold"/>
                                        <p:tgtEl>
                                          <p:spTgt spid="29"/>
                                        </p:tgtEl>
                                        <p:attrNameLst>
                                          <p:attrName>ppt_h</p:attrName>
                                        </p:attrNameLst>
                                      </p:cBhvr>
                                      <p:tavLst>
                                        <p:tav tm="0">
                                          <p:val>
                                            <p:fltVal val="0"/>
                                          </p:val>
                                        </p:tav>
                                        <p:tav tm="100000">
                                          <p:val>
                                            <p:strVal val="#ppt_h"/>
                                          </p:val>
                                        </p:tav>
                                      </p:tavLst>
                                    </p:anim>
                                    <p:animEffect transition="in" filter="fade">
                                      <p:cBhvr>
                                        <p:cTn id="48" dur="500"/>
                                        <p:tgtEl>
                                          <p:spTgt spid="29"/>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cBhvr>
                                        <p:cTn id="51" dur="500" fill="hold"/>
                                        <p:tgtEl>
                                          <p:spTgt spid="24"/>
                                        </p:tgtEl>
                                        <p:attrNameLst>
                                          <p:attrName>ppt_w</p:attrName>
                                        </p:attrNameLst>
                                      </p:cBhvr>
                                      <p:tavLst>
                                        <p:tav tm="0">
                                          <p:val>
                                            <p:fltVal val="0"/>
                                          </p:val>
                                        </p:tav>
                                        <p:tav tm="100000">
                                          <p:val>
                                            <p:strVal val="#ppt_w"/>
                                          </p:val>
                                        </p:tav>
                                      </p:tavLst>
                                    </p:anim>
                                    <p:anim calcmode="lin" valueType="num">
                                      <p:cBhvr>
                                        <p:cTn id="52" dur="500" fill="hold"/>
                                        <p:tgtEl>
                                          <p:spTgt spid="24"/>
                                        </p:tgtEl>
                                        <p:attrNameLst>
                                          <p:attrName>ppt_h</p:attrName>
                                        </p:attrNameLst>
                                      </p:cBhvr>
                                      <p:tavLst>
                                        <p:tav tm="0">
                                          <p:val>
                                            <p:fltVal val="0"/>
                                          </p:val>
                                        </p:tav>
                                        <p:tav tm="100000">
                                          <p:val>
                                            <p:strVal val="#ppt_h"/>
                                          </p:val>
                                        </p:tav>
                                      </p:tavLst>
                                    </p:anim>
                                    <p:animEffect transition="in" filter="fade">
                                      <p:cBhvr>
                                        <p:cTn id="53" dur="500"/>
                                        <p:tgtEl>
                                          <p:spTgt spid="24"/>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 calcmode="lin" valueType="num">
                                      <p:cBhvr>
                                        <p:cTn id="56" dur="500" fill="hold"/>
                                        <p:tgtEl>
                                          <p:spTgt spid="27"/>
                                        </p:tgtEl>
                                        <p:attrNameLst>
                                          <p:attrName>ppt_w</p:attrName>
                                        </p:attrNameLst>
                                      </p:cBhvr>
                                      <p:tavLst>
                                        <p:tav tm="0">
                                          <p:val>
                                            <p:fltVal val="0"/>
                                          </p:val>
                                        </p:tav>
                                        <p:tav tm="100000">
                                          <p:val>
                                            <p:strVal val="#ppt_w"/>
                                          </p:val>
                                        </p:tav>
                                      </p:tavLst>
                                    </p:anim>
                                    <p:anim calcmode="lin" valueType="num">
                                      <p:cBhvr>
                                        <p:cTn id="57" dur="500" fill="hold"/>
                                        <p:tgtEl>
                                          <p:spTgt spid="27"/>
                                        </p:tgtEl>
                                        <p:attrNameLst>
                                          <p:attrName>ppt_h</p:attrName>
                                        </p:attrNameLst>
                                      </p:cBhvr>
                                      <p:tavLst>
                                        <p:tav tm="0">
                                          <p:val>
                                            <p:fltVal val="0"/>
                                          </p:val>
                                        </p:tav>
                                        <p:tav tm="100000">
                                          <p:val>
                                            <p:strVal val="#ppt_h"/>
                                          </p:val>
                                        </p:tav>
                                      </p:tavLst>
                                    </p:anim>
                                    <p:animEffect transition="in" filter="fade">
                                      <p:cBhvr>
                                        <p:cTn id="5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7" grpId="0"/>
      <p:bldP spid="29" grpId="0"/>
      <p:bldP spid="30" grpId="0"/>
      <p:bldP spid="31"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8ACC7-09E2-C515-32F9-95BDFA9866EC}"/>
              </a:ext>
            </a:extLst>
          </p:cNvPr>
          <p:cNvSpPr>
            <a:spLocks noGrp="1"/>
          </p:cNvSpPr>
          <p:nvPr>
            <p:ph type="title"/>
          </p:nvPr>
        </p:nvSpPr>
        <p:spPr/>
        <p:txBody>
          <a:bodyPr/>
          <a:lstStyle/>
          <a:p>
            <a:r>
              <a:rPr lang="en-US" dirty="0">
                <a:solidFill>
                  <a:srgbClr val="9A0031"/>
                </a:solidFill>
                <a:latin typeface="Fjalla One" panose="02000506040000020004" pitchFamily="2" charset="0"/>
                <a:ea typeface="Roboto" panose="02000000000000000000" pitchFamily="2" charset="0"/>
                <a:cs typeface="Roboto" panose="02000000000000000000" pitchFamily="2" charset="0"/>
              </a:rPr>
              <a:t>Humans: A Weak Link?</a:t>
            </a:r>
          </a:p>
        </p:txBody>
      </p:sp>
      <p:sp>
        <p:nvSpPr>
          <p:cNvPr id="3" name="Content Placeholder 2">
            <a:extLst>
              <a:ext uri="{FF2B5EF4-FFF2-40B4-BE49-F238E27FC236}">
                <a16:creationId xmlns:a16="http://schemas.microsoft.com/office/drawing/2014/main" id="{578360AB-36A3-DDF7-0004-66B3E8187447}"/>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Humans have been seen as the “biggest security risk”</a:t>
            </a:r>
          </a:p>
          <a:p>
            <a:r>
              <a:rPr lang="en-US" sz="2400" dirty="0">
                <a:latin typeface="Roboto" panose="02000000000000000000" pitchFamily="2" charset="0"/>
                <a:ea typeface="Roboto" panose="02000000000000000000" pitchFamily="2" charset="0"/>
                <a:cs typeface="Roboto" panose="02000000000000000000" pitchFamily="2" charset="0"/>
              </a:rPr>
              <a:t>“They make mistakes”</a:t>
            </a:r>
          </a:p>
          <a:p>
            <a:r>
              <a:rPr lang="en-US" sz="2400" dirty="0">
                <a:latin typeface="Roboto" panose="02000000000000000000" pitchFamily="2" charset="0"/>
                <a:ea typeface="Roboto" panose="02000000000000000000" pitchFamily="2" charset="0"/>
                <a:cs typeface="Roboto" panose="02000000000000000000" pitchFamily="2" charset="0"/>
              </a:rPr>
              <a:t>“They reuse passwords”</a:t>
            </a:r>
          </a:p>
          <a:p>
            <a:r>
              <a:rPr lang="en-US" sz="2400" dirty="0">
                <a:latin typeface="Roboto" panose="02000000000000000000" pitchFamily="2" charset="0"/>
                <a:ea typeface="Roboto" panose="02000000000000000000" pitchFamily="2" charset="0"/>
                <a:cs typeface="Roboto" panose="02000000000000000000" pitchFamily="2" charset="0"/>
              </a:rPr>
              <a:t>“They fall for scams”</a:t>
            </a:r>
          </a:p>
          <a:p>
            <a:r>
              <a:rPr lang="en-US" sz="2400" dirty="0">
                <a:latin typeface="Roboto" panose="02000000000000000000" pitchFamily="2" charset="0"/>
                <a:ea typeface="Roboto" panose="02000000000000000000" pitchFamily="2" charset="0"/>
                <a:cs typeface="Roboto" panose="02000000000000000000" pitchFamily="2" charset="0"/>
              </a:rPr>
              <a:t>“They are stupid”</a:t>
            </a:r>
          </a:p>
          <a:p>
            <a:pPr marL="0" indent="0">
              <a:buNone/>
            </a:pPr>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a:p>
            <a:pPr marL="0" indent="0">
              <a:buNone/>
            </a:pP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7" name="Slide Number Placeholder 6">
            <a:extLst>
              <a:ext uri="{FF2B5EF4-FFF2-40B4-BE49-F238E27FC236}">
                <a16:creationId xmlns:a16="http://schemas.microsoft.com/office/drawing/2014/main" id="{1D0486A8-FE37-5567-1779-AC4A2C53EA32}"/>
              </a:ext>
            </a:extLst>
          </p:cNvPr>
          <p:cNvSpPr>
            <a:spLocks noGrp="1"/>
          </p:cNvSpPr>
          <p:nvPr>
            <p:ph type="sldNum" sz="quarter" idx="12"/>
          </p:nvPr>
        </p:nvSpPr>
        <p:spPr/>
        <p:txBody>
          <a:bodyPr/>
          <a:lstStyle/>
          <a:p>
            <a:fld id="{835FE90F-C88A-C24D-9FD5-52F0990CFAC0}" type="slidenum">
              <a:rPr lang="en-US" smtClean="0"/>
              <a:t>3</a:t>
            </a:fld>
            <a:endParaRPr lang="en-US"/>
          </a:p>
        </p:txBody>
      </p:sp>
    </p:spTree>
    <p:extLst>
      <p:ext uri="{BB962C8B-B14F-4D97-AF65-F5344CB8AC3E}">
        <p14:creationId xmlns:p14="http://schemas.microsoft.com/office/powerpoint/2010/main" val="219934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A9FBD-4525-9B71-65C8-91E7FFB70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D9D06-3C1B-3F80-8433-AC50F0C13BF9}"/>
              </a:ext>
            </a:extLst>
          </p:cNvPr>
          <p:cNvSpPr>
            <a:spLocks noGrp="1"/>
          </p:cNvSpPr>
          <p:nvPr>
            <p:ph type="title"/>
          </p:nvPr>
        </p:nvSpPr>
        <p:spPr/>
        <p:txBody>
          <a:bodyPr/>
          <a:lstStyle/>
          <a:p>
            <a:r>
              <a:rPr lang="en-US" dirty="0">
                <a:solidFill>
                  <a:srgbClr val="9A0031"/>
                </a:solidFill>
                <a:latin typeface="Fjalla One" panose="02000506040000020004" pitchFamily="2" charset="0"/>
              </a:rPr>
              <a:t>Human Lapses in Cybersecurity</a:t>
            </a:r>
          </a:p>
        </p:txBody>
      </p:sp>
      <p:sp>
        <p:nvSpPr>
          <p:cNvPr id="3" name="Content Placeholder 2">
            <a:extLst>
              <a:ext uri="{FF2B5EF4-FFF2-40B4-BE49-F238E27FC236}">
                <a16:creationId xmlns:a16="http://schemas.microsoft.com/office/drawing/2014/main" id="{494181F3-A3F0-4759-7B8A-93BB0C7815AF}"/>
              </a:ext>
            </a:extLst>
          </p:cNvPr>
          <p:cNvSpPr>
            <a:spLocks noGrp="1"/>
          </p:cNvSpPr>
          <p:nvPr>
            <p:ph idx="1"/>
          </p:nvPr>
        </p:nvSpPr>
        <p:spPr/>
        <p:txBody>
          <a:bodyPr>
            <a:normAutofit lnSpcReduction="10000"/>
          </a:bodyPr>
          <a:lstStyle/>
          <a:p>
            <a:r>
              <a:rPr lang="en-US" sz="2400" dirty="0">
                <a:latin typeface="Roboto" panose="02000000000000000000" pitchFamily="2" charset="0"/>
                <a:ea typeface="Roboto" panose="02000000000000000000" pitchFamily="2" charset="0"/>
                <a:cs typeface="Roboto" panose="02000000000000000000" pitchFamily="2" charset="0"/>
              </a:rPr>
              <a:t>Weak password practices</a:t>
            </a:r>
          </a:p>
          <a:p>
            <a:r>
              <a:rPr lang="en-US" sz="2400" dirty="0">
                <a:latin typeface="Roboto" panose="02000000000000000000" pitchFamily="2" charset="0"/>
                <a:ea typeface="Roboto" panose="02000000000000000000" pitchFamily="2" charset="0"/>
                <a:cs typeface="Roboto" panose="02000000000000000000" pitchFamily="2" charset="0"/>
              </a:rPr>
              <a:t>Ignoring software updates &amp; vulnerabilities</a:t>
            </a:r>
          </a:p>
          <a:p>
            <a:r>
              <a:rPr lang="en-US" sz="2400" dirty="0">
                <a:latin typeface="Roboto" panose="02000000000000000000" pitchFamily="2" charset="0"/>
                <a:ea typeface="Roboto" panose="02000000000000000000" pitchFamily="2" charset="0"/>
                <a:cs typeface="Roboto" panose="02000000000000000000" pitchFamily="2" charset="0"/>
              </a:rPr>
              <a:t>Falling for phishing &amp; social engineering</a:t>
            </a:r>
          </a:p>
          <a:p>
            <a:r>
              <a:rPr lang="en-US" sz="2400" dirty="0">
                <a:latin typeface="Roboto" panose="02000000000000000000" pitchFamily="2" charset="0"/>
                <a:ea typeface="Roboto" panose="02000000000000000000" pitchFamily="2" charset="0"/>
                <a:cs typeface="Roboto" panose="02000000000000000000" pitchFamily="2" charset="0"/>
              </a:rPr>
              <a:t>Poor Multi-factor authentication (MFA) adoption </a:t>
            </a:r>
          </a:p>
          <a:p>
            <a:r>
              <a:rPr lang="en-US" sz="2400" dirty="0">
                <a:latin typeface="Roboto" panose="02000000000000000000" pitchFamily="2" charset="0"/>
                <a:ea typeface="Roboto" panose="02000000000000000000" pitchFamily="2" charset="0"/>
                <a:cs typeface="Roboto" panose="02000000000000000000" pitchFamily="2" charset="0"/>
              </a:rPr>
              <a:t>Public Wi-Fi usage</a:t>
            </a:r>
          </a:p>
          <a:p>
            <a:r>
              <a:rPr lang="en-US" sz="2400" dirty="0">
                <a:latin typeface="Roboto" panose="02000000000000000000" pitchFamily="2" charset="0"/>
                <a:ea typeface="Roboto" panose="02000000000000000000" pitchFamily="2" charset="0"/>
                <a:cs typeface="Roboto" panose="02000000000000000000" pitchFamily="2" charset="0"/>
              </a:rPr>
              <a:t>Poor data management &amp; sharing practices</a:t>
            </a:r>
          </a:p>
          <a:p>
            <a:r>
              <a:rPr lang="en-US" sz="2400" dirty="0">
                <a:latin typeface="Roboto" panose="02000000000000000000" pitchFamily="2" charset="0"/>
                <a:ea typeface="Roboto" panose="02000000000000000000" pitchFamily="2" charset="0"/>
                <a:cs typeface="Roboto" panose="02000000000000000000" pitchFamily="2" charset="0"/>
              </a:rPr>
              <a:t>Security fatigue &amp; alert ignorance</a:t>
            </a:r>
          </a:p>
          <a:p>
            <a:r>
              <a:rPr lang="en-US" sz="2400" dirty="0">
                <a:latin typeface="Roboto" panose="02000000000000000000" pitchFamily="2" charset="0"/>
                <a:ea typeface="Roboto" panose="02000000000000000000" pitchFamily="2" charset="0"/>
                <a:cs typeface="Roboto" panose="02000000000000000000" pitchFamily="2" charset="0"/>
              </a:rPr>
              <a:t>Poor email &amp; file attachment hygiene</a:t>
            </a:r>
          </a:p>
          <a:p>
            <a:r>
              <a:rPr lang="en-US" sz="2400" dirty="0">
                <a:latin typeface="Roboto" panose="02000000000000000000" pitchFamily="2" charset="0"/>
                <a:ea typeface="Roboto" panose="02000000000000000000" pitchFamily="2" charset="0"/>
                <a:cs typeface="Roboto" panose="02000000000000000000" pitchFamily="2" charset="0"/>
              </a:rPr>
              <a:t>Insider threats &amp; misuse of privileges</a:t>
            </a:r>
          </a:p>
          <a:p>
            <a:r>
              <a:rPr lang="en-US" sz="2400" dirty="0">
                <a:latin typeface="Roboto" panose="02000000000000000000" pitchFamily="2" charset="0"/>
                <a:ea typeface="Roboto" panose="02000000000000000000" pitchFamily="2" charset="0"/>
                <a:cs typeface="Roboto" panose="02000000000000000000" pitchFamily="2" charset="0"/>
              </a:rPr>
              <a:t>And many more …</a:t>
            </a:r>
          </a:p>
          <a:p>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7" name="Slide Number Placeholder 6">
            <a:extLst>
              <a:ext uri="{FF2B5EF4-FFF2-40B4-BE49-F238E27FC236}">
                <a16:creationId xmlns:a16="http://schemas.microsoft.com/office/drawing/2014/main" id="{205E6AD7-F7DA-905E-1BB1-F8FCCC49489F}"/>
              </a:ext>
            </a:extLst>
          </p:cNvPr>
          <p:cNvSpPr>
            <a:spLocks noGrp="1"/>
          </p:cNvSpPr>
          <p:nvPr>
            <p:ph type="sldNum" sz="quarter" idx="12"/>
          </p:nvPr>
        </p:nvSpPr>
        <p:spPr/>
        <p:txBody>
          <a:bodyPr/>
          <a:lstStyle/>
          <a:p>
            <a:fld id="{835FE90F-C88A-C24D-9FD5-52F0990CFAC0}" type="slidenum">
              <a:rPr lang="en-US" smtClean="0"/>
              <a:t>4</a:t>
            </a:fld>
            <a:endParaRPr lang="en-US"/>
          </a:p>
        </p:txBody>
      </p:sp>
    </p:spTree>
    <p:extLst>
      <p:ext uri="{BB962C8B-B14F-4D97-AF65-F5344CB8AC3E}">
        <p14:creationId xmlns:p14="http://schemas.microsoft.com/office/powerpoint/2010/main" val="133567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3F7E0-D12E-40D6-3E09-7C7C1FFB12FB}"/>
              </a:ext>
            </a:extLst>
          </p:cNvPr>
          <p:cNvSpPr>
            <a:spLocks noGrp="1"/>
          </p:cNvSpPr>
          <p:nvPr>
            <p:ph type="title"/>
          </p:nvPr>
        </p:nvSpPr>
        <p:spPr/>
        <p:txBody>
          <a:bodyPr/>
          <a:lstStyle/>
          <a:p>
            <a:r>
              <a:rPr lang="en-US" dirty="0">
                <a:solidFill>
                  <a:srgbClr val="9A0031"/>
                </a:solidFill>
                <a:latin typeface="Fjalla One" panose="02000506040000020004" pitchFamily="2" charset="0"/>
              </a:rPr>
              <a:t>What about Technical Solutions?</a:t>
            </a:r>
          </a:p>
        </p:txBody>
      </p:sp>
      <p:sp>
        <p:nvSpPr>
          <p:cNvPr id="3" name="Content Placeholder 2">
            <a:extLst>
              <a:ext uri="{FF2B5EF4-FFF2-40B4-BE49-F238E27FC236}">
                <a16:creationId xmlns:a16="http://schemas.microsoft.com/office/drawing/2014/main" id="{BF33C762-EE00-E624-4FD6-6C756A28432B}"/>
              </a:ext>
            </a:extLst>
          </p:cNvPr>
          <p:cNvSpPr>
            <a:spLocks noGrp="1"/>
          </p:cNvSpPr>
          <p:nvPr>
            <p:ph idx="1"/>
          </p:nvPr>
        </p:nvSpPr>
        <p:spPr>
          <a:xfrm>
            <a:off x="838200" y="1825625"/>
            <a:ext cx="10515600" cy="3351682"/>
          </a:xfrm>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Despite cutting-edge technology</a:t>
            </a:r>
          </a:p>
          <a:p>
            <a:pPr lvl="1"/>
            <a:r>
              <a:rPr lang="en-US" sz="2000" dirty="0">
                <a:latin typeface="Roboto" panose="02000000000000000000" pitchFamily="2" charset="0"/>
                <a:ea typeface="Roboto" panose="02000000000000000000" pitchFamily="2" charset="0"/>
                <a:cs typeface="Roboto" panose="02000000000000000000" pitchFamily="2" charset="0"/>
              </a:rPr>
              <a:t>Stronger encryption, sophisticated authentication methods, advanced security frameworks like Zero Trust, etc.</a:t>
            </a:r>
          </a:p>
          <a:p>
            <a:r>
              <a:rPr lang="en-US" sz="2400" dirty="0">
                <a:latin typeface="Roboto" panose="02000000000000000000" pitchFamily="2" charset="0"/>
                <a:ea typeface="Roboto" panose="02000000000000000000" pitchFamily="2" charset="0"/>
                <a:cs typeface="Roboto" panose="02000000000000000000" pitchFamily="2" charset="0"/>
              </a:rPr>
              <a:t>Cyberattacks continue to grow</a:t>
            </a:r>
          </a:p>
          <a:p>
            <a:r>
              <a:rPr lang="en-US" sz="2400" dirty="0">
                <a:latin typeface="Roboto" panose="02000000000000000000" pitchFamily="2" charset="0"/>
                <a:ea typeface="Roboto" panose="02000000000000000000" pitchFamily="2" charset="0"/>
                <a:cs typeface="Roboto" panose="02000000000000000000" pitchFamily="2" charset="0"/>
              </a:rPr>
              <a:t>Attackers exploit humans, not just systems [1]</a:t>
            </a:r>
          </a:p>
          <a:p>
            <a:pPr lvl="1"/>
            <a:r>
              <a:rPr lang="en-US" sz="2000" dirty="0">
                <a:latin typeface="Roboto" panose="02000000000000000000" pitchFamily="2" charset="0"/>
                <a:ea typeface="Roboto" panose="02000000000000000000" pitchFamily="2" charset="0"/>
                <a:cs typeface="Roboto" panose="02000000000000000000" pitchFamily="2" charset="0"/>
              </a:rPr>
              <a:t>Social engineering scams (phishing attacks, robocalls, fake websites, etc.) [2, 3]</a:t>
            </a:r>
          </a:p>
          <a:p>
            <a:pPr lvl="1"/>
            <a:r>
              <a:rPr lang="en-US" sz="2000" dirty="0">
                <a:latin typeface="Roboto" panose="02000000000000000000" pitchFamily="2" charset="0"/>
                <a:ea typeface="Roboto" panose="02000000000000000000" pitchFamily="2" charset="0"/>
                <a:cs typeface="Roboto" panose="02000000000000000000" pitchFamily="2" charset="0"/>
              </a:rPr>
              <a:t>Ransomware attacks [4]</a:t>
            </a:r>
          </a:p>
        </p:txBody>
      </p:sp>
      <p:sp>
        <p:nvSpPr>
          <p:cNvPr id="5" name="TextBox 4">
            <a:extLst>
              <a:ext uri="{FF2B5EF4-FFF2-40B4-BE49-F238E27FC236}">
                <a16:creationId xmlns:a16="http://schemas.microsoft.com/office/drawing/2014/main" id="{E5C26BDD-7412-E379-C472-57B4E2221DB0}"/>
              </a:ext>
            </a:extLst>
          </p:cNvPr>
          <p:cNvSpPr txBox="1"/>
          <p:nvPr/>
        </p:nvSpPr>
        <p:spPr>
          <a:xfrm>
            <a:off x="838200" y="5677138"/>
            <a:ext cx="10515600" cy="861774"/>
          </a:xfrm>
          <a:prstGeom prst="rect">
            <a:avLst/>
          </a:prstGeom>
          <a:noFill/>
        </p:spPr>
        <p:txBody>
          <a:bodyPr wrap="square" rtlCol="0">
            <a:spAutoFit/>
          </a:bodyPr>
          <a:lstStyle/>
          <a:p>
            <a:r>
              <a:rPr lang="en-US" sz="1000" dirty="0">
                <a:effectLst/>
                <a:latin typeface="Roboto" panose="02000000000000000000" pitchFamily="2" charset="0"/>
                <a:ea typeface="Roboto" panose="02000000000000000000" pitchFamily="2" charset="0"/>
                <a:cs typeface="Roboto" panose="02000000000000000000" pitchFamily="2" charset="0"/>
              </a:rPr>
              <a:t>[1] Kevin D Mitnick and William L Simon. The Art of Deception: Controlling the human element of security. John</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Wiley &amp; Sons, 2003.</a:t>
            </a:r>
          </a:p>
          <a:p>
            <a:r>
              <a:rPr lang="en-US" sz="1000" dirty="0">
                <a:latin typeface="Roboto" panose="02000000000000000000" pitchFamily="2" charset="0"/>
                <a:ea typeface="Roboto" panose="02000000000000000000" pitchFamily="2" charset="0"/>
                <a:cs typeface="Roboto" panose="02000000000000000000" pitchFamily="2" charset="0"/>
              </a:rPr>
              <a:t>[2] </a:t>
            </a:r>
            <a:r>
              <a:rPr lang="en-US" sz="1000" dirty="0">
                <a:effectLst/>
                <a:latin typeface="Roboto" panose="02000000000000000000" pitchFamily="2" charset="0"/>
                <a:ea typeface="Roboto" panose="02000000000000000000" pitchFamily="2" charset="0"/>
                <a:cs typeface="Roboto" panose="02000000000000000000" pitchFamily="2" charset="0"/>
              </a:rPr>
              <a:t>Rachna Dhamija, J Doug </a:t>
            </a:r>
            <a:r>
              <a:rPr lang="en-US" sz="1000" dirty="0" err="1">
                <a:effectLst/>
                <a:latin typeface="Roboto" panose="02000000000000000000" pitchFamily="2" charset="0"/>
                <a:ea typeface="Roboto" panose="02000000000000000000" pitchFamily="2" charset="0"/>
                <a:cs typeface="Roboto" panose="02000000000000000000" pitchFamily="2" charset="0"/>
              </a:rPr>
              <a:t>Tygar</a:t>
            </a:r>
            <a:r>
              <a:rPr lang="en-US" sz="1000" dirty="0">
                <a:effectLst/>
                <a:latin typeface="Roboto" panose="02000000000000000000" pitchFamily="2" charset="0"/>
                <a:ea typeface="Roboto" panose="02000000000000000000" pitchFamily="2" charset="0"/>
                <a:cs typeface="Roboto" panose="02000000000000000000" pitchFamily="2" charset="0"/>
              </a:rPr>
              <a:t>, and Marti Hearst. Why Phishing Works. In Proceedings of the SIGCHI Conference</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on Human Factors in Computing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ystems, 2006.</a:t>
            </a:r>
          </a:p>
          <a:p>
            <a:r>
              <a:rPr lang="en-US" sz="1000" dirty="0">
                <a:latin typeface="Roboto" panose="02000000000000000000" pitchFamily="2" charset="0"/>
                <a:ea typeface="Roboto" panose="02000000000000000000" pitchFamily="2" charset="0"/>
                <a:cs typeface="Roboto" panose="02000000000000000000" pitchFamily="2" charset="0"/>
              </a:rPr>
              <a:t>[3] </a:t>
            </a:r>
            <a:r>
              <a:rPr lang="en-US" sz="1000" dirty="0">
                <a:effectLst/>
                <a:latin typeface="Roboto" panose="02000000000000000000" pitchFamily="2" charset="0"/>
                <a:ea typeface="Roboto" panose="02000000000000000000" pitchFamily="2" charset="0"/>
                <a:cs typeface="Roboto" panose="02000000000000000000" pitchFamily="2" charset="0"/>
              </a:rPr>
              <a:t>Katharina </a:t>
            </a:r>
            <a:r>
              <a:rPr lang="en-US" sz="1000" dirty="0" err="1">
                <a:effectLst/>
                <a:latin typeface="Roboto" panose="02000000000000000000" pitchFamily="2" charset="0"/>
                <a:ea typeface="Roboto" panose="02000000000000000000" pitchFamily="2" charset="0"/>
                <a:cs typeface="Roboto" panose="02000000000000000000" pitchFamily="2" charset="0"/>
              </a:rPr>
              <a:t>Krombholz</a:t>
            </a:r>
            <a:r>
              <a:rPr lang="en-US" sz="1000" dirty="0">
                <a:effectLst/>
                <a:latin typeface="Roboto" panose="02000000000000000000" pitchFamily="2" charset="0"/>
                <a:ea typeface="Roboto" panose="02000000000000000000" pitchFamily="2" charset="0"/>
                <a:cs typeface="Roboto" panose="02000000000000000000" pitchFamily="2" charset="0"/>
              </a:rPr>
              <a:t>, </a:t>
            </a:r>
            <a:r>
              <a:rPr lang="en-US" sz="1000" dirty="0" err="1">
                <a:effectLst/>
                <a:latin typeface="Roboto" panose="02000000000000000000" pitchFamily="2" charset="0"/>
                <a:ea typeface="Roboto" panose="02000000000000000000" pitchFamily="2" charset="0"/>
                <a:cs typeface="Roboto" panose="02000000000000000000" pitchFamily="2" charset="0"/>
              </a:rPr>
              <a:t>Heidelinde</a:t>
            </a:r>
            <a:r>
              <a:rPr lang="en-US" sz="1000" dirty="0">
                <a:effectLst/>
                <a:latin typeface="Roboto" panose="02000000000000000000" pitchFamily="2" charset="0"/>
                <a:ea typeface="Roboto" panose="02000000000000000000" pitchFamily="2" charset="0"/>
                <a:cs typeface="Roboto" panose="02000000000000000000" pitchFamily="2" charset="0"/>
              </a:rPr>
              <a:t> </a:t>
            </a:r>
            <a:r>
              <a:rPr lang="en-US" sz="1000" dirty="0" err="1">
                <a:effectLst/>
                <a:latin typeface="Roboto" panose="02000000000000000000" pitchFamily="2" charset="0"/>
                <a:ea typeface="Roboto" panose="02000000000000000000" pitchFamily="2" charset="0"/>
                <a:cs typeface="Roboto" panose="02000000000000000000" pitchFamily="2" charset="0"/>
              </a:rPr>
              <a:t>Hobel</a:t>
            </a:r>
            <a:r>
              <a:rPr lang="en-US" sz="1000" dirty="0">
                <a:effectLst/>
                <a:latin typeface="Roboto" panose="02000000000000000000" pitchFamily="2" charset="0"/>
                <a:ea typeface="Roboto" panose="02000000000000000000" pitchFamily="2" charset="0"/>
                <a:cs typeface="Roboto" panose="02000000000000000000" pitchFamily="2" charset="0"/>
              </a:rPr>
              <a:t>, Markus Huber, and Edgar </a:t>
            </a:r>
            <a:r>
              <a:rPr lang="en-US" sz="1000" dirty="0" err="1">
                <a:effectLst/>
                <a:latin typeface="Roboto" panose="02000000000000000000" pitchFamily="2" charset="0"/>
                <a:ea typeface="Roboto" panose="02000000000000000000" pitchFamily="2" charset="0"/>
                <a:cs typeface="Roboto" panose="02000000000000000000" pitchFamily="2" charset="0"/>
              </a:rPr>
              <a:t>Weippl</a:t>
            </a:r>
            <a:r>
              <a:rPr lang="en-US" sz="1000" dirty="0">
                <a:effectLst/>
                <a:latin typeface="Roboto" panose="02000000000000000000" pitchFamily="2" charset="0"/>
                <a:ea typeface="Roboto" panose="02000000000000000000" pitchFamily="2" charset="0"/>
                <a:cs typeface="Roboto" panose="02000000000000000000" pitchFamily="2" charset="0"/>
              </a:rPr>
              <a:t>. Advanced Social </a:t>
            </a:r>
            <a:r>
              <a:rPr lang="en-US" sz="1000" dirty="0">
                <a:latin typeface="Roboto" panose="02000000000000000000" pitchFamily="2" charset="0"/>
                <a:ea typeface="Roboto" panose="02000000000000000000" pitchFamily="2" charset="0"/>
                <a:cs typeface="Roboto" panose="02000000000000000000" pitchFamily="2" charset="0"/>
              </a:rPr>
              <a:t>E</a:t>
            </a:r>
            <a:r>
              <a:rPr lang="en-US" sz="1000" dirty="0">
                <a:effectLst/>
                <a:latin typeface="Roboto" panose="02000000000000000000" pitchFamily="2" charset="0"/>
                <a:ea typeface="Roboto" panose="02000000000000000000" pitchFamily="2" charset="0"/>
                <a:cs typeface="Roboto" panose="02000000000000000000" pitchFamily="2" charset="0"/>
              </a:rPr>
              <a:t>ngineering </a:t>
            </a:r>
            <a:r>
              <a:rPr lang="en-US" sz="1000" dirty="0">
                <a:latin typeface="Roboto" panose="02000000000000000000" pitchFamily="2" charset="0"/>
                <a:ea typeface="Roboto" panose="02000000000000000000" pitchFamily="2" charset="0"/>
                <a:cs typeface="Roboto" panose="02000000000000000000" pitchFamily="2" charset="0"/>
              </a:rPr>
              <a:t>A</a:t>
            </a:r>
            <a:r>
              <a:rPr lang="en-US" sz="1000" dirty="0">
                <a:effectLst/>
                <a:latin typeface="Roboto" panose="02000000000000000000" pitchFamily="2" charset="0"/>
                <a:ea typeface="Roboto" panose="02000000000000000000" pitchFamily="2" charset="0"/>
                <a:cs typeface="Roboto" panose="02000000000000000000" pitchFamily="2" charset="0"/>
              </a:rPr>
              <a:t>ttacks.</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Journal of Information Security and Applications, 2015.</a:t>
            </a:r>
          </a:p>
          <a:p>
            <a:r>
              <a:rPr lang="en-US" sz="1000" dirty="0">
                <a:effectLst/>
                <a:latin typeface="Roboto" panose="02000000000000000000" pitchFamily="2" charset="0"/>
                <a:ea typeface="Roboto" panose="02000000000000000000" pitchFamily="2" charset="0"/>
                <a:cs typeface="Roboto" panose="02000000000000000000" pitchFamily="2" charset="0"/>
              </a:rPr>
              <a:t>[4] Nolen Scaife, Henry Carter, Patrick Traynor, and Kevin RB Butler. </a:t>
            </a:r>
            <a:r>
              <a:rPr lang="en-US" sz="1000" dirty="0" err="1">
                <a:effectLst/>
                <a:latin typeface="Roboto" panose="02000000000000000000" pitchFamily="2" charset="0"/>
                <a:ea typeface="Roboto" panose="02000000000000000000" pitchFamily="2" charset="0"/>
                <a:cs typeface="Roboto" panose="02000000000000000000" pitchFamily="2" charset="0"/>
              </a:rPr>
              <a:t>Cryptolock</a:t>
            </a:r>
            <a:r>
              <a:rPr lang="en-US" sz="1000" dirty="0">
                <a:effectLst/>
                <a:latin typeface="Roboto" panose="02000000000000000000" pitchFamily="2" charset="0"/>
                <a:ea typeface="Roboto" panose="02000000000000000000" pitchFamily="2" charset="0"/>
                <a:cs typeface="Roboto" panose="02000000000000000000" pitchFamily="2" charset="0"/>
              </a:rPr>
              <a:t> (and drop it): Stopping </a:t>
            </a:r>
            <a:r>
              <a:rPr lang="en-US" sz="1000" dirty="0">
                <a:latin typeface="Roboto" panose="02000000000000000000" pitchFamily="2" charset="0"/>
                <a:ea typeface="Roboto" panose="02000000000000000000" pitchFamily="2" charset="0"/>
                <a:cs typeface="Roboto" panose="02000000000000000000" pitchFamily="2" charset="0"/>
              </a:rPr>
              <a:t>R</a:t>
            </a:r>
            <a:r>
              <a:rPr lang="en-US" sz="1000" dirty="0">
                <a:effectLst/>
                <a:latin typeface="Roboto" panose="02000000000000000000" pitchFamily="2" charset="0"/>
                <a:ea typeface="Roboto" panose="02000000000000000000" pitchFamily="2" charset="0"/>
                <a:cs typeface="Roboto" panose="02000000000000000000" pitchFamily="2" charset="0"/>
              </a:rPr>
              <a:t>ansomware</a:t>
            </a:r>
            <a:r>
              <a:rPr lang="en-US" sz="1000" dirty="0">
                <a:latin typeface="Roboto" panose="02000000000000000000" pitchFamily="2" charset="0"/>
                <a:ea typeface="Roboto" panose="02000000000000000000" pitchFamily="2" charset="0"/>
                <a:cs typeface="Roboto" panose="02000000000000000000" pitchFamily="2" charset="0"/>
              </a:rPr>
              <a:t> A</a:t>
            </a:r>
            <a:r>
              <a:rPr lang="en-US" sz="1000" dirty="0">
                <a:effectLst/>
                <a:latin typeface="Roboto" panose="02000000000000000000" pitchFamily="2" charset="0"/>
                <a:ea typeface="Roboto" panose="02000000000000000000" pitchFamily="2" charset="0"/>
                <a:cs typeface="Roboto" panose="02000000000000000000" pitchFamily="2" charset="0"/>
              </a:rPr>
              <a:t>ttacks on User </a:t>
            </a:r>
            <a:r>
              <a:rPr lang="en-US" sz="1000" dirty="0">
                <a:latin typeface="Roboto" panose="02000000000000000000" pitchFamily="2" charset="0"/>
                <a:ea typeface="Roboto" panose="02000000000000000000" pitchFamily="2" charset="0"/>
                <a:cs typeface="Roboto" panose="02000000000000000000" pitchFamily="2" charset="0"/>
              </a:rPr>
              <a:t>D</a:t>
            </a:r>
            <a:r>
              <a:rPr lang="en-US" sz="1000" dirty="0">
                <a:effectLst/>
                <a:latin typeface="Roboto" panose="02000000000000000000" pitchFamily="2" charset="0"/>
                <a:ea typeface="Roboto" panose="02000000000000000000" pitchFamily="2" charset="0"/>
                <a:cs typeface="Roboto" panose="02000000000000000000" pitchFamily="2" charset="0"/>
              </a:rPr>
              <a:t>ata. In IEEE 36th international conference on Distributed </a:t>
            </a:r>
            <a:r>
              <a:rPr lang="en-US" sz="1000" dirty="0">
                <a:latin typeface="Roboto" panose="02000000000000000000" pitchFamily="2" charset="0"/>
                <a:ea typeface="Roboto" panose="02000000000000000000" pitchFamily="2" charset="0"/>
                <a:cs typeface="Roboto" panose="02000000000000000000" pitchFamily="2" charset="0"/>
              </a:rPr>
              <a:t>C</a:t>
            </a:r>
            <a:r>
              <a:rPr lang="en-US" sz="1000" dirty="0">
                <a:effectLst/>
                <a:latin typeface="Roboto" panose="02000000000000000000" pitchFamily="2" charset="0"/>
                <a:ea typeface="Roboto" panose="02000000000000000000" pitchFamily="2" charset="0"/>
                <a:cs typeface="Roboto" panose="02000000000000000000" pitchFamily="2" charset="0"/>
              </a:rPr>
              <a:t>omputing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ystems (ICDCS), 2016.</a:t>
            </a:r>
          </a:p>
        </p:txBody>
      </p:sp>
      <p:sp>
        <p:nvSpPr>
          <p:cNvPr id="8" name="Slide Number Placeholder 7">
            <a:extLst>
              <a:ext uri="{FF2B5EF4-FFF2-40B4-BE49-F238E27FC236}">
                <a16:creationId xmlns:a16="http://schemas.microsoft.com/office/drawing/2014/main" id="{23527569-F091-6966-3BB4-F38250572B74}"/>
              </a:ext>
            </a:extLst>
          </p:cNvPr>
          <p:cNvSpPr>
            <a:spLocks noGrp="1"/>
          </p:cNvSpPr>
          <p:nvPr>
            <p:ph type="sldNum" sz="quarter" idx="12"/>
          </p:nvPr>
        </p:nvSpPr>
        <p:spPr/>
        <p:txBody>
          <a:bodyPr/>
          <a:lstStyle/>
          <a:p>
            <a:fld id="{835FE90F-C88A-C24D-9FD5-52F0990CFAC0}" type="slidenum">
              <a:rPr lang="en-US" smtClean="0"/>
              <a:t>5</a:t>
            </a:fld>
            <a:endParaRPr lang="en-US"/>
          </a:p>
        </p:txBody>
      </p:sp>
    </p:spTree>
    <p:extLst>
      <p:ext uri="{BB962C8B-B14F-4D97-AF65-F5344CB8AC3E}">
        <p14:creationId xmlns:p14="http://schemas.microsoft.com/office/powerpoint/2010/main" val="2686189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F2251-1EEF-889F-0664-9EF55AB5BF81}"/>
              </a:ext>
            </a:extLst>
          </p:cNvPr>
          <p:cNvSpPr>
            <a:spLocks noGrp="1"/>
          </p:cNvSpPr>
          <p:nvPr>
            <p:ph type="title"/>
          </p:nvPr>
        </p:nvSpPr>
        <p:spPr/>
        <p:txBody>
          <a:bodyPr/>
          <a:lstStyle/>
          <a:p>
            <a:r>
              <a:rPr lang="en-US" dirty="0">
                <a:solidFill>
                  <a:srgbClr val="9A0031"/>
                </a:solidFill>
                <a:latin typeface="Fjalla One" panose="02000506040000020004" pitchFamily="2" charset="0"/>
              </a:rPr>
              <a:t>Paradox: Advice vs Practice</a:t>
            </a:r>
          </a:p>
        </p:txBody>
      </p:sp>
      <p:sp>
        <p:nvSpPr>
          <p:cNvPr id="3" name="Content Placeholder 2">
            <a:extLst>
              <a:ext uri="{FF2B5EF4-FFF2-40B4-BE49-F238E27FC236}">
                <a16:creationId xmlns:a16="http://schemas.microsoft.com/office/drawing/2014/main" id="{E3EB0322-C576-858F-535E-F258485343DC}"/>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In reality [5, 6]:</a:t>
            </a:r>
          </a:p>
          <a:p>
            <a:pPr lvl="1"/>
            <a:r>
              <a:rPr lang="en-US" sz="2000" dirty="0">
                <a:latin typeface="Roboto" panose="02000000000000000000" pitchFamily="2" charset="0"/>
                <a:ea typeface="Roboto" panose="02000000000000000000" pitchFamily="2" charset="0"/>
                <a:cs typeface="Roboto" panose="02000000000000000000" pitchFamily="2" charset="0"/>
              </a:rPr>
              <a:t>Cognitive burden</a:t>
            </a:r>
          </a:p>
          <a:p>
            <a:pPr lvl="2"/>
            <a:r>
              <a:rPr lang="en-US" sz="1600" dirty="0">
                <a:latin typeface="Roboto" panose="02000000000000000000" pitchFamily="2" charset="0"/>
                <a:ea typeface="Roboto" panose="02000000000000000000" pitchFamily="2" charset="0"/>
                <a:cs typeface="Roboto" panose="02000000000000000000" pitchFamily="2" charset="0"/>
              </a:rPr>
              <a:t>People find security advice complex, overwhelming, without clear prioritization</a:t>
            </a:r>
          </a:p>
          <a:p>
            <a:pPr lvl="1"/>
            <a:r>
              <a:rPr lang="en-US" sz="2000" dirty="0">
                <a:latin typeface="Roboto" panose="02000000000000000000" pitchFamily="2" charset="0"/>
                <a:ea typeface="Roboto" panose="02000000000000000000" pitchFamily="2" charset="0"/>
                <a:cs typeface="Roboto" panose="02000000000000000000" pitchFamily="2" charset="0"/>
              </a:rPr>
              <a:t>Convenience vs. security trade-off</a:t>
            </a:r>
          </a:p>
          <a:p>
            <a:pPr lvl="2"/>
            <a:r>
              <a:rPr lang="en-US" sz="1600" dirty="0">
                <a:latin typeface="Roboto" panose="02000000000000000000" pitchFamily="2" charset="0"/>
                <a:ea typeface="Roboto" panose="02000000000000000000" pitchFamily="2" charset="0"/>
                <a:cs typeface="Roboto" panose="02000000000000000000" pitchFamily="2" charset="0"/>
              </a:rPr>
              <a:t>People prioritize ease of use</a:t>
            </a:r>
          </a:p>
          <a:p>
            <a:pPr lvl="1"/>
            <a:r>
              <a:rPr lang="en-US" sz="2000" dirty="0">
                <a:latin typeface="Roboto" panose="02000000000000000000" pitchFamily="2" charset="0"/>
                <a:ea typeface="Roboto" panose="02000000000000000000" pitchFamily="2" charset="0"/>
                <a:cs typeface="Roboto" panose="02000000000000000000" pitchFamily="2" charset="0"/>
              </a:rPr>
              <a:t>Trust and motivation</a:t>
            </a:r>
          </a:p>
          <a:p>
            <a:pPr lvl="2"/>
            <a:r>
              <a:rPr lang="en-US" sz="1600" dirty="0">
                <a:latin typeface="Roboto" panose="02000000000000000000" pitchFamily="2" charset="0"/>
                <a:ea typeface="Roboto" panose="02000000000000000000" pitchFamily="2" charset="0"/>
                <a:cs typeface="Roboto" panose="02000000000000000000" pitchFamily="2" charset="0"/>
              </a:rPr>
              <a:t>People don’t see the immediate impact of security requirements</a:t>
            </a:r>
            <a:endParaRPr lang="en-US" sz="2000" dirty="0">
              <a:latin typeface="Roboto" panose="02000000000000000000" pitchFamily="2" charset="0"/>
              <a:ea typeface="Roboto" panose="02000000000000000000" pitchFamily="2" charset="0"/>
              <a:cs typeface="Roboto" panose="02000000000000000000" pitchFamily="2" charset="0"/>
            </a:endParaRPr>
          </a:p>
          <a:p>
            <a:pPr lvl="1"/>
            <a:endParaRPr lang="en-US" sz="2000" dirty="0">
              <a:latin typeface="Roboto" panose="02000000000000000000" pitchFamily="2" charset="0"/>
              <a:ea typeface="Roboto" panose="02000000000000000000" pitchFamily="2" charset="0"/>
              <a:cs typeface="Roboto" panose="02000000000000000000" pitchFamily="2" charset="0"/>
            </a:endParaRPr>
          </a:p>
          <a:p>
            <a:pPr marL="0" indent="0">
              <a:buNone/>
            </a:pP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4" name="TextBox 3">
            <a:extLst>
              <a:ext uri="{FF2B5EF4-FFF2-40B4-BE49-F238E27FC236}">
                <a16:creationId xmlns:a16="http://schemas.microsoft.com/office/drawing/2014/main" id="{28C77434-B5AC-D8AE-B524-BC68A52726CC}"/>
              </a:ext>
            </a:extLst>
          </p:cNvPr>
          <p:cNvSpPr txBox="1"/>
          <p:nvPr/>
        </p:nvSpPr>
        <p:spPr>
          <a:xfrm>
            <a:off x="838200" y="5989658"/>
            <a:ext cx="10623997" cy="553998"/>
          </a:xfrm>
          <a:prstGeom prst="rect">
            <a:avLst/>
          </a:prstGeom>
          <a:noFill/>
        </p:spPr>
        <p:txBody>
          <a:bodyPr wrap="square" rtlCol="0">
            <a:spAutoFit/>
          </a:bodyPr>
          <a:lstStyle/>
          <a:p>
            <a:r>
              <a:rPr lang="en-US" sz="1000" dirty="0">
                <a:effectLst/>
                <a:latin typeface="Roboto" panose="02000000000000000000" pitchFamily="2" charset="0"/>
                <a:ea typeface="Roboto" panose="02000000000000000000" pitchFamily="2" charset="0"/>
                <a:cs typeface="Roboto" panose="02000000000000000000" pitchFamily="2" charset="0"/>
              </a:rPr>
              <a:t>[5] Elissa M Redmiles, Noel Warford, Amritha Jayanti, Aravind </a:t>
            </a:r>
            <a:r>
              <a:rPr lang="en-US" sz="1000" dirty="0" err="1">
                <a:effectLst/>
                <a:latin typeface="Roboto" panose="02000000000000000000" pitchFamily="2" charset="0"/>
                <a:ea typeface="Roboto" panose="02000000000000000000" pitchFamily="2" charset="0"/>
                <a:cs typeface="Roboto" panose="02000000000000000000" pitchFamily="2" charset="0"/>
              </a:rPr>
              <a:t>Koneru</a:t>
            </a:r>
            <a:r>
              <a:rPr lang="en-US" sz="1000" dirty="0">
                <a:effectLst/>
                <a:latin typeface="Roboto" panose="02000000000000000000" pitchFamily="2" charset="0"/>
                <a:ea typeface="Roboto" panose="02000000000000000000" pitchFamily="2" charset="0"/>
                <a:cs typeface="Roboto" panose="02000000000000000000" pitchFamily="2" charset="0"/>
              </a:rPr>
              <a:t>, Sean Kross, </a:t>
            </a:r>
            <a:r>
              <a:rPr lang="en-US" sz="1000" dirty="0" err="1">
                <a:effectLst/>
                <a:latin typeface="Roboto" panose="02000000000000000000" pitchFamily="2" charset="0"/>
                <a:ea typeface="Roboto" panose="02000000000000000000" pitchFamily="2" charset="0"/>
                <a:cs typeface="Roboto" panose="02000000000000000000" pitchFamily="2" charset="0"/>
              </a:rPr>
              <a:t>Miraida</a:t>
            </a:r>
            <a:r>
              <a:rPr lang="en-US" sz="1000" dirty="0">
                <a:effectLst/>
                <a:latin typeface="Roboto" panose="02000000000000000000" pitchFamily="2" charset="0"/>
                <a:ea typeface="Roboto" panose="02000000000000000000" pitchFamily="2" charset="0"/>
                <a:cs typeface="Roboto" panose="02000000000000000000" pitchFamily="2" charset="0"/>
              </a:rPr>
              <a:t> Morales, Rock Stevens,</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and Michelle L Mazurek. A Comprehensive </a:t>
            </a:r>
            <a:r>
              <a:rPr lang="en-US" sz="1000" dirty="0">
                <a:latin typeface="Roboto" panose="02000000000000000000" pitchFamily="2" charset="0"/>
                <a:ea typeface="Roboto" panose="02000000000000000000" pitchFamily="2" charset="0"/>
                <a:cs typeface="Roboto" panose="02000000000000000000" pitchFamily="2" charset="0"/>
              </a:rPr>
              <a:t>Q</a:t>
            </a:r>
            <a:r>
              <a:rPr lang="en-US" sz="1000" dirty="0">
                <a:effectLst/>
                <a:latin typeface="Roboto" panose="02000000000000000000" pitchFamily="2" charset="0"/>
                <a:ea typeface="Roboto" panose="02000000000000000000" pitchFamily="2" charset="0"/>
                <a:cs typeface="Roboto" panose="02000000000000000000" pitchFamily="2" charset="0"/>
              </a:rPr>
              <a:t>uality </a:t>
            </a:r>
            <a:r>
              <a:rPr lang="en-US" sz="1000" dirty="0">
                <a:latin typeface="Roboto" panose="02000000000000000000" pitchFamily="2" charset="0"/>
                <a:ea typeface="Roboto" panose="02000000000000000000" pitchFamily="2" charset="0"/>
                <a:cs typeface="Roboto" panose="02000000000000000000" pitchFamily="2" charset="0"/>
              </a:rPr>
              <a:t>E</a:t>
            </a:r>
            <a:r>
              <a:rPr lang="en-US" sz="1000" dirty="0">
                <a:effectLst/>
                <a:latin typeface="Roboto" panose="02000000000000000000" pitchFamily="2" charset="0"/>
                <a:ea typeface="Roboto" panose="02000000000000000000" pitchFamily="2" charset="0"/>
                <a:cs typeface="Roboto" panose="02000000000000000000" pitchFamily="2" charset="0"/>
              </a:rPr>
              <a:t>valuation of Security and Privacy </a:t>
            </a:r>
            <a:r>
              <a:rPr lang="en-US" sz="1000" dirty="0">
                <a:latin typeface="Roboto" panose="02000000000000000000" pitchFamily="2" charset="0"/>
                <a:ea typeface="Roboto" panose="02000000000000000000" pitchFamily="2" charset="0"/>
                <a:cs typeface="Roboto" panose="02000000000000000000" pitchFamily="2" charset="0"/>
              </a:rPr>
              <a:t>A</a:t>
            </a:r>
            <a:r>
              <a:rPr lang="en-US" sz="1000" dirty="0">
                <a:effectLst/>
                <a:latin typeface="Roboto" panose="02000000000000000000" pitchFamily="2" charset="0"/>
                <a:ea typeface="Roboto" panose="02000000000000000000" pitchFamily="2" charset="0"/>
                <a:cs typeface="Roboto" panose="02000000000000000000" pitchFamily="2" charset="0"/>
              </a:rPr>
              <a:t>dvice on the Web. In 29</a:t>
            </a:r>
            <a:r>
              <a:rPr lang="en-US" sz="1000" baseline="30000" dirty="0">
                <a:effectLst/>
                <a:latin typeface="Roboto" panose="02000000000000000000" pitchFamily="2" charset="0"/>
                <a:ea typeface="Roboto" panose="02000000000000000000" pitchFamily="2" charset="0"/>
                <a:cs typeface="Roboto" panose="02000000000000000000" pitchFamily="2" charset="0"/>
              </a:rPr>
              <a:t>th</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USENIX Security Symposium, 2020.</a:t>
            </a:r>
            <a:br>
              <a:rPr lang="en-US" sz="1000" dirty="0">
                <a:effectLst/>
                <a:latin typeface="Roboto" panose="02000000000000000000" pitchFamily="2" charset="0"/>
                <a:ea typeface="Roboto" panose="02000000000000000000" pitchFamily="2" charset="0"/>
                <a:cs typeface="Roboto" panose="02000000000000000000" pitchFamily="2" charset="0"/>
              </a:rPr>
            </a:br>
            <a:r>
              <a:rPr lang="en-US" sz="1000" dirty="0">
                <a:effectLst/>
                <a:latin typeface="Roboto" panose="02000000000000000000" pitchFamily="2" charset="0"/>
                <a:ea typeface="Roboto" panose="02000000000000000000" pitchFamily="2" charset="0"/>
                <a:cs typeface="Roboto" panose="02000000000000000000" pitchFamily="2" charset="0"/>
              </a:rPr>
              <a:t>[6] Robert W Reeder, Iulia Ion, and Sunny </a:t>
            </a:r>
            <a:r>
              <a:rPr lang="en-US" sz="1000" dirty="0" err="1">
                <a:effectLst/>
                <a:latin typeface="Roboto" panose="02000000000000000000" pitchFamily="2" charset="0"/>
                <a:ea typeface="Roboto" panose="02000000000000000000" pitchFamily="2" charset="0"/>
                <a:cs typeface="Roboto" panose="02000000000000000000" pitchFamily="2" charset="0"/>
              </a:rPr>
              <a:t>Consolvo</a:t>
            </a:r>
            <a:r>
              <a:rPr lang="en-US" sz="1000" dirty="0">
                <a:effectLst/>
                <a:latin typeface="Roboto" panose="02000000000000000000" pitchFamily="2" charset="0"/>
                <a:ea typeface="Roboto" panose="02000000000000000000" pitchFamily="2" charset="0"/>
                <a:cs typeface="Roboto" panose="02000000000000000000" pitchFamily="2" charset="0"/>
              </a:rPr>
              <a:t>. 152 Simple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teps to Stay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afe </a:t>
            </a:r>
            <a:r>
              <a:rPr lang="en-US" sz="1000" dirty="0">
                <a:latin typeface="Roboto" panose="02000000000000000000" pitchFamily="2" charset="0"/>
                <a:ea typeface="Roboto" panose="02000000000000000000" pitchFamily="2" charset="0"/>
                <a:cs typeface="Roboto" panose="02000000000000000000" pitchFamily="2" charset="0"/>
              </a:rPr>
              <a:t>O</a:t>
            </a:r>
            <a:r>
              <a:rPr lang="en-US" sz="1000" dirty="0">
                <a:effectLst/>
                <a:latin typeface="Roboto" panose="02000000000000000000" pitchFamily="2" charset="0"/>
                <a:ea typeface="Roboto" panose="02000000000000000000" pitchFamily="2" charset="0"/>
                <a:cs typeface="Roboto" panose="02000000000000000000" pitchFamily="2" charset="0"/>
              </a:rPr>
              <a:t>nline: Security Advice for Non-tech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avvy</a:t>
            </a:r>
            <a:r>
              <a:rPr lang="en-US" sz="1000" dirty="0">
                <a:latin typeface="Roboto" panose="02000000000000000000" pitchFamily="2" charset="0"/>
                <a:ea typeface="Roboto" panose="02000000000000000000" pitchFamily="2" charset="0"/>
                <a:cs typeface="Roboto" panose="02000000000000000000" pitchFamily="2" charset="0"/>
              </a:rPr>
              <a:t> U</a:t>
            </a:r>
            <a:r>
              <a:rPr lang="en-US" sz="1000" dirty="0">
                <a:effectLst/>
                <a:latin typeface="Roboto" panose="02000000000000000000" pitchFamily="2" charset="0"/>
                <a:ea typeface="Roboto" panose="02000000000000000000" pitchFamily="2" charset="0"/>
                <a:cs typeface="Roboto" panose="02000000000000000000" pitchFamily="2" charset="0"/>
              </a:rPr>
              <a:t>sers. IEEE Security &amp; Privacy, 2017</a:t>
            </a:r>
          </a:p>
        </p:txBody>
      </p:sp>
      <p:sp>
        <p:nvSpPr>
          <p:cNvPr id="8" name="Slide Number Placeholder 7">
            <a:extLst>
              <a:ext uri="{FF2B5EF4-FFF2-40B4-BE49-F238E27FC236}">
                <a16:creationId xmlns:a16="http://schemas.microsoft.com/office/drawing/2014/main" id="{5E0F4D75-9AEC-D80C-C3BB-D48418CE1CA2}"/>
              </a:ext>
            </a:extLst>
          </p:cNvPr>
          <p:cNvSpPr>
            <a:spLocks noGrp="1"/>
          </p:cNvSpPr>
          <p:nvPr>
            <p:ph type="sldNum" sz="quarter" idx="12"/>
          </p:nvPr>
        </p:nvSpPr>
        <p:spPr/>
        <p:txBody>
          <a:bodyPr/>
          <a:lstStyle/>
          <a:p>
            <a:fld id="{835FE90F-C88A-C24D-9FD5-52F0990CFAC0}" type="slidenum">
              <a:rPr lang="en-US" smtClean="0"/>
              <a:t>6</a:t>
            </a:fld>
            <a:endParaRPr lang="en-US"/>
          </a:p>
        </p:txBody>
      </p:sp>
    </p:spTree>
    <p:extLst>
      <p:ext uri="{BB962C8B-B14F-4D97-AF65-F5344CB8AC3E}">
        <p14:creationId xmlns:p14="http://schemas.microsoft.com/office/powerpoint/2010/main" val="103820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F323-4F8F-832F-FACB-0B2CA6972D1E}"/>
              </a:ext>
            </a:extLst>
          </p:cNvPr>
          <p:cNvSpPr>
            <a:spLocks noGrp="1"/>
          </p:cNvSpPr>
          <p:nvPr>
            <p:ph type="title"/>
          </p:nvPr>
        </p:nvSpPr>
        <p:spPr/>
        <p:txBody>
          <a:bodyPr/>
          <a:lstStyle/>
          <a:p>
            <a:r>
              <a:rPr lang="en-US" dirty="0">
                <a:solidFill>
                  <a:srgbClr val="9A0031"/>
                </a:solidFill>
                <a:latin typeface="Fjalla One" panose="02000506040000020004" pitchFamily="2" charset="0"/>
              </a:rPr>
              <a:t>Example 1: Password Security Dilemma</a:t>
            </a:r>
          </a:p>
        </p:txBody>
      </p:sp>
      <p:sp>
        <p:nvSpPr>
          <p:cNvPr id="3" name="Content Placeholder 2">
            <a:extLst>
              <a:ext uri="{FF2B5EF4-FFF2-40B4-BE49-F238E27FC236}">
                <a16:creationId xmlns:a16="http://schemas.microsoft.com/office/drawing/2014/main" id="{046F9BD4-FF24-9503-1E12-F5DDA38C96E0}"/>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Advice: Use strong, unique passwords for every account</a:t>
            </a:r>
          </a:p>
          <a:p>
            <a:r>
              <a:rPr lang="en-US" sz="2400" dirty="0">
                <a:latin typeface="Roboto" panose="02000000000000000000" pitchFamily="2" charset="0"/>
                <a:ea typeface="Roboto" panose="02000000000000000000" pitchFamily="2" charset="0"/>
                <a:cs typeface="Roboto" panose="02000000000000000000" pitchFamily="2" charset="0"/>
              </a:rPr>
              <a:t>Reality: Users reuse passwords, write passwords down, don’t change them [7]</a:t>
            </a:r>
          </a:p>
          <a:p>
            <a:r>
              <a:rPr lang="en-US" sz="2400" dirty="0">
                <a:latin typeface="Roboto" panose="02000000000000000000" pitchFamily="2" charset="0"/>
                <a:ea typeface="Roboto" panose="02000000000000000000" pitchFamily="2" charset="0"/>
                <a:cs typeface="Roboto" panose="02000000000000000000" pitchFamily="2" charset="0"/>
              </a:rPr>
              <a:t>Why? Cognitive overload — too many passwords to remember [8]</a:t>
            </a:r>
          </a:p>
          <a:p>
            <a:r>
              <a:rPr lang="en-US" sz="2400" dirty="0">
                <a:latin typeface="Roboto" panose="02000000000000000000" pitchFamily="2" charset="0"/>
                <a:ea typeface="Roboto" panose="02000000000000000000" pitchFamily="2" charset="0"/>
                <a:cs typeface="Roboto" panose="02000000000000000000" pitchFamily="2" charset="0"/>
              </a:rPr>
              <a:t>Attempts to fix it: MFA, Password managers — adoption is questionable [9]</a:t>
            </a:r>
          </a:p>
          <a:p>
            <a:pPr marL="457200" lvl="1" indent="0">
              <a:buNone/>
            </a:pPr>
            <a:endParaRPr lang="en-US" sz="2000" dirty="0">
              <a:latin typeface="Roboto" panose="02000000000000000000" pitchFamily="2" charset="0"/>
              <a:ea typeface="Roboto" panose="02000000000000000000" pitchFamily="2" charset="0"/>
              <a:cs typeface="Roboto" panose="02000000000000000000" pitchFamily="2" charset="0"/>
            </a:endParaRPr>
          </a:p>
          <a:p>
            <a:pPr lvl="1"/>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2E2478DF-7496-5B1D-131D-5A860AF0C9FF}"/>
              </a:ext>
            </a:extLst>
          </p:cNvPr>
          <p:cNvSpPr txBox="1"/>
          <p:nvPr/>
        </p:nvSpPr>
        <p:spPr>
          <a:xfrm>
            <a:off x="838200" y="5746076"/>
            <a:ext cx="10515600" cy="861774"/>
          </a:xfrm>
          <a:prstGeom prst="rect">
            <a:avLst/>
          </a:prstGeom>
          <a:noFill/>
        </p:spPr>
        <p:txBody>
          <a:bodyPr wrap="square" rtlCol="0">
            <a:spAutoFit/>
          </a:bodyPr>
          <a:lstStyle/>
          <a:p>
            <a:r>
              <a:rPr lang="en-US" sz="1000" dirty="0">
                <a:latin typeface="Roboto" panose="02000000000000000000" pitchFamily="2" charset="0"/>
                <a:ea typeface="Roboto" panose="02000000000000000000" pitchFamily="2" charset="0"/>
                <a:cs typeface="Roboto" panose="02000000000000000000" pitchFamily="2" charset="0"/>
              </a:rPr>
              <a:t>[7] </a:t>
            </a:r>
            <a:r>
              <a:rPr lang="en-US" sz="1000" dirty="0">
                <a:effectLst/>
                <a:latin typeface="Roboto" panose="02000000000000000000" pitchFamily="2" charset="0"/>
                <a:ea typeface="Roboto" panose="02000000000000000000" pitchFamily="2" charset="0"/>
                <a:cs typeface="Roboto" panose="02000000000000000000" pitchFamily="2" charset="0"/>
              </a:rPr>
              <a:t>Blase Ur, Fumiko Noma, Jonathan Bees, Sean M </a:t>
            </a:r>
            <a:r>
              <a:rPr lang="en-US" sz="1000" dirty="0" err="1">
                <a:effectLst/>
                <a:latin typeface="Roboto" panose="02000000000000000000" pitchFamily="2" charset="0"/>
                <a:ea typeface="Roboto" panose="02000000000000000000" pitchFamily="2" charset="0"/>
                <a:cs typeface="Roboto" panose="02000000000000000000" pitchFamily="2" charset="0"/>
              </a:rPr>
              <a:t>Segreti</a:t>
            </a:r>
            <a:r>
              <a:rPr lang="en-US" sz="1000" dirty="0">
                <a:effectLst/>
                <a:latin typeface="Roboto" panose="02000000000000000000" pitchFamily="2" charset="0"/>
                <a:ea typeface="Roboto" panose="02000000000000000000" pitchFamily="2" charset="0"/>
                <a:cs typeface="Roboto" panose="02000000000000000000" pitchFamily="2" charset="0"/>
              </a:rPr>
              <a:t>, Richard Shay, </a:t>
            </a:r>
            <a:r>
              <a:rPr lang="en-US" sz="1000" dirty="0" err="1">
                <a:effectLst/>
                <a:latin typeface="Roboto" panose="02000000000000000000" pitchFamily="2" charset="0"/>
                <a:ea typeface="Roboto" panose="02000000000000000000" pitchFamily="2" charset="0"/>
                <a:cs typeface="Roboto" panose="02000000000000000000" pitchFamily="2" charset="0"/>
              </a:rPr>
              <a:t>Lujo</a:t>
            </a:r>
            <a:r>
              <a:rPr lang="en-US" sz="1000" dirty="0">
                <a:effectLst/>
                <a:latin typeface="Roboto" panose="02000000000000000000" pitchFamily="2" charset="0"/>
                <a:ea typeface="Roboto" panose="02000000000000000000" pitchFamily="2" charset="0"/>
                <a:cs typeface="Roboto" panose="02000000000000000000" pitchFamily="2" charset="0"/>
              </a:rPr>
              <a:t> Bauer, Nicolas Christin, and Lorrie</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Faith Cranor. </a:t>
            </a:r>
            <a:r>
              <a:rPr lang="en-US" sz="1000" dirty="0">
                <a:latin typeface="Roboto" panose="02000000000000000000" pitchFamily="2" charset="0"/>
                <a:ea typeface="Roboto" panose="02000000000000000000" pitchFamily="2" charset="0"/>
                <a:cs typeface="Roboto" panose="02000000000000000000" pitchFamily="2" charset="0"/>
              </a:rPr>
              <a:t>“I </a:t>
            </a:r>
            <a:r>
              <a:rPr lang="en-US" sz="1000" dirty="0">
                <a:effectLst/>
                <a:latin typeface="Roboto" panose="02000000000000000000" pitchFamily="2" charset="0"/>
                <a:ea typeface="Roboto" panose="02000000000000000000" pitchFamily="2" charset="0"/>
                <a:cs typeface="Roboto" panose="02000000000000000000" pitchFamily="2" charset="0"/>
              </a:rPr>
              <a:t>added ’!’ at the end to make it secure”: Observing Password </a:t>
            </a:r>
            <a:r>
              <a:rPr lang="en-US" sz="1000" dirty="0">
                <a:latin typeface="Roboto" panose="02000000000000000000" pitchFamily="2" charset="0"/>
                <a:ea typeface="Roboto" panose="02000000000000000000" pitchFamily="2" charset="0"/>
                <a:cs typeface="Roboto" panose="02000000000000000000" pitchFamily="2" charset="0"/>
              </a:rPr>
              <a:t>C</a:t>
            </a:r>
            <a:r>
              <a:rPr lang="en-US" sz="1000" dirty="0">
                <a:effectLst/>
                <a:latin typeface="Roboto" panose="02000000000000000000" pitchFamily="2" charset="0"/>
                <a:ea typeface="Roboto" panose="02000000000000000000" pitchFamily="2" charset="0"/>
                <a:cs typeface="Roboto" panose="02000000000000000000" pitchFamily="2" charset="0"/>
              </a:rPr>
              <a:t>reation in the Lab. In Eleventh Symposium on Usable </a:t>
            </a:r>
            <a:r>
              <a:rPr lang="en-US" sz="1000" dirty="0">
                <a:latin typeface="Roboto" panose="02000000000000000000" pitchFamily="2" charset="0"/>
                <a:ea typeface="Roboto" panose="02000000000000000000" pitchFamily="2" charset="0"/>
                <a:cs typeface="Roboto" panose="02000000000000000000" pitchFamily="2" charset="0"/>
              </a:rPr>
              <a:t>P</a:t>
            </a:r>
            <a:r>
              <a:rPr lang="en-US" sz="1000" dirty="0">
                <a:effectLst/>
                <a:latin typeface="Roboto" panose="02000000000000000000" pitchFamily="2" charset="0"/>
                <a:ea typeface="Roboto" panose="02000000000000000000" pitchFamily="2" charset="0"/>
                <a:cs typeface="Roboto" panose="02000000000000000000" pitchFamily="2" charset="0"/>
              </a:rPr>
              <a:t>rivacy and Security (SOUPS 2015).</a:t>
            </a:r>
          </a:p>
          <a:p>
            <a:r>
              <a:rPr lang="en-US" sz="1000" dirty="0">
                <a:latin typeface="Roboto" panose="02000000000000000000" pitchFamily="2" charset="0"/>
                <a:ea typeface="Roboto" panose="02000000000000000000" pitchFamily="2" charset="0"/>
                <a:cs typeface="Roboto" panose="02000000000000000000" pitchFamily="2" charset="0"/>
              </a:rPr>
              <a:t>[8] </a:t>
            </a:r>
            <a:r>
              <a:rPr lang="en-US" sz="1000" dirty="0">
                <a:effectLst/>
                <a:latin typeface="Roboto" panose="02000000000000000000" pitchFamily="2" charset="0"/>
                <a:ea typeface="Roboto" panose="02000000000000000000" pitchFamily="2" charset="0"/>
                <a:cs typeface="Roboto" panose="02000000000000000000" pitchFamily="2" charset="0"/>
              </a:rPr>
              <a:t>Jeff Yan, Alan Blackwell, Ross Anderson, and Alasdair Grant. Password Memorability and Security: Empirical</a:t>
            </a:r>
            <a:r>
              <a:rPr lang="en-US" sz="1000" dirty="0">
                <a:latin typeface="Roboto" panose="02000000000000000000" pitchFamily="2" charset="0"/>
                <a:ea typeface="Roboto" panose="02000000000000000000" pitchFamily="2" charset="0"/>
                <a:cs typeface="Roboto" panose="02000000000000000000" pitchFamily="2" charset="0"/>
              </a:rPr>
              <a:t> R</a:t>
            </a:r>
            <a:r>
              <a:rPr lang="en-US" sz="1000" dirty="0">
                <a:effectLst/>
                <a:latin typeface="Roboto" panose="02000000000000000000" pitchFamily="2" charset="0"/>
                <a:ea typeface="Roboto" panose="02000000000000000000" pitchFamily="2" charset="0"/>
                <a:cs typeface="Roboto" panose="02000000000000000000" pitchFamily="2" charset="0"/>
              </a:rPr>
              <a:t>esults. IEEE Security &amp; </a:t>
            </a:r>
            <a:r>
              <a:rPr lang="en-US" sz="1000" dirty="0">
                <a:latin typeface="Roboto" panose="02000000000000000000" pitchFamily="2" charset="0"/>
                <a:ea typeface="Roboto" panose="02000000000000000000" pitchFamily="2" charset="0"/>
                <a:cs typeface="Roboto" panose="02000000000000000000" pitchFamily="2" charset="0"/>
              </a:rPr>
              <a:t>P</a:t>
            </a:r>
            <a:r>
              <a:rPr lang="en-US" sz="1000" dirty="0">
                <a:effectLst/>
                <a:latin typeface="Roboto" panose="02000000000000000000" pitchFamily="2" charset="0"/>
                <a:ea typeface="Roboto" panose="02000000000000000000" pitchFamily="2" charset="0"/>
                <a:cs typeface="Roboto" panose="02000000000000000000" pitchFamily="2" charset="0"/>
              </a:rPr>
              <a:t>rivacy, 2004.</a:t>
            </a:r>
          </a:p>
          <a:p>
            <a:r>
              <a:rPr lang="en-US" sz="1000" dirty="0">
                <a:latin typeface="Roboto" panose="02000000000000000000" pitchFamily="2" charset="0"/>
                <a:ea typeface="Roboto" panose="02000000000000000000" pitchFamily="2" charset="0"/>
                <a:cs typeface="Roboto" panose="02000000000000000000" pitchFamily="2" charset="0"/>
              </a:rPr>
              <a:t>[9] </a:t>
            </a:r>
            <a:r>
              <a:rPr lang="en-US" sz="1000" dirty="0">
                <a:effectLst/>
                <a:latin typeface="Roboto" panose="02000000000000000000" pitchFamily="2" charset="0"/>
                <a:ea typeface="Roboto" panose="02000000000000000000" pitchFamily="2" charset="0"/>
                <a:cs typeface="Roboto" panose="02000000000000000000" pitchFamily="2" charset="0"/>
              </a:rPr>
              <a:t>Sanam Ghorbani </a:t>
            </a:r>
            <a:r>
              <a:rPr lang="en-US" sz="1000" dirty="0" err="1">
                <a:effectLst/>
                <a:latin typeface="Roboto" panose="02000000000000000000" pitchFamily="2" charset="0"/>
                <a:ea typeface="Roboto" panose="02000000000000000000" pitchFamily="2" charset="0"/>
                <a:cs typeface="Roboto" panose="02000000000000000000" pitchFamily="2" charset="0"/>
              </a:rPr>
              <a:t>Lyastani</a:t>
            </a:r>
            <a:r>
              <a:rPr lang="en-US" sz="1000" dirty="0">
                <a:effectLst/>
                <a:latin typeface="Roboto" panose="02000000000000000000" pitchFamily="2" charset="0"/>
                <a:ea typeface="Roboto" panose="02000000000000000000" pitchFamily="2" charset="0"/>
                <a:cs typeface="Roboto" panose="02000000000000000000" pitchFamily="2" charset="0"/>
              </a:rPr>
              <a:t>, Michael Schilling, Sascha Fahl, Michael Backes, and Sven </a:t>
            </a:r>
            <a:r>
              <a:rPr lang="en-US" sz="1000" dirty="0" err="1">
                <a:effectLst/>
                <a:latin typeface="Roboto" panose="02000000000000000000" pitchFamily="2" charset="0"/>
                <a:ea typeface="Roboto" panose="02000000000000000000" pitchFamily="2" charset="0"/>
                <a:cs typeface="Roboto" panose="02000000000000000000" pitchFamily="2" charset="0"/>
              </a:rPr>
              <a:t>Bugiel</a:t>
            </a:r>
            <a:r>
              <a:rPr lang="en-US" sz="1000" dirty="0">
                <a:effectLst/>
                <a:latin typeface="Roboto" panose="02000000000000000000" pitchFamily="2" charset="0"/>
                <a:ea typeface="Roboto" panose="02000000000000000000" pitchFamily="2" charset="0"/>
                <a:cs typeface="Roboto" panose="02000000000000000000" pitchFamily="2" charset="0"/>
              </a:rPr>
              <a:t>. Better Managed than</a:t>
            </a:r>
            <a:r>
              <a:rPr lang="en-US" sz="1000" dirty="0">
                <a:latin typeface="Roboto" panose="02000000000000000000" pitchFamily="2" charset="0"/>
                <a:ea typeface="Roboto" panose="02000000000000000000" pitchFamily="2" charset="0"/>
                <a:cs typeface="Roboto" panose="02000000000000000000" pitchFamily="2" charset="0"/>
              </a:rPr>
              <a:t> M</a:t>
            </a:r>
            <a:r>
              <a:rPr lang="en-US" sz="1000" dirty="0">
                <a:effectLst/>
                <a:latin typeface="Roboto" panose="02000000000000000000" pitchFamily="2" charset="0"/>
                <a:ea typeface="Roboto" panose="02000000000000000000" pitchFamily="2" charset="0"/>
                <a:cs typeface="Roboto" panose="02000000000000000000" pitchFamily="2" charset="0"/>
              </a:rPr>
              <a:t>emorized? Studying the Impact of Managers on Password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trength and Reuse. In 27th USENIX Security Symposium</a:t>
            </a:r>
            <a:r>
              <a:rPr lang="en-US" sz="1000" dirty="0">
                <a:latin typeface="Roboto" panose="02000000000000000000" pitchFamily="2" charset="0"/>
                <a:ea typeface="Roboto" panose="02000000000000000000" pitchFamily="2" charset="0"/>
                <a:cs typeface="Roboto" panose="02000000000000000000" pitchFamily="2" charset="0"/>
              </a:rPr>
              <a:t>, 2018.</a:t>
            </a:r>
            <a:endParaRPr lang="en-US" sz="1000" dirty="0">
              <a:effectLst/>
              <a:latin typeface="Roboto" panose="02000000000000000000" pitchFamily="2" charset="0"/>
              <a:ea typeface="Roboto" panose="02000000000000000000" pitchFamily="2" charset="0"/>
              <a:cs typeface="Roboto" panose="02000000000000000000" pitchFamily="2" charset="0"/>
            </a:endParaRPr>
          </a:p>
        </p:txBody>
      </p:sp>
      <p:sp>
        <p:nvSpPr>
          <p:cNvPr id="8" name="Slide Number Placeholder 7">
            <a:extLst>
              <a:ext uri="{FF2B5EF4-FFF2-40B4-BE49-F238E27FC236}">
                <a16:creationId xmlns:a16="http://schemas.microsoft.com/office/drawing/2014/main" id="{7762AEA2-DD4E-B0CC-F7A7-9D6537AE1208}"/>
              </a:ext>
            </a:extLst>
          </p:cNvPr>
          <p:cNvSpPr>
            <a:spLocks noGrp="1"/>
          </p:cNvSpPr>
          <p:nvPr>
            <p:ph type="sldNum" sz="quarter" idx="12"/>
          </p:nvPr>
        </p:nvSpPr>
        <p:spPr/>
        <p:txBody>
          <a:bodyPr/>
          <a:lstStyle/>
          <a:p>
            <a:fld id="{835FE90F-C88A-C24D-9FD5-52F0990CFAC0}" type="slidenum">
              <a:rPr lang="en-US" smtClean="0"/>
              <a:t>7</a:t>
            </a:fld>
            <a:endParaRPr lang="en-US"/>
          </a:p>
        </p:txBody>
      </p:sp>
    </p:spTree>
    <p:extLst>
      <p:ext uri="{BB962C8B-B14F-4D97-AF65-F5344CB8AC3E}">
        <p14:creationId xmlns:p14="http://schemas.microsoft.com/office/powerpoint/2010/main" val="1698595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9857-A0C4-3EC2-6E63-E8C665D8D46C}"/>
              </a:ext>
            </a:extLst>
          </p:cNvPr>
          <p:cNvSpPr>
            <a:spLocks noGrp="1"/>
          </p:cNvSpPr>
          <p:nvPr>
            <p:ph type="title"/>
          </p:nvPr>
        </p:nvSpPr>
        <p:spPr/>
        <p:txBody>
          <a:bodyPr/>
          <a:lstStyle/>
          <a:p>
            <a:r>
              <a:rPr lang="en-US" dirty="0">
                <a:solidFill>
                  <a:srgbClr val="9A0031"/>
                </a:solidFill>
                <a:effectLst/>
                <a:latin typeface="Fjalla One" panose="02000506040000020004" pitchFamily="2" charset="0"/>
              </a:rPr>
              <a:t>Security Decisions as a (Rational) Choice</a:t>
            </a:r>
            <a:endParaRPr lang="en-US" baseline="30000" dirty="0">
              <a:solidFill>
                <a:srgbClr val="9A0031"/>
              </a:solidFill>
              <a:latin typeface="Fjalla One" panose="02000506040000020004" pitchFamily="2" charset="0"/>
            </a:endParaRPr>
          </a:p>
        </p:txBody>
      </p:sp>
      <p:sp>
        <p:nvSpPr>
          <p:cNvPr id="3" name="Content Placeholder 2">
            <a:extLst>
              <a:ext uri="{FF2B5EF4-FFF2-40B4-BE49-F238E27FC236}">
                <a16:creationId xmlns:a16="http://schemas.microsoft.com/office/drawing/2014/main" id="{7BD83BD4-9BA7-176C-5972-9AF23ABB0889}"/>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Rational decisions or “dancing pigs over security” [10, 11]</a:t>
            </a:r>
          </a:p>
          <a:p>
            <a:r>
              <a:rPr lang="en-US" sz="2400" dirty="0">
                <a:latin typeface="Roboto" panose="02000000000000000000" pitchFamily="2" charset="0"/>
                <a:ea typeface="Roboto" panose="02000000000000000000" pitchFamily="2" charset="0"/>
                <a:cs typeface="Roboto" panose="02000000000000000000" pitchFamily="2" charset="0"/>
              </a:rPr>
              <a:t>Cost-benefit analysis</a:t>
            </a:r>
          </a:p>
          <a:p>
            <a:r>
              <a:rPr lang="en-US" sz="2400" dirty="0">
                <a:latin typeface="Roboto" panose="02000000000000000000" pitchFamily="2" charset="0"/>
                <a:ea typeface="Roboto" panose="02000000000000000000" pitchFamily="2" charset="0"/>
                <a:cs typeface="Roboto" panose="02000000000000000000" pitchFamily="2" charset="0"/>
              </a:rPr>
              <a:t>Minimize cost (effort/inconvenience) and/or maximize benefit</a:t>
            </a:r>
          </a:p>
          <a:p>
            <a:pPr lvl="1"/>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D125FEE0-F67B-AA86-0CA7-EA97005830E2}"/>
              </a:ext>
            </a:extLst>
          </p:cNvPr>
          <p:cNvSpPr txBox="1"/>
          <p:nvPr/>
        </p:nvSpPr>
        <p:spPr>
          <a:xfrm>
            <a:off x="838200" y="5957957"/>
            <a:ext cx="10515600" cy="707886"/>
          </a:xfrm>
          <a:prstGeom prst="rect">
            <a:avLst/>
          </a:prstGeom>
          <a:noFill/>
        </p:spPr>
        <p:txBody>
          <a:bodyPr wrap="square" rtlCol="0">
            <a:spAutoFit/>
          </a:bodyPr>
          <a:lstStyle/>
          <a:p>
            <a:r>
              <a:rPr lang="en-US" sz="1000" dirty="0">
                <a:latin typeface="Roboto" panose="02000000000000000000" pitchFamily="2" charset="0"/>
                <a:ea typeface="Roboto" panose="02000000000000000000" pitchFamily="2" charset="0"/>
                <a:cs typeface="Roboto" panose="02000000000000000000" pitchFamily="2" charset="0"/>
              </a:rPr>
              <a:t>[10] </a:t>
            </a:r>
            <a:r>
              <a:rPr lang="en-US" sz="1000" dirty="0">
                <a:effectLst/>
                <a:latin typeface="Roboto" panose="02000000000000000000" pitchFamily="2" charset="0"/>
                <a:ea typeface="Roboto" panose="02000000000000000000" pitchFamily="2" charset="0"/>
                <a:cs typeface="Roboto" panose="02000000000000000000" pitchFamily="2" charset="0"/>
              </a:rPr>
              <a:t>Elissa M Redmiles, Michelle L Mazurek, and John P Dickerson. Dancing pigs or externalities? measuring the</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rationality of security decisions. In Proceedings of the 2018 ACM Conference on Economics and Computation, 2018.</a:t>
            </a:r>
            <a:r>
              <a:rPr lang="en-US" sz="1000" dirty="0">
                <a:latin typeface="Roboto" panose="02000000000000000000" pitchFamily="2" charset="0"/>
                <a:ea typeface="Roboto" panose="02000000000000000000" pitchFamily="2" charset="0"/>
                <a:cs typeface="Roboto" panose="02000000000000000000" pitchFamily="2" charset="0"/>
              </a:rPr>
              <a:t> </a:t>
            </a:r>
          </a:p>
          <a:p>
            <a:r>
              <a:rPr lang="en-US" sz="1000" dirty="0">
                <a:latin typeface="Roboto" panose="02000000000000000000" pitchFamily="2" charset="0"/>
                <a:ea typeface="Roboto" panose="02000000000000000000" pitchFamily="2" charset="0"/>
                <a:cs typeface="Roboto" panose="02000000000000000000" pitchFamily="2" charset="0"/>
              </a:rPr>
              <a:t>[11] Michael Fagan and Mohammad </a:t>
            </a:r>
            <a:r>
              <a:rPr lang="en-US" sz="1000" dirty="0" err="1">
                <a:latin typeface="Roboto" panose="02000000000000000000" pitchFamily="2" charset="0"/>
                <a:ea typeface="Roboto" panose="02000000000000000000" pitchFamily="2" charset="0"/>
                <a:cs typeface="Roboto" panose="02000000000000000000" pitchFamily="2" charset="0"/>
              </a:rPr>
              <a:t>Maifi</a:t>
            </a:r>
            <a:r>
              <a:rPr lang="en-US" sz="1000" dirty="0">
                <a:latin typeface="Roboto" panose="02000000000000000000" pitchFamily="2" charset="0"/>
                <a:ea typeface="Roboto" panose="02000000000000000000" pitchFamily="2" charset="0"/>
                <a:cs typeface="Roboto" panose="02000000000000000000" pitchFamily="2" charset="0"/>
              </a:rPr>
              <a:t> Hasan Khan. Why do they do what they do?: A Study of What Motivates Users to (not) Follow Computer Security Advice. In Twelfth Symposium on Usable Privacy and Security (SOUPS 2016).</a:t>
            </a:r>
          </a:p>
        </p:txBody>
      </p:sp>
      <p:sp>
        <p:nvSpPr>
          <p:cNvPr id="8" name="Slide Number Placeholder 7">
            <a:extLst>
              <a:ext uri="{FF2B5EF4-FFF2-40B4-BE49-F238E27FC236}">
                <a16:creationId xmlns:a16="http://schemas.microsoft.com/office/drawing/2014/main" id="{920B0E23-231E-AD4E-6E6B-89A9F4369084}"/>
              </a:ext>
            </a:extLst>
          </p:cNvPr>
          <p:cNvSpPr>
            <a:spLocks noGrp="1"/>
          </p:cNvSpPr>
          <p:nvPr>
            <p:ph type="sldNum" sz="quarter" idx="12"/>
          </p:nvPr>
        </p:nvSpPr>
        <p:spPr/>
        <p:txBody>
          <a:bodyPr/>
          <a:lstStyle/>
          <a:p>
            <a:fld id="{835FE90F-C88A-C24D-9FD5-52F0990CFAC0}" type="slidenum">
              <a:rPr lang="en-US" smtClean="0"/>
              <a:t>8</a:t>
            </a:fld>
            <a:endParaRPr lang="en-US"/>
          </a:p>
        </p:txBody>
      </p:sp>
    </p:spTree>
    <p:extLst>
      <p:ext uri="{BB962C8B-B14F-4D97-AF65-F5344CB8AC3E}">
        <p14:creationId xmlns:p14="http://schemas.microsoft.com/office/powerpoint/2010/main" val="837259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1E1BB-F07E-6C0F-7341-CE3822B57549}"/>
              </a:ext>
            </a:extLst>
          </p:cNvPr>
          <p:cNvSpPr>
            <a:spLocks noGrp="1"/>
          </p:cNvSpPr>
          <p:nvPr>
            <p:ph type="title"/>
          </p:nvPr>
        </p:nvSpPr>
        <p:spPr/>
        <p:txBody>
          <a:bodyPr/>
          <a:lstStyle/>
          <a:p>
            <a:r>
              <a:rPr lang="en-US" dirty="0">
                <a:solidFill>
                  <a:srgbClr val="9A0031"/>
                </a:solidFill>
                <a:latin typeface="Fjalla One" panose="02000506040000020004" pitchFamily="2" charset="0"/>
              </a:rPr>
              <a:t>Security vs. Usability – A Longstanding Conflict</a:t>
            </a:r>
          </a:p>
        </p:txBody>
      </p:sp>
      <p:sp>
        <p:nvSpPr>
          <p:cNvPr id="3" name="Content Placeholder 2">
            <a:extLst>
              <a:ext uri="{FF2B5EF4-FFF2-40B4-BE49-F238E27FC236}">
                <a16:creationId xmlns:a16="http://schemas.microsoft.com/office/drawing/2014/main" id="{E246177F-E29D-0FF7-F175-3B4B63249F39}"/>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Security rules are made without considering user behavior [12]</a:t>
            </a:r>
          </a:p>
          <a:p>
            <a:pPr lvl="1"/>
            <a:r>
              <a:rPr lang="en-US" sz="2000" dirty="0">
                <a:latin typeface="Roboto" panose="02000000000000000000" pitchFamily="2" charset="0"/>
                <a:ea typeface="Roboto" panose="02000000000000000000" pitchFamily="2" charset="0"/>
                <a:cs typeface="Roboto" panose="02000000000000000000" pitchFamily="2" charset="0"/>
              </a:rPr>
              <a:t>E.g.: Overly complex password requirements make users frustrated</a:t>
            </a:r>
          </a:p>
          <a:p>
            <a:pPr lvl="1"/>
            <a:r>
              <a:rPr lang="en-US" sz="2000" dirty="0">
                <a:latin typeface="Roboto" panose="02000000000000000000" pitchFamily="2" charset="0"/>
                <a:ea typeface="Roboto" panose="02000000000000000000" pitchFamily="2" charset="0"/>
                <a:cs typeface="Roboto" panose="02000000000000000000" pitchFamily="2" charset="0"/>
              </a:rPr>
              <a:t>E.g.: MFA is great for security but adds friction</a:t>
            </a:r>
          </a:p>
          <a:p>
            <a:r>
              <a:rPr lang="en-US" sz="2400" dirty="0">
                <a:latin typeface="Roboto" panose="02000000000000000000" pitchFamily="2" charset="0"/>
                <a:ea typeface="Roboto" panose="02000000000000000000" pitchFamily="2" charset="0"/>
                <a:cs typeface="Roboto" panose="02000000000000000000" pitchFamily="2" charset="0"/>
              </a:rPr>
              <a:t>Humans are social creatures with</a:t>
            </a:r>
          </a:p>
          <a:p>
            <a:pPr lvl="1"/>
            <a:r>
              <a:rPr lang="en-US" sz="2000" dirty="0">
                <a:latin typeface="Roboto" panose="02000000000000000000" pitchFamily="2" charset="0"/>
                <a:ea typeface="Roboto" panose="02000000000000000000" pitchFamily="2" charset="0"/>
                <a:cs typeface="Roboto" panose="02000000000000000000" pitchFamily="2" charset="0"/>
              </a:rPr>
              <a:t>Varying user experience, cognitive capabilities, and risk perception</a:t>
            </a:r>
          </a:p>
          <a:p>
            <a:pPr lvl="1"/>
            <a:r>
              <a:rPr lang="en-US" sz="2000" dirty="0">
                <a:latin typeface="Roboto" panose="02000000000000000000" pitchFamily="2" charset="0"/>
                <a:ea typeface="Roboto" panose="02000000000000000000" pitchFamily="2" charset="0"/>
                <a:cs typeface="Roboto" panose="02000000000000000000" pitchFamily="2" charset="0"/>
              </a:rPr>
              <a:t>Collectively shape decision-making </a:t>
            </a:r>
          </a:p>
          <a:p>
            <a:pPr lvl="1"/>
            <a:r>
              <a:rPr lang="en-US" sz="2000" dirty="0">
                <a:latin typeface="Roboto" panose="02000000000000000000" pitchFamily="2" charset="0"/>
                <a:ea typeface="Roboto" panose="02000000000000000000" pitchFamily="2" charset="0"/>
                <a:cs typeface="Roboto" panose="02000000000000000000" pitchFamily="2" charset="0"/>
              </a:rPr>
              <a:t>Different people understand systems differently [13]</a:t>
            </a:r>
          </a:p>
          <a:p>
            <a:pPr marL="0" indent="0">
              <a:buNone/>
            </a:pP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CF400C39-8EAD-F9A3-4267-F12CDB781E36}"/>
              </a:ext>
            </a:extLst>
          </p:cNvPr>
          <p:cNvSpPr txBox="1"/>
          <p:nvPr/>
        </p:nvSpPr>
        <p:spPr>
          <a:xfrm>
            <a:off x="724525" y="6079351"/>
            <a:ext cx="10629275" cy="553998"/>
          </a:xfrm>
          <a:prstGeom prst="rect">
            <a:avLst/>
          </a:prstGeom>
          <a:noFill/>
        </p:spPr>
        <p:txBody>
          <a:bodyPr wrap="square" rtlCol="0">
            <a:spAutoFit/>
          </a:bodyPr>
          <a:lstStyle/>
          <a:p>
            <a:r>
              <a:rPr lang="en-US" sz="1000" dirty="0">
                <a:latin typeface="Roboto" panose="02000000000000000000" pitchFamily="2" charset="0"/>
                <a:ea typeface="Roboto" panose="02000000000000000000" pitchFamily="2" charset="0"/>
                <a:cs typeface="Roboto" panose="02000000000000000000" pitchFamily="2" charset="0"/>
              </a:rPr>
              <a:t>[12] </a:t>
            </a:r>
            <a:r>
              <a:rPr lang="en-US" sz="1000" dirty="0">
                <a:effectLst/>
                <a:latin typeface="Roboto" panose="02000000000000000000" pitchFamily="2" charset="0"/>
                <a:ea typeface="Roboto" panose="02000000000000000000" pitchFamily="2" charset="0"/>
                <a:cs typeface="Roboto" panose="02000000000000000000" pitchFamily="2" charset="0"/>
              </a:rPr>
              <a:t>Anne Adams and Martina Angela Sasse. Users are not the enemy. Communications of the ACM, 42(12), 1999.</a:t>
            </a:r>
          </a:p>
          <a:p>
            <a:r>
              <a:rPr lang="en-US" sz="1000" dirty="0">
                <a:latin typeface="Roboto" panose="02000000000000000000" pitchFamily="2" charset="0"/>
                <a:ea typeface="Roboto" panose="02000000000000000000" pitchFamily="2" charset="0"/>
                <a:cs typeface="Roboto" panose="02000000000000000000" pitchFamily="2" charset="0"/>
              </a:rPr>
              <a:t>[13] Blase Ur, Jonathan Bees, Sean M </a:t>
            </a:r>
            <a:r>
              <a:rPr lang="en-US" sz="1000" dirty="0" err="1">
                <a:latin typeface="Roboto" panose="02000000000000000000" pitchFamily="2" charset="0"/>
                <a:ea typeface="Roboto" panose="02000000000000000000" pitchFamily="2" charset="0"/>
                <a:cs typeface="Roboto" panose="02000000000000000000" pitchFamily="2" charset="0"/>
              </a:rPr>
              <a:t>Segreti</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err="1">
                <a:latin typeface="Roboto" panose="02000000000000000000" pitchFamily="2" charset="0"/>
                <a:ea typeface="Roboto" panose="02000000000000000000" pitchFamily="2" charset="0"/>
                <a:cs typeface="Roboto" panose="02000000000000000000" pitchFamily="2" charset="0"/>
              </a:rPr>
              <a:t>Lujo</a:t>
            </a:r>
            <a:r>
              <a:rPr lang="en-US" sz="1000" dirty="0">
                <a:latin typeface="Roboto" panose="02000000000000000000" pitchFamily="2" charset="0"/>
                <a:ea typeface="Roboto" panose="02000000000000000000" pitchFamily="2" charset="0"/>
                <a:cs typeface="Roboto" panose="02000000000000000000" pitchFamily="2" charset="0"/>
              </a:rPr>
              <a:t> Bauer, Nicolas Christin, and Lorrie Faith Cranor. Do Users’ Perceptions of Password Security Match Reality? In Proceedings of SIGCHI Conference on Human Factors in Computing Systems, 2016.</a:t>
            </a:r>
            <a:endParaRPr lang="en-US" sz="1000" dirty="0">
              <a:effectLst/>
              <a:latin typeface="Roboto" panose="02000000000000000000" pitchFamily="2" charset="0"/>
              <a:ea typeface="Roboto" panose="02000000000000000000" pitchFamily="2" charset="0"/>
              <a:cs typeface="Roboto" panose="02000000000000000000" pitchFamily="2" charset="0"/>
            </a:endParaRPr>
          </a:p>
        </p:txBody>
      </p:sp>
      <p:sp>
        <p:nvSpPr>
          <p:cNvPr id="8" name="Slide Number Placeholder 7">
            <a:extLst>
              <a:ext uri="{FF2B5EF4-FFF2-40B4-BE49-F238E27FC236}">
                <a16:creationId xmlns:a16="http://schemas.microsoft.com/office/drawing/2014/main" id="{AEB6C67B-7BF0-0CD2-AD91-4618DB65AAA5}"/>
              </a:ext>
            </a:extLst>
          </p:cNvPr>
          <p:cNvSpPr>
            <a:spLocks noGrp="1"/>
          </p:cNvSpPr>
          <p:nvPr>
            <p:ph type="sldNum" sz="quarter" idx="12"/>
          </p:nvPr>
        </p:nvSpPr>
        <p:spPr/>
        <p:txBody>
          <a:bodyPr/>
          <a:lstStyle/>
          <a:p>
            <a:fld id="{835FE90F-C88A-C24D-9FD5-52F0990CFAC0}" type="slidenum">
              <a:rPr lang="en-US" smtClean="0"/>
              <a:t>9</a:t>
            </a:fld>
            <a:endParaRPr lang="en-US"/>
          </a:p>
        </p:txBody>
      </p:sp>
    </p:spTree>
    <p:extLst>
      <p:ext uri="{BB962C8B-B14F-4D97-AF65-F5344CB8AC3E}">
        <p14:creationId xmlns:p14="http://schemas.microsoft.com/office/powerpoint/2010/main" val="406744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EEB2E2-F6F4-A16D-96F0-9172CB3B83EB}"/>
              </a:ext>
            </a:extLst>
          </p:cNvPr>
          <p:cNvSpPr>
            <a:spLocks noGrp="1"/>
          </p:cNvSpPr>
          <p:nvPr>
            <p:ph idx="1"/>
          </p:nvPr>
        </p:nvSpPr>
        <p:spPr>
          <a:xfrm>
            <a:off x="838200" y="2228671"/>
            <a:ext cx="10515600" cy="3191009"/>
          </a:xfrm>
        </p:spPr>
        <p:txBody>
          <a:bodyPr>
            <a:noAutofit/>
          </a:bodyPr>
          <a:lstStyle/>
          <a:p>
            <a:pPr marL="0" indent="0" algn="ctr">
              <a:buNone/>
            </a:pPr>
            <a:r>
              <a:rPr lang="en-US" sz="4000" dirty="0">
                <a:latin typeface="Roboto" panose="02000000000000000000" pitchFamily="2" charset="0"/>
                <a:ea typeface="Roboto" panose="02000000000000000000" pitchFamily="2" charset="0"/>
                <a:cs typeface="Roboto" panose="02000000000000000000" pitchFamily="2" charset="0"/>
              </a:rPr>
              <a:t>Computer security problems often occur when there are </a:t>
            </a:r>
            <a:r>
              <a:rPr lang="en-US" sz="4000" dirty="0">
                <a:solidFill>
                  <a:srgbClr val="C00000"/>
                </a:solidFill>
                <a:latin typeface="Roboto" panose="02000000000000000000" pitchFamily="2" charset="0"/>
                <a:ea typeface="Roboto" panose="02000000000000000000" pitchFamily="2" charset="0"/>
                <a:cs typeface="Roboto" panose="02000000000000000000" pitchFamily="2" charset="0"/>
              </a:rPr>
              <a:t>disconnects between users’ understanding of their role in computer security and what is expected of them</a:t>
            </a:r>
            <a:r>
              <a:rPr lang="en-US" sz="4000" dirty="0">
                <a:latin typeface="Roboto" panose="02000000000000000000" pitchFamily="2" charset="0"/>
                <a:ea typeface="Roboto" panose="02000000000000000000" pitchFamily="2" charset="0"/>
                <a:cs typeface="Roboto" panose="02000000000000000000" pitchFamily="2" charset="0"/>
              </a:rPr>
              <a:t>.”</a:t>
            </a:r>
          </a:p>
          <a:p>
            <a:pPr marL="0" indent="0" algn="r">
              <a:buNone/>
            </a:pPr>
            <a:endParaRPr lang="en-US" sz="2000" dirty="0">
              <a:solidFill>
                <a:srgbClr val="C00000"/>
              </a:solidFill>
              <a:latin typeface="Roboto" panose="02000000000000000000" pitchFamily="2" charset="0"/>
              <a:ea typeface="Roboto" panose="02000000000000000000" pitchFamily="2" charset="0"/>
              <a:cs typeface="Roboto" panose="02000000000000000000" pitchFamily="2" charset="0"/>
            </a:endParaRPr>
          </a:p>
          <a:p>
            <a:pPr marL="0" indent="0" algn="r">
              <a:buNone/>
            </a:pPr>
            <a:r>
              <a:rPr lang="en-US" sz="1000" b="0" dirty="0">
                <a:effectLst/>
                <a:latin typeface="Roboto" panose="02000000000000000000" pitchFamily="2" charset="0"/>
                <a:ea typeface="Roboto" panose="02000000000000000000" pitchFamily="2" charset="0"/>
                <a:cs typeface="Roboto" panose="02000000000000000000" pitchFamily="2" charset="0"/>
              </a:rPr>
              <a:t>- </a:t>
            </a:r>
            <a:r>
              <a:rPr lang="en-US" sz="1000" b="0" i="1" dirty="0">
                <a:effectLst/>
                <a:latin typeface="Roboto" panose="02000000000000000000" pitchFamily="2" charset="0"/>
                <a:ea typeface="Roboto" panose="02000000000000000000" pitchFamily="2" charset="0"/>
                <a:cs typeface="Roboto" panose="02000000000000000000" pitchFamily="2" charset="0"/>
              </a:rPr>
              <a:t>Alain Forget, Sarah Pearman, Jeremy Thomas, Alessandro </a:t>
            </a:r>
            <a:r>
              <a:rPr lang="en-US" sz="1000" b="0" i="1" dirty="0" err="1">
                <a:effectLst/>
                <a:latin typeface="Roboto" panose="02000000000000000000" pitchFamily="2" charset="0"/>
                <a:ea typeface="Roboto" panose="02000000000000000000" pitchFamily="2" charset="0"/>
                <a:cs typeface="Roboto" panose="02000000000000000000" pitchFamily="2" charset="0"/>
              </a:rPr>
              <a:t>Acquisti</a:t>
            </a:r>
            <a:r>
              <a:rPr lang="en-US" sz="1000" b="0" i="1" dirty="0">
                <a:effectLst/>
                <a:latin typeface="Roboto" panose="02000000000000000000" pitchFamily="2" charset="0"/>
                <a:ea typeface="Roboto" panose="02000000000000000000" pitchFamily="2" charset="0"/>
                <a:cs typeface="Roboto" panose="02000000000000000000" pitchFamily="2" charset="0"/>
              </a:rPr>
              <a:t>, Nicolas Christin, Lorrie Faith Cranor, Serge </a:t>
            </a:r>
            <a:r>
              <a:rPr lang="en-US" sz="1000" b="0" i="1" dirty="0" err="1">
                <a:effectLst/>
                <a:latin typeface="Roboto" panose="02000000000000000000" pitchFamily="2" charset="0"/>
                <a:ea typeface="Roboto" panose="02000000000000000000" pitchFamily="2" charset="0"/>
                <a:cs typeface="Roboto" panose="02000000000000000000" pitchFamily="2" charset="0"/>
              </a:rPr>
              <a:t>Egelman</a:t>
            </a:r>
            <a:r>
              <a:rPr lang="en-US" sz="1000" b="0" i="1" dirty="0">
                <a:effectLst/>
                <a:latin typeface="Roboto" panose="02000000000000000000" pitchFamily="2" charset="0"/>
                <a:ea typeface="Roboto" panose="02000000000000000000" pitchFamily="2" charset="0"/>
                <a:cs typeface="Roboto" panose="02000000000000000000" pitchFamily="2" charset="0"/>
              </a:rPr>
              <a:t>, Marian Harbach, and Rahul </a:t>
            </a:r>
            <a:r>
              <a:rPr lang="en-US" sz="1000" b="0" i="1" dirty="0" err="1">
                <a:effectLst/>
                <a:latin typeface="Roboto" panose="02000000000000000000" pitchFamily="2" charset="0"/>
                <a:ea typeface="Roboto" panose="02000000000000000000" pitchFamily="2" charset="0"/>
                <a:cs typeface="Roboto" panose="02000000000000000000" pitchFamily="2" charset="0"/>
              </a:rPr>
              <a:t>Telang</a:t>
            </a:r>
            <a:r>
              <a:rPr lang="en-US" sz="1000" b="0" i="1" dirty="0">
                <a:effectLst/>
                <a:latin typeface="Roboto" panose="02000000000000000000" pitchFamily="2" charset="0"/>
                <a:ea typeface="Roboto" panose="02000000000000000000" pitchFamily="2" charset="0"/>
                <a:cs typeface="Roboto" panose="02000000000000000000" pitchFamily="2" charset="0"/>
              </a:rPr>
              <a:t>. </a:t>
            </a:r>
            <a:br>
              <a:rPr lang="en-US" sz="1000" b="0" i="1" dirty="0">
                <a:effectLst/>
                <a:latin typeface="Roboto" panose="02000000000000000000" pitchFamily="2" charset="0"/>
                <a:ea typeface="Roboto" panose="02000000000000000000" pitchFamily="2" charset="0"/>
                <a:cs typeface="Roboto" panose="02000000000000000000" pitchFamily="2" charset="0"/>
              </a:rPr>
            </a:br>
            <a:r>
              <a:rPr lang="en-US" sz="1000" b="0" i="1" dirty="0">
                <a:effectLst/>
                <a:latin typeface="Roboto" panose="02000000000000000000" pitchFamily="2" charset="0"/>
                <a:ea typeface="Roboto" panose="02000000000000000000" pitchFamily="2" charset="0"/>
                <a:cs typeface="Roboto" panose="02000000000000000000" pitchFamily="2" charset="0"/>
              </a:rPr>
              <a:t>Do or do not, there is no try: User </a:t>
            </a:r>
            <a:r>
              <a:rPr lang="en-US" sz="1000" i="1" dirty="0">
                <a:latin typeface="Roboto" panose="02000000000000000000" pitchFamily="2" charset="0"/>
                <a:ea typeface="Roboto" panose="02000000000000000000" pitchFamily="2" charset="0"/>
                <a:cs typeface="Roboto" panose="02000000000000000000" pitchFamily="2" charset="0"/>
              </a:rPr>
              <a:t>E</a:t>
            </a:r>
            <a:r>
              <a:rPr lang="en-US" sz="1000" b="0" i="1" dirty="0">
                <a:effectLst/>
                <a:latin typeface="Roboto" panose="02000000000000000000" pitchFamily="2" charset="0"/>
                <a:ea typeface="Roboto" panose="02000000000000000000" pitchFamily="2" charset="0"/>
                <a:cs typeface="Roboto" panose="02000000000000000000" pitchFamily="2" charset="0"/>
              </a:rPr>
              <a:t>ngagement may not Improve </a:t>
            </a:r>
            <a:r>
              <a:rPr lang="en-US" sz="1000" i="1" dirty="0">
                <a:latin typeface="Roboto" panose="02000000000000000000" pitchFamily="2" charset="0"/>
                <a:ea typeface="Roboto" panose="02000000000000000000" pitchFamily="2" charset="0"/>
                <a:cs typeface="Roboto" panose="02000000000000000000" pitchFamily="2" charset="0"/>
              </a:rPr>
              <a:t>S</a:t>
            </a:r>
            <a:r>
              <a:rPr lang="en-US" sz="1000" b="0" i="1" dirty="0">
                <a:effectLst/>
                <a:latin typeface="Roboto" panose="02000000000000000000" pitchFamily="2" charset="0"/>
                <a:ea typeface="Roboto" panose="02000000000000000000" pitchFamily="2" charset="0"/>
                <a:cs typeface="Roboto" panose="02000000000000000000" pitchFamily="2" charset="0"/>
              </a:rPr>
              <a:t>ecurity </a:t>
            </a:r>
            <a:r>
              <a:rPr lang="en-US" sz="1000" i="1" dirty="0">
                <a:latin typeface="Roboto" panose="02000000000000000000" pitchFamily="2" charset="0"/>
                <a:ea typeface="Roboto" panose="02000000000000000000" pitchFamily="2" charset="0"/>
                <a:cs typeface="Roboto" panose="02000000000000000000" pitchFamily="2" charset="0"/>
              </a:rPr>
              <a:t>O</a:t>
            </a:r>
            <a:r>
              <a:rPr lang="en-US" sz="1000" b="0" i="1" dirty="0">
                <a:effectLst/>
                <a:latin typeface="Roboto" panose="02000000000000000000" pitchFamily="2" charset="0"/>
                <a:ea typeface="Roboto" panose="02000000000000000000" pitchFamily="2" charset="0"/>
                <a:cs typeface="Roboto" panose="02000000000000000000" pitchFamily="2" charset="0"/>
              </a:rPr>
              <a:t>utcomes." In Twelfth Symposium on Usable Privacy and Security (SOUPS 2016).</a:t>
            </a:r>
            <a:endParaRPr lang="en-US" sz="1000" i="1" dirty="0">
              <a:latin typeface="Roboto" panose="02000000000000000000" pitchFamily="2" charset="0"/>
              <a:ea typeface="Roboto" panose="02000000000000000000" pitchFamily="2" charset="0"/>
              <a:cs typeface="Roboto" panose="02000000000000000000" pitchFamily="2" charset="0"/>
            </a:endParaRPr>
          </a:p>
        </p:txBody>
      </p:sp>
      <p:sp>
        <p:nvSpPr>
          <p:cNvPr id="2" name="TextBox 1">
            <a:extLst>
              <a:ext uri="{FF2B5EF4-FFF2-40B4-BE49-F238E27FC236}">
                <a16:creationId xmlns:a16="http://schemas.microsoft.com/office/drawing/2014/main" id="{46C2EFCA-CB6A-B3D8-2969-95567408CB77}"/>
              </a:ext>
            </a:extLst>
          </p:cNvPr>
          <p:cNvSpPr txBox="1"/>
          <p:nvPr/>
        </p:nvSpPr>
        <p:spPr>
          <a:xfrm>
            <a:off x="568262" y="1438320"/>
            <a:ext cx="1055097" cy="2400657"/>
          </a:xfrm>
          <a:prstGeom prst="rect">
            <a:avLst/>
          </a:prstGeom>
          <a:noFill/>
        </p:spPr>
        <p:txBody>
          <a:bodyPr wrap="none" rtlCol="0">
            <a:spAutoFit/>
          </a:bodyPr>
          <a:lstStyle/>
          <a:p>
            <a:r>
              <a:rPr lang="en-US" sz="15000" dirty="0">
                <a:solidFill>
                  <a:srgbClr val="FFC10E"/>
                </a:solidFill>
              </a:rPr>
              <a:t>“</a:t>
            </a:r>
          </a:p>
        </p:txBody>
      </p:sp>
      <p:sp>
        <p:nvSpPr>
          <p:cNvPr id="8" name="Slide Number Placeholder 7">
            <a:extLst>
              <a:ext uri="{FF2B5EF4-FFF2-40B4-BE49-F238E27FC236}">
                <a16:creationId xmlns:a16="http://schemas.microsoft.com/office/drawing/2014/main" id="{C508F907-7BF8-E477-2F64-F5FA5DA0BAA1}"/>
              </a:ext>
            </a:extLst>
          </p:cNvPr>
          <p:cNvSpPr>
            <a:spLocks noGrp="1"/>
          </p:cNvSpPr>
          <p:nvPr>
            <p:ph type="sldNum" sz="quarter" idx="12"/>
          </p:nvPr>
        </p:nvSpPr>
        <p:spPr/>
        <p:txBody>
          <a:bodyPr/>
          <a:lstStyle/>
          <a:p>
            <a:fld id="{835FE90F-C88A-C24D-9FD5-52F0990CFAC0}" type="slidenum">
              <a:rPr lang="en-US" smtClean="0"/>
              <a:t>10</a:t>
            </a:fld>
            <a:endParaRPr lang="en-US"/>
          </a:p>
        </p:txBody>
      </p:sp>
    </p:spTree>
    <p:extLst>
      <p:ext uri="{BB962C8B-B14F-4D97-AF65-F5344CB8AC3E}">
        <p14:creationId xmlns:p14="http://schemas.microsoft.com/office/powerpoint/2010/main" val="3864928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DBF4F2-82E8-D6BA-6AC4-DD3AA4FB0FB0}"/>
              </a:ext>
            </a:extLst>
          </p:cNvPr>
          <p:cNvSpPr>
            <a:spLocks noGrp="1"/>
          </p:cNvSpPr>
          <p:nvPr>
            <p:ph type="title"/>
          </p:nvPr>
        </p:nvSpPr>
        <p:spPr/>
        <p:txBody>
          <a:bodyPr/>
          <a:lstStyle/>
          <a:p>
            <a:r>
              <a:rPr lang="en-US" dirty="0">
                <a:solidFill>
                  <a:srgbClr val="9A0031"/>
                </a:solidFill>
                <a:latin typeface="Fjalla One" panose="02000506040000020004" pitchFamily="2" charset="0"/>
              </a:rPr>
              <a:t>User Mental Models </a:t>
            </a:r>
          </a:p>
        </p:txBody>
      </p:sp>
      <p:sp>
        <p:nvSpPr>
          <p:cNvPr id="6" name="Content Placeholder 5">
            <a:extLst>
              <a:ext uri="{FF2B5EF4-FFF2-40B4-BE49-F238E27FC236}">
                <a16:creationId xmlns:a16="http://schemas.microsoft.com/office/drawing/2014/main" id="{77A31AA4-E508-C7E0-5EF5-00919837395C}"/>
              </a:ext>
            </a:extLst>
          </p:cNvPr>
          <p:cNvSpPr>
            <a:spLocks noGrp="1"/>
          </p:cNvSpPr>
          <p:nvPr>
            <p:ph idx="1"/>
          </p:nvPr>
        </p:nvSpPr>
        <p:spPr/>
        <p:txBody>
          <a:bodyPr>
            <a:noAutofit/>
          </a:bodyPr>
          <a:lstStyle/>
          <a:p>
            <a:r>
              <a:rPr lang="en-US" sz="2400" dirty="0">
                <a:latin typeface="Roboto" panose="02000000000000000000" pitchFamily="2" charset="0"/>
                <a:ea typeface="Roboto" panose="02000000000000000000" pitchFamily="2" charset="0"/>
                <a:cs typeface="Roboto" panose="02000000000000000000" pitchFamily="2" charset="0"/>
              </a:rPr>
              <a:t>H</a:t>
            </a:r>
            <a:r>
              <a:rPr lang="en-US" sz="2400" dirty="0">
                <a:effectLst/>
                <a:latin typeface="Roboto" panose="02000000000000000000" pitchFamily="2" charset="0"/>
                <a:ea typeface="Roboto" panose="02000000000000000000" pitchFamily="2" charset="0"/>
                <a:cs typeface="Roboto" panose="02000000000000000000" pitchFamily="2" charset="0"/>
              </a:rPr>
              <a:t>ow individuals perceive, interpret, and predict various situations [14]</a:t>
            </a:r>
            <a:endParaRPr lang="en-US" sz="2400" dirty="0">
              <a:latin typeface="Roboto" panose="02000000000000000000" pitchFamily="2" charset="0"/>
              <a:ea typeface="Roboto" panose="02000000000000000000" pitchFamily="2" charset="0"/>
              <a:cs typeface="Roboto" panose="02000000000000000000" pitchFamily="2" charset="0"/>
            </a:endParaRPr>
          </a:p>
          <a:p>
            <a:r>
              <a:rPr lang="en-US" sz="2400" dirty="0">
                <a:latin typeface="Roboto" panose="02000000000000000000" pitchFamily="2" charset="0"/>
                <a:ea typeface="Roboto" panose="02000000000000000000" pitchFamily="2" charset="0"/>
                <a:cs typeface="Roboto" panose="02000000000000000000" pitchFamily="2" charset="0"/>
              </a:rPr>
              <a:t>Develop deeper understanding</a:t>
            </a:r>
            <a:r>
              <a:rPr lang="en-US" sz="2000" dirty="0">
                <a:latin typeface="Roboto" panose="02000000000000000000" pitchFamily="2" charset="0"/>
                <a:ea typeface="Roboto" panose="02000000000000000000" pitchFamily="2" charset="0"/>
                <a:cs typeface="Roboto" panose="02000000000000000000" pitchFamily="2" charset="0"/>
              </a:rPr>
              <a:t> </a:t>
            </a:r>
          </a:p>
          <a:p>
            <a:pPr lvl="1"/>
            <a:r>
              <a:rPr lang="en-US" sz="2000" dirty="0">
                <a:latin typeface="Roboto" panose="02000000000000000000" pitchFamily="2" charset="0"/>
                <a:ea typeface="Roboto" panose="02000000000000000000" pitchFamily="2" charset="0"/>
                <a:cs typeface="Roboto" panose="02000000000000000000" pitchFamily="2" charset="0"/>
              </a:rPr>
              <a:t>Individuals interact with security systems [15, 16]</a:t>
            </a:r>
          </a:p>
          <a:p>
            <a:pPr lvl="1"/>
            <a:r>
              <a:rPr lang="en-US" sz="2000" dirty="0">
                <a:latin typeface="Roboto" panose="02000000000000000000" pitchFamily="2" charset="0"/>
                <a:ea typeface="Roboto" panose="02000000000000000000" pitchFamily="2" charset="0"/>
                <a:cs typeface="Roboto" panose="02000000000000000000" pitchFamily="2" charset="0"/>
              </a:rPr>
              <a:t>Inform solutions and interventions</a:t>
            </a:r>
          </a:p>
        </p:txBody>
      </p:sp>
      <p:sp>
        <p:nvSpPr>
          <p:cNvPr id="2" name="TextBox 1">
            <a:extLst>
              <a:ext uri="{FF2B5EF4-FFF2-40B4-BE49-F238E27FC236}">
                <a16:creationId xmlns:a16="http://schemas.microsoft.com/office/drawing/2014/main" id="{137584B9-E69D-859F-CDDB-D0BB7BBF137F}"/>
              </a:ext>
            </a:extLst>
          </p:cNvPr>
          <p:cNvSpPr txBox="1"/>
          <p:nvPr/>
        </p:nvSpPr>
        <p:spPr>
          <a:xfrm>
            <a:off x="838200" y="5835770"/>
            <a:ext cx="10515599" cy="861774"/>
          </a:xfrm>
          <a:prstGeom prst="rect">
            <a:avLst/>
          </a:prstGeom>
          <a:noFill/>
        </p:spPr>
        <p:txBody>
          <a:bodyPr wrap="square" rtlCol="0">
            <a:spAutoFit/>
          </a:bodyPr>
          <a:lstStyle/>
          <a:p>
            <a:r>
              <a:rPr lang="en-US" sz="1000" dirty="0">
                <a:latin typeface="Roboto" panose="02000000000000000000" pitchFamily="2" charset="0"/>
                <a:ea typeface="Roboto" panose="02000000000000000000" pitchFamily="2" charset="0"/>
                <a:cs typeface="Roboto" panose="02000000000000000000" pitchFamily="2" charset="0"/>
              </a:rPr>
              <a:t>[14] </a:t>
            </a:r>
            <a:r>
              <a:rPr lang="en-US" sz="1000" dirty="0" err="1">
                <a:effectLst/>
                <a:latin typeface="Roboto" panose="02000000000000000000" pitchFamily="2" charset="0"/>
                <a:ea typeface="Roboto" panose="02000000000000000000" pitchFamily="2" charset="0"/>
                <a:cs typeface="Roboto" panose="02000000000000000000" pitchFamily="2" charset="0"/>
              </a:rPr>
              <a:t>Dedre</a:t>
            </a:r>
            <a:r>
              <a:rPr lang="en-US" sz="1000" dirty="0">
                <a:effectLst/>
                <a:latin typeface="Roboto" panose="02000000000000000000" pitchFamily="2" charset="0"/>
                <a:ea typeface="Roboto" panose="02000000000000000000" pitchFamily="2" charset="0"/>
                <a:cs typeface="Roboto" panose="02000000000000000000" pitchFamily="2" charset="0"/>
              </a:rPr>
              <a:t> Gentner and Albert L Stevens. Mental models. Psychology Press, 2014.</a:t>
            </a:r>
            <a:endParaRPr lang="en-US" sz="1000" dirty="0">
              <a:latin typeface="Roboto" panose="02000000000000000000" pitchFamily="2" charset="0"/>
              <a:ea typeface="Roboto" panose="02000000000000000000" pitchFamily="2" charset="0"/>
              <a:cs typeface="Roboto" panose="02000000000000000000" pitchFamily="2" charset="0"/>
            </a:endParaRPr>
          </a:p>
          <a:p>
            <a:r>
              <a:rPr lang="en-US" sz="1000" dirty="0">
                <a:latin typeface="Roboto" panose="02000000000000000000" pitchFamily="2" charset="0"/>
                <a:ea typeface="Roboto" panose="02000000000000000000" pitchFamily="2" charset="0"/>
                <a:cs typeface="Roboto" panose="02000000000000000000" pitchFamily="2" charset="0"/>
              </a:rPr>
              <a:t>[15] </a:t>
            </a:r>
            <a:r>
              <a:rPr lang="en-US" sz="1000" dirty="0" err="1">
                <a:effectLst/>
                <a:latin typeface="Roboto" panose="02000000000000000000" pitchFamily="2" charset="0"/>
                <a:ea typeface="Roboto" panose="02000000000000000000" pitchFamily="2" charset="0"/>
                <a:cs typeface="Roboto" panose="02000000000000000000" pitchFamily="2" charset="0"/>
              </a:rPr>
              <a:t>Ruogu</a:t>
            </a:r>
            <a:r>
              <a:rPr lang="en-US" sz="1000" dirty="0">
                <a:effectLst/>
                <a:latin typeface="Roboto" panose="02000000000000000000" pitchFamily="2" charset="0"/>
                <a:ea typeface="Roboto" panose="02000000000000000000" pitchFamily="2" charset="0"/>
                <a:cs typeface="Roboto" panose="02000000000000000000" pitchFamily="2" charset="0"/>
              </a:rPr>
              <a:t> Kang, Laura </a:t>
            </a:r>
            <a:r>
              <a:rPr lang="en-US" sz="1000" dirty="0" err="1">
                <a:effectLst/>
                <a:latin typeface="Roboto" panose="02000000000000000000" pitchFamily="2" charset="0"/>
                <a:ea typeface="Roboto" panose="02000000000000000000" pitchFamily="2" charset="0"/>
                <a:cs typeface="Roboto" panose="02000000000000000000" pitchFamily="2" charset="0"/>
              </a:rPr>
              <a:t>Dabbish</a:t>
            </a:r>
            <a:r>
              <a:rPr lang="en-US" sz="1000" dirty="0">
                <a:effectLst/>
                <a:latin typeface="Roboto" panose="02000000000000000000" pitchFamily="2" charset="0"/>
                <a:ea typeface="Roboto" panose="02000000000000000000" pitchFamily="2" charset="0"/>
                <a:cs typeface="Roboto" panose="02000000000000000000" pitchFamily="2" charset="0"/>
              </a:rPr>
              <a:t>, Nathaniel Fruchter, and Sara Kiesler. “My data just goes </a:t>
            </a:r>
            <a:r>
              <a:rPr lang="en-US" sz="1000" dirty="0">
                <a:latin typeface="Roboto" panose="02000000000000000000" pitchFamily="2" charset="0"/>
                <a:ea typeface="Roboto" panose="02000000000000000000" pitchFamily="2" charset="0"/>
                <a:cs typeface="Roboto" panose="02000000000000000000" pitchFamily="2" charset="0"/>
              </a:rPr>
              <a:t>E</a:t>
            </a:r>
            <a:r>
              <a:rPr lang="en-US" sz="1000" dirty="0">
                <a:effectLst/>
                <a:latin typeface="Roboto" panose="02000000000000000000" pitchFamily="2" charset="0"/>
                <a:ea typeface="Roboto" panose="02000000000000000000" pitchFamily="2" charset="0"/>
                <a:cs typeface="Roboto" panose="02000000000000000000" pitchFamily="2" charset="0"/>
              </a:rPr>
              <a:t>verywhere:” </a:t>
            </a:r>
            <a:r>
              <a:rPr lang="en-US" sz="1000" dirty="0">
                <a:latin typeface="Roboto" panose="02000000000000000000" pitchFamily="2" charset="0"/>
                <a:ea typeface="Roboto" panose="02000000000000000000" pitchFamily="2" charset="0"/>
                <a:cs typeface="Roboto" panose="02000000000000000000" pitchFamily="2" charset="0"/>
              </a:rPr>
              <a:t>U</a:t>
            </a:r>
            <a:r>
              <a:rPr lang="en-US" sz="1000" dirty="0">
                <a:effectLst/>
                <a:latin typeface="Roboto" panose="02000000000000000000" pitchFamily="2" charset="0"/>
                <a:ea typeface="Roboto" panose="02000000000000000000" pitchFamily="2" charset="0"/>
                <a:cs typeface="Roboto" panose="02000000000000000000" pitchFamily="2" charset="0"/>
              </a:rPr>
              <a:t>ser</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Mental </a:t>
            </a:r>
            <a:r>
              <a:rPr lang="en-US" sz="1000" dirty="0">
                <a:latin typeface="Roboto" panose="02000000000000000000" pitchFamily="2" charset="0"/>
                <a:ea typeface="Roboto" panose="02000000000000000000" pitchFamily="2" charset="0"/>
                <a:cs typeface="Roboto" panose="02000000000000000000" pitchFamily="2" charset="0"/>
              </a:rPr>
              <a:t>M</a:t>
            </a:r>
            <a:r>
              <a:rPr lang="en-US" sz="1000" dirty="0">
                <a:effectLst/>
                <a:latin typeface="Roboto" panose="02000000000000000000" pitchFamily="2" charset="0"/>
                <a:ea typeface="Roboto" panose="02000000000000000000" pitchFamily="2" charset="0"/>
                <a:cs typeface="Roboto" panose="02000000000000000000" pitchFamily="2" charset="0"/>
              </a:rPr>
              <a:t>odels of the Internet and Implications for Privacy and Security. In Eleventh Symposium on Usable </a:t>
            </a:r>
            <a:r>
              <a:rPr lang="en-US" sz="1000" dirty="0">
                <a:latin typeface="Roboto" panose="02000000000000000000" pitchFamily="2" charset="0"/>
                <a:ea typeface="Roboto" panose="02000000000000000000" pitchFamily="2" charset="0"/>
                <a:cs typeface="Roboto" panose="02000000000000000000" pitchFamily="2" charset="0"/>
              </a:rPr>
              <a:t>P</a:t>
            </a:r>
            <a:r>
              <a:rPr lang="en-US" sz="1000" dirty="0">
                <a:effectLst/>
                <a:latin typeface="Roboto" panose="02000000000000000000" pitchFamily="2" charset="0"/>
                <a:ea typeface="Roboto" panose="02000000000000000000" pitchFamily="2" charset="0"/>
                <a:cs typeface="Roboto" panose="02000000000000000000" pitchFamily="2" charset="0"/>
              </a:rPr>
              <a:t>rivacy</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and Security (SOUPS 2015).</a:t>
            </a:r>
          </a:p>
          <a:p>
            <a:r>
              <a:rPr lang="en-US" sz="1000" dirty="0">
                <a:latin typeface="Roboto" panose="02000000000000000000" pitchFamily="2" charset="0"/>
                <a:ea typeface="Roboto" panose="02000000000000000000" pitchFamily="2" charset="0"/>
                <a:cs typeface="Roboto" panose="02000000000000000000" pitchFamily="2" charset="0"/>
              </a:rPr>
              <a:t>[16] </a:t>
            </a:r>
            <a:r>
              <a:rPr lang="en-US" sz="1000" dirty="0">
                <a:effectLst/>
                <a:latin typeface="Roboto" panose="02000000000000000000" pitchFamily="2" charset="0"/>
                <a:ea typeface="Roboto" panose="02000000000000000000" pitchFamily="2" charset="0"/>
                <a:cs typeface="Roboto" panose="02000000000000000000" pitchFamily="2" charset="0"/>
              </a:rPr>
              <a:t>Katharina </a:t>
            </a:r>
            <a:r>
              <a:rPr lang="en-US" sz="1000" dirty="0" err="1">
                <a:effectLst/>
                <a:latin typeface="Roboto" panose="02000000000000000000" pitchFamily="2" charset="0"/>
                <a:ea typeface="Roboto" panose="02000000000000000000" pitchFamily="2" charset="0"/>
                <a:cs typeface="Roboto" panose="02000000000000000000" pitchFamily="2" charset="0"/>
              </a:rPr>
              <a:t>Krombholz</a:t>
            </a:r>
            <a:r>
              <a:rPr lang="en-US" sz="1000" dirty="0">
                <a:effectLst/>
                <a:latin typeface="Roboto" panose="02000000000000000000" pitchFamily="2" charset="0"/>
                <a:ea typeface="Roboto" panose="02000000000000000000" pitchFamily="2" charset="0"/>
                <a:cs typeface="Roboto" panose="02000000000000000000" pitchFamily="2" charset="0"/>
              </a:rPr>
              <a:t>, Karoline Busse, Katharina Pfeffer, Matthew Smith, and Emanuel Von </a:t>
            </a:r>
            <a:r>
              <a:rPr lang="en-US" sz="1000" dirty="0" err="1">
                <a:effectLst/>
                <a:latin typeface="Roboto" panose="02000000000000000000" pitchFamily="2" charset="0"/>
                <a:ea typeface="Roboto" panose="02000000000000000000" pitchFamily="2" charset="0"/>
                <a:cs typeface="Roboto" panose="02000000000000000000" pitchFamily="2" charset="0"/>
              </a:rPr>
              <a:t>Zezschwitz</a:t>
            </a:r>
            <a:r>
              <a:rPr lang="en-US" sz="1000" dirty="0">
                <a:effectLst/>
                <a:latin typeface="Roboto" panose="02000000000000000000" pitchFamily="2" charset="0"/>
                <a:ea typeface="Roboto" panose="02000000000000000000" pitchFamily="2" charset="0"/>
                <a:cs typeface="Roboto" panose="02000000000000000000" pitchFamily="2" charset="0"/>
              </a:rPr>
              <a:t>. </a:t>
            </a:r>
            <a:r>
              <a:rPr lang="en-US" sz="1000" dirty="0">
                <a:latin typeface="Roboto" panose="02000000000000000000" pitchFamily="2" charset="0"/>
                <a:ea typeface="Roboto" panose="02000000000000000000" pitchFamily="2" charset="0"/>
                <a:cs typeface="Roboto" panose="02000000000000000000" pitchFamily="2" charset="0"/>
              </a:rPr>
              <a:t>“If</a:t>
            </a:r>
            <a:r>
              <a:rPr lang="en-US" sz="1000" dirty="0">
                <a:effectLst/>
                <a:latin typeface="Roboto" panose="02000000000000000000" pitchFamily="2" charset="0"/>
                <a:ea typeface="Roboto" panose="02000000000000000000" pitchFamily="2" charset="0"/>
                <a:cs typeface="Roboto" panose="02000000000000000000" pitchFamily="2" charset="0"/>
              </a:rPr>
              <a:t> https</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were secure, </a:t>
            </a:r>
            <a:r>
              <a:rPr lang="en-US" sz="1000" dirty="0">
                <a:latin typeface="Roboto" panose="02000000000000000000" pitchFamily="2" charset="0"/>
                <a:ea typeface="Roboto" panose="02000000000000000000" pitchFamily="2" charset="0"/>
                <a:cs typeface="Roboto" panose="02000000000000000000" pitchFamily="2" charset="0"/>
              </a:rPr>
              <a:t>I </a:t>
            </a:r>
            <a:r>
              <a:rPr lang="en-US" sz="1000" dirty="0">
                <a:effectLst/>
                <a:latin typeface="Roboto" panose="02000000000000000000" pitchFamily="2" charset="0"/>
                <a:ea typeface="Roboto" panose="02000000000000000000" pitchFamily="2" charset="0"/>
                <a:cs typeface="Roboto" panose="02000000000000000000" pitchFamily="2" charset="0"/>
              </a:rPr>
              <a:t>wouldn’t need </a:t>
            </a:r>
            <a:r>
              <a:rPr lang="en-US" sz="1000" dirty="0">
                <a:latin typeface="Roboto" panose="02000000000000000000" pitchFamily="2" charset="0"/>
                <a:ea typeface="Roboto" panose="02000000000000000000" pitchFamily="2" charset="0"/>
                <a:cs typeface="Roboto" panose="02000000000000000000" pitchFamily="2" charset="0"/>
              </a:rPr>
              <a:t>2FA</a:t>
            </a:r>
            <a:r>
              <a:rPr lang="en-US" sz="1000" dirty="0">
                <a:effectLst/>
                <a:latin typeface="Roboto" panose="02000000000000000000" pitchFamily="2" charset="0"/>
                <a:ea typeface="Roboto" panose="02000000000000000000" pitchFamily="2" charset="0"/>
                <a:cs typeface="Roboto" panose="02000000000000000000" pitchFamily="2" charset="0"/>
              </a:rPr>
              <a:t>”- End </a:t>
            </a:r>
            <a:r>
              <a:rPr lang="en-US" sz="1000" dirty="0">
                <a:latin typeface="Roboto" panose="02000000000000000000" pitchFamily="2" charset="0"/>
                <a:ea typeface="Roboto" panose="02000000000000000000" pitchFamily="2" charset="0"/>
                <a:cs typeface="Roboto" panose="02000000000000000000" pitchFamily="2" charset="0"/>
              </a:rPr>
              <a:t>U</a:t>
            </a:r>
            <a:r>
              <a:rPr lang="en-US" sz="1000" dirty="0">
                <a:effectLst/>
                <a:latin typeface="Roboto" panose="02000000000000000000" pitchFamily="2" charset="0"/>
                <a:ea typeface="Roboto" panose="02000000000000000000" pitchFamily="2" charset="0"/>
                <a:cs typeface="Roboto" panose="02000000000000000000" pitchFamily="2" charset="0"/>
              </a:rPr>
              <a:t>ser and Administrator </a:t>
            </a:r>
            <a:r>
              <a:rPr lang="en-US" sz="1000" dirty="0">
                <a:latin typeface="Roboto" panose="02000000000000000000" pitchFamily="2" charset="0"/>
                <a:ea typeface="Roboto" panose="02000000000000000000" pitchFamily="2" charset="0"/>
                <a:cs typeface="Roboto" panose="02000000000000000000" pitchFamily="2" charset="0"/>
              </a:rPr>
              <a:t>M</a:t>
            </a:r>
            <a:r>
              <a:rPr lang="en-US" sz="1000" dirty="0">
                <a:effectLst/>
                <a:latin typeface="Roboto" panose="02000000000000000000" pitchFamily="2" charset="0"/>
                <a:ea typeface="Roboto" panose="02000000000000000000" pitchFamily="2" charset="0"/>
                <a:cs typeface="Roboto" panose="02000000000000000000" pitchFamily="2" charset="0"/>
              </a:rPr>
              <a:t>ental </a:t>
            </a:r>
            <a:r>
              <a:rPr lang="en-US" sz="1000" dirty="0">
                <a:latin typeface="Roboto" panose="02000000000000000000" pitchFamily="2" charset="0"/>
                <a:ea typeface="Roboto" panose="02000000000000000000" pitchFamily="2" charset="0"/>
                <a:cs typeface="Roboto" panose="02000000000000000000" pitchFamily="2" charset="0"/>
              </a:rPr>
              <a:t>M</a:t>
            </a:r>
            <a:r>
              <a:rPr lang="en-US" sz="1000" dirty="0">
                <a:effectLst/>
                <a:latin typeface="Roboto" panose="02000000000000000000" pitchFamily="2" charset="0"/>
                <a:ea typeface="Roboto" panose="02000000000000000000" pitchFamily="2" charset="0"/>
                <a:cs typeface="Roboto" panose="02000000000000000000" pitchFamily="2" charset="0"/>
              </a:rPr>
              <a:t>odels of HTTPS. In 2019 IEEE Symposium on</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Security and Privacy (SP).</a:t>
            </a:r>
          </a:p>
        </p:txBody>
      </p:sp>
      <p:sp>
        <p:nvSpPr>
          <p:cNvPr id="8" name="Slide Number Placeholder 7">
            <a:extLst>
              <a:ext uri="{FF2B5EF4-FFF2-40B4-BE49-F238E27FC236}">
                <a16:creationId xmlns:a16="http://schemas.microsoft.com/office/drawing/2014/main" id="{56FF28BB-9DCA-4969-EA60-07C6B97C4FE6}"/>
              </a:ext>
            </a:extLst>
          </p:cNvPr>
          <p:cNvSpPr>
            <a:spLocks noGrp="1"/>
          </p:cNvSpPr>
          <p:nvPr>
            <p:ph type="sldNum" sz="quarter" idx="12"/>
          </p:nvPr>
        </p:nvSpPr>
        <p:spPr/>
        <p:txBody>
          <a:bodyPr/>
          <a:lstStyle/>
          <a:p>
            <a:fld id="{835FE90F-C88A-C24D-9FD5-52F0990CFAC0}" type="slidenum">
              <a:rPr lang="en-US" smtClean="0"/>
              <a:t>11</a:t>
            </a:fld>
            <a:endParaRPr lang="en-US"/>
          </a:p>
        </p:txBody>
      </p:sp>
    </p:spTree>
    <p:extLst>
      <p:ext uri="{BB962C8B-B14F-4D97-AF65-F5344CB8AC3E}">
        <p14:creationId xmlns:p14="http://schemas.microsoft.com/office/powerpoint/2010/main" val="94226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8282C-5DDE-E0DC-1D5E-6B84AC3DB3DE}"/>
              </a:ext>
            </a:extLst>
          </p:cNvPr>
          <p:cNvSpPr>
            <a:spLocks noGrp="1"/>
          </p:cNvSpPr>
          <p:nvPr>
            <p:ph type="title"/>
          </p:nvPr>
        </p:nvSpPr>
        <p:spPr/>
        <p:txBody>
          <a:bodyPr/>
          <a:lstStyle/>
          <a:p>
            <a:r>
              <a:rPr lang="en-US" dirty="0">
                <a:solidFill>
                  <a:srgbClr val="9A0031"/>
                </a:solidFill>
                <a:latin typeface="Fjalla One" panose="02000506040000020004" pitchFamily="2" charset="0"/>
              </a:rPr>
              <a:t>Quick Recap</a:t>
            </a:r>
          </a:p>
        </p:txBody>
      </p:sp>
      <p:sp>
        <p:nvSpPr>
          <p:cNvPr id="3" name="Content Placeholder 2">
            <a:extLst>
              <a:ext uri="{FF2B5EF4-FFF2-40B4-BE49-F238E27FC236}">
                <a16:creationId xmlns:a16="http://schemas.microsoft.com/office/drawing/2014/main" id="{D6BAD168-8982-4FF5-D543-594BD0FB18C6}"/>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Technology alone is not enough</a:t>
            </a:r>
          </a:p>
          <a:p>
            <a:r>
              <a:rPr lang="en-US" sz="2400" dirty="0">
                <a:latin typeface="Roboto" panose="02000000000000000000" pitchFamily="2" charset="0"/>
                <a:ea typeface="Roboto" panose="02000000000000000000" pitchFamily="2" charset="0"/>
                <a:cs typeface="Roboto" panose="02000000000000000000" pitchFamily="2" charset="0"/>
              </a:rPr>
              <a:t>Shift focus from human-as-a-problem to human-as-a-solution [17]</a:t>
            </a:r>
          </a:p>
          <a:p>
            <a:r>
              <a:rPr lang="en-US" sz="2400" dirty="0">
                <a:latin typeface="Roboto" panose="02000000000000000000" pitchFamily="2" charset="0"/>
                <a:ea typeface="Roboto" panose="02000000000000000000" pitchFamily="2" charset="0"/>
                <a:cs typeface="Roboto" panose="02000000000000000000" pitchFamily="2" charset="0"/>
              </a:rPr>
              <a:t>Cybersecurity: A socio-technical system</a:t>
            </a:r>
          </a:p>
        </p:txBody>
      </p:sp>
      <p:sp>
        <p:nvSpPr>
          <p:cNvPr id="5" name="TextBox 4">
            <a:extLst>
              <a:ext uri="{FF2B5EF4-FFF2-40B4-BE49-F238E27FC236}">
                <a16:creationId xmlns:a16="http://schemas.microsoft.com/office/drawing/2014/main" id="{D9781CE1-2031-786A-0980-86D2C0E39C01}"/>
              </a:ext>
            </a:extLst>
          </p:cNvPr>
          <p:cNvSpPr txBox="1"/>
          <p:nvPr/>
        </p:nvSpPr>
        <p:spPr>
          <a:xfrm>
            <a:off x="838200" y="6321365"/>
            <a:ext cx="4960012" cy="400110"/>
          </a:xfrm>
          <a:prstGeom prst="rect">
            <a:avLst/>
          </a:prstGeom>
          <a:noFill/>
        </p:spPr>
        <p:txBody>
          <a:bodyPr wrap="none" rtlCol="0">
            <a:spAutoFit/>
          </a:bodyPr>
          <a:lstStyle/>
          <a:p>
            <a:r>
              <a:rPr lang="en-US" sz="1000" dirty="0">
                <a:latin typeface="Roboto" panose="02000000000000000000" pitchFamily="2" charset="0"/>
                <a:ea typeface="Roboto" panose="02000000000000000000" pitchFamily="2" charset="0"/>
                <a:cs typeface="Roboto" panose="02000000000000000000" pitchFamily="2" charset="0"/>
              </a:rPr>
              <a:t>[17] </a:t>
            </a:r>
            <a:r>
              <a:rPr lang="en-US" sz="1000" dirty="0">
                <a:effectLst/>
                <a:latin typeface="Roboto" panose="02000000000000000000" pitchFamily="2" charset="0"/>
                <a:ea typeface="Roboto" panose="02000000000000000000" pitchFamily="2" charset="0"/>
                <a:cs typeface="Roboto" panose="02000000000000000000" pitchFamily="2" charset="0"/>
              </a:rPr>
              <a:t>Lorrie F Cranor. A Framework for Reasoning about the Human-in-the-loop, 2008.</a:t>
            </a:r>
          </a:p>
          <a:p>
            <a:endParaRPr lang="en-US" sz="1000" dirty="0">
              <a:latin typeface="Roboto" panose="02000000000000000000" pitchFamily="2" charset="0"/>
              <a:ea typeface="Roboto" panose="02000000000000000000" pitchFamily="2" charset="0"/>
              <a:cs typeface="Roboto" panose="02000000000000000000" pitchFamily="2" charset="0"/>
            </a:endParaRPr>
          </a:p>
        </p:txBody>
      </p:sp>
      <p:sp>
        <p:nvSpPr>
          <p:cNvPr id="8" name="Slide Number Placeholder 7">
            <a:extLst>
              <a:ext uri="{FF2B5EF4-FFF2-40B4-BE49-F238E27FC236}">
                <a16:creationId xmlns:a16="http://schemas.microsoft.com/office/drawing/2014/main" id="{1374EC33-1444-2D29-27A8-2EDAE0B44882}"/>
              </a:ext>
            </a:extLst>
          </p:cNvPr>
          <p:cNvSpPr>
            <a:spLocks noGrp="1"/>
          </p:cNvSpPr>
          <p:nvPr>
            <p:ph type="sldNum" sz="quarter" idx="12"/>
          </p:nvPr>
        </p:nvSpPr>
        <p:spPr/>
        <p:txBody>
          <a:bodyPr/>
          <a:lstStyle/>
          <a:p>
            <a:fld id="{835FE90F-C88A-C24D-9FD5-52F0990CFAC0}" type="slidenum">
              <a:rPr lang="en-US" smtClean="0"/>
              <a:t>12</a:t>
            </a:fld>
            <a:endParaRPr lang="en-US"/>
          </a:p>
        </p:txBody>
      </p:sp>
    </p:spTree>
    <p:extLst>
      <p:ext uri="{BB962C8B-B14F-4D97-AF65-F5344CB8AC3E}">
        <p14:creationId xmlns:p14="http://schemas.microsoft.com/office/powerpoint/2010/main" val="49875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9A1585-BEF6-D64F-9A98-B0E9019D040E}"/>
              </a:ext>
            </a:extLst>
          </p:cNvPr>
          <p:cNvSpPr>
            <a:spLocks noGrp="1"/>
          </p:cNvSpPr>
          <p:nvPr>
            <p:ph idx="1"/>
          </p:nvPr>
        </p:nvSpPr>
        <p:spPr>
          <a:xfrm>
            <a:off x="838200" y="2601619"/>
            <a:ext cx="10515600" cy="1654761"/>
          </a:xfrm>
        </p:spPr>
        <p:txBody>
          <a:bodyPr>
            <a:normAutofit/>
          </a:bodyPr>
          <a:lstStyle/>
          <a:p>
            <a:pPr marL="0" indent="0" algn="ctr">
              <a:buNone/>
            </a:pPr>
            <a:r>
              <a:rPr lang="en-US" sz="3600" b="0" i="0" dirty="0">
                <a:effectLst/>
                <a:highlight>
                  <a:srgbClr val="FFC10E"/>
                </a:highlight>
                <a:latin typeface="Roboto" panose="02000000000000000000" pitchFamily="2" charset="0"/>
                <a:ea typeface="Roboto" panose="02000000000000000000" pitchFamily="2" charset="0"/>
                <a:cs typeface="Roboto" panose="02000000000000000000" pitchFamily="2" charset="0"/>
              </a:rPr>
              <a:t>Human factors</a:t>
            </a:r>
            <a:r>
              <a:rPr lang="en-US" sz="3600" b="0" i="0" dirty="0">
                <a:effectLst/>
                <a:latin typeface="Roboto" panose="02000000000000000000" pitchFamily="2" charset="0"/>
                <a:ea typeface="Roboto" panose="02000000000000000000" pitchFamily="2" charset="0"/>
                <a:cs typeface="Roboto" panose="02000000000000000000" pitchFamily="2" charset="0"/>
              </a:rPr>
              <a:t> is the study of </a:t>
            </a:r>
            <a:r>
              <a:rPr lang="en-US" sz="3600" b="0" i="0" dirty="0">
                <a:solidFill>
                  <a:srgbClr val="9A0031"/>
                </a:solidFill>
                <a:effectLst/>
                <a:latin typeface="Roboto" panose="02000000000000000000" pitchFamily="2" charset="0"/>
                <a:ea typeface="Roboto" panose="02000000000000000000" pitchFamily="2" charset="0"/>
                <a:cs typeface="Roboto" panose="02000000000000000000" pitchFamily="2" charset="0"/>
              </a:rPr>
              <a:t>how people interact with systems, environments, and technology</a:t>
            </a:r>
            <a:r>
              <a:rPr lang="en-US" sz="3600" b="0" i="0" dirty="0">
                <a:effectLst/>
                <a:latin typeface="Roboto" panose="02000000000000000000" pitchFamily="2" charset="0"/>
                <a:ea typeface="Roboto" panose="02000000000000000000" pitchFamily="2" charset="0"/>
                <a:cs typeface="Roboto" panose="02000000000000000000" pitchFamily="2" charset="0"/>
              </a:rPr>
              <a:t>. The goal is to improve safety, efficiency, and usability.</a:t>
            </a:r>
            <a:endParaRPr lang="en-US" sz="3600" dirty="0">
              <a:latin typeface="Roboto" panose="02000000000000000000" pitchFamily="2" charset="0"/>
              <a:ea typeface="Roboto" panose="02000000000000000000" pitchFamily="2" charset="0"/>
              <a:cs typeface="Roboto" panose="02000000000000000000" pitchFamily="2" charset="0"/>
            </a:endParaRPr>
          </a:p>
        </p:txBody>
      </p:sp>
      <p:sp>
        <p:nvSpPr>
          <p:cNvPr id="7" name="Slide Number Placeholder 6">
            <a:extLst>
              <a:ext uri="{FF2B5EF4-FFF2-40B4-BE49-F238E27FC236}">
                <a16:creationId xmlns:a16="http://schemas.microsoft.com/office/drawing/2014/main" id="{26C20D30-0C4C-130A-274B-FFFBDD896C07}"/>
              </a:ext>
            </a:extLst>
          </p:cNvPr>
          <p:cNvSpPr>
            <a:spLocks noGrp="1"/>
          </p:cNvSpPr>
          <p:nvPr>
            <p:ph type="sldNum" sz="quarter" idx="12"/>
          </p:nvPr>
        </p:nvSpPr>
        <p:spPr/>
        <p:txBody>
          <a:bodyPr/>
          <a:lstStyle/>
          <a:p>
            <a:fld id="{835FE90F-C88A-C24D-9FD5-52F0990CFAC0}" type="slidenum">
              <a:rPr lang="en-US" smtClean="0"/>
              <a:t>13</a:t>
            </a:fld>
            <a:endParaRPr lang="en-US"/>
          </a:p>
        </p:txBody>
      </p:sp>
    </p:spTree>
    <p:extLst>
      <p:ext uri="{BB962C8B-B14F-4D97-AF65-F5344CB8AC3E}">
        <p14:creationId xmlns:p14="http://schemas.microsoft.com/office/powerpoint/2010/main" val="1911243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41A58-7E9B-CB5B-5840-7C9B71D40E5D}"/>
              </a:ext>
            </a:extLst>
          </p:cNvPr>
          <p:cNvSpPr>
            <a:spLocks noGrp="1"/>
          </p:cNvSpPr>
          <p:nvPr>
            <p:ph type="title"/>
          </p:nvPr>
        </p:nvSpPr>
        <p:spPr/>
        <p:txBody>
          <a:bodyPr/>
          <a:lstStyle/>
          <a:p>
            <a:r>
              <a:rPr lang="en-US" dirty="0">
                <a:solidFill>
                  <a:srgbClr val="9A0031"/>
                </a:solidFill>
                <a:latin typeface="Fjalla One" panose="02000506040000020004" pitchFamily="2" charset="0"/>
                <a:ea typeface="Roboto" panose="02000000000000000000" pitchFamily="2" charset="0"/>
                <a:cs typeface="Roboto" panose="02000000000000000000" pitchFamily="2" charset="0"/>
              </a:rPr>
              <a:t>Three Seminal Works</a:t>
            </a:r>
          </a:p>
        </p:txBody>
      </p:sp>
      <p:sp>
        <p:nvSpPr>
          <p:cNvPr id="3" name="Content Placeholder 2">
            <a:extLst>
              <a:ext uri="{FF2B5EF4-FFF2-40B4-BE49-F238E27FC236}">
                <a16:creationId xmlns:a16="http://schemas.microsoft.com/office/drawing/2014/main" id="{001D8F61-34C3-3CCF-2B0C-FD93AB63856A}"/>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User-Centered Security [18]</a:t>
            </a:r>
          </a:p>
          <a:p>
            <a:pPr lvl="1"/>
            <a:r>
              <a:rPr lang="en-US" sz="2000" dirty="0">
                <a:latin typeface="Roboto" panose="02000000000000000000" pitchFamily="2" charset="0"/>
                <a:ea typeface="Roboto" panose="02000000000000000000" pitchFamily="2" charset="0"/>
                <a:cs typeface="Roboto" panose="02000000000000000000" pitchFamily="2" charset="0"/>
              </a:rPr>
              <a:t>Introduced the idea that effective security design must consider </a:t>
            </a:r>
            <a:r>
              <a:rPr lang="en-US" sz="2000" i="1" dirty="0">
                <a:latin typeface="Roboto" panose="02000000000000000000" pitchFamily="2" charset="0"/>
                <a:ea typeface="Roboto" panose="02000000000000000000" pitchFamily="2" charset="0"/>
                <a:cs typeface="Roboto" panose="02000000000000000000" pitchFamily="2" charset="0"/>
              </a:rPr>
              <a:t>user needs, abilities, and perceptions</a:t>
            </a:r>
          </a:p>
          <a:p>
            <a:r>
              <a:rPr lang="en-US" sz="2000" dirty="0">
                <a:latin typeface="Roboto" panose="02000000000000000000" pitchFamily="2" charset="0"/>
                <a:ea typeface="Roboto" panose="02000000000000000000" pitchFamily="2" charset="0"/>
                <a:cs typeface="Roboto" panose="02000000000000000000" pitchFamily="2" charset="0"/>
              </a:rPr>
              <a:t>Users Are Not the Enemy [19]</a:t>
            </a:r>
          </a:p>
          <a:p>
            <a:pPr lvl="1"/>
            <a:r>
              <a:rPr lang="en-US" sz="2000" dirty="0">
                <a:latin typeface="Roboto" panose="02000000000000000000" pitchFamily="2" charset="0"/>
                <a:ea typeface="Roboto" panose="02000000000000000000" pitchFamily="2" charset="0"/>
                <a:cs typeface="Roboto" panose="02000000000000000000" pitchFamily="2" charset="0"/>
              </a:rPr>
              <a:t>Argued that users should be seen as </a:t>
            </a:r>
            <a:r>
              <a:rPr lang="en-US" sz="2000" i="1" dirty="0">
                <a:latin typeface="Roboto" panose="02000000000000000000" pitchFamily="2" charset="0"/>
                <a:ea typeface="Roboto" panose="02000000000000000000" pitchFamily="2" charset="0"/>
                <a:cs typeface="Roboto" panose="02000000000000000000" pitchFamily="2" charset="0"/>
              </a:rPr>
              <a:t>part of the solution, not the problem</a:t>
            </a:r>
          </a:p>
          <a:p>
            <a:r>
              <a:rPr lang="en-US" sz="2000" dirty="0">
                <a:latin typeface="Roboto" panose="02000000000000000000" pitchFamily="2" charset="0"/>
                <a:ea typeface="Roboto" panose="02000000000000000000" pitchFamily="2" charset="0"/>
                <a:cs typeface="Roboto" panose="02000000000000000000" pitchFamily="2" charset="0"/>
              </a:rPr>
              <a:t>Why Johnny Can’t Encrypt [20]</a:t>
            </a:r>
          </a:p>
          <a:p>
            <a:pPr lvl="1"/>
            <a:r>
              <a:rPr lang="en-US" sz="2000" dirty="0">
                <a:latin typeface="Roboto" panose="02000000000000000000" pitchFamily="2" charset="0"/>
                <a:ea typeface="Roboto" panose="02000000000000000000" pitchFamily="2" charset="0"/>
                <a:cs typeface="Roboto" panose="02000000000000000000" pitchFamily="2" charset="0"/>
              </a:rPr>
              <a:t>Found that even technically skilled users struggled to encrypt emails due to confusing interfaces</a:t>
            </a:r>
          </a:p>
          <a:p>
            <a:pPr lvl="1"/>
            <a:r>
              <a:rPr lang="en-US" sz="2000" dirty="0">
                <a:latin typeface="Roboto" panose="02000000000000000000" pitchFamily="2" charset="0"/>
                <a:ea typeface="Roboto" panose="02000000000000000000" pitchFamily="2" charset="0"/>
                <a:cs typeface="Roboto" panose="02000000000000000000" pitchFamily="2" charset="0"/>
              </a:rPr>
              <a:t>Security design must align with </a:t>
            </a:r>
            <a:r>
              <a:rPr lang="en-US" sz="2000" i="1" dirty="0">
                <a:latin typeface="Roboto" panose="02000000000000000000" pitchFamily="2" charset="0"/>
                <a:ea typeface="Roboto" panose="02000000000000000000" pitchFamily="2" charset="0"/>
                <a:cs typeface="Roboto" panose="02000000000000000000" pitchFamily="2" charset="0"/>
              </a:rPr>
              <a:t>user expectations</a:t>
            </a:r>
          </a:p>
          <a:p>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5A255D12-B129-43F0-B83B-EB2B7A444658}"/>
              </a:ext>
            </a:extLst>
          </p:cNvPr>
          <p:cNvSpPr txBox="1"/>
          <p:nvPr/>
        </p:nvSpPr>
        <p:spPr>
          <a:xfrm>
            <a:off x="838200" y="6031080"/>
            <a:ext cx="8105104" cy="1015663"/>
          </a:xfrm>
          <a:prstGeom prst="rect">
            <a:avLst/>
          </a:prstGeom>
          <a:noFill/>
        </p:spPr>
        <p:txBody>
          <a:bodyPr wrap="none" rtlCol="0">
            <a:spAutoFit/>
          </a:bodyPr>
          <a:lstStyle/>
          <a:p>
            <a:r>
              <a:rPr lang="en-US" sz="1000" dirty="0">
                <a:effectLst/>
                <a:latin typeface="Roboto" panose="02000000000000000000" pitchFamily="2" charset="0"/>
                <a:ea typeface="Roboto" panose="02000000000000000000" pitchFamily="2" charset="0"/>
                <a:cs typeface="Roboto" panose="02000000000000000000" pitchFamily="2" charset="0"/>
              </a:rPr>
              <a:t>[</a:t>
            </a:r>
            <a:r>
              <a:rPr lang="en-US" sz="1000" dirty="0">
                <a:latin typeface="Roboto" panose="02000000000000000000" pitchFamily="2" charset="0"/>
                <a:ea typeface="Roboto" panose="02000000000000000000" pitchFamily="2" charset="0"/>
                <a:cs typeface="Roboto" panose="02000000000000000000" pitchFamily="2" charset="0"/>
              </a:rPr>
              <a:t>18</a:t>
            </a:r>
            <a:r>
              <a:rPr lang="en-US" sz="1000" dirty="0">
                <a:effectLst/>
                <a:latin typeface="Roboto" panose="02000000000000000000" pitchFamily="2" charset="0"/>
                <a:ea typeface="Roboto" panose="02000000000000000000" pitchFamily="2" charset="0"/>
                <a:cs typeface="Roboto" panose="02000000000000000000" pitchFamily="2" charset="0"/>
              </a:rPr>
              <a:t>] Mary Ellen Zurko and Richard T Simon. User-centered security. In Proceedings of the 1996 workshop on New Security </a:t>
            </a:r>
            <a:r>
              <a:rPr lang="en-US" sz="1000" dirty="0">
                <a:latin typeface="Roboto" panose="02000000000000000000" pitchFamily="2" charset="0"/>
                <a:ea typeface="Roboto" panose="02000000000000000000" pitchFamily="2" charset="0"/>
                <a:cs typeface="Roboto" panose="02000000000000000000" pitchFamily="2" charset="0"/>
              </a:rPr>
              <a:t>P</a:t>
            </a:r>
            <a:r>
              <a:rPr lang="en-US" sz="1000" dirty="0">
                <a:effectLst/>
                <a:latin typeface="Roboto" panose="02000000000000000000" pitchFamily="2" charset="0"/>
                <a:ea typeface="Roboto" panose="02000000000000000000" pitchFamily="2" charset="0"/>
                <a:cs typeface="Roboto" panose="02000000000000000000" pitchFamily="2" charset="0"/>
              </a:rPr>
              <a:t>aradigms, 1996.</a:t>
            </a:r>
          </a:p>
          <a:p>
            <a:r>
              <a:rPr lang="en-US" sz="1000" dirty="0">
                <a:latin typeface="Roboto" panose="02000000000000000000" pitchFamily="2" charset="0"/>
                <a:ea typeface="Roboto" panose="02000000000000000000" pitchFamily="2" charset="0"/>
                <a:cs typeface="Roboto" panose="02000000000000000000" pitchFamily="2" charset="0"/>
              </a:rPr>
              <a:t>[19] </a:t>
            </a:r>
            <a:r>
              <a:rPr lang="en-US" sz="1000" dirty="0">
                <a:effectLst/>
                <a:latin typeface="Roboto" panose="02000000000000000000" pitchFamily="2" charset="0"/>
                <a:ea typeface="Roboto" panose="02000000000000000000" pitchFamily="2" charset="0"/>
                <a:cs typeface="Roboto" panose="02000000000000000000" pitchFamily="2" charset="0"/>
              </a:rPr>
              <a:t>Anne Adams and Martina Angela Sasse. Users are not the enemy. Communications of the ACM, 1999.</a:t>
            </a:r>
          </a:p>
          <a:p>
            <a:r>
              <a:rPr lang="en-US" sz="1000" dirty="0">
                <a:latin typeface="Roboto" panose="02000000000000000000" pitchFamily="2" charset="0"/>
                <a:ea typeface="Roboto" panose="02000000000000000000" pitchFamily="2" charset="0"/>
                <a:cs typeface="Roboto" panose="02000000000000000000" pitchFamily="2" charset="0"/>
              </a:rPr>
              <a:t>[20] </a:t>
            </a:r>
            <a:r>
              <a:rPr lang="en-US" sz="1000" dirty="0">
                <a:effectLst/>
                <a:latin typeface="Roboto" panose="02000000000000000000" pitchFamily="2" charset="0"/>
                <a:ea typeface="Roboto" panose="02000000000000000000" pitchFamily="2" charset="0"/>
                <a:cs typeface="Roboto" panose="02000000000000000000" pitchFamily="2" charset="0"/>
              </a:rPr>
              <a:t>Alma Whitten and J Doug </a:t>
            </a:r>
            <a:r>
              <a:rPr lang="en-US" sz="1000" dirty="0" err="1">
                <a:effectLst/>
                <a:latin typeface="Roboto" panose="02000000000000000000" pitchFamily="2" charset="0"/>
                <a:ea typeface="Roboto" panose="02000000000000000000" pitchFamily="2" charset="0"/>
                <a:cs typeface="Roboto" panose="02000000000000000000" pitchFamily="2" charset="0"/>
              </a:rPr>
              <a:t>Tygar</a:t>
            </a:r>
            <a:r>
              <a:rPr lang="en-US" sz="1000" dirty="0">
                <a:effectLst/>
                <a:latin typeface="Roboto" panose="02000000000000000000" pitchFamily="2" charset="0"/>
                <a:ea typeface="Roboto" panose="02000000000000000000" pitchFamily="2" charset="0"/>
                <a:cs typeface="Roboto" panose="02000000000000000000" pitchFamily="2" charset="0"/>
              </a:rPr>
              <a:t>. Why Johnny can’t Encrypt: A Usability </a:t>
            </a:r>
            <a:r>
              <a:rPr lang="en-US" sz="1000" dirty="0">
                <a:latin typeface="Roboto" panose="02000000000000000000" pitchFamily="2" charset="0"/>
                <a:ea typeface="Roboto" panose="02000000000000000000" pitchFamily="2" charset="0"/>
                <a:cs typeface="Roboto" panose="02000000000000000000" pitchFamily="2" charset="0"/>
              </a:rPr>
              <a:t>E</a:t>
            </a:r>
            <a:r>
              <a:rPr lang="en-US" sz="1000" dirty="0">
                <a:effectLst/>
                <a:latin typeface="Roboto" panose="02000000000000000000" pitchFamily="2" charset="0"/>
                <a:ea typeface="Roboto" panose="02000000000000000000" pitchFamily="2" charset="0"/>
                <a:cs typeface="Roboto" panose="02000000000000000000" pitchFamily="2" charset="0"/>
              </a:rPr>
              <a:t>valuation of </a:t>
            </a:r>
            <a:r>
              <a:rPr lang="en-US" sz="1000" dirty="0">
                <a:latin typeface="Roboto" panose="02000000000000000000" pitchFamily="2" charset="0"/>
                <a:ea typeface="Roboto" panose="02000000000000000000" pitchFamily="2" charset="0"/>
                <a:cs typeface="Roboto" panose="02000000000000000000" pitchFamily="2" charset="0"/>
              </a:rPr>
              <a:t>PGP</a:t>
            </a:r>
            <a:r>
              <a:rPr lang="en-US" sz="1000" dirty="0">
                <a:effectLst/>
                <a:latin typeface="Roboto" panose="02000000000000000000" pitchFamily="2" charset="0"/>
                <a:ea typeface="Roboto" panose="02000000000000000000" pitchFamily="2" charset="0"/>
                <a:cs typeface="Roboto" panose="02000000000000000000" pitchFamily="2" charset="0"/>
              </a:rPr>
              <a:t> 5.0. In USENIX Security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ymposium, 1999.</a:t>
            </a:r>
          </a:p>
          <a:p>
            <a:endParaRPr lang="en-US" sz="1000" dirty="0">
              <a:effectLst/>
              <a:latin typeface="Roboto" panose="02000000000000000000" pitchFamily="2" charset="0"/>
              <a:ea typeface="Roboto" panose="02000000000000000000" pitchFamily="2" charset="0"/>
              <a:cs typeface="Roboto" panose="02000000000000000000" pitchFamily="2" charset="0"/>
            </a:endParaRPr>
          </a:p>
          <a:p>
            <a:endParaRPr lang="en-US" sz="1000" dirty="0">
              <a:effectLst/>
              <a:latin typeface="Roboto" panose="02000000000000000000" pitchFamily="2" charset="0"/>
              <a:ea typeface="Roboto" panose="02000000000000000000" pitchFamily="2" charset="0"/>
              <a:cs typeface="Roboto" panose="02000000000000000000" pitchFamily="2" charset="0"/>
            </a:endParaRPr>
          </a:p>
          <a:p>
            <a:endParaRPr lang="en-US" sz="1000" dirty="0">
              <a:latin typeface="Roboto" panose="02000000000000000000" pitchFamily="2" charset="0"/>
              <a:ea typeface="Roboto" panose="02000000000000000000" pitchFamily="2" charset="0"/>
              <a:cs typeface="Roboto" panose="02000000000000000000" pitchFamily="2" charset="0"/>
            </a:endParaRPr>
          </a:p>
        </p:txBody>
      </p:sp>
      <p:sp>
        <p:nvSpPr>
          <p:cNvPr id="8" name="Slide Number Placeholder 7">
            <a:extLst>
              <a:ext uri="{FF2B5EF4-FFF2-40B4-BE49-F238E27FC236}">
                <a16:creationId xmlns:a16="http://schemas.microsoft.com/office/drawing/2014/main" id="{5345D1F9-3D6C-9385-F961-D02B36DDCB77}"/>
              </a:ext>
            </a:extLst>
          </p:cNvPr>
          <p:cNvSpPr>
            <a:spLocks noGrp="1"/>
          </p:cNvSpPr>
          <p:nvPr>
            <p:ph type="sldNum" sz="quarter" idx="12"/>
          </p:nvPr>
        </p:nvSpPr>
        <p:spPr/>
        <p:txBody>
          <a:bodyPr/>
          <a:lstStyle/>
          <a:p>
            <a:fld id="{835FE90F-C88A-C24D-9FD5-52F0990CFAC0}" type="slidenum">
              <a:rPr lang="en-US" smtClean="0"/>
              <a:t>14</a:t>
            </a:fld>
            <a:endParaRPr lang="en-US"/>
          </a:p>
        </p:txBody>
      </p:sp>
    </p:spTree>
    <p:extLst>
      <p:ext uri="{BB962C8B-B14F-4D97-AF65-F5344CB8AC3E}">
        <p14:creationId xmlns:p14="http://schemas.microsoft.com/office/powerpoint/2010/main" val="1113371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7FF1A-BA40-50B9-AD1D-9A9AFA344E3E}"/>
              </a:ext>
            </a:extLst>
          </p:cNvPr>
          <p:cNvSpPr>
            <a:spLocks noGrp="1"/>
          </p:cNvSpPr>
          <p:nvPr>
            <p:ph type="title"/>
          </p:nvPr>
        </p:nvSpPr>
        <p:spPr/>
        <p:txBody>
          <a:bodyPr/>
          <a:lstStyle/>
          <a:p>
            <a:r>
              <a:rPr lang="en-US" dirty="0">
                <a:solidFill>
                  <a:srgbClr val="9A0031"/>
                </a:solidFill>
                <a:latin typeface="Fjalla One" panose="02000506040000020004" pitchFamily="2" charset="0"/>
              </a:rPr>
              <a:t>Types</a:t>
            </a:r>
          </a:p>
        </p:txBody>
      </p:sp>
      <p:sp>
        <p:nvSpPr>
          <p:cNvPr id="7" name="TextBox 6">
            <a:extLst>
              <a:ext uri="{FF2B5EF4-FFF2-40B4-BE49-F238E27FC236}">
                <a16:creationId xmlns:a16="http://schemas.microsoft.com/office/drawing/2014/main" id="{3B0C4223-CA92-6E26-4BF6-916F97663DA7}"/>
              </a:ext>
            </a:extLst>
          </p:cNvPr>
          <p:cNvSpPr txBox="1"/>
          <p:nvPr/>
        </p:nvSpPr>
        <p:spPr>
          <a:xfrm>
            <a:off x="1200302" y="1527305"/>
            <a:ext cx="2150683" cy="578882"/>
          </a:xfrm>
          <a:prstGeom prst="roundRect">
            <a:avLst/>
          </a:prstGeom>
          <a:solidFill>
            <a:srgbClr val="FFC10E"/>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latin typeface="Roboto" panose="02000000000000000000" pitchFamily="2" charset="0"/>
                <a:ea typeface="Roboto" panose="02000000000000000000" pitchFamily="2" charset="0"/>
                <a:cs typeface="Roboto" panose="02000000000000000000" pitchFamily="2" charset="0"/>
              </a:rPr>
              <a:t>Observation</a:t>
            </a:r>
          </a:p>
        </p:txBody>
      </p:sp>
      <p:sp>
        <p:nvSpPr>
          <p:cNvPr id="8" name="TextBox 7">
            <a:extLst>
              <a:ext uri="{FF2B5EF4-FFF2-40B4-BE49-F238E27FC236}">
                <a16:creationId xmlns:a16="http://schemas.microsoft.com/office/drawing/2014/main" id="{A82D8262-5EDC-88FC-6CD7-7932293B840B}"/>
              </a:ext>
            </a:extLst>
          </p:cNvPr>
          <p:cNvSpPr txBox="1"/>
          <p:nvPr/>
        </p:nvSpPr>
        <p:spPr>
          <a:xfrm>
            <a:off x="5441478" y="1527305"/>
            <a:ext cx="1309035" cy="578882"/>
          </a:xfrm>
          <a:prstGeom prst="roundRect">
            <a:avLst/>
          </a:prstGeom>
          <a:solidFill>
            <a:srgbClr val="FFC10E"/>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latin typeface="Roboto" panose="02000000000000000000" pitchFamily="2" charset="0"/>
                <a:ea typeface="Roboto" panose="02000000000000000000" pitchFamily="2" charset="0"/>
                <a:cs typeface="Roboto" panose="02000000000000000000" pitchFamily="2" charset="0"/>
              </a:rPr>
              <a:t>Inquiry</a:t>
            </a:r>
          </a:p>
        </p:txBody>
      </p:sp>
      <p:sp>
        <p:nvSpPr>
          <p:cNvPr id="9" name="TextBox 8">
            <a:extLst>
              <a:ext uri="{FF2B5EF4-FFF2-40B4-BE49-F238E27FC236}">
                <a16:creationId xmlns:a16="http://schemas.microsoft.com/office/drawing/2014/main" id="{F7E3098C-2B88-F6B4-82B7-8A3AB1D02465}"/>
              </a:ext>
            </a:extLst>
          </p:cNvPr>
          <p:cNvSpPr txBox="1"/>
          <p:nvPr/>
        </p:nvSpPr>
        <p:spPr>
          <a:xfrm>
            <a:off x="9032741" y="1527305"/>
            <a:ext cx="1898918" cy="578882"/>
          </a:xfrm>
          <a:prstGeom prst="roundRect">
            <a:avLst/>
          </a:prstGeom>
          <a:solidFill>
            <a:srgbClr val="FFC10E"/>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latin typeface="Roboto" panose="02000000000000000000" pitchFamily="2" charset="0"/>
                <a:ea typeface="Roboto" panose="02000000000000000000" pitchFamily="2" charset="0"/>
                <a:cs typeface="Roboto" panose="02000000000000000000" pitchFamily="2" charset="0"/>
              </a:rPr>
              <a:t>Evaluation</a:t>
            </a:r>
          </a:p>
        </p:txBody>
      </p:sp>
      <p:sp>
        <p:nvSpPr>
          <p:cNvPr id="10" name="TextBox 9">
            <a:extLst>
              <a:ext uri="{FF2B5EF4-FFF2-40B4-BE49-F238E27FC236}">
                <a16:creationId xmlns:a16="http://schemas.microsoft.com/office/drawing/2014/main" id="{0E98DAB6-05CE-DB91-0CEB-F4CFA2C1F85D}"/>
              </a:ext>
            </a:extLst>
          </p:cNvPr>
          <p:cNvSpPr txBox="1"/>
          <p:nvPr/>
        </p:nvSpPr>
        <p:spPr>
          <a:xfrm>
            <a:off x="505336" y="2359161"/>
            <a:ext cx="3540617" cy="107721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1600" dirty="0">
                <a:latin typeface="Roboto" panose="02000000000000000000" pitchFamily="2" charset="0"/>
                <a:ea typeface="Roboto" panose="02000000000000000000" pitchFamily="2" charset="0"/>
                <a:cs typeface="Roboto" panose="02000000000000000000" pitchFamily="2" charset="0"/>
              </a:rPr>
              <a:t>Reactions to Browser Warnings [21] — Observed real-time user security decision-making without prompting them.</a:t>
            </a:r>
          </a:p>
        </p:txBody>
      </p:sp>
      <p:sp>
        <p:nvSpPr>
          <p:cNvPr id="12" name="TextBox 11">
            <a:extLst>
              <a:ext uri="{FF2B5EF4-FFF2-40B4-BE49-F238E27FC236}">
                <a16:creationId xmlns:a16="http://schemas.microsoft.com/office/drawing/2014/main" id="{F2BFBA3C-6847-9F02-5D2A-2521EE37C9C9}"/>
              </a:ext>
            </a:extLst>
          </p:cNvPr>
          <p:cNvSpPr txBox="1"/>
          <p:nvPr/>
        </p:nvSpPr>
        <p:spPr>
          <a:xfrm>
            <a:off x="4325690" y="2353418"/>
            <a:ext cx="3540617" cy="132343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1600" dirty="0">
                <a:latin typeface="Roboto" panose="02000000000000000000" pitchFamily="2" charset="0"/>
                <a:ea typeface="Roboto" panose="02000000000000000000" pitchFamily="2" charset="0"/>
                <a:cs typeface="Roboto" panose="02000000000000000000" pitchFamily="2" charset="0"/>
              </a:rPr>
              <a:t>Comparing Expert vs. Non-Expert Security Practices [23] — Identified gaps in security education and behaviors. Experts look for preventative security measures.</a:t>
            </a:r>
          </a:p>
        </p:txBody>
      </p:sp>
      <p:sp>
        <p:nvSpPr>
          <p:cNvPr id="13" name="TextBox 12">
            <a:extLst>
              <a:ext uri="{FF2B5EF4-FFF2-40B4-BE49-F238E27FC236}">
                <a16:creationId xmlns:a16="http://schemas.microsoft.com/office/drawing/2014/main" id="{F80BA3F7-BC7D-6997-9059-3535BE31E76A}"/>
              </a:ext>
            </a:extLst>
          </p:cNvPr>
          <p:cNvSpPr txBox="1"/>
          <p:nvPr/>
        </p:nvSpPr>
        <p:spPr>
          <a:xfrm>
            <a:off x="4325686" y="3924088"/>
            <a:ext cx="3540617" cy="107721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1600" dirty="0">
                <a:latin typeface="Roboto" panose="02000000000000000000" pitchFamily="2" charset="0"/>
                <a:ea typeface="Roboto" panose="02000000000000000000" pitchFamily="2" charset="0"/>
                <a:cs typeface="Roboto" panose="02000000000000000000" pitchFamily="2" charset="0"/>
              </a:rPr>
              <a:t>Security Operations Center (SOC) Challenges [24] — Understand organizational challenges that aren’t visible from just observing behavior.</a:t>
            </a:r>
          </a:p>
        </p:txBody>
      </p:sp>
      <p:sp>
        <p:nvSpPr>
          <p:cNvPr id="14" name="TextBox 13">
            <a:extLst>
              <a:ext uri="{FF2B5EF4-FFF2-40B4-BE49-F238E27FC236}">
                <a16:creationId xmlns:a16="http://schemas.microsoft.com/office/drawing/2014/main" id="{DD67B12F-F6D1-FE8F-D8F3-066FB1800712}"/>
              </a:ext>
            </a:extLst>
          </p:cNvPr>
          <p:cNvSpPr txBox="1"/>
          <p:nvPr/>
        </p:nvSpPr>
        <p:spPr>
          <a:xfrm>
            <a:off x="505335" y="3690045"/>
            <a:ext cx="3540617" cy="132343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1600" dirty="0">
                <a:latin typeface="Roboto" panose="02000000000000000000" pitchFamily="2" charset="0"/>
                <a:ea typeface="Roboto" panose="02000000000000000000" pitchFamily="2" charset="0"/>
                <a:cs typeface="Roboto" panose="02000000000000000000" pitchFamily="2" charset="0"/>
              </a:rPr>
              <a:t>Hacker Mistakes in CTF Challenges [22] — Observed cognitive and behavioral mistakes for exploit generation in natural-setting rather than relying on self-reports.</a:t>
            </a:r>
          </a:p>
        </p:txBody>
      </p:sp>
      <p:sp>
        <p:nvSpPr>
          <p:cNvPr id="15" name="TextBox 14">
            <a:extLst>
              <a:ext uri="{FF2B5EF4-FFF2-40B4-BE49-F238E27FC236}">
                <a16:creationId xmlns:a16="http://schemas.microsoft.com/office/drawing/2014/main" id="{A3C355ED-258B-9858-C654-D534F2A55771}"/>
              </a:ext>
            </a:extLst>
          </p:cNvPr>
          <p:cNvSpPr txBox="1"/>
          <p:nvPr/>
        </p:nvSpPr>
        <p:spPr>
          <a:xfrm>
            <a:off x="8146044" y="2353418"/>
            <a:ext cx="3540617"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1600" dirty="0">
                <a:latin typeface="Roboto" panose="02000000000000000000" pitchFamily="2" charset="0"/>
                <a:ea typeface="Roboto" panose="02000000000000000000" pitchFamily="2" charset="0"/>
                <a:cs typeface="Roboto" panose="02000000000000000000" pitchFamily="2" charset="0"/>
              </a:rPr>
              <a:t>GDPR Consent Notice Study [25] – Evaluation of user reaction to different types of notices.</a:t>
            </a:r>
          </a:p>
        </p:txBody>
      </p:sp>
      <p:sp>
        <p:nvSpPr>
          <p:cNvPr id="16" name="TextBox 15">
            <a:extLst>
              <a:ext uri="{FF2B5EF4-FFF2-40B4-BE49-F238E27FC236}">
                <a16:creationId xmlns:a16="http://schemas.microsoft.com/office/drawing/2014/main" id="{14FAF6DF-D89C-2EF2-5049-B7D7E4816EA7}"/>
              </a:ext>
            </a:extLst>
          </p:cNvPr>
          <p:cNvSpPr txBox="1"/>
          <p:nvPr/>
        </p:nvSpPr>
        <p:spPr>
          <a:xfrm>
            <a:off x="8146043" y="3431646"/>
            <a:ext cx="3540617" cy="15696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1600" dirty="0">
                <a:latin typeface="Roboto" panose="02000000000000000000" pitchFamily="2" charset="0"/>
                <a:ea typeface="Roboto" panose="02000000000000000000" pitchFamily="2" charset="0"/>
                <a:cs typeface="Roboto" panose="02000000000000000000" pitchFamily="2" charset="0"/>
              </a:rPr>
              <a:t>Impact of Information Sources on Code Security [26] – Tested whether developers who rely on Stack Overflow for coding advice write less secure code compared to those who use official documentation.</a:t>
            </a:r>
          </a:p>
        </p:txBody>
      </p:sp>
      <p:sp>
        <p:nvSpPr>
          <p:cNvPr id="17" name="TextBox 16">
            <a:extLst>
              <a:ext uri="{FF2B5EF4-FFF2-40B4-BE49-F238E27FC236}">
                <a16:creationId xmlns:a16="http://schemas.microsoft.com/office/drawing/2014/main" id="{27458C96-C2BB-3D1F-0FF3-6DF5DA680200}"/>
              </a:ext>
            </a:extLst>
          </p:cNvPr>
          <p:cNvSpPr txBox="1"/>
          <p:nvPr/>
        </p:nvSpPr>
        <p:spPr>
          <a:xfrm>
            <a:off x="505335" y="6002407"/>
            <a:ext cx="11037481" cy="707886"/>
          </a:xfrm>
          <a:prstGeom prst="rect">
            <a:avLst/>
          </a:prstGeom>
          <a:noFill/>
        </p:spPr>
        <p:txBody>
          <a:bodyPr wrap="square" rtlCol="0">
            <a:spAutoFit/>
          </a:bodyPr>
          <a:lstStyle/>
          <a:p>
            <a:r>
              <a:rPr lang="en-US" sz="1000" dirty="0">
                <a:latin typeface="Roboto" panose="02000000000000000000" pitchFamily="2" charset="0"/>
                <a:ea typeface="Roboto" panose="02000000000000000000" pitchFamily="2" charset="0"/>
                <a:cs typeface="Roboto" panose="02000000000000000000" pitchFamily="2" charset="0"/>
              </a:rPr>
              <a:t>[21] </a:t>
            </a:r>
            <a:r>
              <a:rPr lang="en-US" sz="1000" dirty="0">
                <a:effectLst/>
                <a:latin typeface="Roboto" panose="02000000000000000000" pitchFamily="2" charset="0"/>
                <a:ea typeface="Roboto" panose="02000000000000000000" pitchFamily="2" charset="0"/>
                <a:cs typeface="Roboto" panose="02000000000000000000" pitchFamily="2" charset="0"/>
              </a:rPr>
              <a:t>Robert W Reeder, Adrienne Porter Felt, Sunny </a:t>
            </a:r>
            <a:r>
              <a:rPr lang="en-US" sz="1000" dirty="0" err="1">
                <a:effectLst/>
                <a:latin typeface="Roboto" panose="02000000000000000000" pitchFamily="2" charset="0"/>
                <a:ea typeface="Roboto" panose="02000000000000000000" pitchFamily="2" charset="0"/>
                <a:cs typeface="Roboto" panose="02000000000000000000" pitchFamily="2" charset="0"/>
              </a:rPr>
              <a:t>Consolvo</a:t>
            </a:r>
            <a:r>
              <a:rPr lang="en-US" sz="1000" dirty="0">
                <a:effectLst/>
                <a:latin typeface="Roboto" panose="02000000000000000000" pitchFamily="2" charset="0"/>
                <a:ea typeface="Roboto" panose="02000000000000000000" pitchFamily="2" charset="0"/>
                <a:cs typeface="Roboto" panose="02000000000000000000" pitchFamily="2" charset="0"/>
              </a:rPr>
              <a:t>, Nathan Malkin, Christopher Thompson, and Serge </a:t>
            </a:r>
            <a:r>
              <a:rPr lang="en-US" sz="1000" dirty="0" err="1">
                <a:effectLst/>
                <a:latin typeface="Roboto" panose="02000000000000000000" pitchFamily="2" charset="0"/>
                <a:ea typeface="Roboto" panose="02000000000000000000" pitchFamily="2" charset="0"/>
                <a:cs typeface="Roboto" panose="02000000000000000000" pitchFamily="2" charset="0"/>
              </a:rPr>
              <a:t>Egelman</a:t>
            </a:r>
            <a:r>
              <a:rPr lang="en-US" sz="1000" dirty="0">
                <a:effectLst/>
                <a:latin typeface="Roboto" panose="02000000000000000000" pitchFamily="2" charset="0"/>
                <a:ea typeface="Roboto" panose="02000000000000000000" pitchFamily="2" charset="0"/>
                <a:cs typeface="Roboto" panose="02000000000000000000" pitchFamily="2" charset="0"/>
              </a:rPr>
              <a:t>.</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An Experience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ampling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tudy of User </a:t>
            </a:r>
            <a:r>
              <a:rPr lang="en-US" sz="1000" dirty="0">
                <a:latin typeface="Roboto" panose="02000000000000000000" pitchFamily="2" charset="0"/>
                <a:ea typeface="Roboto" panose="02000000000000000000" pitchFamily="2" charset="0"/>
                <a:cs typeface="Roboto" panose="02000000000000000000" pitchFamily="2" charset="0"/>
              </a:rPr>
              <a:t>R</a:t>
            </a:r>
            <a:r>
              <a:rPr lang="en-US" sz="1000" dirty="0">
                <a:effectLst/>
                <a:latin typeface="Roboto" panose="02000000000000000000" pitchFamily="2" charset="0"/>
                <a:ea typeface="Roboto" panose="02000000000000000000" pitchFamily="2" charset="0"/>
                <a:cs typeface="Roboto" panose="02000000000000000000" pitchFamily="2" charset="0"/>
              </a:rPr>
              <a:t>eactions to Browser </a:t>
            </a:r>
            <a:r>
              <a:rPr lang="en-US" sz="1000" dirty="0">
                <a:latin typeface="Roboto" panose="02000000000000000000" pitchFamily="2" charset="0"/>
                <a:ea typeface="Roboto" panose="02000000000000000000" pitchFamily="2" charset="0"/>
                <a:cs typeface="Roboto" panose="02000000000000000000" pitchFamily="2" charset="0"/>
              </a:rPr>
              <a:t>W</a:t>
            </a:r>
            <a:r>
              <a:rPr lang="en-US" sz="1000" dirty="0">
                <a:effectLst/>
                <a:latin typeface="Roboto" panose="02000000000000000000" pitchFamily="2" charset="0"/>
                <a:ea typeface="Roboto" panose="02000000000000000000" pitchFamily="2" charset="0"/>
                <a:cs typeface="Roboto" panose="02000000000000000000" pitchFamily="2" charset="0"/>
              </a:rPr>
              <a:t>arnings in the field. In Proceedings of the 2018</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CHI Conference on Human </a:t>
            </a:r>
            <a:r>
              <a:rPr lang="en-US" sz="1000" dirty="0">
                <a:latin typeface="Roboto" panose="02000000000000000000" pitchFamily="2" charset="0"/>
                <a:ea typeface="Roboto" panose="02000000000000000000" pitchFamily="2" charset="0"/>
                <a:cs typeface="Roboto" panose="02000000000000000000" pitchFamily="2" charset="0"/>
              </a:rPr>
              <a:t>F</a:t>
            </a:r>
            <a:r>
              <a:rPr lang="en-US" sz="1000" dirty="0">
                <a:effectLst/>
                <a:latin typeface="Roboto" panose="02000000000000000000" pitchFamily="2" charset="0"/>
                <a:ea typeface="Roboto" panose="02000000000000000000" pitchFamily="2" charset="0"/>
                <a:cs typeface="Roboto" panose="02000000000000000000" pitchFamily="2" charset="0"/>
              </a:rPr>
              <a:t>actors in Computing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ystems, 2018.</a:t>
            </a:r>
          </a:p>
          <a:p>
            <a:r>
              <a:rPr lang="en-US" sz="1000" dirty="0">
                <a:latin typeface="Roboto" panose="02000000000000000000" pitchFamily="2" charset="0"/>
                <a:ea typeface="Roboto" panose="02000000000000000000" pitchFamily="2" charset="0"/>
                <a:cs typeface="Roboto" panose="02000000000000000000" pitchFamily="2" charset="0"/>
              </a:rPr>
              <a:t>[22] </a:t>
            </a:r>
            <a:r>
              <a:rPr lang="en-US" sz="1000" dirty="0">
                <a:effectLst/>
                <a:latin typeface="Roboto" panose="02000000000000000000" pitchFamily="2" charset="0"/>
                <a:ea typeface="Roboto" panose="02000000000000000000" pitchFamily="2" charset="0"/>
                <a:cs typeface="Roboto" panose="02000000000000000000" pitchFamily="2" charset="0"/>
              </a:rPr>
              <a:t>Irina Ford, Ananta Soneji, Faris </a:t>
            </a:r>
            <a:r>
              <a:rPr lang="en-US" sz="1000" dirty="0" err="1">
                <a:effectLst/>
                <a:latin typeface="Roboto" panose="02000000000000000000" pitchFamily="2" charset="0"/>
                <a:ea typeface="Roboto" panose="02000000000000000000" pitchFamily="2" charset="0"/>
                <a:cs typeface="Roboto" panose="02000000000000000000" pitchFamily="2" charset="0"/>
              </a:rPr>
              <a:t>Bugra</a:t>
            </a:r>
            <a:r>
              <a:rPr lang="en-US" sz="1000" dirty="0">
                <a:effectLst/>
                <a:latin typeface="Roboto" panose="02000000000000000000" pitchFamily="2" charset="0"/>
                <a:ea typeface="Roboto" panose="02000000000000000000" pitchFamily="2" charset="0"/>
                <a:cs typeface="Roboto" panose="02000000000000000000" pitchFamily="2" charset="0"/>
              </a:rPr>
              <a:t> </a:t>
            </a:r>
            <a:r>
              <a:rPr lang="en-US" sz="1000" dirty="0" err="1">
                <a:effectLst/>
                <a:latin typeface="Roboto" panose="02000000000000000000" pitchFamily="2" charset="0"/>
                <a:ea typeface="Roboto" panose="02000000000000000000" pitchFamily="2" charset="0"/>
                <a:cs typeface="Roboto" panose="02000000000000000000" pitchFamily="2" charset="0"/>
              </a:rPr>
              <a:t>Kokulu</a:t>
            </a:r>
            <a:r>
              <a:rPr lang="en-US" sz="1000" dirty="0">
                <a:effectLst/>
                <a:latin typeface="Roboto" panose="02000000000000000000" pitchFamily="2" charset="0"/>
                <a:ea typeface="Roboto" panose="02000000000000000000" pitchFamily="2" charset="0"/>
                <a:cs typeface="Roboto" panose="02000000000000000000" pitchFamily="2" charset="0"/>
              </a:rPr>
              <a:t>, </a:t>
            </a:r>
            <a:r>
              <a:rPr lang="en-US" sz="1000" dirty="0" err="1">
                <a:effectLst/>
                <a:latin typeface="Roboto" panose="02000000000000000000" pitchFamily="2" charset="0"/>
                <a:ea typeface="Roboto" panose="02000000000000000000" pitchFamily="2" charset="0"/>
                <a:cs typeface="Roboto" panose="02000000000000000000" pitchFamily="2" charset="0"/>
              </a:rPr>
              <a:t>Jayakrishna</a:t>
            </a:r>
            <a:r>
              <a:rPr lang="en-US" sz="1000" dirty="0">
                <a:effectLst/>
                <a:latin typeface="Roboto" panose="02000000000000000000" pitchFamily="2" charset="0"/>
                <a:ea typeface="Roboto" panose="02000000000000000000" pitchFamily="2" charset="0"/>
                <a:cs typeface="Roboto" panose="02000000000000000000" pitchFamily="2" charset="0"/>
              </a:rPr>
              <a:t> </a:t>
            </a:r>
            <a:r>
              <a:rPr lang="en-US" sz="1000" dirty="0" err="1">
                <a:effectLst/>
                <a:latin typeface="Roboto" panose="02000000000000000000" pitchFamily="2" charset="0"/>
                <a:ea typeface="Roboto" panose="02000000000000000000" pitchFamily="2" charset="0"/>
                <a:cs typeface="Roboto" panose="02000000000000000000" pitchFamily="2" charset="0"/>
              </a:rPr>
              <a:t>Vadayath</a:t>
            </a:r>
            <a:r>
              <a:rPr lang="en-US" sz="1000" dirty="0">
                <a:effectLst/>
                <a:latin typeface="Roboto" panose="02000000000000000000" pitchFamily="2" charset="0"/>
                <a:ea typeface="Roboto" panose="02000000000000000000" pitchFamily="2" charset="0"/>
                <a:cs typeface="Roboto" panose="02000000000000000000" pitchFamily="2" charset="0"/>
              </a:rPr>
              <a:t>, Zion </a:t>
            </a:r>
            <a:r>
              <a:rPr lang="en-US" sz="1000" dirty="0" err="1">
                <a:effectLst/>
                <a:latin typeface="Roboto" panose="02000000000000000000" pitchFamily="2" charset="0"/>
                <a:ea typeface="Roboto" panose="02000000000000000000" pitchFamily="2" charset="0"/>
                <a:cs typeface="Roboto" panose="02000000000000000000" pitchFamily="2" charset="0"/>
              </a:rPr>
              <a:t>Leonahenahe</a:t>
            </a:r>
            <a:r>
              <a:rPr lang="en-US" sz="1000" dirty="0">
                <a:effectLst/>
                <a:latin typeface="Roboto" panose="02000000000000000000" pitchFamily="2" charset="0"/>
                <a:ea typeface="Roboto" panose="02000000000000000000" pitchFamily="2" charset="0"/>
                <a:cs typeface="Roboto" panose="02000000000000000000" pitchFamily="2" charset="0"/>
              </a:rPr>
              <a:t> Basque, Gaurav </a:t>
            </a:r>
            <a:r>
              <a:rPr lang="en-US" sz="1000" dirty="0" err="1">
                <a:effectLst/>
                <a:latin typeface="Roboto" panose="02000000000000000000" pitchFamily="2" charset="0"/>
                <a:ea typeface="Roboto" panose="02000000000000000000" pitchFamily="2" charset="0"/>
                <a:cs typeface="Roboto" panose="02000000000000000000" pitchFamily="2" charset="0"/>
              </a:rPr>
              <a:t>Vipat</a:t>
            </a:r>
            <a:r>
              <a:rPr lang="en-US" sz="1000" dirty="0">
                <a:effectLst/>
                <a:latin typeface="Roboto" panose="02000000000000000000" pitchFamily="2" charset="0"/>
                <a:ea typeface="Roboto" panose="02000000000000000000" pitchFamily="2" charset="0"/>
                <a:cs typeface="Roboto" panose="02000000000000000000" pitchFamily="2" charset="0"/>
              </a:rPr>
              <a:t>,</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Adam Doupé, </a:t>
            </a:r>
            <a:r>
              <a:rPr lang="en-US" sz="1000" dirty="0" err="1">
                <a:effectLst/>
                <a:latin typeface="Roboto" panose="02000000000000000000" pitchFamily="2" charset="0"/>
                <a:ea typeface="Roboto" panose="02000000000000000000" pitchFamily="2" charset="0"/>
                <a:cs typeface="Roboto" panose="02000000000000000000" pitchFamily="2" charset="0"/>
              </a:rPr>
              <a:t>Ruoyu</a:t>
            </a:r>
            <a:r>
              <a:rPr lang="en-US" sz="1000" dirty="0">
                <a:effectLst/>
                <a:latin typeface="Roboto" panose="02000000000000000000" pitchFamily="2" charset="0"/>
                <a:ea typeface="Roboto" panose="02000000000000000000" pitchFamily="2" charset="0"/>
                <a:cs typeface="Roboto" panose="02000000000000000000" pitchFamily="2" charset="0"/>
              </a:rPr>
              <a:t> Wang, Gail-Joon Ahn, Tiffany Bao, </a:t>
            </a:r>
            <a:r>
              <a:rPr lang="en-US" sz="1000" dirty="0">
                <a:latin typeface="Roboto" panose="02000000000000000000" pitchFamily="2" charset="0"/>
                <a:ea typeface="Roboto" panose="02000000000000000000" pitchFamily="2" charset="0"/>
                <a:cs typeface="Roboto" panose="02000000000000000000" pitchFamily="2" charset="0"/>
              </a:rPr>
              <a:t>and Yan </a:t>
            </a:r>
            <a:r>
              <a:rPr lang="en-US" sz="1000" dirty="0" err="1">
                <a:latin typeface="Roboto" panose="02000000000000000000" pitchFamily="2" charset="0"/>
                <a:ea typeface="Roboto" panose="02000000000000000000" pitchFamily="2" charset="0"/>
                <a:cs typeface="Roboto" panose="02000000000000000000" pitchFamily="2" charset="0"/>
              </a:rPr>
              <a:t>Shoshitaishvili</a:t>
            </a:r>
            <a:r>
              <a:rPr lang="en-US" sz="1000" dirty="0">
                <a:latin typeface="Roboto" panose="02000000000000000000" pitchFamily="2" charset="0"/>
                <a:ea typeface="Roboto" panose="02000000000000000000" pitchFamily="2" charset="0"/>
                <a:cs typeface="Roboto" panose="02000000000000000000" pitchFamily="2" charset="0"/>
              </a:rPr>
              <a:t>.</a:t>
            </a:r>
            <a:r>
              <a:rPr lang="en-US" sz="1000" dirty="0">
                <a:effectLst/>
                <a:latin typeface="Roboto" panose="02000000000000000000" pitchFamily="2" charset="0"/>
                <a:ea typeface="Roboto" panose="02000000000000000000" pitchFamily="2" charset="0"/>
                <a:cs typeface="Roboto" panose="02000000000000000000" pitchFamily="2" charset="0"/>
              </a:rPr>
              <a:t> “Watching over the shoulder of a professional”:</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Why Hackers </a:t>
            </a:r>
            <a:r>
              <a:rPr lang="en-US" sz="1000" dirty="0">
                <a:latin typeface="Roboto" panose="02000000000000000000" pitchFamily="2" charset="0"/>
                <a:ea typeface="Roboto" panose="02000000000000000000" pitchFamily="2" charset="0"/>
                <a:cs typeface="Roboto" panose="02000000000000000000" pitchFamily="2" charset="0"/>
              </a:rPr>
              <a:t>M</a:t>
            </a:r>
            <a:r>
              <a:rPr lang="en-US" sz="1000" dirty="0">
                <a:effectLst/>
                <a:latin typeface="Roboto" panose="02000000000000000000" pitchFamily="2" charset="0"/>
                <a:ea typeface="Roboto" panose="02000000000000000000" pitchFamily="2" charset="0"/>
                <a:cs typeface="Roboto" panose="02000000000000000000" pitchFamily="2" charset="0"/>
              </a:rPr>
              <a:t>ake </a:t>
            </a:r>
            <a:r>
              <a:rPr lang="en-US" sz="1000" dirty="0">
                <a:latin typeface="Roboto" panose="02000000000000000000" pitchFamily="2" charset="0"/>
                <a:ea typeface="Roboto" panose="02000000000000000000" pitchFamily="2" charset="0"/>
                <a:cs typeface="Roboto" panose="02000000000000000000" pitchFamily="2" charset="0"/>
              </a:rPr>
              <a:t>M</a:t>
            </a:r>
            <a:r>
              <a:rPr lang="en-US" sz="1000" dirty="0">
                <a:effectLst/>
                <a:latin typeface="Roboto" panose="02000000000000000000" pitchFamily="2" charset="0"/>
                <a:ea typeface="Roboto" panose="02000000000000000000" pitchFamily="2" charset="0"/>
                <a:cs typeface="Roboto" panose="02000000000000000000" pitchFamily="2" charset="0"/>
              </a:rPr>
              <a:t>istakes and How </a:t>
            </a:r>
            <a:r>
              <a:rPr lang="en-US" sz="1000" dirty="0">
                <a:latin typeface="Roboto" panose="02000000000000000000" pitchFamily="2" charset="0"/>
                <a:ea typeface="Roboto" panose="02000000000000000000" pitchFamily="2" charset="0"/>
                <a:cs typeface="Roboto" panose="02000000000000000000" pitchFamily="2" charset="0"/>
              </a:rPr>
              <a:t>T</a:t>
            </a:r>
            <a:r>
              <a:rPr lang="en-US" sz="1000" dirty="0">
                <a:effectLst/>
                <a:latin typeface="Roboto" panose="02000000000000000000" pitchFamily="2" charset="0"/>
                <a:ea typeface="Roboto" panose="02000000000000000000" pitchFamily="2" charset="0"/>
                <a:cs typeface="Roboto" panose="02000000000000000000" pitchFamily="2" charset="0"/>
              </a:rPr>
              <a:t>hey </a:t>
            </a:r>
            <a:r>
              <a:rPr lang="en-US" sz="1000" dirty="0">
                <a:latin typeface="Roboto" panose="02000000000000000000" pitchFamily="2" charset="0"/>
                <a:ea typeface="Roboto" panose="02000000000000000000" pitchFamily="2" charset="0"/>
                <a:cs typeface="Roboto" panose="02000000000000000000" pitchFamily="2" charset="0"/>
              </a:rPr>
              <a:t>F</a:t>
            </a:r>
            <a:r>
              <a:rPr lang="en-US" sz="1000" dirty="0">
                <a:effectLst/>
                <a:latin typeface="Roboto" panose="02000000000000000000" pitchFamily="2" charset="0"/>
                <a:ea typeface="Roboto" panose="02000000000000000000" pitchFamily="2" charset="0"/>
                <a:cs typeface="Roboto" panose="02000000000000000000" pitchFamily="2" charset="0"/>
              </a:rPr>
              <a:t>ix </a:t>
            </a:r>
            <a:r>
              <a:rPr lang="en-US" sz="1000" dirty="0">
                <a:latin typeface="Roboto" panose="02000000000000000000" pitchFamily="2" charset="0"/>
                <a:ea typeface="Roboto" panose="02000000000000000000" pitchFamily="2" charset="0"/>
                <a:cs typeface="Roboto" panose="02000000000000000000" pitchFamily="2" charset="0"/>
              </a:rPr>
              <a:t>T</a:t>
            </a:r>
            <a:r>
              <a:rPr lang="en-US" sz="1000" dirty="0">
                <a:effectLst/>
                <a:latin typeface="Roboto" panose="02000000000000000000" pitchFamily="2" charset="0"/>
                <a:ea typeface="Roboto" panose="02000000000000000000" pitchFamily="2" charset="0"/>
                <a:cs typeface="Roboto" panose="02000000000000000000" pitchFamily="2" charset="0"/>
              </a:rPr>
              <a:t>hem. In 2024 IEEE Symposium on Security and Privacy (SP).</a:t>
            </a:r>
          </a:p>
        </p:txBody>
      </p:sp>
      <p:sp>
        <p:nvSpPr>
          <p:cNvPr id="18" name="TextBox 17">
            <a:extLst>
              <a:ext uri="{FF2B5EF4-FFF2-40B4-BE49-F238E27FC236}">
                <a16:creationId xmlns:a16="http://schemas.microsoft.com/office/drawing/2014/main" id="{FDE3D401-CFAA-769A-82FB-24A7D8B26650}"/>
              </a:ext>
            </a:extLst>
          </p:cNvPr>
          <p:cNvSpPr txBox="1"/>
          <p:nvPr/>
        </p:nvSpPr>
        <p:spPr>
          <a:xfrm>
            <a:off x="505334" y="6004159"/>
            <a:ext cx="11037481" cy="861774"/>
          </a:xfrm>
          <a:prstGeom prst="rect">
            <a:avLst/>
          </a:prstGeom>
          <a:noFill/>
        </p:spPr>
        <p:txBody>
          <a:bodyPr wrap="square" rtlCol="0">
            <a:spAutoFit/>
          </a:bodyPr>
          <a:lstStyle/>
          <a:p>
            <a:r>
              <a:rPr lang="en-US" sz="1000" dirty="0">
                <a:latin typeface="Roboto" panose="02000000000000000000" pitchFamily="2" charset="0"/>
                <a:ea typeface="Roboto" panose="02000000000000000000" pitchFamily="2" charset="0"/>
                <a:cs typeface="Roboto" panose="02000000000000000000" pitchFamily="2" charset="0"/>
              </a:rPr>
              <a:t>[23] </a:t>
            </a:r>
            <a:r>
              <a:rPr lang="en-US" sz="1000" dirty="0">
                <a:effectLst/>
                <a:latin typeface="Roboto" panose="02000000000000000000" pitchFamily="2" charset="0"/>
                <a:ea typeface="Roboto" panose="02000000000000000000" pitchFamily="2" charset="0"/>
                <a:cs typeface="Roboto" panose="02000000000000000000" pitchFamily="2" charset="0"/>
              </a:rPr>
              <a:t>Iulia Ion, Rob Reeder, and Sunny </a:t>
            </a:r>
            <a:r>
              <a:rPr lang="en-US" sz="1000" dirty="0" err="1">
                <a:effectLst/>
                <a:latin typeface="Roboto" panose="02000000000000000000" pitchFamily="2" charset="0"/>
                <a:ea typeface="Roboto" panose="02000000000000000000" pitchFamily="2" charset="0"/>
                <a:cs typeface="Roboto" panose="02000000000000000000" pitchFamily="2" charset="0"/>
              </a:rPr>
              <a:t>Consolvo</a:t>
            </a:r>
            <a:r>
              <a:rPr lang="en-US" sz="1000" dirty="0">
                <a:effectLst/>
                <a:latin typeface="Roboto" panose="02000000000000000000" pitchFamily="2" charset="0"/>
                <a:ea typeface="Roboto" panose="02000000000000000000" pitchFamily="2" charset="0"/>
                <a:cs typeface="Roboto" panose="02000000000000000000" pitchFamily="2" charset="0"/>
              </a:rPr>
              <a:t>. {“... No} one can hack my {Mind”}: Comparing Expert and Non-</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Expert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ecurity </a:t>
            </a:r>
            <a:r>
              <a:rPr lang="en-US" sz="1000" dirty="0">
                <a:latin typeface="Roboto" panose="02000000000000000000" pitchFamily="2" charset="0"/>
                <a:ea typeface="Roboto" panose="02000000000000000000" pitchFamily="2" charset="0"/>
                <a:cs typeface="Roboto" panose="02000000000000000000" pitchFamily="2" charset="0"/>
              </a:rPr>
              <a:t>P</a:t>
            </a:r>
            <a:r>
              <a:rPr lang="en-US" sz="1000" dirty="0">
                <a:effectLst/>
                <a:latin typeface="Roboto" panose="02000000000000000000" pitchFamily="2" charset="0"/>
                <a:ea typeface="Roboto" panose="02000000000000000000" pitchFamily="2" charset="0"/>
                <a:cs typeface="Roboto" panose="02000000000000000000" pitchFamily="2" charset="0"/>
              </a:rPr>
              <a:t>ractices. In Eleventh Symposium On Usable Privacy and Security (SOUPS 2015).</a:t>
            </a:r>
            <a:endParaRPr lang="en-US" sz="1000" dirty="0">
              <a:latin typeface="Roboto" panose="02000000000000000000" pitchFamily="2" charset="0"/>
              <a:ea typeface="Roboto" panose="02000000000000000000" pitchFamily="2" charset="0"/>
              <a:cs typeface="Roboto" panose="02000000000000000000" pitchFamily="2" charset="0"/>
            </a:endParaRPr>
          </a:p>
          <a:p>
            <a:r>
              <a:rPr lang="en-US" sz="1000" dirty="0">
                <a:effectLst/>
                <a:latin typeface="Roboto" panose="02000000000000000000" pitchFamily="2" charset="0"/>
                <a:ea typeface="Roboto" panose="02000000000000000000" pitchFamily="2" charset="0"/>
                <a:cs typeface="Roboto" panose="02000000000000000000" pitchFamily="2" charset="0"/>
              </a:rPr>
              <a:t>[24] Faris </a:t>
            </a:r>
            <a:r>
              <a:rPr lang="en-US" sz="1000" dirty="0" err="1">
                <a:effectLst/>
                <a:latin typeface="Roboto" panose="02000000000000000000" pitchFamily="2" charset="0"/>
                <a:ea typeface="Roboto" panose="02000000000000000000" pitchFamily="2" charset="0"/>
                <a:cs typeface="Roboto" panose="02000000000000000000" pitchFamily="2" charset="0"/>
              </a:rPr>
              <a:t>Bugra</a:t>
            </a:r>
            <a:r>
              <a:rPr lang="en-US" sz="1000" dirty="0">
                <a:effectLst/>
                <a:latin typeface="Roboto" panose="02000000000000000000" pitchFamily="2" charset="0"/>
                <a:ea typeface="Roboto" panose="02000000000000000000" pitchFamily="2" charset="0"/>
                <a:cs typeface="Roboto" panose="02000000000000000000" pitchFamily="2" charset="0"/>
              </a:rPr>
              <a:t> </a:t>
            </a:r>
            <a:r>
              <a:rPr lang="en-US" sz="1000" dirty="0" err="1">
                <a:effectLst/>
                <a:latin typeface="Roboto" panose="02000000000000000000" pitchFamily="2" charset="0"/>
                <a:ea typeface="Roboto" panose="02000000000000000000" pitchFamily="2" charset="0"/>
                <a:cs typeface="Roboto" panose="02000000000000000000" pitchFamily="2" charset="0"/>
              </a:rPr>
              <a:t>Kokulu</a:t>
            </a:r>
            <a:r>
              <a:rPr lang="en-US" sz="1000" dirty="0">
                <a:effectLst/>
                <a:latin typeface="Roboto" panose="02000000000000000000" pitchFamily="2" charset="0"/>
                <a:ea typeface="Roboto" panose="02000000000000000000" pitchFamily="2" charset="0"/>
                <a:cs typeface="Roboto" panose="02000000000000000000" pitchFamily="2" charset="0"/>
              </a:rPr>
              <a:t>, Ananta Soneji, Tiffany Bao, Yan </a:t>
            </a:r>
            <a:r>
              <a:rPr lang="en-US" sz="1000" dirty="0" err="1">
                <a:effectLst/>
                <a:latin typeface="Roboto" panose="02000000000000000000" pitchFamily="2" charset="0"/>
                <a:ea typeface="Roboto" panose="02000000000000000000" pitchFamily="2" charset="0"/>
                <a:cs typeface="Roboto" panose="02000000000000000000" pitchFamily="2" charset="0"/>
              </a:rPr>
              <a:t>Shoshitaishvili</a:t>
            </a:r>
            <a:r>
              <a:rPr lang="en-US" sz="1000" dirty="0">
                <a:effectLst/>
                <a:latin typeface="Roboto" panose="02000000000000000000" pitchFamily="2" charset="0"/>
                <a:ea typeface="Roboto" panose="02000000000000000000" pitchFamily="2" charset="0"/>
                <a:cs typeface="Roboto" panose="02000000000000000000" pitchFamily="2" charset="0"/>
              </a:rPr>
              <a:t>, </a:t>
            </a:r>
            <a:r>
              <a:rPr lang="en-US" sz="1000" dirty="0" err="1">
                <a:effectLst/>
                <a:latin typeface="Roboto" panose="02000000000000000000" pitchFamily="2" charset="0"/>
                <a:ea typeface="Roboto" panose="02000000000000000000" pitchFamily="2" charset="0"/>
                <a:cs typeface="Roboto" panose="02000000000000000000" pitchFamily="2" charset="0"/>
              </a:rPr>
              <a:t>Ziming</a:t>
            </a:r>
            <a:r>
              <a:rPr lang="en-US" sz="1000" dirty="0">
                <a:effectLst/>
                <a:latin typeface="Roboto" panose="02000000000000000000" pitchFamily="2" charset="0"/>
                <a:ea typeface="Roboto" panose="02000000000000000000" pitchFamily="2" charset="0"/>
                <a:cs typeface="Roboto" panose="02000000000000000000" pitchFamily="2" charset="0"/>
              </a:rPr>
              <a:t> Zhao, Adam Doupé, and Gail-Joon</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Ahn. Matched and Mismatched SOCs: A Qualitative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tudy on Security </a:t>
            </a:r>
            <a:r>
              <a:rPr lang="en-US" sz="1000" dirty="0">
                <a:latin typeface="Roboto" panose="02000000000000000000" pitchFamily="2" charset="0"/>
                <a:ea typeface="Roboto" panose="02000000000000000000" pitchFamily="2" charset="0"/>
                <a:cs typeface="Roboto" panose="02000000000000000000" pitchFamily="2" charset="0"/>
              </a:rPr>
              <a:t>O</a:t>
            </a:r>
            <a:r>
              <a:rPr lang="en-US" sz="1000" dirty="0">
                <a:effectLst/>
                <a:latin typeface="Roboto" panose="02000000000000000000" pitchFamily="2" charset="0"/>
                <a:ea typeface="Roboto" panose="02000000000000000000" pitchFamily="2" charset="0"/>
                <a:cs typeface="Roboto" panose="02000000000000000000" pitchFamily="2" charset="0"/>
              </a:rPr>
              <a:t>perations </a:t>
            </a:r>
            <a:r>
              <a:rPr lang="en-US" sz="1000" dirty="0">
                <a:latin typeface="Roboto" panose="02000000000000000000" pitchFamily="2" charset="0"/>
                <a:ea typeface="Roboto" panose="02000000000000000000" pitchFamily="2" charset="0"/>
                <a:cs typeface="Roboto" panose="02000000000000000000" pitchFamily="2" charset="0"/>
              </a:rPr>
              <a:t>C</a:t>
            </a:r>
            <a:r>
              <a:rPr lang="en-US" sz="1000" dirty="0">
                <a:effectLst/>
                <a:latin typeface="Roboto" panose="02000000000000000000" pitchFamily="2" charset="0"/>
                <a:ea typeface="Roboto" panose="02000000000000000000" pitchFamily="2" charset="0"/>
                <a:cs typeface="Roboto" panose="02000000000000000000" pitchFamily="2" charset="0"/>
              </a:rPr>
              <a:t>enter </a:t>
            </a:r>
            <a:r>
              <a:rPr lang="en-US" sz="1000" dirty="0">
                <a:latin typeface="Roboto" panose="02000000000000000000" pitchFamily="2" charset="0"/>
                <a:ea typeface="Roboto" panose="02000000000000000000" pitchFamily="2" charset="0"/>
                <a:cs typeface="Roboto" panose="02000000000000000000" pitchFamily="2" charset="0"/>
              </a:rPr>
              <a:t>I</a:t>
            </a:r>
            <a:r>
              <a:rPr lang="en-US" sz="1000" dirty="0">
                <a:effectLst/>
                <a:latin typeface="Roboto" panose="02000000000000000000" pitchFamily="2" charset="0"/>
                <a:ea typeface="Roboto" panose="02000000000000000000" pitchFamily="2" charset="0"/>
                <a:cs typeface="Roboto" panose="02000000000000000000" pitchFamily="2" charset="0"/>
              </a:rPr>
              <a:t>ssues. In Proceedings of the</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2019 ACM SIGSAC Conference on Computer and Communications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ecurity.</a:t>
            </a:r>
          </a:p>
          <a:p>
            <a:endParaRPr lang="en-US" sz="1000" dirty="0">
              <a:effectLst/>
              <a:latin typeface="Roboto" panose="02000000000000000000" pitchFamily="2" charset="0"/>
              <a:ea typeface="Roboto" panose="02000000000000000000" pitchFamily="2" charset="0"/>
              <a:cs typeface="Roboto" panose="02000000000000000000" pitchFamily="2" charset="0"/>
            </a:endParaRPr>
          </a:p>
        </p:txBody>
      </p:sp>
      <p:sp>
        <p:nvSpPr>
          <p:cNvPr id="19" name="TextBox 18">
            <a:extLst>
              <a:ext uri="{FF2B5EF4-FFF2-40B4-BE49-F238E27FC236}">
                <a16:creationId xmlns:a16="http://schemas.microsoft.com/office/drawing/2014/main" id="{7CB80CD1-E381-4AAA-5DAF-4521849B2141}"/>
              </a:ext>
            </a:extLst>
          </p:cNvPr>
          <p:cNvSpPr txBox="1"/>
          <p:nvPr/>
        </p:nvSpPr>
        <p:spPr>
          <a:xfrm>
            <a:off x="505333" y="6013589"/>
            <a:ext cx="11037481" cy="707886"/>
          </a:xfrm>
          <a:prstGeom prst="rect">
            <a:avLst/>
          </a:prstGeom>
          <a:noFill/>
        </p:spPr>
        <p:txBody>
          <a:bodyPr wrap="square" rtlCol="0">
            <a:spAutoFit/>
          </a:bodyPr>
          <a:lstStyle/>
          <a:p>
            <a:r>
              <a:rPr lang="en-US" sz="1000" dirty="0">
                <a:effectLst/>
                <a:latin typeface="Roboto" panose="02000000000000000000" pitchFamily="2" charset="0"/>
                <a:ea typeface="Roboto" panose="02000000000000000000" pitchFamily="2" charset="0"/>
                <a:cs typeface="Roboto" panose="02000000000000000000" pitchFamily="2" charset="0"/>
              </a:rPr>
              <a:t>[</a:t>
            </a:r>
            <a:r>
              <a:rPr lang="en-US" sz="1000" dirty="0">
                <a:latin typeface="Roboto" panose="02000000000000000000" pitchFamily="2" charset="0"/>
                <a:ea typeface="Roboto" panose="02000000000000000000" pitchFamily="2" charset="0"/>
                <a:cs typeface="Roboto" panose="02000000000000000000" pitchFamily="2" charset="0"/>
              </a:rPr>
              <a:t>25</a:t>
            </a:r>
            <a:r>
              <a:rPr lang="en-US" sz="1000" dirty="0">
                <a:effectLst/>
                <a:latin typeface="Roboto" panose="02000000000000000000" pitchFamily="2" charset="0"/>
                <a:ea typeface="Roboto" panose="02000000000000000000" pitchFamily="2" charset="0"/>
                <a:cs typeface="Roboto" panose="02000000000000000000" pitchFamily="2" charset="0"/>
              </a:rPr>
              <a:t>] Christine Utz, Martin </a:t>
            </a:r>
            <a:r>
              <a:rPr lang="en-US" sz="1000" dirty="0" err="1">
                <a:effectLst/>
                <a:latin typeface="Roboto" panose="02000000000000000000" pitchFamily="2" charset="0"/>
                <a:ea typeface="Roboto" panose="02000000000000000000" pitchFamily="2" charset="0"/>
                <a:cs typeface="Roboto" panose="02000000000000000000" pitchFamily="2" charset="0"/>
              </a:rPr>
              <a:t>Degeling</a:t>
            </a:r>
            <a:r>
              <a:rPr lang="en-US" sz="1000" dirty="0">
                <a:effectLst/>
                <a:latin typeface="Roboto" panose="02000000000000000000" pitchFamily="2" charset="0"/>
                <a:ea typeface="Roboto" panose="02000000000000000000" pitchFamily="2" charset="0"/>
                <a:cs typeface="Roboto" panose="02000000000000000000" pitchFamily="2" charset="0"/>
              </a:rPr>
              <a:t>, Sascha Fahl, Florian Schaub, and Thorsten Holz. (Un) Informed </a:t>
            </a:r>
            <a:r>
              <a:rPr lang="en-US" sz="1000" dirty="0">
                <a:latin typeface="Roboto" panose="02000000000000000000" pitchFamily="2" charset="0"/>
                <a:ea typeface="Roboto" panose="02000000000000000000" pitchFamily="2" charset="0"/>
                <a:cs typeface="Roboto" panose="02000000000000000000" pitchFamily="2" charset="0"/>
              </a:rPr>
              <a:t>C</a:t>
            </a:r>
            <a:r>
              <a:rPr lang="en-US" sz="1000" dirty="0">
                <a:effectLst/>
                <a:latin typeface="Roboto" panose="02000000000000000000" pitchFamily="2" charset="0"/>
                <a:ea typeface="Roboto" panose="02000000000000000000" pitchFamily="2" charset="0"/>
                <a:cs typeface="Roboto" panose="02000000000000000000" pitchFamily="2" charset="0"/>
              </a:rPr>
              <a:t>onsent: Studying</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GDPR </a:t>
            </a:r>
            <a:r>
              <a:rPr lang="en-US" sz="1000" dirty="0">
                <a:latin typeface="Roboto" panose="02000000000000000000" pitchFamily="2" charset="0"/>
                <a:ea typeface="Roboto" panose="02000000000000000000" pitchFamily="2" charset="0"/>
                <a:cs typeface="Roboto" panose="02000000000000000000" pitchFamily="2" charset="0"/>
              </a:rPr>
              <a:t>C</a:t>
            </a:r>
            <a:r>
              <a:rPr lang="en-US" sz="1000" dirty="0">
                <a:effectLst/>
                <a:latin typeface="Roboto" panose="02000000000000000000" pitchFamily="2" charset="0"/>
                <a:ea typeface="Roboto" panose="02000000000000000000" pitchFamily="2" charset="0"/>
                <a:cs typeface="Roboto" panose="02000000000000000000" pitchFamily="2" charset="0"/>
              </a:rPr>
              <a:t>onsent </a:t>
            </a:r>
            <a:r>
              <a:rPr lang="en-US" sz="1000" dirty="0">
                <a:latin typeface="Roboto" panose="02000000000000000000" pitchFamily="2" charset="0"/>
                <a:ea typeface="Roboto" panose="02000000000000000000" pitchFamily="2" charset="0"/>
                <a:cs typeface="Roboto" panose="02000000000000000000" pitchFamily="2" charset="0"/>
              </a:rPr>
              <a:t>N</a:t>
            </a:r>
            <a:r>
              <a:rPr lang="en-US" sz="1000" dirty="0">
                <a:effectLst/>
                <a:latin typeface="Roboto" panose="02000000000000000000" pitchFamily="2" charset="0"/>
                <a:ea typeface="Roboto" panose="02000000000000000000" pitchFamily="2" charset="0"/>
                <a:cs typeface="Roboto" panose="02000000000000000000" pitchFamily="2" charset="0"/>
              </a:rPr>
              <a:t>otices in the field. In Proceedings of the 2019 ACM SIGSAC  Conference on Computer and Communications</a:t>
            </a:r>
            <a:r>
              <a:rPr lang="en-US" sz="1000" dirty="0">
                <a:latin typeface="Roboto" panose="02000000000000000000" pitchFamily="2" charset="0"/>
                <a:ea typeface="Roboto" panose="02000000000000000000" pitchFamily="2" charset="0"/>
                <a:cs typeface="Roboto" panose="02000000000000000000" pitchFamily="2" charset="0"/>
              </a:rPr>
              <a:t> S</a:t>
            </a:r>
            <a:r>
              <a:rPr lang="en-US" sz="1000" dirty="0">
                <a:effectLst/>
                <a:latin typeface="Roboto" panose="02000000000000000000" pitchFamily="2" charset="0"/>
                <a:ea typeface="Roboto" panose="02000000000000000000" pitchFamily="2" charset="0"/>
                <a:cs typeface="Roboto" panose="02000000000000000000" pitchFamily="2" charset="0"/>
              </a:rPr>
              <a:t>ecurity.</a:t>
            </a:r>
          </a:p>
          <a:p>
            <a:r>
              <a:rPr lang="en-US" sz="1000" dirty="0">
                <a:latin typeface="Roboto" panose="02000000000000000000" pitchFamily="2" charset="0"/>
                <a:ea typeface="Roboto" panose="02000000000000000000" pitchFamily="2" charset="0"/>
                <a:cs typeface="Roboto" panose="02000000000000000000" pitchFamily="2" charset="0"/>
              </a:rPr>
              <a:t>[26] </a:t>
            </a:r>
            <a:r>
              <a:rPr lang="en-US" sz="1000" dirty="0">
                <a:effectLst/>
                <a:latin typeface="Roboto" panose="02000000000000000000" pitchFamily="2" charset="0"/>
                <a:ea typeface="Roboto" panose="02000000000000000000" pitchFamily="2" charset="0"/>
                <a:cs typeface="Roboto" panose="02000000000000000000" pitchFamily="2" charset="0"/>
              </a:rPr>
              <a:t>Yasemin </a:t>
            </a:r>
            <a:r>
              <a:rPr lang="en-US" sz="1000" dirty="0" err="1">
                <a:effectLst/>
                <a:latin typeface="Roboto" panose="02000000000000000000" pitchFamily="2" charset="0"/>
                <a:ea typeface="Roboto" panose="02000000000000000000" pitchFamily="2" charset="0"/>
                <a:cs typeface="Roboto" panose="02000000000000000000" pitchFamily="2" charset="0"/>
              </a:rPr>
              <a:t>Acar</a:t>
            </a:r>
            <a:r>
              <a:rPr lang="en-US" sz="1000" dirty="0">
                <a:effectLst/>
                <a:latin typeface="Roboto" panose="02000000000000000000" pitchFamily="2" charset="0"/>
                <a:ea typeface="Roboto" panose="02000000000000000000" pitchFamily="2" charset="0"/>
                <a:cs typeface="Roboto" panose="02000000000000000000" pitchFamily="2" charset="0"/>
              </a:rPr>
              <a:t>, Michael Backes, Sascha Fahl, </a:t>
            </a:r>
            <a:r>
              <a:rPr lang="en-US" sz="1000" dirty="0" err="1">
                <a:effectLst/>
                <a:latin typeface="Roboto" panose="02000000000000000000" pitchFamily="2" charset="0"/>
                <a:ea typeface="Roboto" panose="02000000000000000000" pitchFamily="2" charset="0"/>
                <a:cs typeface="Roboto" panose="02000000000000000000" pitchFamily="2" charset="0"/>
              </a:rPr>
              <a:t>Doowon</a:t>
            </a:r>
            <a:r>
              <a:rPr lang="en-US" sz="1000" dirty="0">
                <a:effectLst/>
                <a:latin typeface="Roboto" panose="02000000000000000000" pitchFamily="2" charset="0"/>
                <a:ea typeface="Roboto" panose="02000000000000000000" pitchFamily="2" charset="0"/>
                <a:cs typeface="Roboto" panose="02000000000000000000" pitchFamily="2" charset="0"/>
              </a:rPr>
              <a:t> Kim, Michelle L Mazurek, and Christian Stransky. You get</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where you’re looking for: The Impact of Information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ources on Code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ecurity. In 2016 IEEE symposium on Security</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and Privacy (SP).</a:t>
            </a:r>
          </a:p>
        </p:txBody>
      </p:sp>
      <p:sp>
        <p:nvSpPr>
          <p:cNvPr id="6" name="Slide Number Placeholder 5">
            <a:extLst>
              <a:ext uri="{FF2B5EF4-FFF2-40B4-BE49-F238E27FC236}">
                <a16:creationId xmlns:a16="http://schemas.microsoft.com/office/drawing/2014/main" id="{A0CC752D-E2E8-60E3-2CFA-DB4256AC79CA}"/>
              </a:ext>
            </a:extLst>
          </p:cNvPr>
          <p:cNvSpPr>
            <a:spLocks noGrp="1"/>
          </p:cNvSpPr>
          <p:nvPr>
            <p:ph type="sldNum" sz="quarter" idx="12"/>
          </p:nvPr>
        </p:nvSpPr>
        <p:spPr/>
        <p:txBody>
          <a:bodyPr/>
          <a:lstStyle/>
          <a:p>
            <a:fld id="{835FE90F-C88A-C24D-9FD5-52F0990CFAC0}" type="slidenum">
              <a:rPr lang="en-US" smtClean="0"/>
              <a:t>15</a:t>
            </a:fld>
            <a:endParaRPr lang="en-US"/>
          </a:p>
        </p:txBody>
      </p:sp>
    </p:spTree>
    <p:extLst>
      <p:ext uri="{BB962C8B-B14F-4D97-AF65-F5344CB8AC3E}">
        <p14:creationId xmlns:p14="http://schemas.microsoft.com/office/powerpoint/2010/main" val="138487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4" grpId="0" animBg="1"/>
      <p:bldP spid="15" grpId="0" animBg="1"/>
      <p:bldP spid="16" grpId="0" animBg="1"/>
      <p:bldP spid="17" grpId="0"/>
      <p:bldP spid="17" grpId="1"/>
      <p:bldP spid="18" grpId="0"/>
      <p:bldP spid="18" grpId="1"/>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2E313-B562-3EAC-81A1-E1CF1FE71E68}"/>
              </a:ext>
            </a:extLst>
          </p:cNvPr>
          <p:cNvSpPr>
            <a:spLocks noGrp="1"/>
          </p:cNvSpPr>
          <p:nvPr>
            <p:ph type="title"/>
          </p:nvPr>
        </p:nvSpPr>
        <p:spPr/>
        <p:txBody>
          <a:bodyPr/>
          <a:lstStyle/>
          <a:p>
            <a:r>
              <a:rPr lang="en-US" dirty="0">
                <a:solidFill>
                  <a:srgbClr val="9A0031"/>
                </a:solidFill>
                <a:latin typeface="Fjalla One" panose="02000506040000020004" pitchFamily="2" charset="0"/>
              </a:rPr>
              <a:t>Methods</a:t>
            </a:r>
          </a:p>
        </p:txBody>
      </p:sp>
      <p:sp>
        <p:nvSpPr>
          <p:cNvPr id="7" name="Content Placeholder 2">
            <a:extLst>
              <a:ext uri="{FF2B5EF4-FFF2-40B4-BE49-F238E27FC236}">
                <a16:creationId xmlns:a16="http://schemas.microsoft.com/office/drawing/2014/main" id="{022DC44B-8DFF-2A7C-C21E-3E2621E64938}"/>
              </a:ext>
            </a:extLst>
          </p:cNvPr>
          <p:cNvSpPr>
            <a:spLocks noGrp="1"/>
          </p:cNvSpPr>
          <p:nvPr>
            <p:ph idx="1"/>
          </p:nvPr>
        </p:nvSpPr>
        <p:spPr>
          <a:xfrm>
            <a:off x="838200" y="1690688"/>
            <a:ext cx="10515600" cy="4665662"/>
          </a:xfrm>
        </p:spPr>
        <p:txBody>
          <a:bodyPr>
            <a:noAutofit/>
          </a:bodyPr>
          <a:lstStyle/>
          <a:p>
            <a:r>
              <a:rPr lang="en-US" sz="2400" dirty="0">
                <a:latin typeface="Roboto" panose="02000000000000000000" pitchFamily="2" charset="0"/>
                <a:ea typeface="Roboto" panose="02000000000000000000" pitchFamily="2" charset="0"/>
                <a:cs typeface="Roboto" panose="02000000000000000000" pitchFamily="2" charset="0"/>
              </a:rPr>
              <a:t>Identify goals and research questions </a:t>
            </a:r>
          </a:p>
          <a:p>
            <a:pPr lvl="1"/>
            <a:r>
              <a:rPr lang="en-US" sz="2000" dirty="0">
                <a:latin typeface="Roboto" panose="02000000000000000000" pitchFamily="2" charset="0"/>
                <a:ea typeface="Roboto" panose="02000000000000000000" pitchFamily="2" charset="0"/>
                <a:cs typeface="Roboto" panose="02000000000000000000" pitchFamily="2" charset="0"/>
              </a:rPr>
              <a:t>Type of the study</a:t>
            </a:r>
          </a:p>
          <a:p>
            <a:r>
              <a:rPr lang="en-US" sz="2400" dirty="0">
                <a:latin typeface="Roboto" panose="02000000000000000000" pitchFamily="2" charset="0"/>
                <a:ea typeface="Roboto" panose="02000000000000000000" pitchFamily="2" charset="0"/>
                <a:cs typeface="Roboto" panose="02000000000000000000" pitchFamily="2" charset="0"/>
              </a:rPr>
              <a:t>Design the study </a:t>
            </a:r>
          </a:p>
          <a:p>
            <a:r>
              <a:rPr lang="en-US" sz="2400" dirty="0">
                <a:latin typeface="Roboto" panose="02000000000000000000" pitchFamily="2" charset="0"/>
                <a:ea typeface="Roboto" panose="02000000000000000000" pitchFamily="2" charset="0"/>
                <a:cs typeface="Roboto" panose="02000000000000000000" pitchFamily="2" charset="0"/>
              </a:rPr>
              <a:t>Develop study instruments</a:t>
            </a:r>
          </a:p>
          <a:p>
            <a:pPr lvl="1"/>
            <a:r>
              <a:rPr lang="en-US" sz="2000" dirty="0">
                <a:latin typeface="Roboto" panose="02000000000000000000" pitchFamily="2" charset="0"/>
                <a:ea typeface="Roboto" panose="02000000000000000000" pitchFamily="2" charset="0"/>
                <a:cs typeface="Roboto" panose="02000000000000000000" pitchFamily="2" charset="0"/>
              </a:rPr>
              <a:t>Screenings, surveys, interviews, recruitment strategies, incentives, etc.</a:t>
            </a:r>
          </a:p>
          <a:p>
            <a:r>
              <a:rPr lang="en-US" sz="2400" dirty="0">
                <a:latin typeface="Roboto" panose="02000000000000000000" pitchFamily="2" charset="0"/>
                <a:ea typeface="Roboto" panose="02000000000000000000" pitchFamily="2" charset="0"/>
                <a:cs typeface="Roboto" panose="02000000000000000000" pitchFamily="2" charset="0"/>
              </a:rPr>
              <a:t>Obtain ethics approval (e.g.: IRB)</a:t>
            </a:r>
          </a:p>
          <a:p>
            <a:r>
              <a:rPr lang="en-US" sz="2400" dirty="0">
                <a:latin typeface="Roboto" panose="02000000000000000000" pitchFamily="2" charset="0"/>
                <a:ea typeface="Roboto" panose="02000000000000000000" pitchFamily="2" charset="0"/>
                <a:cs typeface="Roboto" panose="02000000000000000000" pitchFamily="2" charset="0"/>
              </a:rPr>
              <a:t>Pilot and iterate on study design </a:t>
            </a:r>
          </a:p>
          <a:p>
            <a:pPr lvl="1"/>
            <a:r>
              <a:rPr lang="en-US" sz="2000" dirty="0">
                <a:latin typeface="Roboto" panose="02000000000000000000" pitchFamily="2" charset="0"/>
                <a:ea typeface="Roboto" panose="02000000000000000000" pitchFamily="2" charset="0"/>
                <a:cs typeface="Roboto" panose="02000000000000000000" pitchFamily="2" charset="0"/>
              </a:rPr>
              <a:t>Helps ensure data quality, test response time, refine questions and flow, etc.</a:t>
            </a:r>
          </a:p>
          <a:p>
            <a:r>
              <a:rPr lang="en-US" sz="2400" dirty="0">
                <a:latin typeface="Roboto" panose="02000000000000000000" pitchFamily="2" charset="0"/>
                <a:ea typeface="Roboto" panose="02000000000000000000" pitchFamily="2" charset="0"/>
                <a:cs typeface="Roboto" panose="02000000000000000000" pitchFamily="2" charset="0"/>
              </a:rPr>
              <a:t>Collect data</a:t>
            </a:r>
          </a:p>
          <a:p>
            <a:r>
              <a:rPr lang="en-US" sz="2400" dirty="0">
                <a:latin typeface="Roboto" panose="02000000000000000000" pitchFamily="2" charset="0"/>
                <a:ea typeface="Roboto" panose="02000000000000000000" pitchFamily="2" charset="0"/>
                <a:cs typeface="Roboto" panose="02000000000000000000" pitchFamily="2" charset="0"/>
              </a:rPr>
              <a:t>Analyze the results</a:t>
            </a:r>
          </a:p>
          <a:p>
            <a:r>
              <a:rPr lang="en-US" sz="2400" dirty="0">
                <a:latin typeface="Roboto" panose="02000000000000000000" pitchFamily="2" charset="0"/>
                <a:ea typeface="Roboto" panose="02000000000000000000" pitchFamily="2" charset="0"/>
                <a:cs typeface="Roboto" panose="02000000000000000000" pitchFamily="2" charset="0"/>
              </a:rPr>
              <a:t>Report the findings</a:t>
            </a:r>
          </a:p>
          <a:p>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6" name="Slide Number Placeholder 5">
            <a:extLst>
              <a:ext uri="{FF2B5EF4-FFF2-40B4-BE49-F238E27FC236}">
                <a16:creationId xmlns:a16="http://schemas.microsoft.com/office/drawing/2014/main" id="{341BCB3E-042B-286D-BF75-012C05DC1BD3}"/>
              </a:ext>
            </a:extLst>
          </p:cNvPr>
          <p:cNvSpPr>
            <a:spLocks noGrp="1"/>
          </p:cNvSpPr>
          <p:nvPr>
            <p:ph type="sldNum" sz="quarter" idx="12"/>
          </p:nvPr>
        </p:nvSpPr>
        <p:spPr/>
        <p:txBody>
          <a:bodyPr/>
          <a:lstStyle/>
          <a:p>
            <a:fld id="{835FE90F-C88A-C24D-9FD5-52F0990CFAC0}" type="slidenum">
              <a:rPr lang="en-US" smtClean="0"/>
              <a:t>16</a:t>
            </a:fld>
            <a:endParaRPr lang="en-US"/>
          </a:p>
        </p:txBody>
      </p:sp>
    </p:spTree>
    <p:extLst>
      <p:ext uri="{BB962C8B-B14F-4D97-AF65-F5344CB8AC3E}">
        <p14:creationId xmlns:p14="http://schemas.microsoft.com/office/powerpoint/2010/main" val="52553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49E45-548F-A27E-C77B-BC7ECC046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8546D-BF2F-6E84-2FE5-9C55D38A05C8}"/>
              </a:ext>
            </a:extLst>
          </p:cNvPr>
          <p:cNvSpPr>
            <a:spLocks noGrp="1"/>
          </p:cNvSpPr>
          <p:nvPr>
            <p:ph type="title"/>
          </p:nvPr>
        </p:nvSpPr>
        <p:spPr/>
        <p:txBody>
          <a:bodyPr/>
          <a:lstStyle/>
          <a:p>
            <a:r>
              <a:rPr lang="en-US" dirty="0">
                <a:solidFill>
                  <a:srgbClr val="9A0031"/>
                </a:solidFill>
                <a:latin typeface="Fjalla One" panose="02000506040000020004" pitchFamily="2" charset="0"/>
              </a:rPr>
              <a:t>Target Population</a:t>
            </a:r>
          </a:p>
        </p:txBody>
      </p:sp>
      <p:sp>
        <p:nvSpPr>
          <p:cNvPr id="3" name="Content Placeholder 2">
            <a:extLst>
              <a:ext uri="{FF2B5EF4-FFF2-40B4-BE49-F238E27FC236}">
                <a16:creationId xmlns:a16="http://schemas.microsoft.com/office/drawing/2014/main" id="{6E48D6B0-94D2-5EA8-9C2C-A1C6EFB0217B}"/>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Everyday Security Users </a:t>
            </a:r>
          </a:p>
          <a:p>
            <a:pPr lvl="1"/>
            <a:r>
              <a:rPr lang="en-US" sz="2000" dirty="0">
                <a:latin typeface="Roboto" panose="02000000000000000000" pitchFamily="2" charset="0"/>
                <a:ea typeface="Roboto" panose="02000000000000000000" pitchFamily="2" charset="0"/>
                <a:cs typeface="Roboto" panose="02000000000000000000" pitchFamily="2" charset="0"/>
              </a:rPr>
              <a:t>Identify common security lapses, perceptions, and experiences</a:t>
            </a:r>
          </a:p>
          <a:p>
            <a:pPr lvl="1"/>
            <a:r>
              <a:rPr lang="en-US" sz="2000" dirty="0">
                <a:latin typeface="Roboto" panose="02000000000000000000" pitchFamily="2" charset="0"/>
                <a:ea typeface="Roboto" panose="02000000000000000000" pitchFamily="2" charset="0"/>
                <a:cs typeface="Roboto" panose="02000000000000000000" pitchFamily="2" charset="0"/>
              </a:rPr>
              <a:t>E.g.: IoT users, General internet users, Smart home device users, etc.</a:t>
            </a:r>
          </a:p>
          <a:p>
            <a:r>
              <a:rPr lang="en-US" sz="2400" dirty="0">
                <a:latin typeface="Roboto" panose="02000000000000000000" pitchFamily="2" charset="0"/>
                <a:ea typeface="Roboto" panose="02000000000000000000" pitchFamily="2" charset="0"/>
                <a:cs typeface="Roboto" panose="02000000000000000000" pitchFamily="2" charset="0"/>
              </a:rPr>
              <a:t>Expert Professionals </a:t>
            </a:r>
          </a:p>
          <a:p>
            <a:pPr lvl="1"/>
            <a:r>
              <a:rPr lang="en-US" sz="2000" dirty="0">
                <a:latin typeface="Roboto" panose="02000000000000000000" pitchFamily="2" charset="0"/>
                <a:ea typeface="Roboto" panose="02000000000000000000" pitchFamily="2" charset="0"/>
                <a:cs typeface="Roboto" panose="02000000000000000000" pitchFamily="2" charset="0"/>
              </a:rPr>
              <a:t>Their behaviors, knowledge, and mental models shape the understanding, design, and enforcement of security policies and practices</a:t>
            </a:r>
          </a:p>
          <a:p>
            <a:pPr lvl="1"/>
            <a:r>
              <a:rPr lang="en-US" sz="2000" dirty="0">
                <a:latin typeface="Roboto" panose="02000000000000000000" pitchFamily="2" charset="0"/>
                <a:ea typeface="Roboto" panose="02000000000000000000" pitchFamily="2" charset="0"/>
                <a:cs typeface="Roboto" panose="02000000000000000000" pitchFamily="2" charset="0"/>
              </a:rPr>
              <a:t>E.g.: Executives, Policymakers, Software Developers, System Admins, etc.</a:t>
            </a:r>
          </a:p>
          <a:p>
            <a:r>
              <a:rPr lang="en-US" sz="2400" dirty="0">
                <a:latin typeface="Roboto" panose="02000000000000000000" pitchFamily="2" charset="0"/>
                <a:ea typeface="Roboto" panose="02000000000000000000" pitchFamily="2" charset="0"/>
                <a:cs typeface="Roboto" panose="02000000000000000000" pitchFamily="2" charset="0"/>
              </a:rPr>
              <a:t>Vulnerable Populations</a:t>
            </a:r>
          </a:p>
          <a:p>
            <a:pPr lvl="1"/>
            <a:r>
              <a:rPr lang="en-US" sz="2000" dirty="0">
                <a:latin typeface="Roboto" panose="02000000000000000000" pitchFamily="2" charset="0"/>
                <a:ea typeface="Roboto" panose="02000000000000000000" pitchFamily="2" charset="0"/>
                <a:cs typeface="Roboto" panose="02000000000000000000" pitchFamily="2" charset="0"/>
              </a:rPr>
              <a:t>These groups often face higher risks of digital privacy and safety but may have limited resources or knowledge to protect themselves</a:t>
            </a:r>
          </a:p>
          <a:p>
            <a:pPr lvl="1"/>
            <a:r>
              <a:rPr lang="en-US" sz="2000" dirty="0">
                <a:latin typeface="Roboto" panose="02000000000000000000" pitchFamily="2" charset="0"/>
                <a:ea typeface="Roboto" panose="02000000000000000000" pitchFamily="2" charset="0"/>
                <a:cs typeface="Roboto" panose="02000000000000000000" pitchFamily="2" charset="0"/>
              </a:rPr>
              <a:t>E.g.: Older Adults, Marginalized Communities, Activists, Journalists, Refugees, etc.</a:t>
            </a:r>
          </a:p>
          <a:p>
            <a:pPr lvl="1"/>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7" name="Slide Number Placeholder 6">
            <a:extLst>
              <a:ext uri="{FF2B5EF4-FFF2-40B4-BE49-F238E27FC236}">
                <a16:creationId xmlns:a16="http://schemas.microsoft.com/office/drawing/2014/main" id="{45B0481A-1301-0D27-DDEC-67A82A9F7A03}"/>
              </a:ext>
            </a:extLst>
          </p:cNvPr>
          <p:cNvSpPr>
            <a:spLocks noGrp="1"/>
          </p:cNvSpPr>
          <p:nvPr>
            <p:ph type="sldNum" sz="quarter" idx="12"/>
          </p:nvPr>
        </p:nvSpPr>
        <p:spPr/>
        <p:txBody>
          <a:bodyPr/>
          <a:lstStyle/>
          <a:p>
            <a:fld id="{835FE90F-C88A-C24D-9FD5-52F0990CFAC0}" type="slidenum">
              <a:rPr lang="en-US" smtClean="0"/>
              <a:t>17</a:t>
            </a:fld>
            <a:endParaRPr lang="en-US"/>
          </a:p>
        </p:txBody>
      </p:sp>
    </p:spTree>
    <p:extLst>
      <p:ext uri="{BB962C8B-B14F-4D97-AF65-F5344CB8AC3E}">
        <p14:creationId xmlns:p14="http://schemas.microsoft.com/office/powerpoint/2010/main" val="151819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B2573-ED06-3F49-A3B1-A3A23992B946}"/>
              </a:ext>
            </a:extLst>
          </p:cNvPr>
          <p:cNvSpPr>
            <a:spLocks noGrp="1"/>
          </p:cNvSpPr>
          <p:nvPr>
            <p:ph type="title"/>
          </p:nvPr>
        </p:nvSpPr>
        <p:spPr/>
        <p:txBody>
          <a:bodyPr>
            <a:normAutofit/>
          </a:bodyPr>
          <a:lstStyle/>
          <a:p>
            <a:r>
              <a:rPr lang="en-US" dirty="0">
                <a:solidFill>
                  <a:srgbClr val="9A0031"/>
                </a:solidFill>
                <a:latin typeface="Fjalla One" panose="02000506040000020004" pitchFamily="2" charset="0"/>
              </a:rPr>
              <a:t>Research Methods</a:t>
            </a:r>
          </a:p>
        </p:txBody>
      </p:sp>
      <p:sp>
        <p:nvSpPr>
          <p:cNvPr id="6" name="Rounded Rectangle 5">
            <a:extLst>
              <a:ext uri="{FF2B5EF4-FFF2-40B4-BE49-F238E27FC236}">
                <a16:creationId xmlns:a16="http://schemas.microsoft.com/office/drawing/2014/main" id="{3BE7D7DB-5E36-A63A-61E0-9BCB9FC2ED42}"/>
              </a:ext>
            </a:extLst>
          </p:cNvPr>
          <p:cNvSpPr/>
          <p:nvPr/>
        </p:nvSpPr>
        <p:spPr>
          <a:xfrm>
            <a:off x="1658597" y="1904291"/>
            <a:ext cx="3085032" cy="170061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solidFill>
                  <a:srgbClr val="9A0031"/>
                </a:solidFill>
                <a:latin typeface="Fjalla One" panose="02000506040000020004" pitchFamily="2" charset="0"/>
                <a:ea typeface="Roboto" panose="02000000000000000000" pitchFamily="2" charset="0"/>
                <a:cs typeface="Roboto" panose="02000000000000000000" pitchFamily="2" charset="0"/>
              </a:rPr>
              <a:t>Qualitative</a:t>
            </a:r>
          </a:p>
          <a:p>
            <a:pPr algn="ctr"/>
            <a:r>
              <a:rPr lang="en-US" sz="2800" b="1" dirty="0">
                <a:solidFill>
                  <a:srgbClr val="9A0031"/>
                </a:solidFill>
                <a:latin typeface="Fjalla One" panose="02000506040000020004" pitchFamily="2" charset="0"/>
                <a:ea typeface="Roboto" panose="02000000000000000000" pitchFamily="2" charset="0"/>
                <a:cs typeface="Roboto" panose="02000000000000000000" pitchFamily="2" charset="0"/>
              </a:rPr>
              <a:t>Methods</a:t>
            </a:r>
          </a:p>
        </p:txBody>
      </p:sp>
      <p:sp>
        <p:nvSpPr>
          <p:cNvPr id="7" name="Rounded Rectangle 6">
            <a:extLst>
              <a:ext uri="{FF2B5EF4-FFF2-40B4-BE49-F238E27FC236}">
                <a16:creationId xmlns:a16="http://schemas.microsoft.com/office/drawing/2014/main" id="{03E85794-910B-A2D6-1ACB-D4031854C78D}"/>
              </a:ext>
            </a:extLst>
          </p:cNvPr>
          <p:cNvSpPr/>
          <p:nvPr/>
        </p:nvSpPr>
        <p:spPr>
          <a:xfrm>
            <a:off x="1658597" y="4288244"/>
            <a:ext cx="3085032" cy="170061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solidFill>
                  <a:srgbClr val="9A0031"/>
                </a:solidFill>
                <a:latin typeface="Fjalla One" panose="02000506040000020004" pitchFamily="2" charset="0"/>
                <a:ea typeface="Roboto" panose="02000000000000000000" pitchFamily="2" charset="0"/>
                <a:cs typeface="Roboto" panose="02000000000000000000" pitchFamily="2" charset="0"/>
              </a:rPr>
              <a:t>Quantitative</a:t>
            </a:r>
          </a:p>
          <a:p>
            <a:pPr algn="ctr"/>
            <a:r>
              <a:rPr lang="en-US" sz="2800" b="1" dirty="0">
                <a:solidFill>
                  <a:srgbClr val="9A0031"/>
                </a:solidFill>
                <a:latin typeface="Fjalla One" panose="02000506040000020004" pitchFamily="2" charset="0"/>
                <a:ea typeface="Roboto" panose="02000000000000000000" pitchFamily="2" charset="0"/>
                <a:cs typeface="Roboto" panose="02000000000000000000" pitchFamily="2" charset="0"/>
              </a:rPr>
              <a:t>Methods</a:t>
            </a:r>
          </a:p>
        </p:txBody>
      </p:sp>
      <p:sp>
        <p:nvSpPr>
          <p:cNvPr id="8" name="Right Brace 7">
            <a:extLst>
              <a:ext uri="{FF2B5EF4-FFF2-40B4-BE49-F238E27FC236}">
                <a16:creationId xmlns:a16="http://schemas.microsoft.com/office/drawing/2014/main" id="{9DFE67E6-2E4F-C814-BD19-60BF863E0614}"/>
              </a:ext>
            </a:extLst>
          </p:cNvPr>
          <p:cNvSpPr/>
          <p:nvPr/>
        </p:nvSpPr>
        <p:spPr>
          <a:xfrm rot="10800000">
            <a:off x="5434950" y="1904291"/>
            <a:ext cx="410198" cy="170061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54533C82-09BD-E051-3B79-D46D3F3D22A5}"/>
              </a:ext>
            </a:extLst>
          </p:cNvPr>
          <p:cNvSpPr/>
          <p:nvPr/>
        </p:nvSpPr>
        <p:spPr>
          <a:xfrm rot="10800000">
            <a:off x="5430944" y="4288243"/>
            <a:ext cx="410198" cy="170061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71F5F5C5-C28D-7850-7C28-CF32EA01D6FB}"/>
              </a:ext>
            </a:extLst>
          </p:cNvPr>
          <p:cNvSpPr txBox="1"/>
          <p:nvPr/>
        </p:nvSpPr>
        <p:spPr>
          <a:xfrm>
            <a:off x="6096000" y="2246767"/>
            <a:ext cx="2028119" cy="1015663"/>
          </a:xfrm>
          <a:prstGeom prst="rect">
            <a:avLst/>
          </a:prstGeom>
          <a:noFill/>
        </p:spPr>
        <p:txBody>
          <a:bodyPr wrap="none" rtlCol="0">
            <a:spAutoFit/>
          </a:bodyPr>
          <a:lstStyle/>
          <a:p>
            <a:pPr marL="285750" indent="-28575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Interviews </a:t>
            </a:r>
          </a:p>
          <a:p>
            <a:pPr marL="285750" indent="-28575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Focus groups</a:t>
            </a:r>
          </a:p>
          <a:p>
            <a:pPr marL="285750" indent="-28575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Observations</a:t>
            </a:r>
          </a:p>
        </p:txBody>
      </p:sp>
      <p:sp>
        <p:nvSpPr>
          <p:cNvPr id="13" name="TextBox 12">
            <a:extLst>
              <a:ext uri="{FF2B5EF4-FFF2-40B4-BE49-F238E27FC236}">
                <a16:creationId xmlns:a16="http://schemas.microsoft.com/office/drawing/2014/main" id="{058FCA3D-15C1-D3AB-A254-3FF41AEFF60F}"/>
              </a:ext>
            </a:extLst>
          </p:cNvPr>
          <p:cNvSpPr txBox="1"/>
          <p:nvPr/>
        </p:nvSpPr>
        <p:spPr>
          <a:xfrm>
            <a:off x="8215625" y="2246767"/>
            <a:ext cx="2900153" cy="1015663"/>
          </a:xfrm>
          <a:prstGeom prst="rect">
            <a:avLst/>
          </a:prstGeom>
          <a:noFill/>
        </p:spPr>
        <p:txBody>
          <a:bodyPr wrap="none" rtlCol="0">
            <a:spAutoFit/>
          </a:bodyPr>
          <a:lstStyle/>
          <a:p>
            <a:pPr marL="285750" indent="-28575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Ethnographic Studies</a:t>
            </a:r>
          </a:p>
          <a:p>
            <a:pPr marL="285750" indent="-28575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Diary Studies</a:t>
            </a:r>
          </a:p>
          <a:p>
            <a:pPr marL="285750" indent="-28575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and many more</a:t>
            </a:r>
          </a:p>
        </p:txBody>
      </p:sp>
      <p:sp>
        <p:nvSpPr>
          <p:cNvPr id="15" name="TextBox 14">
            <a:extLst>
              <a:ext uri="{FF2B5EF4-FFF2-40B4-BE49-F238E27FC236}">
                <a16:creationId xmlns:a16="http://schemas.microsoft.com/office/drawing/2014/main" id="{F1665DFA-3F2F-BD5C-7792-89F9E4EAFAAD}"/>
              </a:ext>
            </a:extLst>
          </p:cNvPr>
          <p:cNvSpPr txBox="1"/>
          <p:nvPr/>
        </p:nvSpPr>
        <p:spPr>
          <a:xfrm>
            <a:off x="6096000" y="4476831"/>
            <a:ext cx="4395755" cy="1323439"/>
          </a:xfrm>
          <a:prstGeom prst="rect">
            <a:avLst/>
          </a:prstGeom>
          <a:noFill/>
        </p:spPr>
        <p:txBody>
          <a:bodyPr wrap="none" rtlCol="0">
            <a:spAutoFit/>
          </a:bodyPr>
          <a:lstStyle/>
          <a:p>
            <a:pPr marL="285750" indent="-28575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Surveys w/ fixed response options</a:t>
            </a:r>
          </a:p>
          <a:p>
            <a:pPr marL="285750" indent="-28575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Usability Test Questionnaire</a:t>
            </a:r>
          </a:p>
          <a:p>
            <a:pPr marL="285750" indent="-28575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Experiments</a:t>
            </a:r>
          </a:p>
          <a:p>
            <a:pPr marL="285750" indent="-28575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and many more</a:t>
            </a:r>
          </a:p>
        </p:txBody>
      </p:sp>
      <p:sp>
        <p:nvSpPr>
          <p:cNvPr id="10" name="Slide Number Placeholder 9">
            <a:extLst>
              <a:ext uri="{FF2B5EF4-FFF2-40B4-BE49-F238E27FC236}">
                <a16:creationId xmlns:a16="http://schemas.microsoft.com/office/drawing/2014/main" id="{816ECA49-C5F9-9CF8-BEDA-EF1B19E050F8}"/>
              </a:ext>
            </a:extLst>
          </p:cNvPr>
          <p:cNvSpPr>
            <a:spLocks noGrp="1"/>
          </p:cNvSpPr>
          <p:nvPr>
            <p:ph type="sldNum" sz="quarter" idx="12"/>
          </p:nvPr>
        </p:nvSpPr>
        <p:spPr/>
        <p:txBody>
          <a:bodyPr/>
          <a:lstStyle/>
          <a:p>
            <a:fld id="{835FE90F-C88A-C24D-9FD5-52F0990CFAC0}" type="slidenum">
              <a:rPr lang="en-US" smtClean="0"/>
              <a:t>18</a:t>
            </a:fld>
            <a:endParaRPr lang="en-US"/>
          </a:p>
        </p:txBody>
      </p:sp>
    </p:spTree>
    <p:extLst>
      <p:ext uri="{BB962C8B-B14F-4D97-AF65-F5344CB8AC3E}">
        <p14:creationId xmlns:p14="http://schemas.microsoft.com/office/powerpoint/2010/main" val="97976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p:bldP spid="13"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71207-75B7-610A-2B19-92BE880C447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C113319-1575-C284-EEF8-201A90600B1A}"/>
              </a:ext>
            </a:extLst>
          </p:cNvPr>
          <p:cNvSpPr/>
          <p:nvPr/>
        </p:nvSpPr>
        <p:spPr>
          <a:xfrm>
            <a:off x="4197528" y="1637454"/>
            <a:ext cx="2743200" cy="1828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Easy to conduct</a:t>
            </a:r>
          </a:p>
          <a:p>
            <a:pPr marL="342900" indent="-3429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Objective </a:t>
            </a:r>
          </a:p>
          <a:p>
            <a:pPr marL="342900" indent="-3429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Generalizable</a:t>
            </a:r>
          </a:p>
          <a:p>
            <a:pPr marL="342900" indent="-3429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Statistical power</a:t>
            </a:r>
          </a:p>
        </p:txBody>
      </p:sp>
      <p:sp>
        <p:nvSpPr>
          <p:cNvPr id="11" name="Rectangle 10">
            <a:extLst>
              <a:ext uri="{FF2B5EF4-FFF2-40B4-BE49-F238E27FC236}">
                <a16:creationId xmlns:a16="http://schemas.microsoft.com/office/drawing/2014/main" id="{B2EDA71B-683E-4AB3-B5C8-68CC87785A83}"/>
              </a:ext>
            </a:extLst>
          </p:cNvPr>
          <p:cNvSpPr/>
          <p:nvPr/>
        </p:nvSpPr>
        <p:spPr>
          <a:xfrm>
            <a:off x="6940728" y="1637454"/>
            <a:ext cx="2743200" cy="1828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Lacks context</a:t>
            </a:r>
          </a:p>
          <a:p>
            <a:pPr marL="342900" indent="-3429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Doesn’t explain </a:t>
            </a:r>
            <a:r>
              <a:rPr lang="en-US" sz="2000" i="1" dirty="0">
                <a:latin typeface="Roboto" panose="02000000000000000000" pitchFamily="2" charset="0"/>
                <a:ea typeface="Roboto" panose="02000000000000000000" pitchFamily="2" charset="0"/>
                <a:cs typeface="Roboto" panose="02000000000000000000" pitchFamily="2" charset="0"/>
              </a:rPr>
              <a:t>why</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14" name="Rectangle 13">
            <a:extLst>
              <a:ext uri="{FF2B5EF4-FFF2-40B4-BE49-F238E27FC236}">
                <a16:creationId xmlns:a16="http://schemas.microsoft.com/office/drawing/2014/main" id="{C10F2105-4FFE-3A74-15FE-79742D1A7597}"/>
              </a:ext>
            </a:extLst>
          </p:cNvPr>
          <p:cNvSpPr/>
          <p:nvPr/>
        </p:nvSpPr>
        <p:spPr>
          <a:xfrm>
            <a:off x="4197528" y="3466254"/>
            <a:ext cx="2743200" cy="1828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Rich &amp; deep insights</a:t>
            </a:r>
          </a:p>
          <a:p>
            <a:pPr marL="342900" indent="-3429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Flexibility</a:t>
            </a:r>
          </a:p>
          <a:p>
            <a:pPr marL="342900" indent="-3429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Context-specific</a:t>
            </a:r>
          </a:p>
          <a:p>
            <a:pPr marL="342900" indent="-342900">
              <a:buFont typeface="Arial" panose="020B0604020202020204" pitchFamily="34" charset="0"/>
              <a:buChar char="•"/>
            </a:pP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16" name="Rectangle 15">
            <a:extLst>
              <a:ext uri="{FF2B5EF4-FFF2-40B4-BE49-F238E27FC236}">
                <a16:creationId xmlns:a16="http://schemas.microsoft.com/office/drawing/2014/main" id="{CEBEE39E-7A50-12FE-F6D3-C881056D6EDA}"/>
              </a:ext>
            </a:extLst>
          </p:cNvPr>
          <p:cNvSpPr/>
          <p:nvPr/>
        </p:nvSpPr>
        <p:spPr>
          <a:xfrm>
            <a:off x="6940728" y="3466254"/>
            <a:ext cx="2743200" cy="1828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Time-consuming</a:t>
            </a:r>
          </a:p>
          <a:p>
            <a:pPr marL="342900" indent="-3429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Small sample size</a:t>
            </a:r>
          </a:p>
        </p:txBody>
      </p:sp>
      <p:sp>
        <p:nvSpPr>
          <p:cNvPr id="17" name="TextBox 16">
            <a:extLst>
              <a:ext uri="{FF2B5EF4-FFF2-40B4-BE49-F238E27FC236}">
                <a16:creationId xmlns:a16="http://schemas.microsoft.com/office/drawing/2014/main" id="{01FB1CAC-C16D-8F4B-DBCC-512C08B4C9BB}"/>
              </a:ext>
            </a:extLst>
          </p:cNvPr>
          <p:cNvSpPr txBox="1"/>
          <p:nvPr/>
        </p:nvSpPr>
        <p:spPr>
          <a:xfrm>
            <a:off x="2200059" y="2290244"/>
            <a:ext cx="1661032" cy="830997"/>
          </a:xfrm>
          <a:prstGeom prst="rect">
            <a:avLst/>
          </a:prstGeom>
          <a:noFill/>
        </p:spPr>
        <p:txBody>
          <a:bodyPr wrap="none" rtlCol="0">
            <a:spAutoFit/>
          </a:bodyPr>
          <a:lstStyle/>
          <a:p>
            <a:pPr algn="ctr"/>
            <a:r>
              <a:rPr lang="en-US" sz="2400" dirty="0">
                <a:solidFill>
                  <a:srgbClr val="9A0031"/>
                </a:solidFill>
                <a:latin typeface="Fjalla One" panose="02000506040000020004" pitchFamily="2" charset="0"/>
                <a:ea typeface="Roboto" panose="02000000000000000000" pitchFamily="2" charset="0"/>
                <a:cs typeface="Roboto" panose="02000000000000000000" pitchFamily="2" charset="0"/>
              </a:rPr>
              <a:t>Quantitative</a:t>
            </a:r>
          </a:p>
          <a:p>
            <a:pPr algn="ctr"/>
            <a:r>
              <a:rPr lang="en-US" sz="2400" dirty="0">
                <a:solidFill>
                  <a:srgbClr val="9A0031"/>
                </a:solidFill>
                <a:latin typeface="Fjalla One" panose="02000506040000020004" pitchFamily="2" charset="0"/>
                <a:ea typeface="Roboto" panose="02000000000000000000" pitchFamily="2" charset="0"/>
                <a:cs typeface="Roboto" panose="02000000000000000000" pitchFamily="2" charset="0"/>
              </a:rPr>
              <a:t>Methods</a:t>
            </a:r>
          </a:p>
        </p:txBody>
      </p:sp>
      <p:sp>
        <p:nvSpPr>
          <p:cNvPr id="18" name="TextBox 17">
            <a:extLst>
              <a:ext uri="{FF2B5EF4-FFF2-40B4-BE49-F238E27FC236}">
                <a16:creationId xmlns:a16="http://schemas.microsoft.com/office/drawing/2014/main" id="{AF93EDE6-E7EE-AF5F-9417-F47C89CAB21B}"/>
              </a:ext>
            </a:extLst>
          </p:cNvPr>
          <p:cNvSpPr txBox="1"/>
          <p:nvPr/>
        </p:nvSpPr>
        <p:spPr>
          <a:xfrm>
            <a:off x="2288223" y="4119044"/>
            <a:ext cx="1484702" cy="830997"/>
          </a:xfrm>
          <a:prstGeom prst="rect">
            <a:avLst/>
          </a:prstGeom>
          <a:noFill/>
        </p:spPr>
        <p:txBody>
          <a:bodyPr wrap="none" rtlCol="0">
            <a:spAutoFit/>
          </a:bodyPr>
          <a:lstStyle/>
          <a:p>
            <a:pPr algn="ctr"/>
            <a:r>
              <a:rPr lang="en-US" sz="2400" dirty="0">
                <a:solidFill>
                  <a:srgbClr val="9A0031"/>
                </a:solidFill>
                <a:latin typeface="Fjalla One" panose="02000506040000020004" pitchFamily="2" charset="0"/>
                <a:ea typeface="Roboto" panose="02000000000000000000" pitchFamily="2" charset="0"/>
                <a:cs typeface="Roboto" panose="02000000000000000000" pitchFamily="2" charset="0"/>
              </a:rPr>
              <a:t>Qualitative</a:t>
            </a:r>
          </a:p>
          <a:p>
            <a:pPr algn="ctr"/>
            <a:r>
              <a:rPr lang="en-US" sz="2400" dirty="0">
                <a:solidFill>
                  <a:srgbClr val="9A0031"/>
                </a:solidFill>
                <a:latin typeface="Fjalla One" panose="02000506040000020004" pitchFamily="2" charset="0"/>
                <a:ea typeface="Roboto" panose="02000000000000000000" pitchFamily="2" charset="0"/>
                <a:cs typeface="Roboto" panose="02000000000000000000" pitchFamily="2" charset="0"/>
              </a:rPr>
              <a:t>Methods</a:t>
            </a:r>
          </a:p>
        </p:txBody>
      </p:sp>
      <p:sp>
        <p:nvSpPr>
          <p:cNvPr id="19" name="TextBox 18">
            <a:extLst>
              <a:ext uri="{FF2B5EF4-FFF2-40B4-BE49-F238E27FC236}">
                <a16:creationId xmlns:a16="http://schemas.microsoft.com/office/drawing/2014/main" id="{67502689-188D-FDB3-69E1-30B56C631F81}"/>
              </a:ext>
            </a:extLst>
          </p:cNvPr>
          <p:cNvSpPr txBox="1"/>
          <p:nvPr/>
        </p:nvSpPr>
        <p:spPr>
          <a:xfrm>
            <a:off x="5165812" y="893244"/>
            <a:ext cx="718466" cy="461665"/>
          </a:xfrm>
          <a:prstGeom prst="rect">
            <a:avLst/>
          </a:prstGeom>
          <a:noFill/>
        </p:spPr>
        <p:txBody>
          <a:bodyPr wrap="none" rtlCol="0">
            <a:spAutoFit/>
          </a:bodyPr>
          <a:lstStyle/>
          <a:p>
            <a:r>
              <a:rPr lang="en-US" sz="2400" dirty="0">
                <a:solidFill>
                  <a:srgbClr val="9A0031"/>
                </a:solidFill>
                <a:latin typeface="Fjalla One" panose="02000506040000020004" pitchFamily="2" charset="0"/>
                <a:ea typeface="Roboto" panose="02000000000000000000" pitchFamily="2" charset="0"/>
                <a:cs typeface="Roboto" panose="02000000000000000000" pitchFamily="2" charset="0"/>
              </a:rPr>
              <a:t>Pros</a:t>
            </a:r>
          </a:p>
        </p:txBody>
      </p:sp>
      <p:sp>
        <p:nvSpPr>
          <p:cNvPr id="20" name="TextBox 19">
            <a:extLst>
              <a:ext uri="{FF2B5EF4-FFF2-40B4-BE49-F238E27FC236}">
                <a16:creationId xmlns:a16="http://schemas.microsoft.com/office/drawing/2014/main" id="{FA8DC7BB-EBF4-5B47-F628-DE76E760A119}"/>
              </a:ext>
            </a:extLst>
          </p:cNvPr>
          <p:cNvSpPr txBox="1"/>
          <p:nvPr/>
        </p:nvSpPr>
        <p:spPr>
          <a:xfrm>
            <a:off x="7909012" y="893244"/>
            <a:ext cx="747320" cy="461665"/>
          </a:xfrm>
          <a:prstGeom prst="rect">
            <a:avLst/>
          </a:prstGeom>
          <a:noFill/>
        </p:spPr>
        <p:txBody>
          <a:bodyPr wrap="none" rtlCol="0">
            <a:spAutoFit/>
          </a:bodyPr>
          <a:lstStyle/>
          <a:p>
            <a:r>
              <a:rPr lang="en-US" sz="2400" dirty="0">
                <a:solidFill>
                  <a:srgbClr val="9A0031"/>
                </a:solidFill>
                <a:latin typeface="Fjalla One" panose="02000506040000020004" pitchFamily="2" charset="0"/>
                <a:ea typeface="Roboto" panose="02000000000000000000" pitchFamily="2" charset="0"/>
                <a:cs typeface="Roboto" panose="02000000000000000000" pitchFamily="2" charset="0"/>
              </a:rPr>
              <a:t>Cons</a:t>
            </a:r>
          </a:p>
        </p:txBody>
      </p:sp>
      <p:sp>
        <p:nvSpPr>
          <p:cNvPr id="2" name="TextBox 1">
            <a:extLst>
              <a:ext uri="{FF2B5EF4-FFF2-40B4-BE49-F238E27FC236}">
                <a16:creationId xmlns:a16="http://schemas.microsoft.com/office/drawing/2014/main" id="{A0181433-FF48-0DFC-E3DD-6BFE7DC8A2E7}"/>
              </a:ext>
            </a:extLst>
          </p:cNvPr>
          <p:cNvSpPr txBox="1"/>
          <p:nvPr/>
        </p:nvSpPr>
        <p:spPr>
          <a:xfrm>
            <a:off x="838200" y="6293826"/>
            <a:ext cx="10084157" cy="400110"/>
          </a:xfrm>
          <a:prstGeom prst="rect">
            <a:avLst/>
          </a:prstGeom>
          <a:noFill/>
        </p:spPr>
        <p:txBody>
          <a:bodyPr wrap="square" rtlCol="0">
            <a:spAutoFit/>
          </a:bodyPr>
          <a:lstStyle/>
          <a:p>
            <a:r>
              <a:rPr lang="en-US" sz="1000" dirty="0">
                <a:latin typeface="Roboto" panose="02000000000000000000" pitchFamily="2" charset="0"/>
                <a:ea typeface="Roboto" panose="02000000000000000000" pitchFamily="2" charset="0"/>
                <a:cs typeface="Roboto" panose="02000000000000000000" pitchFamily="2" charset="0"/>
              </a:rPr>
              <a:t>[27] </a:t>
            </a:r>
            <a:r>
              <a:rPr lang="en-US" sz="1000" dirty="0">
                <a:effectLst/>
                <a:latin typeface="Roboto" panose="02000000000000000000" pitchFamily="2" charset="0"/>
                <a:ea typeface="Roboto" panose="02000000000000000000" pitchFamily="2" charset="0"/>
                <a:cs typeface="Roboto" panose="02000000000000000000" pitchFamily="2" charset="0"/>
              </a:rPr>
              <a:t>William C Adams. Conducting Semi-structured </a:t>
            </a:r>
            <a:r>
              <a:rPr lang="en-US" sz="1000" dirty="0">
                <a:latin typeface="Roboto" panose="02000000000000000000" pitchFamily="2" charset="0"/>
                <a:ea typeface="Roboto" panose="02000000000000000000" pitchFamily="2" charset="0"/>
                <a:cs typeface="Roboto" panose="02000000000000000000" pitchFamily="2" charset="0"/>
              </a:rPr>
              <a:t>I</a:t>
            </a:r>
            <a:r>
              <a:rPr lang="en-US" sz="1000" dirty="0">
                <a:effectLst/>
                <a:latin typeface="Roboto" panose="02000000000000000000" pitchFamily="2" charset="0"/>
                <a:ea typeface="Roboto" panose="02000000000000000000" pitchFamily="2" charset="0"/>
                <a:cs typeface="Roboto" panose="02000000000000000000" pitchFamily="2" charset="0"/>
              </a:rPr>
              <a:t>nterviews. Handbook of Practical </a:t>
            </a:r>
            <a:r>
              <a:rPr lang="en-US" sz="1000" dirty="0">
                <a:latin typeface="Roboto" panose="02000000000000000000" pitchFamily="2" charset="0"/>
                <a:ea typeface="Roboto" panose="02000000000000000000" pitchFamily="2" charset="0"/>
                <a:cs typeface="Roboto" panose="02000000000000000000" pitchFamily="2" charset="0"/>
              </a:rPr>
              <a:t>P</a:t>
            </a:r>
            <a:r>
              <a:rPr lang="en-US" sz="1000" dirty="0">
                <a:effectLst/>
                <a:latin typeface="Roboto" panose="02000000000000000000" pitchFamily="2" charset="0"/>
                <a:ea typeface="Roboto" panose="02000000000000000000" pitchFamily="2" charset="0"/>
                <a:cs typeface="Roboto" panose="02000000000000000000" pitchFamily="2" charset="0"/>
              </a:rPr>
              <a:t>rogram </a:t>
            </a:r>
            <a:r>
              <a:rPr lang="en-US" sz="1000" dirty="0">
                <a:latin typeface="Roboto" panose="02000000000000000000" pitchFamily="2" charset="0"/>
                <a:ea typeface="Roboto" panose="02000000000000000000" pitchFamily="2" charset="0"/>
                <a:cs typeface="Roboto" panose="02000000000000000000" pitchFamily="2" charset="0"/>
              </a:rPr>
              <a:t>E</a:t>
            </a:r>
            <a:r>
              <a:rPr lang="en-US" sz="1000" dirty="0">
                <a:effectLst/>
                <a:latin typeface="Roboto" panose="02000000000000000000" pitchFamily="2" charset="0"/>
                <a:ea typeface="Roboto" panose="02000000000000000000" pitchFamily="2" charset="0"/>
                <a:cs typeface="Roboto" panose="02000000000000000000" pitchFamily="2" charset="0"/>
              </a:rPr>
              <a:t>valuation,</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2015.</a:t>
            </a:r>
          </a:p>
          <a:p>
            <a:r>
              <a:rPr lang="en-US" sz="1000" dirty="0">
                <a:latin typeface="Roboto" panose="02000000000000000000" pitchFamily="2" charset="0"/>
                <a:ea typeface="Roboto" panose="02000000000000000000" pitchFamily="2" charset="0"/>
                <a:cs typeface="Roboto" panose="02000000000000000000" pitchFamily="2" charset="0"/>
              </a:rPr>
              <a:t>[28] </a:t>
            </a:r>
            <a:r>
              <a:rPr lang="en-US" sz="1000" b="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Sechrest</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 </a:t>
            </a:r>
            <a:r>
              <a:rPr lang="en-US" sz="1000" b="0" dirty="0">
                <a:solidFill>
                  <a:srgbClr val="222222"/>
                </a:solidFill>
                <a:effectLst/>
                <a:latin typeface="Roboto" panose="02000000000000000000" pitchFamily="2" charset="0"/>
                <a:ea typeface="Roboto" panose="02000000000000000000" pitchFamily="2" charset="0"/>
                <a:cs typeface="Roboto" panose="02000000000000000000" pitchFamily="2" charset="0"/>
              </a:rPr>
              <a:t>Lee and </a:t>
            </a:r>
            <a:r>
              <a:rPr lang="en-US" sz="1000" b="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Souraya</a:t>
            </a:r>
            <a:r>
              <a:rPr lang="en-US" sz="1000" b="0" dirty="0">
                <a:solidFill>
                  <a:srgbClr val="222222"/>
                </a:solidFill>
                <a:effectLst/>
                <a:latin typeface="Roboto" panose="02000000000000000000" pitchFamily="2" charset="0"/>
                <a:ea typeface="Roboto" panose="02000000000000000000" pitchFamily="2" charset="0"/>
                <a:cs typeface="Roboto" panose="02000000000000000000" pitchFamily="2" charset="0"/>
              </a:rPr>
              <a:t> </a:t>
            </a:r>
            <a:r>
              <a:rPr lang="en-US" sz="1000" b="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Sidani</a:t>
            </a:r>
            <a:r>
              <a:rPr lang="en-US" sz="1000" b="0" dirty="0">
                <a:solidFill>
                  <a:srgbClr val="222222"/>
                </a:solidFill>
                <a:effectLst/>
                <a:latin typeface="Roboto" panose="02000000000000000000" pitchFamily="2" charset="0"/>
                <a:ea typeface="Roboto" panose="02000000000000000000" pitchFamily="2" charset="0"/>
                <a:cs typeface="Roboto" panose="02000000000000000000" pitchFamily="2" charset="0"/>
              </a:rPr>
              <a:t>. Quantitative and Qualitative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M</a:t>
            </a:r>
            <a:r>
              <a:rPr lang="en-US" sz="1000" b="0" dirty="0">
                <a:solidFill>
                  <a:srgbClr val="222222"/>
                </a:solidFill>
                <a:effectLst/>
                <a:latin typeface="Roboto" panose="02000000000000000000" pitchFamily="2" charset="0"/>
                <a:ea typeface="Roboto" panose="02000000000000000000" pitchFamily="2" charset="0"/>
                <a:cs typeface="Roboto" panose="02000000000000000000" pitchFamily="2" charset="0"/>
              </a:rPr>
              <a:t>ethods: Is There an Alternative? Evaluation and Program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P</a:t>
            </a:r>
            <a:r>
              <a:rPr lang="en-US" sz="1000" b="0" dirty="0">
                <a:solidFill>
                  <a:srgbClr val="222222"/>
                </a:solidFill>
                <a:effectLst/>
                <a:latin typeface="Roboto" panose="02000000000000000000" pitchFamily="2" charset="0"/>
                <a:ea typeface="Roboto" panose="02000000000000000000" pitchFamily="2" charset="0"/>
                <a:cs typeface="Roboto" panose="02000000000000000000" pitchFamily="2" charset="0"/>
              </a:rPr>
              <a:t>lanning, 1995.</a:t>
            </a:r>
            <a:endParaRPr lang="en-US" sz="1000" dirty="0">
              <a:latin typeface="Roboto" panose="02000000000000000000" pitchFamily="2" charset="0"/>
              <a:ea typeface="Roboto" panose="02000000000000000000" pitchFamily="2" charset="0"/>
              <a:cs typeface="Roboto" panose="02000000000000000000" pitchFamily="2" charset="0"/>
            </a:endParaRPr>
          </a:p>
        </p:txBody>
      </p:sp>
      <p:sp>
        <p:nvSpPr>
          <p:cNvPr id="6" name="Slide Number Placeholder 5">
            <a:extLst>
              <a:ext uri="{FF2B5EF4-FFF2-40B4-BE49-F238E27FC236}">
                <a16:creationId xmlns:a16="http://schemas.microsoft.com/office/drawing/2014/main" id="{19923060-F30D-40B4-64F3-402ABB4AAD99}"/>
              </a:ext>
            </a:extLst>
          </p:cNvPr>
          <p:cNvSpPr>
            <a:spLocks noGrp="1"/>
          </p:cNvSpPr>
          <p:nvPr>
            <p:ph type="sldNum" sz="quarter" idx="12"/>
          </p:nvPr>
        </p:nvSpPr>
        <p:spPr/>
        <p:txBody>
          <a:bodyPr/>
          <a:lstStyle/>
          <a:p>
            <a:fld id="{835FE90F-C88A-C24D-9FD5-52F0990CFAC0}" type="slidenum">
              <a:rPr lang="en-US" smtClean="0"/>
              <a:t>19</a:t>
            </a:fld>
            <a:endParaRPr lang="en-US"/>
          </a:p>
        </p:txBody>
      </p:sp>
    </p:spTree>
    <p:extLst>
      <p:ext uri="{BB962C8B-B14F-4D97-AF65-F5344CB8AC3E}">
        <p14:creationId xmlns:p14="http://schemas.microsoft.com/office/powerpoint/2010/main" val="391646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37E4941-12E2-537A-3D82-130D5D28A128}"/>
              </a:ext>
            </a:extLst>
          </p:cNvPr>
          <p:cNvSpPr>
            <a:spLocks noGrp="1"/>
          </p:cNvSpPr>
          <p:nvPr>
            <p:ph type="title"/>
          </p:nvPr>
        </p:nvSpPr>
        <p:spPr/>
        <p:txBody>
          <a:bodyPr/>
          <a:lstStyle/>
          <a:p>
            <a:r>
              <a:rPr lang="en-US" dirty="0">
                <a:solidFill>
                  <a:srgbClr val="9A0031"/>
                </a:solidFill>
                <a:latin typeface="Fjalla One" panose="02000506040000020004" pitchFamily="2" charset="0"/>
              </a:rPr>
              <a:t>Why Chose Qualitative Methods?</a:t>
            </a:r>
          </a:p>
        </p:txBody>
      </p:sp>
      <p:sp>
        <p:nvSpPr>
          <p:cNvPr id="3" name="Content Placeholder 2">
            <a:extLst>
              <a:ext uri="{FF2B5EF4-FFF2-40B4-BE49-F238E27FC236}">
                <a16:creationId xmlns:a16="http://schemas.microsoft.com/office/drawing/2014/main" id="{C3EFAED8-1265-A7AD-DBDE-8CA966A04587}"/>
              </a:ext>
            </a:extLst>
          </p:cNvPr>
          <p:cNvSpPr>
            <a:spLocks noGrp="1"/>
          </p:cNvSpPr>
          <p:nvPr>
            <p:ph idx="1"/>
          </p:nvPr>
        </p:nvSpPr>
        <p:spPr>
          <a:xfrm>
            <a:off x="1391992" y="2228671"/>
            <a:ext cx="9658082" cy="3650001"/>
          </a:xfrm>
        </p:spPr>
        <p:txBody>
          <a:bodyPr>
            <a:noAutofit/>
          </a:bodyPr>
          <a:lstStyle/>
          <a:p>
            <a:pPr marL="0" indent="0" algn="ctr">
              <a:buNone/>
            </a:pPr>
            <a:r>
              <a:rPr lang="en-US" sz="4000" dirty="0">
                <a:latin typeface="Roboto" panose="02000000000000000000" pitchFamily="2" charset="0"/>
                <a:ea typeface="Roboto" panose="02000000000000000000" pitchFamily="2" charset="0"/>
                <a:cs typeface="Roboto" panose="02000000000000000000" pitchFamily="2" charset="0"/>
              </a:rPr>
              <a:t>Because our objective was to gain a </a:t>
            </a:r>
            <a:r>
              <a:rPr lang="en-US" sz="4000" dirty="0">
                <a:solidFill>
                  <a:srgbClr val="9A0031"/>
                </a:solidFill>
                <a:latin typeface="Roboto" panose="02000000000000000000" pitchFamily="2" charset="0"/>
                <a:ea typeface="Roboto" panose="02000000000000000000" pitchFamily="2" charset="0"/>
                <a:cs typeface="Roboto" panose="02000000000000000000" pitchFamily="2" charset="0"/>
              </a:rPr>
              <a:t>nuanced perspective on how </a:t>
            </a:r>
            <a:r>
              <a:rPr lang="en-US" sz="4000" dirty="0">
                <a:latin typeface="Roboto" panose="02000000000000000000" pitchFamily="2" charset="0"/>
                <a:ea typeface="Roboto" panose="02000000000000000000" pitchFamily="2" charset="0"/>
                <a:cs typeface="Roboto" panose="02000000000000000000" pitchFamily="2" charset="0"/>
              </a:rPr>
              <a:t>users craft passwords, </a:t>
            </a:r>
            <a:r>
              <a:rPr lang="en-US" sz="4000" dirty="0">
                <a:solidFill>
                  <a:srgbClr val="9A0031"/>
                </a:solidFill>
                <a:latin typeface="Roboto" panose="02000000000000000000" pitchFamily="2" charset="0"/>
                <a:ea typeface="Roboto" panose="02000000000000000000" pitchFamily="2" charset="0"/>
                <a:cs typeface="Roboto" panose="02000000000000000000" pitchFamily="2" charset="0"/>
              </a:rPr>
              <a:t>we relied heavily on qualitative methods</a:t>
            </a:r>
            <a:r>
              <a:rPr lang="en-US" sz="4000" dirty="0">
                <a:latin typeface="Roboto" panose="02000000000000000000" pitchFamily="2" charset="0"/>
                <a:ea typeface="Roboto" panose="02000000000000000000" pitchFamily="2" charset="0"/>
                <a:cs typeface="Roboto" panose="02000000000000000000" pitchFamily="2" charset="0"/>
              </a:rPr>
              <a:t>.”</a:t>
            </a:r>
          </a:p>
          <a:p>
            <a:pPr marL="0" indent="0" algn="ctr">
              <a:buNone/>
            </a:pPr>
            <a:endParaRPr lang="en-US" sz="2000" b="1" dirty="0">
              <a:solidFill>
                <a:srgbClr val="9A0031"/>
              </a:solidFill>
              <a:latin typeface="Roboto" panose="02000000000000000000" pitchFamily="2" charset="0"/>
              <a:ea typeface="Roboto" panose="02000000000000000000" pitchFamily="2" charset="0"/>
              <a:cs typeface="Roboto" panose="02000000000000000000" pitchFamily="2" charset="0"/>
            </a:endParaRPr>
          </a:p>
          <a:p>
            <a:pPr marL="0" indent="0" algn="r">
              <a:buNone/>
            </a:pPr>
            <a:r>
              <a:rPr lang="en-US" sz="1100" i="1" dirty="0">
                <a:effectLst/>
                <a:latin typeface="Roboto" panose="02000000000000000000" pitchFamily="2" charset="0"/>
                <a:ea typeface="Roboto" panose="02000000000000000000" pitchFamily="2" charset="0"/>
                <a:cs typeface="Roboto" panose="02000000000000000000" pitchFamily="2" charset="0"/>
              </a:rPr>
              <a:t>- Blase Ur, Fumiko Noma, Jonathan Bees, Sean M </a:t>
            </a:r>
            <a:r>
              <a:rPr lang="en-US" sz="1100" i="1" dirty="0" err="1">
                <a:effectLst/>
                <a:latin typeface="Roboto" panose="02000000000000000000" pitchFamily="2" charset="0"/>
                <a:ea typeface="Roboto" panose="02000000000000000000" pitchFamily="2" charset="0"/>
                <a:cs typeface="Roboto" panose="02000000000000000000" pitchFamily="2" charset="0"/>
              </a:rPr>
              <a:t>Segreti</a:t>
            </a:r>
            <a:r>
              <a:rPr lang="en-US" sz="1100" i="1" dirty="0">
                <a:effectLst/>
                <a:latin typeface="Roboto" panose="02000000000000000000" pitchFamily="2" charset="0"/>
                <a:ea typeface="Roboto" panose="02000000000000000000" pitchFamily="2" charset="0"/>
                <a:cs typeface="Roboto" panose="02000000000000000000" pitchFamily="2" charset="0"/>
              </a:rPr>
              <a:t>, Richard Shay, </a:t>
            </a:r>
            <a:r>
              <a:rPr lang="en-US" sz="1100" i="1" dirty="0" err="1">
                <a:effectLst/>
                <a:latin typeface="Roboto" panose="02000000000000000000" pitchFamily="2" charset="0"/>
                <a:ea typeface="Roboto" panose="02000000000000000000" pitchFamily="2" charset="0"/>
                <a:cs typeface="Roboto" panose="02000000000000000000" pitchFamily="2" charset="0"/>
              </a:rPr>
              <a:t>Lujo</a:t>
            </a:r>
            <a:r>
              <a:rPr lang="en-US" sz="1100" i="1" dirty="0">
                <a:effectLst/>
                <a:latin typeface="Roboto" panose="02000000000000000000" pitchFamily="2" charset="0"/>
                <a:ea typeface="Roboto" panose="02000000000000000000" pitchFamily="2" charset="0"/>
                <a:cs typeface="Roboto" panose="02000000000000000000" pitchFamily="2" charset="0"/>
              </a:rPr>
              <a:t> Bauer, Nicolas Christin, and Lorrie</a:t>
            </a:r>
            <a:r>
              <a:rPr lang="en-US" sz="1100" i="1" dirty="0">
                <a:latin typeface="Roboto" panose="02000000000000000000" pitchFamily="2" charset="0"/>
                <a:ea typeface="Roboto" panose="02000000000000000000" pitchFamily="2" charset="0"/>
                <a:cs typeface="Roboto" panose="02000000000000000000" pitchFamily="2" charset="0"/>
              </a:rPr>
              <a:t> </a:t>
            </a:r>
            <a:r>
              <a:rPr lang="en-US" sz="1100" i="1" dirty="0">
                <a:effectLst/>
                <a:latin typeface="Roboto" panose="02000000000000000000" pitchFamily="2" charset="0"/>
                <a:ea typeface="Roboto" panose="02000000000000000000" pitchFamily="2" charset="0"/>
                <a:cs typeface="Roboto" panose="02000000000000000000" pitchFamily="2" charset="0"/>
              </a:rPr>
              <a:t>Faith Cranor. ”I added ’!’ at the end to make it secure”: Observing Password </a:t>
            </a:r>
            <a:r>
              <a:rPr lang="en-US" sz="1100" i="1" dirty="0">
                <a:latin typeface="Roboto" panose="02000000000000000000" pitchFamily="2" charset="0"/>
                <a:ea typeface="Roboto" panose="02000000000000000000" pitchFamily="2" charset="0"/>
                <a:cs typeface="Roboto" panose="02000000000000000000" pitchFamily="2" charset="0"/>
              </a:rPr>
              <a:t>C</a:t>
            </a:r>
            <a:r>
              <a:rPr lang="en-US" sz="1100" i="1" dirty="0">
                <a:effectLst/>
                <a:latin typeface="Roboto" panose="02000000000000000000" pitchFamily="2" charset="0"/>
                <a:ea typeface="Roboto" panose="02000000000000000000" pitchFamily="2" charset="0"/>
                <a:cs typeface="Roboto" panose="02000000000000000000" pitchFamily="2" charset="0"/>
              </a:rPr>
              <a:t>reation in the Lab. In Eleventh Symposium on Usable </a:t>
            </a:r>
            <a:r>
              <a:rPr lang="en-US" sz="1100" i="1" dirty="0">
                <a:latin typeface="Roboto" panose="02000000000000000000" pitchFamily="2" charset="0"/>
                <a:ea typeface="Roboto" panose="02000000000000000000" pitchFamily="2" charset="0"/>
                <a:cs typeface="Roboto" panose="02000000000000000000" pitchFamily="2" charset="0"/>
              </a:rPr>
              <a:t>P</a:t>
            </a:r>
            <a:r>
              <a:rPr lang="en-US" sz="1100" i="1" dirty="0">
                <a:effectLst/>
                <a:latin typeface="Roboto" panose="02000000000000000000" pitchFamily="2" charset="0"/>
                <a:ea typeface="Roboto" panose="02000000000000000000" pitchFamily="2" charset="0"/>
                <a:cs typeface="Roboto" panose="02000000000000000000" pitchFamily="2" charset="0"/>
              </a:rPr>
              <a:t>rivacy and Security (SOUPS 2015).</a:t>
            </a:r>
          </a:p>
          <a:p>
            <a:pPr marL="0" indent="0" algn="ctr">
              <a:buNone/>
            </a:pPr>
            <a:endParaRPr lang="en-US" sz="4000" b="1" dirty="0">
              <a:solidFill>
                <a:srgbClr val="FFC000"/>
              </a:solidFill>
              <a:latin typeface="Roboto" panose="02000000000000000000" pitchFamily="2" charset="0"/>
              <a:ea typeface="Roboto" panose="02000000000000000000" pitchFamily="2" charset="0"/>
              <a:cs typeface="Roboto" panose="02000000000000000000" pitchFamily="2" charset="0"/>
            </a:endParaRPr>
          </a:p>
          <a:p>
            <a:pPr marL="0" indent="0">
              <a:buNone/>
            </a:pPr>
            <a:endParaRPr lang="en-US" sz="4000" b="0" i="0" dirty="0">
              <a:solidFill>
                <a:srgbClr val="222222"/>
              </a:solidFill>
              <a:effectLst/>
              <a:latin typeface="Roboto" panose="02000000000000000000" pitchFamily="2" charset="0"/>
              <a:ea typeface="Roboto" panose="02000000000000000000" pitchFamily="2" charset="0"/>
              <a:cs typeface="Roboto" panose="02000000000000000000" pitchFamily="2" charset="0"/>
            </a:endParaRPr>
          </a:p>
          <a:p>
            <a:pPr marL="0" indent="0">
              <a:buNone/>
            </a:pPr>
            <a:endParaRPr lang="en-US" sz="4000"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D352550E-7FE8-10FF-AF10-0D12F13A9AAF}"/>
              </a:ext>
            </a:extLst>
          </p:cNvPr>
          <p:cNvSpPr txBox="1"/>
          <p:nvPr/>
        </p:nvSpPr>
        <p:spPr>
          <a:xfrm>
            <a:off x="864443" y="1511893"/>
            <a:ext cx="1055097" cy="2400657"/>
          </a:xfrm>
          <a:prstGeom prst="rect">
            <a:avLst/>
          </a:prstGeom>
          <a:noFill/>
        </p:spPr>
        <p:txBody>
          <a:bodyPr wrap="none" rtlCol="0">
            <a:spAutoFit/>
          </a:bodyPr>
          <a:lstStyle/>
          <a:p>
            <a:r>
              <a:rPr lang="en-US" sz="15000" dirty="0">
                <a:solidFill>
                  <a:srgbClr val="FFC10E"/>
                </a:solidFill>
              </a:rPr>
              <a:t>“</a:t>
            </a:r>
          </a:p>
        </p:txBody>
      </p:sp>
      <p:sp>
        <p:nvSpPr>
          <p:cNvPr id="9" name="Slide Number Placeholder 8">
            <a:extLst>
              <a:ext uri="{FF2B5EF4-FFF2-40B4-BE49-F238E27FC236}">
                <a16:creationId xmlns:a16="http://schemas.microsoft.com/office/drawing/2014/main" id="{E9F1AAFB-5221-3336-9DFB-BE3B8F0BB51A}"/>
              </a:ext>
            </a:extLst>
          </p:cNvPr>
          <p:cNvSpPr>
            <a:spLocks noGrp="1"/>
          </p:cNvSpPr>
          <p:nvPr>
            <p:ph type="sldNum" sz="quarter" idx="12"/>
          </p:nvPr>
        </p:nvSpPr>
        <p:spPr/>
        <p:txBody>
          <a:bodyPr/>
          <a:lstStyle/>
          <a:p>
            <a:fld id="{835FE90F-C88A-C24D-9FD5-52F0990CFAC0}" type="slidenum">
              <a:rPr lang="en-US" smtClean="0"/>
              <a:t>20</a:t>
            </a:fld>
            <a:endParaRPr lang="en-US"/>
          </a:p>
        </p:txBody>
      </p:sp>
    </p:spTree>
    <p:extLst>
      <p:ext uri="{BB962C8B-B14F-4D97-AF65-F5344CB8AC3E}">
        <p14:creationId xmlns:p14="http://schemas.microsoft.com/office/powerpoint/2010/main" val="692995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0CD7B-9CB3-BFC7-F3AF-290C48C97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1400D-75FD-6686-B157-21518A478C44}"/>
              </a:ext>
            </a:extLst>
          </p:cNvPr>
          <p:cNvSpPr>
            <a:spLocks noGrp="1"/>
          </p:cNvSpPr>
          <p:nvPr>
            <p:ph type="title"/>
          </p:nvPr>
        </p:nvSpPr>
        <p:spPr/>
        <p:txBody>
          <a:bodyPr/>
          <a:lstStyle/>
          <a:p>
            <a:r>
              <a:rPr lang="en-US" dirty="0">
                <a:solidFill>
                  <a:srgbClr val="9A0031"/>
                </a:solidFill>
                <a:latin typeface="Fjalla One" panose="02000506040000020004" pitchFamily="2" charset="0"/>
              </a:rPr>
              <a:t>Semi-structured Interviews</a:t>
            </a:r>
          </a:p>
        </p:txBody>
      </p:sp>
      <p:sp>
        <p:nvSpPr>
          <p:cNvPr id="3" name="Content Placeholder 2">
            <a:extLst>
              <a:ext uri="{FF2B5EF4-FFF2-40B4-BE49-F238E27FC236}">
                <a16:creationId xmlns:a16="http://schemas.microsoft.com/office/drawing/2014/main" id="{70E66668-AA35-AD55-BBBD-CD818D7E1183}"/>
              </a:ext>
            </a:extLst>
          </p:cNvPr>
          <p:cNvSpPr>
            <a:spLocks noGrp="1"/>
          </p:cNvSpPr>
          <p:nvPr>
            <p:ph idx="1"/>
          </p:nvPr>
        </p:nvSpPr>
        <p:spPr>
          <a:xfrm>
            <a:off x="838200" y="1825625"/>
            <a:ext cx="10515600" cy="1209675"/>
          </a:xfrm>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Blend of open and closed-ended questions -&gt; skip and follow-up as needed -&gt; balances flexibility and consistency</a:t>
            </a:r>
          </a:p>
          <a:p>
            <a:endParaRPr lang="en-US" sz="20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p:txBody>
      </p:sp>
      <p:grpSp>
        <p:nvGrpSpPr>
          <p:cNvPr id="7" name="Group 6">
            <a:extLst>
              <a:ext uri="{FF2B5EF4-FFF2-40B4-BE49-F238E27FC236}">
                <a16:creationId xmlns:a16="http://schemas.microsoft.com/office/drawing/2014/main" id="{27249531-BC77-4F8A-FEFE-EAE798921741}"/>
              </a:ext>
            </a:extLst>
          </p:cNvPr>
          <p:cNvGrpSpPr/>
          <p:nvPr/>
        </p:nvGrpSpPr>
        <p:grpSpPr>
          <a:xfrm>
            <a:off x="1358900" y="3035300"/>
            <a:ext cx="8623300" cy="2827080"/>
            <a:chOff x="1358900" y="3035300"/>
            <a:chExt cx="8623300" cy="2827080"/>
          </a:xfrm>
        </p:grpSpPr>
        <p:sp>
          <p:nvSpPr>
            <p:cNvPr id="5" name="TextBox 4">
              <a:extLst>
                <a:ext uri="{FF2B5EF4-FFF2-40B4-BE49-F238E27FC236}">
                  <a16:creationId xmlns:a16="http://schemas.microsoft.com/office/drawing/2014/main" id="{AD91111B-D297-251C-6A45-A5EB924B6D5E}"/>
                </a:ext>
              </a:extLst>
            </p:cNvPr>
            <p:cNvSpPr txBox="1"/>
            <p:nvPr/>
          </p:nvSpPr>
          <p:spPr>
            <a:xfrm>
              <a:off x="1871452" y="3492500"/>
              <a:ext cx="8110748" cy="2369880"/>
            </a:xfrm>
            <a:prstGeom prst="rect">
              <a:avLst/>
            </a:prstGeom>
            <a:noFill/>
          </p:spPr>
          <p:txBody>
            <a:bodyPr wrap="square" rtlCol="0">
              <a:spAutoFit/>
            </a:bodyPr>
            <a:lstStyle/>
            <a:p>
              <a:pPr algn="just"/>
              <a:r>
                <a:rPr lang="en-US" sz="1800" dirty="0">
                  <a:latin typeface="Roboto" panose="02000000000000000000" pitchFamily="2" charset="0"/>
                  <a:ea typeface="Roboto" panose="02000000000000000000" pitchFamily="2" charset="0"/>
                  <a:cs typeface="Roboto" panose="02000000000000000000" pitchFamily="2" charset="0"/>
                </a:rPr>
                <a:t>We chose semi-structured interviews over other methods, such as surveys, because of the </a:t>
              </a:r>
              <a:r>
                <a:rPr lang="en-US" sz="1800" dirty="0">
                  <a:solidFill>
                    <a:srgbClr val="9A0031"/>
                  </a:solidFill>
                  <a:latin typeface="Roboto" panose="02000000000000000000" pitchFamily="2" charset="0"/>
                  <a:ea typeface="Roboto" panose="02000000000000000000" pitchFamily="2" charset="0"/>
                  <a:cs typeface="Roboto" panose="02000000000000000000" pitchFamily="2" charset="0"/>
                </a:rPr>
                <a:t>richness of data afforded, the latitude to ask follow-up questions, to clarify or delve deeper into participant responses, and the ability to encourage participants to add other relevant information not explicitly targeted</a:t>
              </a:r>
              <a:r>
                <a:rPr lang="en-US" sz="1800" dirty="0">
                  <a:latin typeface="Roboto" panose="02000000000000000000" pitchFamily="2" charset="0"/>
                  <a:ea typeface="Roboto" panose="02000000000000000000" pitchFamily="2" charset="0"/>
                  <a:cs typeface="Roboto" panose="02000000000000000000" pitchFamily="2" charset="0"/>
                </a:rPr>
                <a:t>.”</a:t>
              </a:r>
            </a:p>
            <a:p>
              <a:endParaRPr lang="en-US" dirty="0">
                <a:latin typeface="Roboto" panose="02000000000000000000" pitchFamily="2" charset="0"/>
                <a:ea typeface="Roboto" panose="02000000000000000000" pitchFamily="2" charset="0"/>
                <a:cs typeface="Roboto" panose="02000000000000000000" pitchFamily="2" charset="0"/>
              </a:endParaRPr>
            </a:p>
            <a:p>
              <a:pPr algn="r"/>
              <a:r>
                <a:rPr lang="en-US" sz="1100" dirty="0">
                  <a:latin typeface="Roboto" panose="02000000000000000000" pitchFamily="2" charset="0"/>
                  <a:ea typeface="Roboto" panose="02000000000000000000" pitchFamily="2" charset="0"/>
                  <a:cs typeface="Roboto" panose="02000000000000000000" pitchFamily="2" charset="0"/>
                </a:rPr>
                <a:t>- </a:t>
              </a:r>
              <a:r>
                <a:rPr lang="en-US" sz="1100" i="1" dirty="0">
                  <a:effectLst/>
                  <a:latin typeface="Roboto" panose="02000000000000000000" pitchFamily="2" charset="0"/>
                  <a:ea typeface="Roboto" panose="02000000000000000000" pitchFamily="2" charset="0"/>
                  <a:cs typeface="Roboto" panose="02000000000000000000" pitchFamily="2" charset="0"/>
                </a:rPr>
                <a:t>Julie M Haney and Wayne G </a:t>
              </a:r>
              <a:r>
                <a:rPr lang="en-US" sz="1100" i="1" dirty="0" err="1">
                  <a:effectLst/>
                  <a:latin typeface="Roboto" panose="02000000000000000000" pitchFamily="2" charset="0"/>
                  <a:ea typeface="Roboto" panose="02000000000000000000" pitchFamily="2" charset="0"/>
                  <a:cs typeface="Roboto" panose="02000000000000000000" pitchFamily="2" charset="0"/>
                </a:rPr>
                <a:t>Lutters</a:t>
              </a:r>
              <a:r>
                <a:rPr lang="en-US" sz="1100" i="1" dirty="0">
                  <a:effectLst/>
                  <a:latin typeface="Roboto" panose="02000000000000000000" pitchFamily="2" charset="0"/>
                  <a:ea typeface="Roboto" panose="02000000000000000000" pitchFamily="2" charset="0"/>
                  <a:cs typeface="Roboto" panose="02000000000000000000" pitchFamily="2" charset="0"/>
                </a:rPr>
                <a:t>. </a:t>
              </a:r>
              <a:r>
                <a:rPr lang="en-US" sz="1100" i="1" dirty="0">
                  <a:latin typeface="Roboto" panose="02000000000000000000" pitchFamily="2" charset="0"/>
                  <a:ea typeface="Roboto" panose="02000000000000000000" pitchFamily="2" charset="0"/>
                  <a:cs typeface="Roboto" panose="02000000000000000000" pitchFamily="2" charset="0"/>
                </a:rPr>
                <a:t>“I</a:t>
              </a:r>
              <a:r>
                <a:rPr lang="en-US" sz="1100" i="1" dirty="0">
                  <a:effectLst/>
                  <a:latin typeface="Roboto" panose="02000000000000000000" pitchFamily="2" charset="0"/>
                  <a:ea typeface="Roboto" panose="02000000000000000000" pitchFamily="2" charset="0"/>
                  <a:cs typeface="Roboto" panose="02000000000000000000" pitchFamily="2" charset="0"/>
                </a:rPr>
                <a:t>t’s Scary. . . It’s Confusing. . . It’s </a:t>
              </a:r>
              <a:r>
                <a:rPr lang="en-US" sz="1100" i="1" dirty="0">
                  <a:latin typeface="Roboto" panose="02000000000000000000" pitchFamily="2" charset="0"/>
                  <a:ea typeface="Roboto" panose="02000000000000000000" pitchFamily="2" charset="0"/>
                  <a:cs typeface="Roboto" panose="02000000000000000000" pitchFamily="2" charset="0"/>
                </a:rPr>
                <a:t>D</a:t>
              </a:r>
              <a:r>
                <a:rPr lang="en-US" sz="1100" i="1" dirty="0">
                  <a:effectLst/>
                  <a:latin typeface="Roboto" panose="02000000000000000000" pitchFamily="2" charset="0"/>
                  <a:ea typeface="Roboto" panose="02000000000000000000" pitchFamily="2" charset="0"/>
                  <a:cs typeface="Roboto" panose="02000000000000000000" pitchFamily="2" charset="0"/>
                </a:rPr>
                <a:t>ull”: How Cybersecurity </a:t>
              </a:r>
              <a:r>
                <a:rPr lang="en-US" sz="1100" i="1" dirty="0">
                  <a:latin typeface="Roboto" panose="02000000000000000000" pitchFamily="2" charset="0"/>
                  <a:ea typeface="Roboto" panose="02000000000000000000" pitchFamily="2" charset="0"/>
                  <a:cs typeface="Roboto" panose="02000000000000000000" pitchFamily="2" charset="0"/>
                </a:rPr>
                <a:t>A</a:t>
              </a:r>
              <a:r>
                <a:rPr lang="en-US" sz="1100" i="1" dirty="0">
                  <a:effectLst/>
                  <a:latin typeface="Roboto" panose="02000000000000000000" pitchFamily="2" charset="0"/>
                  <a:ea typeface="Roboto" panose="02000000000000000000" pitchFamily="2" charset="0"/>
                  <a:cs typeface="Roboto" panose="02000000000000000000" pitchFamily="2" charset="0"/>
                </a:rPr>
                <a:t>dvocates</a:t>
              </a:r>
              <a:r>
                <a:rPr lang="en-US" sz="1100" dirty="0">
                  <a:latin typeface="Roboto" panose="02000000000000000000" pitchFamily="2" charset="0"/>
                  <a:ea typeface="Roboto" panose="02000000000000000000" pitchFamily="2" charset="0"/>
                  <a:cs typeface="Roboto" panose="02000000000000000000" pitchFamily="2" charset="0"/>
                </a:rPr>
                <a:t> </a:t>
              </a:r>
              <a:r>
                <a:rPr lang="en-US" sz="1100" i="1" dirty="0">
                  <a:latin typeface="Roboto" panose="02000000000000000000" pitchFamily="2" charset="0"/>
                  <a:ea typeface="Roboto" panose="02000000000000000000" pitchFamily="2" charset="0"/>
                  <a:cs typeface="Roboto" panose="02000000000000000000" pitchFamily="2" charset="0"/>
                </a:rPr>
                <a:t>O</a:t>
              </a:r>
              <a:r>
                <a:rPr lang="en-US" sz="1100" i="1" dirty="0">
                  <a:effectLst/>
                  <a:latin typeface="Roboto" panose="02000000000000000000" pitchFamily="2" charset="0"/>
                  <a:ea typeface="Roboto" panose="02000000000000000000" pitchFamily="2" charset="0"/>
                  <a:cs typeface="Roboto" panose="02000000000000000000" pitchFamily="2" charset="0"/>
                </a:rPr>
                <a:t>vercome </a:t>
              </a:r>
              <a:r>
                <a:rPr lang="en-US" sz="1100" i="1" dirty="0">
                  <a:latin typeface="Roboto" panose="02000000000000000000" pitchFamily="2" charset="0"/>
                  <a:ea typeface="Roboto" panose="02000000000000000000" pitchFamily="2" charset="0"/>
                  <a:cs typeface="Roboto" panose="02000000000000000000" pitchFamily="2" charset="0"/>
                </a:rPr>
                <a:t>N</a:t>
              </a:r>
              <a:r>
                <a:rPr lang="en-US" sz="1100" i="1" dirty="0">
                  <a:effectLst/>
                  <a:latin typeface="Roboto" panose="02000000000000000000" pitchFamily="2" charset="0"/>
                  <a:ea typeface="Roboto" panose="02000000000000000000" pitchFamily="2" charset="0"/>
                  <a:cs typeface="Roboto" panose="02000000000000000000" pitchFamily="2" charset="0"/>
                </a:rPr>
                <a:t>egative </a:t>
              </a:r>
              <a:r>
                <a:rPr lang="en-US" sz="1100" i="1" dirty="0">
                  <a:latin typeface="Roboto" panose="02000000000000000000" pitchFamily="2" charset="0"/>
                  <a:ea typeface="Roboto" panose="02000000000000000000" pitchFamily="2" charset="0"/>
                  <a:cs typeface="Roboto" panose="02000000000000000000" pitchFamily="2" charset="0"/>
                </a:rPr>
                <a:t>P</a:t>
              </a:r>
              <a:r>
                <a:rPr lang="en-US" sz="1100" i="1" dirty="0">
                  <a:effectLst/>
                  <a:latin typeface="Roboto" panose="02000000000000000000" pitchFamily="2" charset="0"/>
                  <a:ea typeface="Roboto" panose="02000000000000000000" pitchFamily="2" charset="0"/>
                  <a:cs typeface="Roboto" panose="02000000000000000000" pitchFamily="2" charset="0"/>
                </a:rPr>
                <a:t>erceptions of Security. In Fourteenth Symposium on Usable Privacy and Security (SOUPS 2018).</a:t>
              </a:r>
              <a:endParaRPr lang="en-US" sz="1100" dirty="0">
                <a:effectLst/>
                <a:latin typeface="Roboto" panose="02000000000000000000" pitchFamily="2" charset="0"/>
                <a:ea typeface="Roboto" panose="02000000000000000000" pitchFamily="2" charset="0"/>
                <a:cs typeface="Roboto" panose="02000000000000000000" pitchFamily="2" charset="0"/>
              </a:endParaRPr>
            </a:p>
            <a:p>
              <a:pPr algn="r"/>
              <a:r>
                <a:rPr lang="en-US" dirty="0">
                  <a:latin typeface="Roboto" panose="02000000000000000000" pitchFamily="2" charset="0"/>
                  <a:ea typeface="Roboto" panose="02000000000000000000" pitchFamily="2" charset="0"/>
                  <a:cs typeface="Roboto" panose="02000000000000000000" pitchFamily="2" charset="0"/>
                </a:rPr>
                <a:t> </a:t>
              </a:r>
            </a:p>
          </p:txBody>
        </p:sp>
        <p:sp>
          <p:nvSpPr>
            <p:cNvPr id="6" name="TextBox 5">
              <a:extLst>
                <a:ext uri="{FF2B5EF4-FFF2-40B4-BE49-F238E27FC236}">
                  <a16:creationId xmlns:a16="http://schemas.microsoft.com/office/drawing/2014/main" id="{B9BA916A-E752-8678-57DF-8A9A02233F74}"/>
                </a:ext>
              </a:extLst>
            </p:cNvPr>
            <p:cNvSpPr txBox="1"/>
            <p:nvPr/>
          </p:nvSpPr>
          <p:spPr>
            <a:xfrm>
              <a:off x="1358900" y="3035300"/>
              <a:ext cx="694421" cy="1446550"/>
            </a:xfrm>
            <a:prstGeom prst="rect">
              <a:avLst/>
            </a:prstGeom>
            <a:noFill/>
          </p:spPr>
          <p:txBody>
            <a:bodyPr wrap="none" rtlCol="0">
              <a:spAutoFit/>
            </a:bodyPr>
            <a:lstStyle/>
            <a:p>
              <a:r>
                <a:rPr lang="en-US" sz="8800" dirty="0">
                  <a:solidFill>
                    <a:srgbClr val="FFC10E"/>
                  </a:solidFill>
                </a:rPr>
                <a:t>“</a:t>
              </a:r>
              <a:endParaRPr lang="en-US" dirty="0">
                <a:solidFill>
                  <a:srgbClr val="FFC10E"/>
                </a:solidFill>
              </a:endParaRPr>
            </a:p>
          </p:txBody>
        </p:sp>
      </p:grpSp>
      <p:sp>
        <p:nvSpPr>
          <p:cNvPr id="10" name="Slide Number Placeholder 9">
            <a:extLst>
              <a:ext uri="{FF2B5EF4-FFF2-40B4-BE49-F238E27FC236}">
                <a16:creationId xmlns:a16="http://schemas.microsoft.com/office/drawing/2014/main" id="{102D42DD-1408-68A5-8DEC-E107C73458E7}"/>
              </a:ext>
            </a:extLst>
          </p:cNvPr>
          <p:cNvSpPr>
            <a:spLocks noGrp="1"/>
          </p:cNvSpPr>
          <p:nvPr>
            <p:ph type="sldNum" sz="quarter" idx="12"/>
          </p:nvPr>
        </p:nvSpPr>
        <p:spPr/>
        <p:txBody>
          <a:bodyPr/>
          <a:lstStyle/>
          <a:p>
            <a:fld id="{835FE90F-C88A-C24D-9FD5-52F0990CFAC0}" type="slidenum">
              <a:rPr lang="en-US" smtClean="0"/>
              <a:t>21</a:t>
            </a:fld>
            <a:endParaRPr lang="en-US"/>
          </a:p>
        </p:txBody>
      </p:sp>
    </p:spTree>
    <p:extLst>
      <p:ext uri="{BB962C8B-B14F-4D97-AF65-F5344CB8AC3E}">
        <p14:creationId xmlns:p14="http://schemas.microsoft.com/office/powerpoint/2010/main" val="2058449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25C3-D214-DCA2-D9C6-1E383E70BF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4D9487-E5C5-33A1-BF4F-1AFBC71BE8FA}"/>
              </a:ext>
            </a:extLst>
          </p:cNvPr>
          <p:cNvSpPr>
            <a:spLocks noGrp="1"/>
          </p:cNvSpPr>
          <p:nvPr>
            <p:ph type="title"/>
          </p:nvPr>
        </p:nvSpPr>
        <p:spPr/>
        <p:txBody>
          <a:bodyPr/>
          <a:lstStyle/>
          <a:p>
            <a:r>
              <a:rPr lang="en-US" dirty="0">
                <a:solidFill>
                  <a:srgbClr val="9A0031"/>
                </a:solidFill>
                <a:latin typeface="Fjalla One" panose="02000506040000020004" pitchFamily="2" charset="0"/>
              </a:rPr>
              <a:t>Focus Groups</a:t>
            </a:r>
          </a:p>
        </p:txBody>
      </p:sp>
      <p:sp>
        <p:nvSpPr>
          <p:cNvPr id="3" name="Content Placeholder 2">
            <a:extLst>
              <a:ext uri="{FF2B5EF4-FFF2-40B4-BE49-F238E27FC236}">
                <a16:creationId xmlns:a16="http://schemas.microsoft.com/office/drawing/2014/main" id="{F8952DDB-ECFD-2381-6221-DD4FF103BD00}"/>
              </a:ext>
            </a:extLst>
          </p:cNvPr>
          <p:cNvSpPr>
            <a:spLocks noGrp="1"/>
          </p:cNvSpPr>
          <p:nvPr>
            <p:ph idx="1"/>
          </p:nvPr>
        </p:nvSpPr>
        <p:spPr>
          <a:xfrm>
            <a:off x="838200" y="1825625"/>
            <a:ext cx="10515600" cy="1209675"/>
          </a:xfrm>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Help gather diverse views on a topic -&gt; create safe and comfortable space </a:t>
            </a:r>
          </a:p>
          <a:p>
            <a:endParaRPr lang="en-US" sz="2400" dirty="0">
              <a:latin typeface="Roboto" panose="02000000000000000000" pitchFamily="2" charset="0"/>
              <a:ea typeface="Roboto" panose="02000000000000000000" pitchFamily="2" charset="0"/>
              <a:cs typeface="Roboto" panose="02000000000000000000" pitchFamily="2" charset="0"/>
            </a:endParaRPr>
          </a:p>
        </p:txBody>
      </p:sp>
      <p:grpSp>
        <p:nvGrpSpPr>
          <p:cNvPr id="7" name="Group 6">
            <a:extLst>
              <a:ext uri="{FF2B5EF4-FFF2-40B4-BE49-F238E27FC236}">
                <a16:creationId xmlns:a16="http://schemas.microsoft.com/office/drawing/2014/main" id="{8201F4E3-B2F7-1A07-7789-6C4A15F80CE3}"/>
              </a:ext>
            </a:extLst>
          </p:cNvPr>
          <p:cNvGrpSpPr/>
          <p:nvPr/>
        </p:nvGrpSpPr>
        <p:grpSpPr>
          <a:xfrm>
            <a:off x="1358900" y="3035300"/>
            <a:ext cx="8623300" cy="2088416"/>
            <a:chOff x="1358900" y="3035300"/>
            <a:chExt cx="8623300" cy="2088416"/>
          </a:xfrm>
        </p:grpSpPr>
        <p:sp>
          <p:nvSpPr>
            <p:cNvPr id="5" name="TextBox 4">
              <a:extLst>
                <a:ext uri="{FF2B5EF4-FFF2-40B4-BE49-F238E27FC236}">
                  <a16:creationId xmlns:a16="http://schemas.microsoft.com/office/drawing/2014/main" id="{BCF980C3-3FC7-322C-9639-F71BB042A853}"/>
                </a:ext>
              </a:extLst>
            </p:cNvPr>
            <p:cNvSpPr txBox="1"/>
            <p:nvPr/>
          </p:nvSpPr>
          <p:spPr>
            <a:xfrm>
              <a:off x="1871452" y="3492500"/>
              <a:ext cx="8110748" cy="1631216"/>
            </a:xfrm>
            <a:prstGeom prst="rect">
              <a:avLst/>
            </a:prstGeom>
            <a:noFill/>
          </p:spPr>
          <p:txBody>
            <a:bodyPr wrap="square" rtlCol="0">
              <a:spAutoFit/>
            </a:bodyPr>
            <a:lstStyle/>
            <a:p>
              <a:pPr algn="just"/>
              <a:r>
                <a:rPr lang="en-US" sz="2000" dirty="0">
                  <a:effectLst/>
                  <a:latin typeface="Roboto" panose="02000000000000000000" pitchFamily="2" charset="0"/>
                  <a:ea typeface="Roboto" panose="02000000000000000000" pitchFamily="2" charset="0"/>
                  <a:cs typeface="Roboto" panose="02000000000000000000" pitchFamily="2" charset="0"/>
                </a:rPr>
                <a:t>Our use of focus groups, rather than one-on-one interviews, </a:t>
              </a:r>
              <a:r>
                <a:rPr lang="en-US" sz="2000" dirty="0">
                  <a:solidFill>
                    <a:srgbClr val="9A0031"/>
                  </a:solidFill>
                  <a:effectLst/>
                  <a:latin typeface="Roboto" panose="02000000000000000000" pitchFamily="2" charset="0"/>
                  <a:ea typeface="Roboto" panose="02000000000000000000" pitchFamily="2" charset="0"/>
                  <a:cs typeface="Roboto" panose="02000000000000000000" pitchFamily="2" charset="0"/>
                </a:rPr>
                <a:t>enabled free-flowing conversations with the refugees, and in less intimidating settings than one-on-one interviews</a:t>
              </a:r>
              <a:r>
                <a:rPr lang="en-US" sz="2000" dirty="0">
                  <a:effectLst/>
                  <a:latin typeface="Roboto" panose="02000000000000000000" pitchFamily="2" charset="0"/>
                  <a:ea typeface="Roboto" panose="02000000000000000000" pitchFamily="2" charset="0"/>
                  <a:cs typeface="Roboto" panose="02000000000000000000" pitchFamily="2" charset="0"/>
                </a:rPr>
                <a:t>.”</a:t>
              </a:r>
            </a:p>
            <a:p>
              <a:endParaRPr lang="en-US" dirty="0">
                <a:latin typeface="Roboto" panose="02000000000000000000" pitchFamily="2" charset="0"/>
                <a:ea typeface="Roboto" panose="02000000000000000000" pitchFamily="2" charset="0"/>
                <a:cs typeface="Roboto" panose="02000000000000000000" pitchFamily="2" charset="0"/>
              </a:endParaRPr>
            </a:p>
            <a:p>
              <a:pPr algn="r"/>
              <a:r>
                <a:rPr lang="en-US" sz="1100" dirty="0">
                  <a:latin typeface="Roboto" panose="02000000000000000000" pitchFamily="2" charset="0"/>
                  <a:ea typeface="Roboto" panose="02000000000000000000" pitchFamily="2" charset="0"/>
                  <a:cs typeface="Roboto" panose="02000000000000000000" pitchFamily="2" charset="0"/>
                </a:rPr>
                <a:t>- </a:t>
              </a:r>
              <a:r>
                <a:rPr lang="en-US" sz="1100" i="1" dirty="0">
                  <a:effectLst/>
                  <a:latin typeface="Roboto" panose="02000000000000000000" pitchFamily="2" charset="0"/>
                  <a:ea typeface="Roboto" panose="02000000000000000000" pitchFamily="2" charset="0"/>
                  <a:cs typeface="Roboto" panose="02000000000000000000" pitchFamily="2" charset="0"/>
                </a:rPr>
                <a:t>Lucy Simko, Ada Lerner, Samia </a:t>
              </a:r>
              <a:r>
                <a:rPr lang="en-US" sz="1100" i="1" dirty="0" err="1">
                  <a:effectLst/>
                  <a:latin typeface="Roboto" panose="02000000000000000000" pitchFamily="2" charset="0"/>
                  <a:ea typeface="Roboto" panose="02000000000000000000" pitchFamily="2" charset="0"/>
                  <a:cs typeface="Roboto" panose="02000000000000000000" pitchFamily="2" charset="0"/>
                </a:rPr>
                <a:t>Ibtasam</a:t>
              </a:r>
              <a:r>
                <a:rPr lang="en-US" sz="1100" i="1" dirty="0">
                  <a:effectLst/>
                  <a:latin typeface="Roboto" panose="02000000000000000000" pitchFamily="2" charset="0"/>
                  <a:ea typeface="Roboto" panose="02000000000000000000" pitchFamily="2" charset="0"/>
                  <a:cs typeface="Roboto" panose="02000000000000000000" pitchFamily="2" charset="0"/>
                </a:rPr>
                <a:t>, Franziska </a:t>
              </a:r>
              <a:r>
                <a:rPr lang="en-US" sz="1100" i="1" dirty="0" err="1">
                  <a:effectLst/>
                  <a:latin typeface="Roboto" panose="02000000000000000000" pitchFamily="2" charset="0"/>
                  <a:ea typeface="Roboto" panose="02000000000000000000" pitchFamily="2" charset="0"/>
                  <a:cs typeface="Roboto" panose="02000000000000000000" pitchFamily="2" charset="0"/>
                </a:rPr>
                <a:t>Roesner</a:t>
              </a:r>
              <a:r>
                <a:rPr lang="en-US" sz="1100" i="1" dirty="0">
                  <a:effectLst/>
                  <a:latin typeface="Roboto" panose="02000000000000000000" pitchFamily="2" charset="0"/>
                  <a:ea typeface="Roboto" panose="02000000000000000000" pitchFamily="2" charset="0"/>
                  <a:cs typeface="Roboto" panose="02000000000000000000" pitchFamily="2" charset="0"/>
                </a:rPr>
                <a:t>, and Tadayoshi Kohno. Computer Security and Privacy</a:t>
              </a:r>
              <a:r>
                <a:rPr lang="en-US" sz="1100" dirty="0">
                  <a:latin typeface="Roboto" panose="02000000000000000000" pitchFamily="2" charset="0"/>
                  <a:ea typeface="Roboto" panose="02000000000000000000" pitchFamily="2" charset="0"/>
                  <a:cs typeface="Roboto" panose="02000000000000000000" pitchFamily="2" charset="0"/>
                </a:rPr>
                <a:t> </a:t>
              </a:r>
              <a:r>
                <a:rPr lang="en-US" sz="1100" i="1" dirty="0">
                  <a:effectLst/>
                  <a:latin typeface="Roboto" panose="02000000000000000000" pitchFamily="2" charset="0"/>
                  <a:ea typeface="Roboto" panose="02000000000000000000" pitchFamily="2" charset="0"/>
                  <a:cs typeface="Roboto" panose="02000000000000000000" pitchFamily="2" charset="0"/>
                </a:rPr>
                <a:t>for Refugees in the United </a:t>
              </a:r>
              <a:r>
                <a:rPr lang="en-US" sz="1100" i="1" dirty="0">
                  <a:latin typeface="Roboto" panose="02000000000000000000" pitchFamily="2" charset="0"/>
                  <a:ea typeface="Roboto" panose="02000000000000000000" pitchFamily="2" charset="0"/>
                  <a:cs typeface="Roboto" panose="02000000000000000000" pitchFamily="2" charset="0"/>
                </a:rPr>
                <a:t>S</a:t>
              </a:r>
              <a:r>
                <a:rPr lang="en-US" sz="1100" i="1" dirty="0">
                  <a:effectLst/>
                  <a:latin typeface="Roboto" panose="02000000000000000000" pitchFamily="2" charset="0"/>
                  <a:ea typeface="Roboto" panose="02000000000000000000" pitchFamily="2" charset="0"/>
                  <a:cs typeface="Roboto" panose="02000000000000000000" pitchFamily="2" charset="0"/>
                </a:rPr>
                <a:t>tates. In 2018 IEEE Symposium on Security and Privacy (SP).</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E61D8DD9-4208-0F21-6236-80BCC3B8FE2C}"/>
                </a:ext>
              </a:extLst>
            </p:cNvPr>
            <p:cNvSpPr txBox="1"/>
            <p:nvPr/>
          </p:nvSpPr>
          <p:spPr>
            <a:xfrm>
              <a:off x="1358900" y="3035300"/>
              <a:ext cx="694421" cy="1446550"/>
            </a:xfrm>
            <a:prstGeom prst="rect">
              <a:avLst/>
            </a:prstGeom>
            <a:noFill/>
          </p:spPr>
          <p:txBody>
            <a:bodyPr wrap="none" rtlCol="0">
              <a:spAutoFit/>
            </a:bodyPr>
            <a:lstStyle/>
            <a:p>
              <a:r>
                <a:rPr lang="en-US" sz="8800" dirty="0">
                  <a:solidFill>
                    <a:srgbClr val="FFC10E"/>
                  </a:solidFill>
                </a:rPr>
                <a:t>“</a:t>
              </a:r>
              <a:endParaRPr lang="en-US" dirty="0">
                <a:solidFill>
                  <a:srgbClr val="FFC10E"/>
                </a:solidFill>
              </a:endParaRPr>
            </a:p>
          </p:txBody>
        </p:sp>
      </p:grpSp>
      <p:sp>
        <p:nvSpPr>
          <p:cNvPr id="10" name="Slide Number Placeholder 9">
            <a:extLst>
              <a:ext uri="{FF2B5EF4-FFF2-40B4-BE49-F238E27FC236}">
                <a16:creationId xmlns:a16="http://schemas.microsoft.com/office/drawing/2014/main" id="{A066EAC2-CCA6-74BC-0EE1-C7AFB88EC6B2}"/>
              </a:ext>
            </a:extLst>
          </p:cNvPr>
          <p:cNvSpPr>
            <a:spLocks noGrp="1"/>
          </p:cNvSpPr>
          <p:nvPr>
            <p:ph type="sldNum" sz="quarter" idx="12"/>
          </p:nvPr>
        </p:nvSpPr>
        <p:spPr/>
        <p:txBody>
          <a:bodyPr/>
          <a:lstStyle/>
          <a:p>
            <a:fld id="{835FE90F-C88A-C24D-9FD5-52F0990CFAC0}" type="slidenum">
              <a:rPr lang="en-US" smtClean="0"/>
              <a:t>22</a:t>
            </a:fld>
            <a:endParaRPr lang="en-US"/>
          </a:p>
        </p:txBody>
      </p:sp>
    </p:spTree>
    <p:extLst>
      <p:ext uri="{BB962C8B-B14F-4D97-AF65-F5344CB8AC3E}">
        <p14:creationId xmlns:p14="http://schemas.microsoft.com/office/powerpoint/2010/main" val="47739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66EA6-77A3-006F-C951-A44EBC8F4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89DD1-5D61-DC22-4B69-1CD5EDF2EF79}"/>
              </a:ext>
            </a:extLst>
          </p:cNvPr>
          <p:cNvSpPr>
            <a:spLocks noGrp="1"/>
          </p:cNvSpPr>
          <p:nvPr>
            <p:ph type="title"/>
          </p:nvPr>
        </p:nvSpPr>
        <p:spPr/>
        <p:txBody>
          <a:bodyPr/>
          <a:lstStyle/>
          <a:p>
            <a:r>
              <a:rPr lang="en-US" dirty="0">
                <a:solidFill>
                  <a:srgbClr val="9A0031"/>
                </a:solidFill>
                <a:latin typeface="Fjalla One" panose="02000506040000020004" pitchFamily="2" charset="0"/>
              </a:rPr>
              <a:t>Survey Methodology</a:t>
            </a:r>
          </a:p>
        </p:txBody>
      </p:sp>
      <p:sp>
        <p:nvSpPr>
          <p:cNvPr id="3" name="Content Placeholder 2">
            <a:extLst>
              <a:ext uri="{FF2B5EF4-FFF2-40B4-BE49-F238E27FC236}">
                <a16:creationId xmlns:a16="http://schemas.microsoft.com/office/drawing/2014/main" id="{7221BB24-1D7A-0367-405E-1F02988E8477}"/>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Assessing 2FA adoption at CMU [29]</a:t>
            </a:r>
          </a:p>
          <a:p>
            <a:pPr lvl="1"/>
            <a:r>
              <a:rPr lang="en-US" sz="2000" dirty="0">
                <a:latin typeface="Roboto" panose="02000000000000000000" pitchFamily="2" charset="0"/>
                <a:ea typeface="Roboto" panose="02000000000000000000" pitchFamily="2" charset="0"/>
                <a:cs typeface="Roboto" panose="02000000000000000000" pitchFamily="2" charset="0"/>
              </a:rPr>
              <a:t>Conducted two surveys to assess user perceptions and experiences before and after a university-wide 2FA adoption mandate</a:t>
            </a:r>
          </a:p>
          <a:p>
            <a:r>
              <a:rPr lang="en-US" sz="2400" dirty="0">
                <a:latin typeface="Roboto" panose="02000000000000000000" pitchFamily="2" charset="0"/>
                <a:ea typeface="Roboto" panose="02000000000000000000" pitchFamily="2" charset="0"/>
                <a:cs typeface="Roboto" panose="02000000000000000000" pitchFamily="2" charset="0"/>
              </a:rPr>
              <a:t>User perceptions on data breaches [30]</a:t>
            </a:r>
          </a:p>
          <a:p>
            <a:pPr lvl="1"/>
            <a:r>
              <a:rPr lang="en-US" sz="2000" dirty="0">
                <a:latin typeface="Roboto" panose="02000000000000000000" pitchFamily="2" charset="0"/>
                <a:ea typeface="Roboto" panose="02000000000000000000" pitchFamily="2" charset="0"/>
                <a:cs typeface="Roboto" panose="02000000000000000000" pitchFamily="2" charset="0"/>
              </a:rPr>
              <a:t>Conducted two surveys to understand how users perceive risks surrounding breaches and their comfort levels with different scenarios involving the use of breached data</a:t>
            </a:r>
          </a:p>
          <a:p>
            <a:r>
              <a:rPr lang="en-US" sz="2400" dirty="0">
                <a:latin typeface="Roboto" panose="02000000000000000000" pitchFamily="2" charset="0"/>
                <a:ea typeface="Roboto" panose="02000000000000000000" pitchFamily="2" charset="0"/>
                <a:cs typeface="Roboto" panose="02000000000000000000" pitchFamily="2" charset="0"/>
              </a:rPr>
              <a:t>Best practices for conducting surveys in S&amp;P research [31]</a:t>
            </a:r>
          </a:p>
          <a:p>
            <a:pPr lvl="1"/>
            <a:r>
              <a:rPr lang="en-US" sz="2000" dirty="0">
                <a:latin typeface="Roboto" panose="02000000000000000000" pitchFamily="2" charset="0"/>
                <a:ea typeface="Roboto" panose="02000000000000000000" pitchFamily="2" charset="0"/>
                <a:cs typeface="Roboto" panose="02000000000000000000" pitchFamily="2" charset="0"/>
              </a:rPr>
              <a:t>Summarized best practices in questionnaire writing, sampling, and pre-testing</a:t>
            </a:r>
          </a:p>
          <a:p>
            <a:pPr lvl="1"/>
            <a:r>
              <a:rPr lang="en-US" sz="2000" dirty="0">
                <a:latin typeface="Roboto" panose="02000000000000000000" pitchFamily="2" charset="0"/>
                <a:ea typeface="Roboto" panose="02000000000000000000" pitchFamily="2" charset="0"/>
                <a:cs typeface="Roboto" panose="02000000000000000000" pitchFamily="2" charset="0"/>
              </a:rPr>
              <a:t>Insights distilled from over 100 research articles and books from survey methodology, psychology, and sociology</a:t>
            </a:r>
          </a:p>
          <a:p>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a:p>
            <a:pPr lvl="1"/>
            <a:endParaRPr lang="en-US" sz="20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658B90FE-AC61-2884-DB6D-C3059439AB90}"/>
              </a:ext>
            </a:extLst>
          </p:cNvPr>
          <p:cNvSpPr txBox="1"/>
          <p:nvPr/>
        </p:nvSpPr>
        <p:spPr>
          <a:xfrm>
            <a:off x="838200" y="5746076"/>
            <a:ext cx="10515599" cy="861774"/>
          </a:xfrm>
          <a:prstGeom prst="rect">
            <a:avLst/>
          </a:prstGeom>
          <a:noFill/>
        </p:spPr>
        <p:txBody>
          <a:bodyPr wrap="square" rtlCol="0">
            <a:spAutoFit/>
          </a:bodyPr>
          <a:lstStyle/>
          <a:p>
            <a:r>
              <a:rPr lang="en-US" sz="1000" dirty="0">
                <a:effectLst/>
                <a:latin typeface="Roboto" panose="02000000000000000000" pitchFamily="2" charset="0"/>
                <a:ea typeface="Roboto" panose="02000000000000000000" pitchFamily="2" charset="0"/>
                <a:cs typeface="Roboto" panose="02000000000000000000" pitchFamily="2" charset="0"/>
              </a:rPr>
              <a:t>[</a:t>
            </a:r>
            <a:r>
              <a:rPr lang="en-US" sz="1000" dirty="0">
                <a:latin typeface="Roboto" panose="02000000000000000000" pitchFamily="2" charset="0"/>
                <a:ea typeface="Roboto" panose="02000000000000000000" pitchFamily="2" charset="0"/>
                <a:cs typeface="Roboto" panose="02000000000000000000" pitchFamily="2" charset="0"/>
              </a:rPr>
              <a:t>29</a:t>
            </a:r>
            <a:r>
              <a:rPr lang="en-US" sz="1000" dirty="0">
                <a:effectLst/>
                <a:latin typeface="Roboto" panose="02000000000000000000" pitchFamily="2" charset="0"/>
                <a:ea typeface="Roboto" panose="02000000000000000000" pitchFamily="2" charset="0"/>
                <a:cs typeface="Roboto" panose="02000000000000000000" pitchFamily="2" charset="0"/>
              </a:rPr>
              <a:t>] Jessica Colnago, Summer Devlin, Maggie Oates, </a:t>
            </a:r>
            <a:r>
              <a:rPr lang="en-US" sz="1000" dirty="0" err="1">
                <a:effectLst/>
                <a:latin typeface="Roboto" panose="02000000000000000000" pitchFamily="2" charset="0"/>
                <a:ea typeface="Roboto" panose="02000000000000000000" pitchFamily="2" charset="0"/>
                <a:cs typeface="Roboto" panose="02000000000000000000" pitchFamily="2" charset="0"/>
              </a:rPr>
              <a:t>Chelse</a:t>
            </a:r>
            <a:r>
              <a:rPr lang="en-US" sz="1000" dirty="0">
                <a:effectLst/>
                <a:latin typeface="Roboto" panose="02000000000000000000" pitchFamily="2" charset="0"/>
                <a:ea typeface="Roboto" panose="02000000000000000000" pitchFamily="2" charset="0"/>
                <a:cs typeface="Roboto" panose="02000000000000000000" pitchFamily="2" charset="0"/>
              </a:rPr>
              <a:t> Swoopes, </a:t>
            </a:r>
            <a:r>
              <a:rPr lang="en-US" sz="1000" dirty="0" err="1">
                <a:effectLst/>
                <a:latin typeface="Roboto" panose="02000000000000000000" pitchFamily="2" charset="0"/>
                <a:ea typeface="Roboto" panose="02000000000000000000" pitchFamily="2" charset="0"/>
                <a:cs typeface="Roboto" panose="02000000000000000000" pitchFamily="2" charset="0"/>
              </a:rPr>
              <a:t>Lujo</a:t>
            </a:r>
            <a:r>
              <a:rPr lang="en-US" sz="1000" dirty="0">
                <a:effectLst/>
                <a:latin typeface="Roboto" panose="02000000000000000000" pitchFamily="2" charset="0"/>
                <a:ea typeface="Roboto" panose="02000000000000000000" pitchFamily="2" charset="0"/>
                <a:cs typeface="Roboto" panose="02000000000000000000" pitchFamily="2" charset="0"/>
              </a:rPr>
              <a:t> Bauer, Lorrie Cranor, and Nicolas Christin.</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“It’s not actually that horrible”: Exploring </a:t>
            </a:r>
            <a:r>
              <a:rPr lang="en-US" sz="1000" dirty="0">
                <a:latin typeface="Roboto" panose="02000000000000000000" pitchFamily="2" charset="0"/>
                <a:ea typeface="Roboto" panose="02000000000000000000" pitchFamily="2" charset="0"/>
                <a:cs typeface="Roboto" panose="02000000000000000000" pitchFamily="2" charset="0"/>
              </a:rPr>
              <a:t>A</a:t>
            </a:r>
            <a:r>
              <a:rPr lang="en-US" sz="1000" dirty="0">
                <a:effectLst/>
                <a:latin typeface="Roboto" panose="02000000000000000000" pitchFamily="2" charset="0"/>
                <a:ea typeface="Roboto" panose="02000000000000000000" pitchFamily="2" charset="0"/>
                <a:cs typeface="Roboto" panose="02000000000000000000" pitchFamily="2" charset="0"/>
              </a:rPr>
              <a:t>doption of Two-factor </a:t>
            </a:r>
            <a:r>
              <a:rPr lang="en-US" sz="1000" dirty="0">
                <a:latin typeface="Roboto" panose="02000000000000000000" pitchFamily="2" charset="0"/>
                <a:ea typeface="Roboto" panose="02000000000000000000" pitchFamily="2" charset="0"/>
                <a:cs typeface="Roboto" panose="02000000000000000000" pitchFamily="2" charset="0"/>
              </a:rPr>
              <a:t>A</a:t>
            </a:r>
            <a:r>
              <a:rPr lang="en-US" sz="1000" dirty="0">
                <a:effectLst/>
                <a:latin typeface="Roboto" panose="02000000000000000000" pitchFamily="2" charset="0"/>
                <a:ea typeface="Roboto" panose="02000000000000000000" pitchFamily="2" charset="0"/>
                <a:cs typeface="Roboto" panose="02000000000000000000" pitchFamily="2" charset="0"/>
              </a:rPr>
              <a:t>uthentication at a University. In Proceedings of</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the 2018 CHI Conference on Human Factors in Computing Systems, 2018.</a:t>
            </a:r>
          </a:p>
          <a:p>
            <a:r>
              <a:rPr lang="en-US" sz="1000" dirty="0">
                <a:latin typeface="Roboto" panose="02000000000000000000" pitchFamily="2" charset="0"/>
                <a:ea typeface="Roboto" panose="02000000000000000000" pitchFamily="2" charset="0"/>
                <a:cs typeface="Roboto" panose="02000000000000000000" pitchFamily="2" charset="0"/>
              </a:rPr>
              <a:t>[30] </a:t>
            </a:r>
            <a:r>
              <a:rPr lang="en-US" sz="1000" b="0" dirty="0">
                <a:solidFill>
                  <a:srgbClr val="222222"/>
                </a:solidFill>
                <a:effectLst/>
                <a:latin typeface="Roboto" panose="02000000000000000000" pitchFamily="2" charset="0"/>
                <a:ea typeface="Roboto" panose="02000000000000000000" pitchFamily="2" charset="0"/>
                <a:cs typeface="Roboto" panose="02000000000000000000" pitchFamily="2" charset="0"/>
              </a:rPr>
              <a:t>Karunakaran, Sowmya, Kurt Thomas, Elie </a:t>
            </a:r>
            <a:r>
              <a:rPr lang="en-US" sz="1000" b="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Bursztein</a:t>
            </a:r>
            <a:r>
              <a:rPr lang="en-US" sz="1000" b="0" dirty="0">
                <a:solidFill>
                  <a:srgbClr val="222222"/>
                </a:solidFill>
                <a:effectLst/>
                <a:latin typeface="Roboto" panose="02000000000000000000" pitchFamily="2" charset="0"/>
                <a:ea typeface="Roboto" panose="02000000000000000000" pitchFamily="2" charset="0"/>
                <a:cs typeface="Roboto" panose="02000000000000000000" pitchFamily="2" charset="0"/>
              </a:rPr>
              <a:t>, and Oxana </a:t>
            </a:r>
            <a:r>
              <a:rPr lang="en-US" sz="1000" b="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Comanescu</a:t>
            </a:r>
            <a:r>
              <a:rPr lang="en-US" sz="1000" b="0" dirty="0">
                <a:solidFill>
                  <a:srgbClr val="222222"/>
                </a:solidFill>
                <a:effectLst/>
                <a:latin typeface="Roboto" panose="02000000000000000000" pitchFamily="2" charset="0"/>
                <a:ea typeface="Roboto" panose="02000000000000000000" pitchFamily="2" charset="0"/>
                <a:cs typeface="Roboto" panose="02000000000000000000" pitchFamily="2" charset="0"/>
              </a:rPr>
              <a:t>. Data breaches: User Comprehension, Expectations, and Concerns with Handling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E</a:t>
            </a:r>
            <a:r>
              <a:rPr lang="en-US" sz="1000" b="0" dirty="0">
                <a:solidFill>
                  <a:srgbClr val="222222"/>
                </a:solidFill>
                <a:effectLst/>
                <a:latin typeface="Roboto" panose="02000000000000000000" pitchFamily="2" charset="0"/>
                <a:ea typeface="Roboto" panose="02000000000000000000" pitchFamily="2" charset="0"/>
                <a:cs typeface="Roboto" panose="02000000000000000000" pitchFamily="2" charset="0"/>
              </a:rPr>
              <a:t>xposed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D</a:t>
            </a:r>
            <a:r>
              <a:rPr lang="en-US" sz="1000" b="0" dirty="0">
                <a:solidFill>
                  <a:srgbClr val="222222"/>
                </a:solidFill>
                <a:effectLst/>
                <a:latin typeface="Roboto" panose="02000000000000000000" pitchFamily="2" charset="0"/>
                <a:ea typeface="Roboto" panose="02000000000000000000" pitchFamily="2" charset="0"/>
                <a:cs typeface="Roboto" panose="02000000000000000000" pitchFamily="2" charset="0"/>
              </a:rPr>
              <a:t>ata. In Fourteenth Symposium on Usable Privacy and Security (SOUPS 2018).</a:t>
            </a:r>
          </a:p>
          <a:p>
            <a:r>
              <a:rPr lang="en-US" sz="1000" dirty="0">
                <a:effectLst/>
                <a:latin typeface="Roboto" panose="02000000000000000000" pitchFamily="2" charset="0"/>
                <a:ea typeface="Roboto" panose="02000000000000000000" pitchFamily="2" charset="0"/>
                <a:cs typeface="Roboto" panose="02000000000000000000" pitchFamily="2" charset="0"/>
              </a:rPr>
              <a:t>[31] Elissa M Redmiles, Yasemin </a:t>
            </a:r>
            <a:r>
              <a:rPr lang="en-US" sz="1000" dirty="0" err="1">
                <a:effectLst/>
                <a:latin typeface="Roboto" panose="02000000000000000000" pitchFamily="2" charset="0"/>
                <a:ea typeface="Roboto" panose="02000000000000000000" pitchFamily="2" charset="0"/>
                <a:cs typeface="Roboto" panose="02000000000000000000" pitchFamily="2" charset="0"/>
              </a:rPr>
              <a:t>Acar</a:t>
            </a:r>
            <a:r>
              <a:rPr lang="en-US" sz="1000" dirty="0">
                <a:effectLst/>
                <a:latin typeface="Roboto" panose="02000000000000000000" pitchFamily="2" charset="0"/>
                <a:ea typeface="Roboto" panose="02000000000000000000" pitchFamily="2" charset="0"/>
                <a:cs typeface="Roboto" panose="02000000000000000000" pitchFamily="2" charset="0"/>
              </a:rPr>
              <a:t>, Sascha Fahl, and Michelle L Mazurek. A Summary of Survey </a:t>
            </a:r>
            <a:r>
              <a:rPr lang="en-US" sz="1000" dirty="0">
                <a:latin typeface="Roboto" panose="02000000000000000000" pitchFamily="2" charset="0"/>
                <a:ea typeface="Roboto" panose="02000000000000000000" pitchFamily="2" charset="0"/>
                <a:cs typeface="Roboto" panose="02000000000000000000" pitchFamily="2" charset="0"/>
              </a:rPr>
              <a:t>M</a:t>
            </a:r>
            <a:r>
              <a:rPr lang="en-US" sz="1000" dirty="0">
                <a:effectLst/>
                <a:latin typeface="Roboto" panose="02000000000000000000" pitchFamily="2" charset="0"/>
                <a:ea typeface="Roboto" panose="02000000000000000000" pitchFamily="2" charset="0"/>
                <a:cs typeface="Roboto" panose="02000000000000000000" pitchFamily="2" charset="0"/>
              </a:rPr>
              <a:t>ethodology </a:t>
            </a:r>
            <a:r>
              <a:rPr lang="en-US" sz="1000" dirty="0">
                <a:latin typeface="Roboto" panose="02000000000000000000" pitchFamily="2" charset="0"/>
                <a:ea typeface="Roboto" panose="02000000000000000000" pitchFamily="2" charset="0"/>
                <a:cs typeface="Roboto" panose="02000000000000000000" pitchFamily="2" charset="0"/>
              </a:rPr>
              <a:t>B</a:t>
            </a:r>
            <a:r>
              <a:rPr lang="en-US" sz="1000" dirty="0">
                <a:effectLst/>
                <a:latin typeface="Roboto" panose="02000000000000000000" pitchFamily="2" charset="0"/>
                <a:ea typeface="Roboto" panose="02000000000000000000" pitchFamily="2" charset="0"/>
                <a:cs typeface="Roboto" panose="02000000000000000000" pitchFamily="2" charset="0"/>
              </a:rPr>
              <a:t>est</a:t>
            </a:r>
            <a:r>
              <a:rPr lang="en-US" sz="1000" dirty="0">
                <a:latin typeface="Roboto" panose="02000000000000000000" pitchFamily="2" charset="0"/>
                <a:ea typeface="Roboto" panose="02000000000000000000" pitchFamily="2" charset="0"/>
                <a:cs typeface="Roboto" panose="02000000000000000000" pitchFamily="2" charset="0"/>
              </a:rPr>
              <a:t> P</a:t>
            </a:r>
            <a:r>
              <a:rPr lang="en-US" sz="1000" dirty="0">
                <a:effectLst/>
                <a:latin typeface="Roboto" panose="02000000000000000000" pitchFamily="2" charset="0"/>
                <a:ea typeface="Roboto" panose="02000000000000000000" pitchFamily="2" charset="0"/>
                <a:cs typeface="Roboto" panose="02000000000000000000" pitchFamily="2" charset="0"/>
              </a:rPr>
              <a:t>ractices for Security and Privacy </a:t>
            </a:r>
            <a:r>
              <a:rPr lang="en-US" sz="1000" dirty="0">
                <a:latin typeface="Roboto" panose="02000000000000000000" pitchFamily="2" charset="0"/>
                <a:ea typeface="Roboto" panose="02000000000000000000" pitchFamily="2" charset="0"/>
                <a:cs typeface="Roboto" panose="02000000000000000000" pitchFamily="2" charset="0"/>
              </a:rPr>
              <a:t>R</a:t>
            </a:r>
            <a:r>
              <a:rPr lang="en-US" sz="1000" dirty="0">
                <a:effectLst/>
                <a:latin typeface="Roboto" panose="02000000000000000000" pitchFamily="2" charset="0"/>
                <a:ea typeface="Roboto" panose="02000000000000000000" pitchFamily="2" charset="0"/>
                <a:cs typeface="Roboto" panose="02000000000000000000" pitchFamily="2" charset="0"/>
              </a:rPr>
              <a:t>esearchers</a:t>
            </a:r>
            <a:r>
              <a:rPr lang="en-US" sz="1000" dirty="0">
                <a:latin typeface="Roboto" panose="02000000000000000000" pitchFamily="2" charset="0"/>
                <a:ea typeface="Roboto" panose="02000000000000000000" pitchFamily="2" charset="0"/>
                <a:cs typeface="Roboto" panose="02000000000000000000" pitchFamily="2" charset="0"/>
              </a:rPr>
              <a:t>,</a:t>
            </a:r>
            <a:r>
              <a:rPr lang="en-US" sz="1000" dirty="0">
                <a:effectLst/>
                <a:latin typeface="Roboto" panose="02000000000000000000" pitchFamily="2" charset="0"/>
                <a:ea typeface="Roboto" panose="02000000000000000000" pitchFamily="2" charset="0"/>
                <a:cs typeface="Roboto" panose="02000000000000000000" pitchFamily="2" charset="0"/>
              </a:rPr>
              <a:t> 2017.</a:t>
            </a:r>
          </a:p>
        </p:txBody>
      </p:sp>
      <p:sp>
        <p:nvSpPr>
          <p:cNvPr id="8" name="Slide Number Placeholder 7">
            <a:extLst>
              <a:ext uri="{FF2B5EF4-FFF2-40B4-BE49-F238E27FC236}">
                <a16:creationId xmlns:a16="http://schemas.microsoft.com/office/drawing/2014/main" id="{58C6B7EB-E758-6AF6-0B36-F110577C7319}"/>
              </a:ext>
            </a:extLst>
          </p:cNvPr>
          <p:cNvSpPr>
            <a:spLocks noGrp="1"/>
          </p:cNvSpPr>
          <p:nvPr>
            <p:ph type="sldNum" sz="quarter" idx="12"/>
          </p:nvPr>
        </p:nvSpPr>
        <p:spPr/>
        <p:txBody>
          <a:bodyPr/>
          <a:lstStyle/>
          <a:p>
            <a:fld id="{835FE90F-C88A-C24D-9FD5-52F0990CFAC0}" type="slidenum">
              <a:rPr lang="en-US" smtClean="0"/>
              <a:t>23</a:t>
            </a:fld>
            <a:endParaRPr lang="en-US"/>
          </a:p>
        </p:txBody>
      </p:sp>
    </p:spTree>
    <p:extLst>
      <p:ext uri="{BB962C8B-B14F-4D97-AF65-F5344CB8AC3E}">
        <p14:creationId xmlns:p14="http://schemas.microsoft.com/office/powerpoint/2010/main" val="57160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2242F-DFF5-DC0F-8CBC-0A5D2EBC6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913CC-29DB-4745-3D78-F27BB91F91E6}"/>
              </a:ext>
            </a:extLst>
          </p:cNvPr>
          <p:cNvSpPr>
            <a:spLocks noGrp="1"/>
          </p:cNvSpPr>
          <p:nvPr>
            <p:ph type="title"/>
          </p:nvPr>
        </p:nvSpPr>
        <p:spPr/>
        <p:txBody>
          <a:bodyPr/>
          <a:lstStyle/>
          <a:p>
            <a:r>
              <a:rPr lang="en-US" dirty="0">
                <a:solidFill>
                  <a:srgbClr val="9A0031"/>
                </a:solidFill>
                <a:latin typeface="Fjalla One" panose="02000506040000020004" pitchFamily="2" charset="0"/>
              </a:rPr>
              <a:t>Best of both? Mixed-Methods Approach</a:t>
            </a:r>
          </a:p>
        </p:txBody>
      </p:sp>
      <p:sp>
        <p:nvSpPr>
          <p:cNvPr id="3" name="Content Placeholder 2">
            <a:extLst>
              <a:ext uri="{FF2B5EF4-FFF2-40B4-BE49-F238E27FC236}">
                <a16:creationId xmlns:a16="http://schemas.microsoft.com/office/drawing/2014/main" id="{44BB4D03-E2B5-7CA9-F786-2E64A57DBD68}"/>
              </a:ext>
            </a:extLst>
          </p:cNvPr>
          <p:cNvSpPr>
            <a:spLocks noGrp="1"/>
          </p:cNvSpPr>
          <p:nvPr>
            <p:ph idx="1"/>
          </p:nvPr>
        </p:nvSpPr>
        <p:spPr>
          <a:xfrm>
            <a:off x="838200" y="1825625"/>
            <a:ext cx="10515600" cy="1209675"/>
          </a:xfrm>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Data Triangulation -&gt; using different data sources</a:t>
            </a:r>
          </a:p>
          <a:p>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E4D5E72D-D0CA-6016-85FB-BEFBD73C4F5A}"/>
              </a:ext>
            </a:extLst>
          </p:cNvPr>
          <p:cNvSpPr txBox="1"/>
          <p:nvPr/>
        </p:nvSpPr>
        <p:spPr>
          <a:xfrm>
            <a:off x="1871452" y="3492500"/>
            <a:ext cx="8110748" cy="2246769"/>
          </a:xfrm>
          <a:prstGeom prst="rect">
            <a:avLst/>
          </a:prstGeom>
          <a:noFill/>
        </p:spPr>
        <p:txBody>
          <a:bodyPr wrap="square" rtlCol="0">
            <a:spAutoFit/>
          </a:bodyPr>
          <a:lstStyle/>
          <a:p>
            <a:pPr algn="just"/>
            <a:r>
              <a:rPr lang="en-US" sz="2000" dirty="0">
                <a:latin typeface="Roboto" panose="02000000000000000000" pitchFamily="2" charset="0"/>
                <a:ea typeface="Roboto" panose="02000000000000000000" pitchFamily="2" charset="0"/>
                <a:cs typeface="Roboto" panose="02000000000000000000" pitchFamily="2" charset="0"/>
              </a:rPr>
              <a:t>We used a </a:t>
            </a:r>
            <a:r>
              <a:rPr lang="en-US" sz="2000" dirty="0">
                <a:solidFill>
                  <a:srgbClr val="9A0031"/>
                </a:solidFill>
                <a:latin typeface="Roboto" panose="02000000000000000000" pitchFamily="2" charset="0"/>
                <a:ea typeface="Roboto" panose="02000000000000000000" pitchFamily="2" charset="0"/>
                <a:cs typeface="Roboto" panose="02000000000000000000" pitchFamily="2" charset="0"/>
              </a:rPr>
              <a:t>mixed-methods approach </a:t>
            </a:r>
            <a:r>
              <a:rPr lang="en-US" sz="2000" dirty="0">
                <a:latin typeface="Roboto" panose="02000000000000000000" pitchFamily="2" charset="0"/>
                <a:ea typeface="Roboto" panose="02000000000000000000" pitchFamily="2" charset="0"/>
                <a:cs typeface="Roboto" panose="02000000000000000000" pitchFamily="2" charset="0"/>
              </a:rPr>
              <a:t>to study smart contract developers’ security practices</a:t>
            </a:r>
            <a:r>
              <a:rPr lang="en-US" sz="2000" dirty="0">
                <a:solidFill>
                  <a:srgbClr val="9A0031"/>
                </a:solidFill>
                <a:latin typeface="Roboto" panose="02000000000000000000" pitchFamily="2" charset="0"/>
                <a:ea typeface="Roboto" panose="02000000000000000000" pitchFamily="2" charset="0"/>
                <a:cs typeface="Roboto" panose="02000000000000000000" pitchFamily="2" charset="0"/>
              </a:rPr>
              <a:t> via semi-structured interviews, code review tasks, and a follow-up online survey to triangulate </a:t>
            </a:r>
            <a:r>
              <a:rPr lang="en-US" sz="2000" dirty="0">
                <a:latin typeface="Roboto" panose="02000000000000000000" pitchFamily="2" charset="0"/>
                <a:ea typeface="Roboto" panose="02000000000000000000" pitchFamily="2" charset="0"/>
                <a:cs typeface="Roboto" panose="02000000000000000000" pitchFamily="2" charset="0"/>
              </a:rPr>
              <a:t>their self reported perceptions with their actual behavior.”</a:t>
            </a:r>
          </a:p>
          <a:p>
            <a:pPr algn="just"/>
            <a:endParaRPr lang="en-US" sz="2000" dirty="0">
              <a:solidFill>
                <a:srgbClr val="9A0031"/>
              </a:solidFill>
              <a:latin typeface="Roboto" panose="02000000000000000000" pitchFamily="2" charset="0"/>
              <a:ea typeface="Roboto" panose="02000000000000000000" pitchFamily="2" charset="0"/>
              <a:cs typeface="Roboto" panose="02000000000000000000" pitchFamily="2" charset="0"/>
            </a:endParaRPr>
          </a:p>
          <a:p>
            <a:pPr algn="r"/>
            <a:r>
              <a:rPr lang="en-US" sz="1100" dirty="0">
                <a:latin typeface="Roboto" panose="02000000000000000000" pitchFamily="2" charset="0"/>
                <a:ea typeface="Roboto" panose="02000000000000000000" pitchFamily="2" charset="0"/>
                <a:cs typeface="Roboto" panose="02000000000000000000" pitchFamily="2" charset="0"/>
              </a:rPr>
              <a:t>- </a:t>
            </a:r>
            <a:r>
              <a:rPr lang="en-US" sz="1100" i="1" dirty="0" err="1">
                <a:effectLst/>
                <a:latin typeface="Roboto" panose="02000000000000000000" pitchFamily="2" charset="0"/>
                <a:ea typeface="Roboto" panose="02000000000000000000" pitchFamily="2" charset="0"/>
                <a:cs typeface="Roboto" panose="02000000000000000000" pitchFamily="2" charset="0"/>
              </a:rPr>
              <a:t>Tanusree</a:t>
            </a:r>
            <a:r>
              <a:rPr lang="en-US" sz="1100" i="1" dirty="0">
                <a:effectLst/>
                <a:latin typeface="Roboto" panose="02000000000000000000" pitchFamily="2" charset="0"/>
                <a:ea typeface="Roboto" panose="02000000000000000000" pitchFamily="2" charset="0"/>
                <a:cs typeface="Roboto" panose="02000000000000000000" pitchFamily="2" charset="0"/>
              </a:rPr>
              <a:t> Sharma, </a:t>
            </a:r>
            <a:r>
              <a:rPr lang="en-US" sz="1100" i="1" dirty="0" err="1">
                <a:effectLst/>
                <a:latin typeface="Roboto" panose="02000000000000000000" pitchFamily="2" charset="0"/>
                <a:ea typeface="Roboto" panose="02000000000000000000" pitchFamily="2" charset="0"/>
                <a:cs typeface="Roboto" panose="02000000000000000000" pitchFamily="2" charset="0"/>
              </a:rPr>
              <a:t>Zhixuan</a:t>
            </a:r>
            <a:r>
              <a:rPr lang="en-US" sz="1100" i="1" dirty="0">
                <a:effectLst/>
                <a:latin typeface="Roboto" panose="02000000000000000000" pitchFamily="2" charset="0"/>
                <a:ea typeface="Roboto" panose="02000000000000000000" pitchFamily="2" charset="0"/>
                <a:cs typeface="Roboto" panose="02000000000000000000" pitchFamily="2" charset="0"/>
              </a:rPr>
              <a:t> Zhou, Andrew Miller, and Yang Wang. A Mixed-Methods Study of Security </a:t>
            </a:r>
            <a:r>
              <a:rPr lang="en-US" sz="1100" i="1" dirty="0">
                <a:latin typeface="Roboto" panose="02000000000000000000" pitchFamily="2" charset="0"/>
                <a:ea typeface="Roboto" panose="02000000000000000000" pitchFamily="2" charset="0"/>
                <a:cs typeface="Roboto" panose="02000000000000000000" pitchFamily="2" charset="0"/>
              </a:rPr>
              <a:t>P</a:t>
            </a:r>
            <a:r>
              <a:rPr lang="en-US" sz="1100" i="1" dirty="0">
                <a:effectLst/>
                <a:latin typeface="Roboto" panose="02000000000000000000" pitchFamily="2" charset="0"/>
                <a:ea typeface="Roboto" panose="02000000000000000000" pitchFamily="2" charset="0"/>
                <a:cs typeface="Roboto" panose="02000000000000000000" pitchFamily="2" charset="0"/>
              </a:rPr>
              <a:t>ractices</a:t>
            </a:r>
            <a:r>
              <a:rPr lang="en-US" sz="1100" dirty="0">
                <a:latin typeface="Roboto" panose="02000000000000000000" pitchFamily="2" charset="0"/>
                <a:ea typeface="Roboto" panose="02000000000000000000" pitchFamily="2" charset="0"/>
                <a:cs typeface="Roboto" panose="02000000000000000000" pitchFamily="2" charset="0"/>
              </a:rPr>
              <a:t> </a:t>
            </a:r>
            <a:r>
              <a:rPr lang="en-US" sz="1100" i="1" dirty="0">
                <a:effectLst/>
                <a:latin typeface="Roboto" panose="02000000000000000000" pitchFamily="2" charset="0"/>
                <a:ea typeface="Roboto" panose="02000000000000000000" pitchFamily="2" charset="0"/>
                <a:cs typeface="Roboto" panose="02000000000000000000" pitchFamily="2" charset="0"/>
              </a:rPr>
              <a:t>of Smart </a:t>
            </a:r>
            <a:r>
              <a:rPr lang="en-US" sz="1100" i="1" dirty="0">
                <a:latin typeface="Roboto" panose="02000000000000000000" pitchFamily="2" charset="0"/>
                <a:ea typeface="Roboto" panose="02000000000000000000" pitchFamily="2" charset="0"/>
                <a:cs typeface="Roboto" panose="02000000000000000000" pitchFamily="2" charset="0"/>
              </a:rPr>
              <a:t>C</a:t>
            </a:r>
            <a:r>
              <a:rPr lang="en-US" sz="1100" i="1" dirty="0">
                <a:effectLst/>
                <a:latin typeface="Roboto" panose="02000000000000000000" pitchFamily="2" charset="0"/>
                <a:ea typeface="Roboto" panose="02000000000000000000" pitchFamily="2" charset="0"/>
                <a:cs typeface="Roboto" panose="02000000000000000000" pitchFamily="2" charset="0"/>
              </a:rPr>
              <a:t>ontract </a:t>
            </a:r>
            <a:r>
              <a:rPr lang="en-US" sz="1100" i="1" dirty="0">
                <a:latin typeface="Roboto" panose="02000000000000000000" pitchFamily="2" charset="0"/>
                <a:ea typeface="Roboto" panose="02000000000000000000" pitchFamily="2" charset="0"/>
                <a:cs typeface="Roboto" panose="02000000000000000000" pitchFamily="2" charset="0"/>
              </a:rPr>
              <a:t>D</a:t>
            </a:r>
            <a:r>
              <a:rPr lang="en-US" sz="1100" i="1" dirty="0">
                <a:effectLst/>
                <a:latin typeface="Roboto" panose="02000000000000000000" pitchFamily="2" charset="0"/>
                <a:ea typeface="Roboto" panose="02000000000000000000" pitchFamily="2" charset="0"/>
                <a:cs typeface="Roboto" panose="02000000000000000000" pitchFamily="2" charset="0"/>
              </a:rPr>
              <a:t>evelopers. In 32nd USENIX Security Symposiu</a:t>
            </a:r>
            <a:r>
              <a:rPr lang="en-US" sz="1100" i="1" dirty="0">
                <a:latin typeface="Roboto" panose="02000000000000000000" pitchFamily="2" charset="0"/>
                <a:ea typeface="Roboto" panose="02000000000000000000" pitchFamily="2" charset="0"/>
                <a:cs typeface="Roboto" panose="02000000000000000000" pitchFamily="2" charset="0"/>
              </a:rPr>
              <a:t>m, 2023.</a:t>
            </a:r>
            <a:endParaRPr lang="en-US" sz="1100" dirty="0">
              <a:effectLst/>
              <a:latin typeface="Roboto" panose="02000000000000000000" pitchFamily="2" charset="0"/>
              <a:ea typeface="Roboto" panose="02000000000000000000" pitchFamily="2" charset="0"/>
              <a:cs typeface="Roboto" panose="02000000000000000000" pitchFamily="2" charset="0"/>
            </a:endParaRPr>
          </a:p>
          <a:p>
            <a:pPr algn="just"/>
            <a:r>
              <a:rPr lang="en-US" dirty="0">
                <a:latin typeface="Roboto" panose="02000000000000000000" pitchFamily="2" charset="0"/>
                <a:ea typeface="Roboto" panose="02000000000000000000" pitchFamily="2" charset="0"/>
                <a:cs typeface="Roboto" panose="02000000000000000000" pitchFamily="2" charset="0"/>
              </a:rPr>
              <a:t> </a:t>
            </a:r>
          </a:p>
        </p:txBody>
      </p:sp>
      <p:sp>
        <p:nvSpPr>
          <p:cNvPr id="6" name="TextBox 5">
            <a:extLst>
              <a:ext uri="{FF2B5EF4-FFF2-40B4-BE49-F238E27FC236}">
                <a16:creationId xmlns:a16="http://schemas.microsoft.com/office/drawing/2014/main" id="{D7363567-61B6-D72B-FBC0-B280184AE2E0}"/>
              </a:ext>
            </a:extLst>
          </p:cNvPr>
          <p:cNvSpPr txBox="1"/>
          <p:nvPr/>
        </p:nvSpPr>
        <p:spPr>
          <a:xfrm>
            <a:off x="1358900" y="3035300"/>
            <a:ext cx="694421" cy="1446550"/>
          </a:xfrm>
          <a:prstGeom prst="rect">
            <a:avLst/>
          </a:prstGeom>
          <a:noFill/>
        </p:spPr>
        <p:txBody>
          <a:bodyPr wrap="none" rtlCol="0">
            <a:spAutoFit/>
          </a:bodyPr>
          <a:lstStyle/>
          <a:p>
            <a:r>
              <a:rPr lang="en-US" sz="8800" dirty="0">
                <a:solidFill>
                  <a:srgbClr val="FFC10E"/>
                </a:solidFill>
              </a:rPr>
              <a:t>“</a:t>
            </a:r>
            <a:endParaRPr lang="en-US" dirty="0">
              <a:solidFill>
                <a:srgbClr val="FFC10E"/>
              </a:solidFill>
            </a:endParaRPr>
          </a:p>
        </p:txBody>
      </p:sp>
      <p:sp>
        <p:nvSpPr>
          <p:cNvPr id="9" name="Slide Number Placeholder 8">
            <a:extLst>
              <a:ext uri="{FF2B5EF4-FFF2-40B4-BE49-F238E27FC236}">
                <a16:creationId xmlns:a16="http://schemas.microsoft.com/office/drawing/2014/main" id="{9389AE17-B153-C82E-FC98-BACFCE28A241}"/>
              </a:ext>
            </a:extLst>
          </p:cNvPr>
          <p:cNvSpPr>
            <a:spLocks noGrp="1"/>
          </p:cNvSpPr>
          <p:nvPr>
            <p:ph type="sldNum" sz="quarter" idx="12"/>
          </p:nvPr>
        </p:nvSpPr>
        <p:spPr/>
        <p:txBody>
          <a:bodyPr/>
          <a:lstStyle/>
          <a:p>
            <a:fld id="{835FE90F-C88A-C24D-9FD5-52F0990CFAC0}" type="slidenum">
              <a:rPr lang="en-US" smtClean="0"/>
              <a:t>24</a:t>
            </a:fld>
            <a:endParaRPr lang="en-US"/>
          </a:p>
        </p:txBody>
      </p:sp>
    </p:spTree>
    <p:extLst>
      <p:ext uri="{BB962C8B-B14F-4D97-AF65-F5344CB8AC3E}">
        <p14:creationId xmlns:p14="http://schemas.microsoft.com/office/powerpoint/2010/main" val="170142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08AA-97F8-4F2F-6A79-0AA6C71DD3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282814-B7A8-FB38-F5BC-03FD607AA4EC}"/>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Establishing inclusion criteria</a:t>
            </a:r>
          </a:p>
          <a:p>
            <a:pPr lvl="1"/>
            <a:r>
              <a:rPr lang="en-US" sz="2000" dirty="0">
                <a:latin typeface="Roboto" panose="02000000000000000000" pitchFamily="2" charset="0"/>
                <a:ea typeface="Roboto" panose="02000000000000000000" pitchFamily="2" charset="0"/>
                <a:cs typeface="Roboto" panose="02000000000000000000" pitchFamily="2" charset="0"/>
              </a:rPr>
              <a:t>E.g.: technical expertise, experience with technology, demographics, etc.</a:t>
            </a:r>
          </a:p>
          <a:p>
            <a:r>
              <a:rPr lang="en-US" sz="2400" dirty="0">
                <a:latin typeface="Roboto" panose="02000000000000000000" pitchFamily="2" charset="0"/>
                <a:ea typeface="Roboto" panose="02000000000000000000" pitchFamily="2" charset="0"/>
                <a:cs typeface="Roboto" panose="02000000000000000000" pitchFamily="2" charset="0"/>
              </a:rPr>
              <a:t>Screening participants</a:t>
            </a:r>
          </a:p>
          <a:p>
            <a:pPr lvl="1"/>
            <a:r>
              <a:rPr lang="en-US" sz="2000" dirty="0">
                <a:latin typeface="Roboto" panose="02000000000000000000" pitchFamily="2" charset="0"/>
                <a:ea typeface="Roboto" panose="02000000000000000000" pitchFamily="2" charset="0"/>
                <a:cs typeface="Roboto" panose="02000000000000000000" pitchFamily="2" charset="0"/>
              </a:rPr>
              <a:t>E.g.: technical knowledge assessments, behavior-based filtering, etc.</a:t>
            </a:r>
          </a:p>
          <a:p>
            <a:r>
              <a:rPr lang="en-US" sz="2400" dirty="0">
                <a:latin typeface="Roboto" panose="02000000000000000000" pitchFamily="2" charset="0"/>
                <a:ea typeface="Roboto" panose="02000000000000000000" pitchFamily="2" charset="0"/>
                <a:cs typeface="Roboto" panose="02000000000000000000" pitchFamily="2" charset="0"/>
              </a:rPr>
              <a:t>Common recruitment methods include: </a:t>
            </a:r>
          </a:p>
          <a:p>
            <a:pPr lvl="1"/>
            <a:r>
              <a:rPr lang="en-US" sz="2000" dirty="0">
                <a:latin typeface="Roboto" panose="02000000000000000000" pitchFamily="2" charset="0"/>
                <a:ea typeface="Roboto" panose="02000000000000000000" pitchFamily="2" charset="0"/>
                <a:cs typeface="Roboto" panose="02000000000000000000" pitchFamily="2" charset="0"/>
              </a:rPr>
              <a:t>F</a:t>
            </a:r>
            <a:r>
              <a:rPr lang="en-US" sz="2000" dirty="0">
                <a:effectLst/>
                <a:latin typeface="Roboto" panose="02000000000000000000" pitchFamily="2" charset="0"/>
                <a:ea typeface="Roboto" panose="02000000000000000000" pitchFamily="2" charset="0"/>
                <a:cs typeface="Roboto" panose="02000000000000000000" pitchFamily="2" charset="0"/>
              </a:rPr>
              <a:t>lyers and message boards - on campus recruitment</a:t>
            </a:r>
          </a:p>
          <a:p>
            <a:pPr lvl="1"/>
            <a:r>
              <a:rPr lang="en-US" sz="2000" dirty="0">
                <a:effectLst/>
                <a:latin typeface="Roboto" panose="02000000000000000000" pitchFamily="2" charset="0"/>
                <a:ea typeface="Roboto" panose="02000000000000000000" pitchFamily="2" charset="0"/>
                <a:cs typeface="Roboto" panose="02000000000000000000" pitchFamily="2" charset="0"/>
              </a:rPr>
              <a:t>University email</a:t>
            </a:r>
            <a:r>
              <a:rPr lang="en-US" sz="2000" dirty="0">
                <a:latin typeface="Roboto" panose="02000000000000000000" pitchFamily="2" charset="0"/>
                <a:ea typeface="Roboto" panose="02000000000000000000" pitchFamily="2" charset="0"/>
                <a:cs typeface="Roboto" panose="02000000000000000000" pitchFamily="2" charset="0"/>
              </a:rPr>
              <a:t> </a:t>
            </a:r>
            <a:r>
              <a:rPr lang="en-US" sz="2000" dirty="0">
                <a:effectLst/>
                <a:latin typeface="Roboto" panose="02000000000000000000" pitchFamily="2" charset="0"/>
                <a:ea typeface="Roboto" panose="02000000000000000000" pitchFamily="2" charset="0"/>
                <a:cs typeface="Roboto" panose="02000000000000000000" pitchFamily="2" charset="0"/>
              </a:rPr>
              <a:t>lists and internal networks – academic and expert communities</a:t>
            </a:r>
          </a:p>
          <a:p>
            <a:pPr lvl="1"/>
            <a:r>
              <a:rPr lang="en-US" sz="2000" dirty="0">
                <a:effectLst/>
                <a:latin typeface="Roboto" panose="02000000000000000000" pitchFamily="2" charset="0"/>
                <a:ea typeface="Roboto" panose="02000000000000000000" pitchFamily="2" charset="0"/>
                <a:cs typeface="Roboto" panose="02000000000000000000" pitchFamily="2" charset="0"/>
              </a:rPr>
              <a:t>Workshops and cybersecurity events – security professionals</a:t>
            </a:r>
          </a:p>
          <a:p>
            <a:pPr lvl="1"/>
            <a:r>
              <a:rPr lang="en-US" sz="2000" dirty="0">
                <a:latin typeface="Roboto" panose="02000000000000000000" pitchFamily="2" charset="0"/>
                <a:ea typeface="Roboto" panose="02000000000000000000" pitchFamily="2" charset="0"/>
                <a:cs typeface="Roboto" panose="02000000000000000000" pitchFamily="2" charset="0"/>
              </a:rPr>
              <a:t>Social media and crowdsourcing platforms – quick recruitment and large-scale reach</a:t>
            </a:r>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effectLst/>
              <a:latin typeface="Roboto" panose="02000000000000000000" pitchFamily="2" charset="0"/>
              <a:ea typeface="Roboto" panose="02000000000000000000" pitchFamily="2" charset="0"/>
              <a:cs typeface="Roboto" panose="02000000000000000000" pitchFamily="2" charset="0"/>
            </a:endParaRPr>
          </a:p>
          <a:p>
            <a:pPr lvl="1"/>
            <a:endParaRPr lang="en-US" sz="2000" dirty="0">
              <a:latin typeface="Roboto" panose="02000000000000000000" pitchFamily="2" charset="0"/>
              <a:ea typeface="Roboto" panose="02000000000000000000" pitchFamily="2" charset="0"/>
              <a:cs typeface="Roboto" panose="02000000000000000000" pitchFamily="2" charset="0"/>
            </a:endParaRPr>
          </a:p>
          <a:p>
            <a:pPr lvl="1"/>
            <a:endParaRPr lang="en-US" sz="2000" dirty="0">
              <a:effectLst/>
              <a:latin typeface="Roboto" panose="02000000000000000000" pitchFamily="2" charset="0"/>
              <a:ea typeface="Roboto" panose="02000000000000000000" pitchFamily="2" charset="0"/>
              <a:cs typeface="Roboto" panose="02000000000000000000" pitchFamily="2" charset="0"/>
            </a:endParaRPr>
          </a:p>
          <a:p>
            <a:endParaRPr lang="en-US" sz="2400" dirty="0">
              <a:effectLst/>
              <a:latin typeface="Roboto" panose="02000000000000000000" pitchFamily="2" charset="0"/>
              <a:ea typeface="Roboto" panose="02000000000000000000" pitchFamily="2" charset="0"/>
              <a:cs typeface="Roboto" panose="02000000000000000000" pitchFamily="2" charset="0"/>
            </a:endParaRPr>
          </a:p>
          <a:p>
            <a:pPr lvl="1"/>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2" name="Title 1">
            <a:extLst>
              <a:ext uri="{FF2B5EF4-FFF2-40B4-BE49-F238E27FC236}">
                <a16:creationId xmlns:a16="http://schemas.microsoft.com/office/drawing/2014/main" id="{1F4E7407-010E-D33C-46B9-FBE9E995D320}"/>
              </a:ext>
            </a:extLst>
          </p:cNvPr>
          <p:cNvSpPr>
            <a:spLocks noGrp="1"/>
          </p:cNvSpPr>
          <p:nvPr>
            <p:ph type="title"/>
          </p:nvPr>
        </p:nvSpPr>
        <p:spPr/>
        <p:txBody>
          <a:bodyPr/>
          <a:lstStyle/>
          <a:p>
            <a:r>
              <a:rPr lang="en-US" dirty="0">
                <a:solidFill>
                  <a:srgbClr val="9A0031"/>
                </a:solidFill>
                <a:latin typeface="Fjalla One" panose="02000506040000020004" pitchFamily="2" charset="0"/>
              </a:rPr>
              <a:t>Recruitment Strategies</a:t>
            </a:r>
          </a:p>
        </p:txBody>
      </p:sp>
      <p:grpSp>
        <p:nvGrpSpPr>
          <p:cNvPr id="7" name="Group 6">
            <a:extLst>
              <a:ext uri="{FF2B5EF4-FFF2-40B4-BE49-F238E27FC236}">
                <a16:creationId xmlns:a16="http://schemas.microsoft.com/office/drawing/2014/main" id="{A001B491-B772-AC45-4530-EEE6C87E6213}"/>
              </a:ext>
            </a:extLst>
          </p:cNvPr>
          <p:cNvGrpSpPr/>
          <p:nvPr/>
        </p:nvGrpSpPr>
        <p:grpSpPr>
          <a:xfrm>
            <a:off x="1665737" y="2941697"/>
            <a:ext cx="8860526" cy="2119193"/>
            <a:chOff x="1756674" y="4433004"/>
            <a:chExt cx="8860526" cy="2119193"/>
          </a:xfrm>
        </p:grpSpPr>
        <p:sp>
          <p:nvSpPr>
            <p:cNvPr id="5" name="TextBox 4">
              <a:extLst>
                <a:ext uri="{FF2B5EF4-FFF2-40B4-BE49-F238E27FC236}">
                  <a16:creationId xmlns:a16="http://schemas.microsoft.com/office/drawing/2014/main" id="{C0DA0E7F-4105-BFBC-4102-0E8DAF5B4AD4}"/>
                </a:ext>
              </a:extLst>
            </p:cNvPr>
            <p:cNvSpPr txBox="1"/>
            <p:nvPr/>
          </p:nvSpPr>
          <p:spPr>
            <a:xfrm>
              <a:off x="2269226" y="4890204"/>
              <a:ext cx="8347974" cy="1661993"/>
            </a:xfrm>
            <a:prstGeom prst="rect">
              <a:avLst/>
            </a:prstGeom>
            <a:noFill/>
          </p:spPr>
          <p:txBody>
            <a:bodyPr wrap="square" rtlCol="0">
              <a:spAutoFit/>
            </a:bodyPr>
            <a:lstStyle/>
            <a:p>
              <a:pPr algn="just"/>
              <a:r>
                <a:rPr lang="en-US" sz="2000" dirty="0">
                  <a:effectLst/>
                  <a:latin typeface="Roboto" panose="02000000000000000000" pitchFamily="2" charset="0"/>
                  <a:ea typeface="Roboto" panose="02000000000000000000" pitchFamily="2" charset="0"/>
                  <a:cs typeface="Roboto" panose="02000000000000000000" pitchFamily="2" charset="0"/>
                </a:rPr>
                <a:t>We focused on finding </a:t>
              </a:r>
              <a:r>
                <a:rPr lang="en-US" sz="2000" dirty="0">
                  <a:solidFill>
                    <a:srgbClr val="9A0031"/>
                  </a:solidFill>
                  <a:effectLst/>
                  <a:latin typeface="Roboto" panose="02000000000000000000" pitchFamily="2" charset="0"/>
                  <a:ea typeface="Roboto" panose="02000000000000000000" pitchFamily="2" charset="0"/>
                  <a:cs typeface="Roboto" panose="02000000000000000000" pitchFamily="2" charset="0"/>
                </a:rPr>
                <a:t>adult Internet users </a:t>
              </a:r>
              <a:r>
                <a:rPr lang="en-US" sz="2000" dirty="0">
                  <a:effectLst/>
                  <a:latin typeface="Roboto" panose="02000000000000000000" pitchFamily="2" charset="0"/>
                  <a:ea typeface="Roboto" panose="02000000000000000000" pitchFamily="2" charset="0"/>
                  <a:cs typeface="Roboto" panose="02000000000000000000" pitchFamily="2" charset="0"/>
                </a:rPr>
                <a:t>that used </a:t>
              </a:r>
              <a:r>
                <a:rPr lang="en-US" sz="2000" dirty="0">
                  <a:solidFill>
                    <a:srgbClr val="9A0031"/>
                  </a:solidFill>
                  <a:effectLst/>
                  <a:latin typeface="Roboto" panose="02000000000000000000" pitchFamily="2" charset="0"/>
                  <a:ea typeface="Roboto" panose="02000000000000000000" pitchFamily="2" charset="0"/>
                  <a:cs typeface="Roboto" panose="02000000000000000000" pitchFamily="2" charset="0"/>
                </a:rPr>
                <a:t>Internet-enabled devices such as a desktop, laptop, tablet,</a:t>
              </a:r>
              <a:r>
                <a:rPr lang="en-US" sz="2000" dirty="0">
                  <a:solidFill>
                    <a:srgbClr val="9A0031"/>
                  </a:solidFill>
                  <a:latin typeface="Roboto" panose="02000000000000000000" pitchFamily="2" charset="0"/>
                  <a:ea typeface="Roboto" panose="02000000000000000000" pitchFamily="2" charset="0"/>
                  <a:cs typeface="Roboto" panose="02000000000000000000" pitchFamily="2" charset="0"/>
                </a:rPr>
                <a:t> </a:t>
              </a:r>
              <a:r>
                <a:rPr lang="en-US" sz="2000" dirty="0">
                  <a:solidFill>
                    <a:srgbClr val="9A0031"/>
                  </a:solidFill>
                  <a:effectLst/>
                  <a:latin typeface="Roboto" panose="02000000000000000000" pitchFamily="2" charset="0"/>
                  <a:ea typeface="Roboto" panose="02000000000000000000" pitchFamily="2" charset="0"/>
                  <a:cs typeface="Roboto" panose="02000000000000000000" pitchFamily="2" charset="0"/>
                </a:rPr>
                <a:t>or smartphone </a:t>
              </a:r>
              <a:r>
                <a:rPr lang="en-US" sz="2000" dirty="0">
                  <a:effectLst/>
                  <a:latin typeface="Roboto" panose="02000000000000000000" pitchFamily="2" charset="0"/>
                  <a:ea typeface="Roboto" panose="02000000000000000000" pitchFamily="2" charset="0"/>
                  <a:cs typeface="Roboto" panose="02000000000000000000" pitchFamily="2" charset="0"/>
                </a:rPr>
                <a:t>since they were likely to encounter </a:t>
              </a:r>
              <a:r>
                <a:rPr lang="en-US" sz="2000" dirty="0">
                  <a:solidFill>
                    <a:srgbClr val="9A0031"/>
                  </a:solidFill>
                  <a:effectLst/>
                  <a:latin typeface="Roboto" panose="02000000000000000000" pitchFamily="2" charset="0"/>
                  <a:ea typeface="Roboto" panose="02000000000000000000" pitchFamily="2" charset="0"/>
                  <a:cs typeface="Roboto" panose="02000000000000000000" pitchFamily="2" charset="0"/>
                </a:rPr>
                <a:t>software updates frequently</a:t>
              </a:r>
              <a:r>
                <a:rPr lang="en-US" sz="2000" dirty="0">
                  <a:effectLst/>
                  <a:latin typeface="Roboto" panose="02000000000000000000" pitchFamily="2" charset="0"/>
                  <a:ea typeface="Roboto" panose="02000000000000000000" pitchFamily="2" charset="0"/>
                  <a:cs typeface="Roboto" panose="02000000000000000000" pitchFamily="2" charset="0"/>
                </a:rPr>
                <a:t>.”</a:t>
              </a:r>
            </a:p>
            <a:p>
              <a:pPr algn="just"/>
              <a:endParaRPr lang="en-US" sz="2000" dirty="0">
                <a:solidFill>
                  <a:srgbClr val="9A0031"/>
                </a:solidFill>
                <a:latin typeface="Roboto" panose="02000000000000000000" pitchFamily="2" charset="0"/>
                <a:ea typeface="Roboto" panose="02000000000000000000" pitchFamily="2" charset="0"/>
                <a:cs typeface="Roboto" panose="02000000000000000000" pitchFamily="2" charset="0"/>
              </a:endParaRPr>
            </a:p>
            <a:p>
              <a:pPr algn="r"/>
              <a:r>
                <a:rPr lang="en-US" sz="1100" i="1" dirty="0">
                  <a:effectLst/>
                  <a:latin typeface="Roboto" panose="02000000000000000000" pitchFamily="2" charset="0"/>
                  <a:ea typeface="Roboto" panose="02000000000000000000" pitchFamily="2" charset="0"/>
                  <a:cs typeface="Roboto" panose="02000000000000000000" pitchFamily="2" charset="0"/>
                </a:rPr>
                <a:t>- </a:t>
              </a:r>
              <a:r>
                <a:rPr lang="en-US" sz="1100" i="1" dirty="0" err="1">
                  <a:effectLst/>
                  <a:latin typeface="Roboto" panose="02000000000000000000" pitchFamily="2" charset="0"/>
                  <a:ea typeface="Roboto" panose="02000000000000000000" pitchFamily="2" charset="0"/>
                  <a:cs typeface="Roboto" panose="02000000000000000000" pitchFamily="2" charset="0"/>
                </a:rPr>
                <a:t>Arunesh</a:t>
              </a:r>
              <a:r>
                <a:rPr lang="en-US" sz="1100" i="1" dirty="0">
                  <a:effectLst/>
                  <a:latin typeface="Roboto" panose="02000000000000000000" pitchFamily="2" charset="0"/>
                  <a:ea typeface="Roboto" panose="02000000000000000000" pitchFamily="2" charset="0"/>
                  <a:cs typeface="Roboto" panose="02000000000000000000" pitchFamily="2" charset="0"/>
                </a:rPr>
                <a:t> Mathur, Josefine Engel, Sonam </a:t>
              </a:r>
              <a:r>
                <a:rPr lang="en-US" sz="1100" i="1" dirty="0" err="1">
                  <a:effectLst/>
                  <a:latin typeface="Roboto" panose="02000000000000000000" pitchFamily="2" charset="0"/>
                  <a:ea typeface="Roboto" panose="02000000000000000000" pitchFamily="2" charset="0"/>
                  <a:cs typeface="Roboto" panose="02000000000000000000" pitchFamily="2" charset="0"/>
                </a:rPr>
                <a:t>Sobti</a:t>
              </a:r>
              <a:r>
                <a:rPr lang="en-US" sz="1100" i="1" dirty="0">
                  <a:effectLst/>
                  <a:latin typeface="Roboto" panose="02000000000000000000" pitchFamily="2" charset="0"/>
                  <a:ea typeface="Roboto" panose="02000000000000000000" pitchFamily="2" charset="0"/>
                  <a:cs typeface="Roboto" panose="02000000000000000000" pitchFamily="2" charset="0"/>
                </a:rPr>
                <a:t>, Victoria Chang, and </a:t>
              </a:r>
              <a:r>
                <a:rPr lang="en-US" sz="1100" i="1" dirty="0" err="1">
                  <a:effectLst/>
                  <a:latin typeface="Roboto" panose="02000000000000000000" pitchFamily="2" charset="0"/>
                  <a:ea typeface="Roboto" panose="02000000000000000000" pitchFamily="2" charset="0"/>
                  <a:cs typeface="Roboto" panose="02000000000000000000" pitchFamily="2" charset="0"/>
                </a:rPr>
                <a:t>Marshini</a:t>
              </a:r>
              <a:r>
                <a:rPr lang="en-US" sz="1100" i="1" dirty="0">
                  <a:effectLst/>
                  <a:latin typeface="Roboto" panose="02000000000000000000" pitchFamily="2" charset="0"/>
                  <a:ea typeface="Roboto" panose="02000000000000000000" pitchFamily="2" charset="0"/>
                  <a:cs typeface="Roboto" panose="02000000000000000000" pitchFamily="2" charset="0"/>
                </a:rPr>
                <a:t> Chetty. </a:t>
              </a:r>
              <a:r>
                <a:rPr lang="en-US" sz="1100" i="1" dirty="0">
                  <a:latin typeface="Roboto" panose="02000000000000000000" pitchFamily="2" charset="0"/>
                  <a:ea typeface="Roboto" panose="02000000000000000000" pitchFamily="2" charset="0"/>
                  <a:cs typeface="Roboto" panose="02000000000000000000" pitchFamily="2" charset="0"/>
                </a:rPr>
                <a:t>“T</a:t>
              </a:r>
              <a:r>
                <a:rPr lang="en-US" sz="1100" i="1" dirty="0">
                  <a:effectLst/>
                  <a:latin typeface="Roboto" panose="02000000000000000000" pitchFamily="2" charset="0"/>
                  <a:ea typeface="Roboto" panose="02000000000000000000" pitchFamily="2" charset="0"/>
                  <a:cs typeface="Roboto" panose="02000000000000000000" pitchFamily="2" charset="0"/>
                </a:rPr>
                <a:t>hey keep coming back like</a:t>
              </a:r>
              <a:r>
                <a:rPr lang="en-US" sz="1100" dirty="0">
                  <a:latin typeface="Roboto" panose="02000000000000000000" pitchFamily="2" charset="0"/>
                  <a:ea typeface="Roboto" panose="02000000000000000000" pitchFamily="2" charset="0"/>
                  <a:cs typeface="Roboto" panose="02000000000000000000" pitchFamily="2" charset="0"/>
                </a:rPr>
                <a:t> </a:t>
              </a:r>
              <a:r>
                <a:rPr lang="en-US" sz="1100" i="1" dirty="0">
                  <a:effectLst/>
                  <a:latin typeface="Roboto" panose="02000000000000000000" pitchFamily="2" charset="0"/>
                  <a:ea typeface="Roboto" panose="02000000000000000000" pitchFamily="2" charset="0"/>
                  <a:cs typeface="Roboto" panose="02000000000000000000" pitchFamily="2" charset="0"/>
                </a:rPr>
                <a:t>zombies”: Improving Software </a:t>
              </a:r>
              <a:r>
                <a:rPr lang="en-US" sz="1100" i="1" dirty="0">
                  <a:latin typeface="Roboto" panose="02000000000000000000" pitchFamily="2" charset="0"/>
                  <a:ea typeface="Roboto" panose="02000000000000000000" pitchFamily="2" charset="0"/>
                  <a:cs typeface="Roboto" panose="02000000000000000000" pitchFamily="2" charset="0"/>
                </a:rPr>
                <a:t>U</a:t>
              </a:r>
              <a:r>
                <a:rPr lang="en-US" sz="1100" i="1" dirty="0">
                  <a:effectLst/>
                  <a:latin typeface="Roboto" panose="02000000000000000000" pitchFamily="2" charset="0"/>
                  <a:ea typeface="Roboto" panose="02000000000000000000" pitchFamily="2" charset="0"/>
                  <a:cs typeface="Roboto" panose="02000000000000000000" pitchFamily="2" charset="0"/>
                </a:rPr>
                <a:t>pdating </a:t>
              </a:r>
              <a:r>
                <a:rPr lang="en-US" sz="1100" i="1" dirty="0">
                  <a:latin typeface="Roboto" panose="02000000000000000000" pitchFamily="2" charset="0"/>
                  <a:ea typeface="Roboto" panose="02000000000000000000" pitchFamily="2" charset="0"/>
                  <a:cs typeface="Roboto" panose="02000000000000000000" pitchFamily="2" charset="0"/>
                </a:rPr>
                <a:t>I</a:t>
              </a:r>
              <a:r>
                <a:rPr lang="en-US" sz="1100" i="1" dirty="0">
                  <a:effectLst/>
                  <a:latin typeface="Roboto" panose="02000000000000000000" pitchFamily="2" charset="0"/>
                  <a:ea typeface="Roboto" panose="02000000000000000000" pitchFamily="2" charset="0"/>
                  <a:cs typeface="Roboto" panose="02000000000000000000" pitchFamily="2" charset="0"/>
                </a:rPr>
                <a:t>nterfaces. In Twelfth Symposium on Usable Privacy and Security (SOUPS</a:t>
              </a:r>
              <a:r>
                <a:rPr lang="en-US" sz="1100" dirty="0">
                  <a:latin typeface="Roboto" panose="02000000000000000000" pitchFamily="2" charset="0"/>
                  <a:ea typeface="Roboto" panose="02000000000000000000" pitchFamily="2" charset="0"/>
                  <a:cs typeface="Roboto" panose="02000000000000000000" pitchFamily="2" charset="0"/>
                </a:rPr>
                <a:t> </a:t>
              </a:r>
              <a:r>
                <a:rPr lang="en-US" sz="1100" i="1" dirty="0">
                  <a:effectLst/>
                  <a:latin typeface="Roboto" panose="02000000000000000000" pitchFamily="2" charset="0"/>
                  <a:ea typeface="Roboto" panose="02000000000000000000" pitchFamily="2" charset="0"/>
                  <a:cs typeface="Roboto" panose="02000000000000000000" pitchFamily="2" charset="0"/>
                </a:rPr>
                <a:t>2016).</a:t>
              </a:r>
              <a:endParaRPr lang="en-US" sz="1100" dirty="0">
                <a:effectLst/>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5081855D-45C9-3DB5-B1EB-A0358F817FA7}"/>
                </a:ext>
              </a:extLst>
            </p:cNvPr>
            <p:cNvSpPr txBox="1"/>
            <p:nvPr/>
          </p:nvSpPr>
          <p:spPr>
            <a:xfrm>
              <a:off x="1756674" y="4433004"/>
              <a:ext cx="694421" cy="1446550"/>
            </a:xfrm>
            <a:prstGeom prst="rect">
              <a:avLst/>
            </a:prstGeom>
            <a:noFill/>
          </p:spPr>
          <p:txBody>
            <a:bodyPr wrap="none" rtlCol="0">
              <a:spAutoFit/>
            </a:bodyPr>
            <a:lstStyle/>
            <a:p>
              <a:r>
                <a:rPr lang="en-US" sz="8800" dirty="0">
                  <a:solidFill>
                    <a:srgbClr val="FFC10E"/>
                  </a:solidFill>
                </a:rPr>
                <a:t>“</a:t>
              </a:r>
              <a:endParaRPr lang="en-US" dirty="0">
                <a:solidFill>
                  <a:srgbClr val="FFC10E"/>
                </a:solidFill>
              </a:endParaRPr>
            </a:p>
          </p:txBody>
        </p:sp>
      </p:grpSp>
      <p:sp>
        <p:nvSpPr>
          <p:cNvPr id="10" name="Slide Number Placeholder 9">
            <a:extLst>
              <a:ext uri="{FF2B5EF4-FFF2-40B4-BE49-F238E27FC236}">
                <a16:creationId xmlns:a16="http://schemas.microsoft.com/office/drawing/2014/main" id="{3A0DE3E1-A837-F689-D167-1BBE2BF69603}"/>
              </a:ext>
            </a:extLst>
          </p:cNvPr>
          <p:cNvSpPr>
            <a:spLocks noGrp="1"/>
          </p:cNvSpPr>
          <p:nvPr>
            <p:ph type="sldNum" sz="quarter" idx="12"/>
          </p:nvPr>
        </p:nvSpPr>
        <p:spPr/>
        <p:txBody>
          <a:bodyPr/>
          <a:lstStyle/>
          <a:p>
            <a:fld id="{835FE90F-C88A-C24D-9FD5-52F0990CFAC0}" type="slidenum">
              <a:rPr lang="en-US" smtClean="0"/>
              <a:t>25</a:t>
            </a:fld>
            <a:endParaRPr lang="en-US"/>
          </a:p>
        </p:txBody>
      </p:sp>
    </p:spTree>
    <p:extLst>
      <p:ext uri="{BB962C8B-B14F-4D97-AF65-F5344CB8AC3E}">
        <p14:creationId xmlns:p14="http://schemas.microsoft.com/office/powerpoint/2010/main" val="1385795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6D0FB-8440-9D45-F34A-D32D969A9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82C8B-D0AA-499A-9CDF-E46A849E9A5D}"/>
              </a:ext>
            </a:extLst>
          </p:cNvPr>
          <p:cNvSpPr>
            <a:spLocks noGrp="1"/>
          </p:cNvSpPr>
          <p:nvPr>
            <p:ph type="title"/>
          </p:nvPr>
        </p:nvSpPr>
        <p:spPr/>
        <p:txBody>
          <a:bodyPr/>
          <a:lstStyle/>
          <a:p>
            <a:r>
              <a:rPr lang="en-US" dirty="0">
                <a:solidFill>
                  <a:srgbClr val="9A0031"/>
                </a:solidFill>
                <a:latin typeface="Fjalla One" panose="02000506040000020004" pitchFamily="2" charset="0"/>
              </a:rPr>
              <a:t>Recruitment Strategies [contd.]</a:t>
            </a:r>
          </a:p>
        </p:txBody>
      </p:sp>
      <p:sp>
        <p:nvSpPr>
          <p:cNvPr id="3" name="Content Placeholder 2">
            <a:extLst>
              <a:ext uri="{FF2B5EF4-FFF2-40B4-BE49-F238E27FC236}">
                <a16:creationId xmlns:a16="http://schemas.microsoft.com/office/drawing/2014/main" id="{9BC2410F-A47F-D4EF-7CC6-A95D7002E280}"/>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Full vs. Partial Disclosure</a:t>
            </a:r>
          </a:p>
          <a:p>
            <a:pPr lvl="1"/>
            <a:r>
              <a:rPr lang="en-US" sz="2000" dirty="0">
                <a:latin typeface="Roboto" panose="02000000000000000000" pitchFamily="2" charset="0"/>
                <a:ea typeface="Roboto" panose="02000000000000000000" pitchFamily="2" charset="0"/>
                <a:cs typeface="Roboto" panose="02000000000000000000" pitchFamily="2" charset="0"/>
              </a:rPr>
              <a:t>Explaining exactly or withholding certain details </a:t>
            </a:r>
          </a:p>
          <a:p>
            <a:r>
              <a:rPr lang="en-US" sz="2400" dirty="0">
                <a:latin typeface="Roboto" panose="02000000000000000000" pitchFamily="2" charset="0"/>
                <a:ea typeface="Roboto" panose="02000000000000000000" pitchFamily="2" charset="0"/>
                <a:cs typeface="Roboto" panose="02000000000000000000" pitchFamily="2" charset="0"/>
              </a:rPr>
              <a:t>Priming vs Non-priming </a:t>
            </a:r>
          </a:p>
          <a:p>
            <a:pPr lvl="1"/>
            <a:r>
              <a:rPr lang="en-US" sz="2000" dirty="0">
                <a:latin typeface="Roboto" panose="02000000000000000000" pitchFamily="2" charset="0"/>
                <a:ea typeface="Roboto" panose="02000000000000000000" pitchFamily="2" charset="0"/>
                <a:cs typeface="Roboto" panose="02000000000000000000" pitchFamily="2" charset="0"/>
              </a:rPr>
              <a:t>Providing or avoiding cues that influence how participants think</a:t>
            </a:r>
          </a:p>
          <a:p>
            <a:endParaRPr lang="en-US" sz="2400" dirty="0">
              <a:latin typeface="Roboto" panose="02000000000000000000" pitchFamily="2" charset="0"/>
              <a:ea typeface="Roboto" panose="02000000000000000000" pitchFamily="2" charset="0"/>
              <a:cs typeface="Roboto" panose="02000000000000000000" pitchFamily="2" charset="0"/>
            </a:endParaRPr>
          </a:p>
        </p:txBody>
      </p:sp>
      <p:grpSp>
        <p:nvGrpSpPr>
          <p:cNvPr id="9" name="Group 8">
            <a:extLst>
              <a:ext uri="{FF2B5EF4-FFF2-40B4-BE49-F238E27FC236}">
                <a16:creationId xmlns:a16="http://schemas.microsoft.com/office/drawing/2014/main" id="{B4C94B27-5EEB-07D7-BCA3-7C77F8BA3614}"/>
              </a:ext>
            </a:extLst>
          </p:cNvPr>
          <p:cNvGrpSpPr/>
          <p:nvPr/>
        </p:nvGrpSpPr>
        <p:grpSpPr>
          <a:xfrm>
            <a:off x="1784350" y="3429000"/>
            <a:ext cx="8623300" cy="2119193"/>
            <a:chOff x="1667774" y="2833950"/>
            <a:chExt cx="8623300" cy="2119193"/>
          </a:xfrm>
        </p:grpSpPr>
        <p:sp>
          <p:nvSpPr>
            <p:cNvPr id="7" name="TextBox 6">
              <a:extLst>
                <a:ext uri="{FF2B5EF4-FFF2-40B4-BE49-F238E27FC236}">
                  <a16:creationId xmlns:a16="http://schemas.microsoft.com/office/drawing/2014/main" id="{C2D09F1A-95B6-B34C-6AA7-61B52E18FD86}"/>
                </a:ext>
              </a:extLst>
            </p:cNvPr>
            <p:cNvSpPr txBox="1"/>
            <p:nvPr/>
          </p:nvSpPr>
          <p:spPr>
            <a:xfrm>
              <a:off x="2180326" y="3291150"/>
              <a:ext cx="8110748" cy="1661993"/>
            </a:xfrm>
            <a:prstGeom prst="rect">
              <a:avLst/>
            </a:prstGeom>
            <a:noFill/>
          </p:spPr>
          <p:txBody>
            <a:bodyPr wrap="square" rtlCol="0">
              <a:spAutoFit/>
            </a:bodyPr>
            <a:lstStyle/>
            <a:p>
              <a:pPr algn="just"/>
              <a:r>
                <a:rPr lang="en-US" sz="2000" dirty="0">
                  <a:effectLst/>
                  <a:latin typeface="Roboto" panose="02000000000000000000" pitchFamily="2" charset="0"/>
                  <a:ea typeface="Roboto" panose="02000000000000000000" pitchFamily="2" charset="0"/>
                  <a:cs typeface="Roboto" panose="02000000000000000000" pitchFamily="2" charset="0"/>
                </a:rPr>
                <a:t>recruited for a </a:t>
              </a:r>
              <a:r>
                <a:rPr lang="en-US" sz="2000" dirty="0">
                  <a:solidFill>
                    <a:srgbClr val="9A0031"/>
                  </a:solidFill>
                  <a:effectLst/>
                  <a:latin typeface="Roboto" panose="02000000000000000000" pitchFamily="2" charset="0"/>
                  <a:ea typeface="Roboto" panose="02000000000000000000" pitchFamily="2" charset="0"/>
                  <a:cs typeface="Roboto" panose="02000000000000000000" pitchFamily="2" charset="0"/>
                </a:rPr>
                <a:t>“study on personal finance and credit bureaus” </a:t>
              </a:r>
              <a:r>
                <a:rPr lang="en-US" sz="2000" dirty="0">
                  <a:effectLst/>
                  <a:latin typeface="Roboto" panose="02000000000000000000" pitchFamily="2" charset="0"/>
                  <a:ea typeface="Roboto" panose="02000000000000000000" pitchFamily="2" charset="0"/>
                  <a:cs typeface="Roboto" panose="02000000000000000000" pitchFamily="2" charset="0"/>
                </a:rPr>
                <a:t>purposefully not mentioning Equifax or identity</a:t>
              </a:r>
              <a:r>
                <a:rPr lang="en-US" sz="2000" dirty="0">
                  <a:latin typeface="Roboto" panose="02000000000000000000" pitchFamily="2" charset="0"/>
                  <a:ea typeface="Roboto" panose="02000000000000000000" pitchFamily="2" charset="0"/>
                  <a:cs typeface="Roboto" panose="02000000000000000000" pitchFamily="2" charset="0"/>
                </a:rPr>
                <a:t> </a:t>
              </a:r>
              <a:r>
                <a:rPr lang="en-US" sz="2000" dirty="0">
                  <a:effectLst/>
                  <a:latin typeface="Roboto" panose="02000000000000000000" pitchFamily="2" charset="0"/>
                  <a:ea typeface="Roboto" panose="02000000000000000000" pitchFamily="2" charset="0"/>
                  <a:cs typeface="Roboto" panose="02000000000000000000" pitchFamily="2" charset="0"/>
                </a:rPr>
                <a:t>theft to </a:t>
              </a:r>
              <a:r>
                <a:rPr lang="en-US" sz="2000" dirty="0">
                  <a:solidFill>
                    <a:srgbClr val="9A0031"/>
                  </a:solidFill>
                  <a:effectLst/>
                  <a:latin typeface="Roboto" panose="02000000000000000000" pitchFamily="2" charset="0"/>
                  <a:ea typeface="Roboto" panose="02000000000000000000" pitchFamily="2" charset="0"/>
                  <a:cs typeface="Roboto" panose="02000000000000000000" pitchFamily="2" charset="0"/>
                </a:rPr>
                <a:t>avoid priming participants and limit self-selection bias</a:t>
              </a:r>
              <a:r>
                <a:rPr lang="en-US" sz="2000" dirty="0">
                  <a:effectLst/>
                  <a:latin typeface="Roboto" panose="02000000000000000000" pitchFamily="2" charset="0"/>
                  <a:ea typeface="Roboto" panose="02000000000000000000" pitchFamily="2" charset="0"/>
                  <a:cs typeface="Roboto" panose="02000000000000000000" pitchFamily="2" charset="0"/>
                </a:rPr>
                <a:t>.”</a:t>
              </a:r>
            </a:p>
            <a:p>
              <a:pPr algn="just"/>
              <a:endParaRPr lang="en-US" sz="2000" dirty="0">
                <a:solidFill>
                  <a:srgbClr val="9A0031"/>
                </a:solidFill>
                <a:latin typeface="Roboto" panose="02000000000000000000" pitchFamily="2" charset="0"/>
                <a:ea typeface="Roboto" panose="02000000000000000000" pitchFamily="2" charset="0"/>
                <a:cs typeface="Roboto" panose="02000000000000000000" pitchFamily="2" charset="0"/>
              </a:endParaRPr>
            </a:p>
            <a:p>
              <a:pPr algn="r"/>
              <a:r>
                <a:rPr lang="en-US" sz="1100" i="1" dirty="0">
                  <a:effectLst/>
                  <a:latin typeface="Roboto" panose="02000000000000000000" pitchFamily="2" charset="0"/>
                  <a:ea typeface="Roboto" panose="02000000000000000000" pitchFamily="2" charset="0"/>
                  <a:cs typeface="Roboto" panose="02000000000000000000" pitchFamily="2" charset="0"/>
                </a:rPr>
                <a:t>- Yixin Zou, Abraham H </a:t>
              </a:r>
              <a:r>
                <a:rPr lang="en-US" sz="1100" i="1" dirty="0" err="1">
                  <a:effectLst/>
                  <a:latin typeface="Roboto" panose="02000000000000000000" pitchFamily="2" charset="0"/>
                  <a:ea typeface="Roboto" panose="02000000000000000000" pitchFamily="2" charset="0"/>
                  <a:cs typeface="Roboto" panose="02000000000000000000" pitchFamily="2" charset="0"/>
                </a:rPr>
                <a:t>Mhaidli</a:t>
              </a:r>
              <a:r>
                <a:rPr lang="en-US" sz="1100" i="1" dirty="0">
                  <a:effectLst/>
                  <a:latin typeface="Roboto" panose="02000000000000000000" pitchFamily="2" charset="0"/>
                  <a:ea typeface="Roboto" panose="02000000000000000000" pitchFamily="2" charset="0"/>
                  <a:cs typeface="Roboto" panose="02000000000000000000" pitchFamily="2" charset="0"/>
                </a:rPr>
                <a:t>, Austin McCall, and Florian Schaub. </a:t>
              </a:r>
              <a:r>
                <a:rPr lang="en-US" sz="1100" i="1" dirty="0">
                  <a:latin typeface="Roboto" panose="02000000000000000000" pitchFamily="2" charset="0"/>
                  <a:ea typeface="Roboto" panose="02000000000000000000" pitchFamily="2" charset="0"/>
                  <a:cs typeface="Roboto" panose="02000000000000000000" pitchFamily="2" charset="0"/>
                </a:rPr>
                <a:t>”I’</a:t>
              </a:r>
              <a:r>
                <a:rPr lang="en-US" sz="1100" i="1" dirty="0">
                  <a:effectLst/>
                  <a:latin typeface="Roboto" panose="02000000000000000000" pitchFamily="2" charset="0"/>
                  <a:ea typeface="Roboto" panose="02000000000000000000" pitchFamily="2" charset="0"/>
                  <a:cs typeface="Roboto" panose="02000000000000000000" pitchFamily="2" charset="0"/>
                </a:rPr>
                <a:t>ve got nothing to lose”: Consumers’ Risk</a:t>
              </a:r>
              <a:r>
                <a:rPr lang="en-US" sz="1100" dirty="0">
                  <a:latin typeface="Roboto" panose="02000000000000000000" pitchFamily="2" charset="0"/>
                  <a:ea typeface="Roboto" panose="02000000000000000000" pitchFamily="2" charset="0"/>
                  <a:cs typeface="Roboto" panose="02000000000000000000" pitchFamily="2" charset="0"/>
                </a:rPr>
                <a:t> </a:t>
              </a:r>
              <a:r>
                <a:rPr lang="en-US" sz="1100" i="1" dirty="0">
                  <a:latin typeface="Roboto" panose="02000000000000000000" pitchFamily="2" charset="0"/>
                  <a:ea typeface="Roboto" panose="02000000000000000000" pitchFamily="2" charset="0"/>
                  <a:cs typeface="Roboto" panose="02000000000000000000" pitchFamily="2" charset="0"/>
                </a:rPr>
                <a:t>P</a:t>
              </a:r>
              <a:r>
                <a:rPr lang="en-US" sz="1100" i="1" dirty="0">
                  <a:effectLst/>
                  <a:latin typeface="Roboto" panose="02000000000000000000" pitchFamily="2" charset="0"/>
                  <a:ea typeface="Roboto" panose="02000000000000000000" pitchFamily="2" charset="0"/>
                  <a:cs typeface="Roboto" panose="02000000000000000000" pitchFamily="2" charset="0"/>
                </a:rPr>
                <a:t>erceptions and Protective </a:t>
              </a:r>
              <a:r>
                <a:rPr lang="en-US" sz="1100" i="1" dirty="0">
                  <a:latin typeface="Roboto" panose="02000000000000000000" pitchFamily="2" charset="0"/>
                  <a:ea typeface="Roboto" panose="02000000000000000000" pitchFamily="2" charset="0"/>
                  <a:cs typeface="Roboto" panose="02000000000000000000" pitchFamily="2" charset="0"/>
                </a:rPr>
                <a:t>A</a:t>
              </a:r>
              <a:r>
                <a:rPr lang="en-US" sz="1100" i="1" dirty="0">
                  <a:effectLst/>
                  <a:latin typeface="Roboto" panose="02000000000000000000" pitchFamily="2" charset="0"/>
                  <a:ea typeface="Roboto" panose="02000000000000000000" pitchFamily="2" charset="0"/>
                  <a:cs typeface="Roboto" panose="02000000000000000000" pitchFamily="2" charset="0"/>
                </a:rPr>
                <a:t>ctions after the </a:t>
              </a:r>
              <a:r>
                <a:rPr lang="en-US" sz="1100" i="1" dirty="0">
                  <a:latin typeface="Roboto" panose="02000000000000000000" pitchFamily="2" charset="0"/>
                  <a:ea typeface="Roboto" panose="02000000000000000000" pitchFamily="2" charset="0"/>
                  <a:cs typeface="Roboto" panose="02000000000000000000" pitchFamily="2" charset="0"/>
                </a:rPr>
                <a:t>E</a:t>
              </a:r>
              <a:r>
                <a:rPr lang="en-US" sz="1100" i="1" dirty="0">
                  <a:effectLst/>
                  <a:latin typeface="Roboto" panose="02000000000000000000" pitchFamily="2" charset="0"/>
                  <a:ea typeface="Roboto" panose="02000000000000000000" pitchFamily="2" charset="0"/>
                  <a:cs typeface="Roboto" panose="02000000000000000000" pitchFamily="2" charset="0"/>
                </a:rPr>
                <a:t>quifax </a:t>
              </a:r>
              <a:r>
                <a:rPr lang="en-US" sz="1100" i="1" dirty="0">
                  <a:latin typeface="Roboto" panose="02000000000000000000" pitchFamily="2" charset="0"/>
                  <a:ea typeface="Roboto" panose="02000000000000000000" pitchFamily="2" charset="0"/>
                  <a:cs typeface="Roboto" panose="02000000000000000000" pitchFamily="2" charset="0"/>
                </a:rPr>
                <a:t>D</a:t>
              </a:r>
              <a:r>
                <a:rPr lang="en-US" sz="1100" i="1" dirty="0">
                  <a:effectLst/>
                  <a:latin typeface="Roboto" panose="02000000000000000000" pitchFamily="2" charset="0"/>
                  <a:ea typeface="Roboto" panose="02000000000000000000" pitchFamily="2" charset="0"/>
                  <a:cs typeface="Roboto" panose="02000000000000000000" pitchFamily="2" charset="0"/>
                </a:rPr>
                <a:t>ata </a:t>
              </a:r>
              <a:r>
                <a:rPr lang="en-US" sz="1100" i="1" dirty="0">
                  <a:latin typeface="Roboto" panose="02000000000000000000" pitchFamily="2" charset="0"/>
                  <a:ea typeface="Roboto" panose="02000000000000000000" pitchFamily="2" charset="0"/>
                  <a:cs typeface="Roboto" panose="02000000000000000000" pitchFamily="2" charset="0"/>
                </a:rPr>
                <a:t>B</a:t>
              </a:r>
              <a:r>
                <a:rPr lang="en-US" sz="1100" i="1" dirty="0">
                  <a:effectLst/>
                  <a:latin typeface="Roboto" panose="02000000000000000000" pitchFamily="2" charset="0"/>
                  <a:ea typeface="Roboto" panose="02000000000000000000" pitchFamily="2" charset="0"/>
                  <a:cs typeface="Roboto" panose="02000000000000000000" pitchFamily="2" charset="0"/>
                </a:rPr>
                <a:t>reach. In Fourteenth Symposium on Usable Privacy and</a:t>
              </a:r>
              <a:r>
                <a:rPr lang="en-US" sz="1100" dirty="0">
                  <a:latin typeface="Roboto" panose="02000000000000000000" pitchFamily="2" charset="0"/>
                  <a:ea typeface="Roboto" panose="02000000000000000000" pitchFamily="2" charset="0"/>
                  <a:cs typeface="Roboto" panose="02000000000000000000" pitchFamily="2" charset="0"/>
                </a:rPr>
                <a:t> </a:t>
              </a:r>
              <a:r>
                <a:rPr lang="en-US" sz="1100" i="1" dirty="0">
                  <a:effectLst/>
                  <a:latin typeface="Roboto" panose="02000000000000000000" pitchFamily="2" charset="0"/>
                  <a:ea typeface="Roboto" panose="02000000000000000000" pitchFamily="2" charset="0"/>
                  <a:cs typeface="Roboto" panose="02000000000000000000" pitchFamily="2" charset="0"/>
                </a:rPr>
                <a:t>Security (SOUPS 2018). </a:t>
              </a:r>
              <a:endParaRPr lang="en-US" sz="1100" dirty="0">
                <a:effectLst/>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8EF14913-17FC-87B6-7614-6AB641ACE82A}"/>
                </a:ext>
              </a:extLst>
            </p:cNvPr>
            <p:cNvSpPr txBox="1"/>
            <p:nvPr/>
          </p:nvSpPr>
          <p:spPr>
            <a:xfrm>
              <a:off x="1667774" y="2833950"/>
              <a:ext cx="694421" cy="1446550"/>
            </a:xfrm>
            <a:prstGeom prst="rect">
              <a:avLst/>
            </a:prstGeom>
            <a:noFill/>
          </p:spPr>
          <p:txBody>
            <a:bodyPr wrap="none" rtlCol="0">
              <a:spAutoFit/>
            </a:bodyPr>
            <a:lstStyle/>
            <a:p>
              <a:r>
                <a:rPr lang="en-US" sz="8800" dirty="0">
                  <a:solidFill>
                    <a:srgbClr val="FFC10E"/>
                  </a:solidFill>
                </a:rPr>
                <a:t>“</a:t>
              </a:r>
              <a:endParaRPr lang="en-US" dirty="0">
                <a:solidFill>
                  <a:srgbClr val="FFC10E"/>
                </a:solidFill>
              </a:endParaRPr>
            </a:p>
          </p:txBody>
        </p:sp>
      </p:grpSp>
      <p:sp>
        <p:nvSpPr>
          <p:cNvPr id="10" name="Slide Number Placeholder 9">
            <a:extLst>
              <a:ext uri="{FF2B5EF4-FFF2-40B4-BE49-F238E27FC236}">
                <a16:creationId xmlns:a16="http://schemas.microsoft.com/office/drawing/2014/main" id="{0DC0C80D-D3F7-0DA2-9C54-BA0F3704C689}"/>
              </a:ext>
            </a:extLst>
          </p:cNvPr>
          <p:cNvSpPr>
            <a:spLocks noGrp="1"/>
          </p:cNvSpPr>
          <p:nvPr>
            <p:ph type="sldNum" sz="quarter" idx="12"/>
          </p:nvPr>
        </p:nvSpPr>
        <p:spPr/>
        <p:txBody>
          <a:bodyPr/>
          <a:lstStyle/>
          <a:p>
            <a:fld id="{835FE90F-C88A-C24D-9FD5-52F0990CFAC0}" type="slidenum">
              <a:rPr lang="en-US" smtClean="0"/>
              <a:t>26</a:t>
            </a:fld>
            <a:endParaRPr lang="en-US"/>
          </a:p>
        </p:txBody>
      </p:sp>
    </p:spTree>
    <p:extLst>
      <p:ext uri="{BB962C8B-B14F-4D97-AF65-F5344CB8AC3E}">
        <p14:creationId xmlns:p14="http://schemas.microsoft.com/office/powerpoint/2010/main" val="289770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D845A-6609-1E79-7EA4-7879ECDC2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2EBE2-0813-083F-6BDB-341776869AF5}"/>
              </a:ext>
            </a:extLst>
          </p:cNvPr>
          <p:cNvSpPr>
            <a:spLocks noGrp="1"/>
          </p:cNvSpPr>
          <p:nvPr>
            <p:ph type="title"/>
          </p:nvPr>
        </p:nvSpPr>
        <p:spPr/>
        <p:txBody>
          <a:bodyPr/>
          <a:lstStyle/>
          <a:p>
            <a:r>
              <a:rPr lang="en-US" dirty="0">
                <a:solidFill>
                  <a:srgbClr val="9A0031"/>
                </a:solidFill>
                <a:latin typeface="Fjalla One" panose="02000506040000020004" pitchFamily="2" charset="0"/>
              </a:rPr>
              <a:t>Analysis Methods, Tools, and Reliability Metrics</a:t>
            </a:r>
          </a:p>
        </p:txBody>
      </p:sp>
      <p:sp>
        <p:nvSpPr>
          <p:cNvPr id="3" name="Content Placeholder 2">
            <a:extLst>
              <a:ext uri="{FF2B5EF4-FFF2-40B4-BE49-F238E27FC236}">
                <a16:creationId xmlns:a16="http://schemas.microsoft.com/office/drawing/2014/main" id="{87F5BB9F-181D-205E-5262-CD69B3752B47}"/>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Common Methods [32]</a:t>
            </a:r>
          </a:p>
          <a:p>
            <a:pPr lvl="1"/>
            <a:r>
              <a:rPr lang="en-US" sz="2000" dirty="0">
                <a:latin typeface="Roboto" panose="02000000000000000000" pitchFamily="2" charset="0"/>
                <a:ea typeface="Roboto" panose="02000000000000000000" pitchFamily="2" charset="0"/>
                <a:cs typeface="Roboto" panose="02000000000000000000" pitchFamily="2" charset="0"/>
              </a:rPr>
              <a:t>Grounded Theory</a:t>
            </a:r>
          </a:p>
          <a:p>
            <a:pPr lvl="1"/>
            <a:r>
              <a:rPr lang="en-US" sz="2000" dirty="0">
                <a:latin typeface="Roboto" panose="02000000000000000000" pitchFamily="2" charset="0"/>
                <a:ea typeface="Roboto" panose="02000000000000000000" pitchFamily="2" charset="0"/>
                <a:cs typeface="Roboto" panose="02000000000000000000" pitchFamily="2" charset="0"/>
              </a:rPr>
              <a:t>Open Coding</a:t>
            </a:r>
          </a:p>
          <a:p>
            <a:pPr lvl="1"/>
            <a:r>
              <a:rPr lang="en-US" sz="2000" dirty="0">
                <a:latin typeface="Roboto" panose="02000000000000000000" pitchFamily="2" charset="0"/>
                <a:ea typeface="Roboto" panose="02000000000000000000" pitchFamily="2" charset="0"/>
                <a:cs typeface="Roboto" panose="02000000000000000000" pitchFamily="2" charset="0"/>
              </a:rPr>
              <a:t>Thematic Analysis</a:t>
            </a:r>
            <a:endParaRPr lang="en-US" sz="2400" dirty="0">
              <a:latin typeface="Roboto" panose="02000000000000000000" pitchFamily="2" charset="0"/>
              <a:ea typeface="Roboto" panose="02000000000000000000" pitchFamily="2" charset="0"/>
              <a:cs typeface="Roboto" panose="02000000000000000000" pitchFamily="2" charset="0"/>
            </a:endParaRPr>
          </a:p>
          <a:p>
            <a:r>
              <a:rPr lang="en-US" sz="2400" dirty="0">
                <a:latin typeface="Roboto" panose="02000000000000000000" pitchFamily="2" charset="0"/>
                <a:ea typeface="Roboto" panose="02000000000000000000" pitchFamily="2" charset="0"/>
                <a:cs typeface="Roboto" panose="02000000000000000000" pitchFamily="2" charset="0"/>
              </a:rPr>
              <a:t>Common Platforms</a:t>
            </a:r>
          </a:p>
          <a:p>
            <a:pPr lvl="1"/>
            <a:r>
              <a:rPr lang="en-US" sz="2000" dirty="0" err="1">
                <a:latin typeface="Roboto" panose="02000000000000000000" pitchFamily="2" charset="0"/>
                <a:ea typeface="Roboto" panose="02000000000000000000" pitchFamily="2" charset="0"/>
                <a:cs typeface="Roboto" panose="02000000000000000000" pitchFamily="2" charset="0"/>
              </a:rPr>
              <a:t>Atlas.ti</a:t>
            </a:r>
            <a:r>
              <a:rPr lang="en-US" sz="2000" dirty="0">
                <a:latin typeface="Roboto" panose="02000000000000000000" pitchFamily="2" charset="0"/>
                <a:ea typeface="Roboto" panose="02000000000000000000" pitchFamily="2" charset="0"/>
                <a:cs typeface="Roboto" panose="02000000000000000000" pitchFamily="2" charset="0"/>
              </a:rPr>
              <a:t>, </a:t>
            </a:r>
            <a:r>
              <a:rPr lang="en-US" sz="2000" dirty="0" err="1">
                <a:latin typeface="Roboto" panose="02000000000000000000" pitchFamily="2" charset="0"/>
                <a:ea typeface="Roboto" panose="02000000000000000000" pitchFamily="2" charset="0"/>
                <a:cs typeface="Roboto" panose="02000000000000000000" pitchFamily="2" charset="0"/>
              </a:rPr>
              <a:t>Dedoose</a:t>
            </a:r>
            <a:r>
              <a:rPr lang="en-US" sz="2000" dirty="0">
                <a:latin typeface="Roboto" panose="02000000000000000000" pitchFamily="2" charset="0"/>
                <a:ea typeface="Roboto" panose="02000000000000000000" pitchFamily="2" charset="0"/>
                <a:cs typeface="Roboto" panose="02000000000000000000" pitchFamily="2" charset="0"/>
              </a:rPr>
              <a:t>, </a:t>
            </a:r>
            <a:r>
              <a:rPr lang="en-US" sz="2000" dirty="0" err="1">
                <a:latin typeface="Roboto" panose="02000000000000000000" pitchFamily="2" charset="0"/>
                <a:ea typeface="Roboto" panose="02000000000000000000" pitchFamily="2" charset="0"/>
                <a:cs typeface="Roboto" panose="02000000000000000000" pitchFamily="2" charset="0"/>
              </a:rPr>
              <a:t>MaxQDA</a:t>
            </a:r>
            <a:endParaRPr lang="en-US" sz="2000" dirty="0">
              <a:latin typeface="Roboto" panose="02000000000000000000" pitchFamily="2" charset="0"/>
              <a:ea typeface="Roboto" panose="02000000000000000000" pitchFamily="2" charset="0"/>
              <a:cs typeface="Roboto" panose="02000000000000000000" pitchFamily="2" charset="0"/>
            </a:endParaRPr>
          </a:p>
          <a:p>
            <a:pPr lvl="1"/>
            <a:r>
              <a:rPr lang="en-US" sz="2000" dirty="0">
                <a:latin typeface="Roboto" panose="02000000000000000000" pitchFamily="2" charset="0"/>
                <a:ea typeface="Roboto" panose="02000000000000000000" pitchFamily="2" charset="0"/>
                <a:cs typeface="Roboto" panose="02000000000000000000" pitchFamily="2" charset="0"/>
              </a:rPr>
              <a:t>Google Sheets &amp; Manual </a:t>
            </a:r>
          </a:p>
          <a:p>
            <a:r>
              <a:rPr lang="en-US" sz="2400" dirty="0">
                <a:latin typeface="Roboto" panose="02000000000000000000" pitchFamily="2" charset="0"/>
                <a:ea typeface="Roboto" panose="02000000000000000000" pitchFamily="2" charset="0"/>
                <a:cs typeface="Roboto" panose="02000000000000000000" pitchFamily="2" charset="0"/>
              </a:rPr>
              <a:t>Common Analysis Reliability Metrics [33]</a:t>
            </a:r>
          </a:p>
          <a:p>
            <a:pPr lvl="1"/>
            <a:r>
              <a:rPr lang="en-US" sz="2000" dirty="0">
                <a:latin typeface="Roboto" panose="02000000000000000000" pitchFamily="2" charset="0"/>
                <a:ea typeface="Roboto" panose="02000000000000000000" pitchFamily="2" charset="0"/>
                <a:cs typeface="Roboto" panose="02000000000000000000" pitchFamily="2" charset="0"/>
              </a:rPr>
              <a:t>Double coding — enhance rigor and transparency</a:t>
            </a:r>
          </a:p>
          <a:p>
            <a:pPr lvl="1"/>
            <a:r>
              <a:rPr lang="en-US" sz="2000" dirty="0">
                <a:latin typeface="Roboto" panose="02000000000000000000" pitchFamily="2" charset="0"/>
                <a:ea typeface="Roboto" panose="02000000000000000000" pitchFamily="2" charset="0"/>
                <a:cs typeface="Roboto" panose="02000000000000000000" pitchFamily="2" charset="0"/>
              </a:rPr>
              <a:t>Cohen’s Kappa — 2 coders</a:t>
            </a:r>
          </a:p>
          <a:p>
            <a:pPr lvl="1"/>
            <a:r>
              <a:rPr lang="en-US" sz="2000" dirty="0" err="1">
                <a:latin typeface="Roboto" panose="02000000000000000000" pitchFamily="2" charset="0"/>
                <a:ea typeface="Roboto" panose="02000000000000000000" pitchFamily="2" charset="0"/>
                <a:cs typeface="Roboto" panose="02000000000000000000" pitchFamily="2" charset="0"/>
              </a:rPr>
              <a:t>Krippendorff’s</a:t>
            </a:r>
            <a:r>
              <a:rPr lang="en-US" sz="2000" dirty="0">
                <a:latin typeface="Roboto" panose="02000000000000000000" pitchFamily="2" charset="0"/>
                <a:ea typeface="Roboto" panose="02000000000000000000" pitchFamily="2" charset="0"/>
                <a:cs typeface="Roboto" panose="02000000000000000000" pitchFamily="2" charset="0"/>
              </a:rPr>
              <a:t> Alpha — multiple coders</a:t>
            </a:r>
          </a:p>
          <a:p>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7019C912-AD7E-1565-81DB-589657163A6E}"/>
              </a:ext>
            </a:extLst>
          </p:cNvPr>
          <p:cNvSpPr txBox="1"/>
          <p:nvPr/>
        </p:nvSpPr>
        <p:spPr>
          <a:xfrm>
            <a:off x="838200" y="6261913"/>
            <a:ext cx="10419608" cy="553997"/>
          </a:xfrm>
          <a:prstGeom prst="rect">
            <a:avLst/>
          </a:prstGeom>
          <a:noFill/>
        </p:spPr>
        <p:txBody>
          <a:bodyPr wrap="square" rtlCol="0">
            <a:spAutoFit/>
          </a:bodyPr>
          <a:lstStyle/>
          <a:p>
            <a:r>
              <a:rPr lang="en-US" sz="1000" dirty="0">
                <a:effectLst/>
                <a:latin typeface="Roboto" panose="02000000000000000000" pitchFamily="2" charset="0"/>
                <a:ea typeface="Roboto" panose="02000000000000000000" pitchFamily="2" charset="0"/>
                <a:cs typeface="Roboto" panose="02000000000000000000" pitchFamily="2" charset="0"/>
              </a:rPr>
              <a:t>[32] Margarete </a:t>
            </a:r>
            <a:r>
              <a:rPr lang="en-US" sz="1000" dirty="0" err="1">
                <a:effectLst/>
                <a:latin typeface="Roboto" panose="02000000000000000000" pitchFamily="2" charset="0"/>
                <a:ea typeface="Roboto" panose="02000000000000000000" pitchFamily="2" charset="0"/>
                <a:cs typeface="Roboto" panose="02000000000000000000" pitchFamily="2" charset="0"/>
              </a:rPr>
              <a:t>Sandelowski</a:t>
            </a:r>
            <a:r>
              <a:rPr lang="en-US" sz="1000" dirty="0">
                <a:effectLst/>
                <a:latin typeface="Roboto" panose="02000000000000000000" pitchFamily="2" charset="0"/>
                <a:ea typeface="Roboto" panose="02000000000000000000" pitchFamily="2" charset="0"/>
                <a:cs typeface="Roboto" panose="02000000000000000000" pitchFamily="2" charset="0"/>
              </a:rPr>
              <a:t>. Qualitative Analysis: What it is and How to begin. Research in Nursing &amp; Health, 1995.</a:t>
            </a:r>
          </a:p>
          <a:p>
            <a:r>
              <a:rPr lang="en-US" sz="1000" dirty="0">
                <a:effectLst/>
                <a:latin typeface="Roboto" panose="02000000000000000000" pitchFamily="2" charset="0"/>
                <a:ea typeface="Roboto" panose="02000000000000000000" pitchFamily="2" charset="0"/>
                <a:cs typeface="Roboto" panose="02000000000000000000" pitchFamily="2" charset="0"/>
              </a:rPr>
              <a:t>[33] Nora McDonald, Sarita </a:t>
            </a:r>
            <a:r>
              <a:rPr lang="en-US" sz="1000" dirty="0" err="1">
                <a:effectLst/>
                <a:latin typeface="Roboto" panose="02000000000000000000" pitchFamily="2" charset="0"/>
                <a:ea typeface="Roboto" panose="02000000000000000000" pitchFamily="2" charset="0"/>
                <a:cs typeface="Roboto" panose="02000000000000000000" pitchFamily="2" charset="0"/>
              </a:rPr>
              <a:t>Schoenebeck</a:t>
            </a:r>
            <a:r>
              <a:rPr lang="en-US" sz="1000" dirty="0">
                <a:effectLst/>
                <a:latin typeface="Roboto" panose="02000000000000000000" pitchFamily="2" charset="0"/>
                <a:ea typeface="Roboto" panose="02000000000000000000" pitchFamily="2" charset="0"/>
                <a:cs typeface="Roboto" panose="02000000000000000000" pitchFamily="2" charset="0"/>
              </a:rPr>
              <a:t>, and Andrea Forte. Reliability and Inter-rater </a:t>
            </a:r>
            <a:r>
              <a:rPr lang="en-US" sz="1000" dirty="0">
                <a:latin typeface="Roboto" panose="02000000000000000000" pitchFamily="2" charset="0"/>
                <a:ea typeface="Roboto" panose="02000000000000000000" pitchFamily="2" charset="0"/>
                <a:cs typeface="Roboto" panose="02000000000000000000" pitchFamily="2" charset="0"/>
              </a:rPr>
              <a:t>R</a:t>
            </a:r>
            <a:r>
              <a:rPr lang="en-US" sz="1000" dirty="0">
                <a:effectLst/>
                <a:latin typeface="Roboto" panose="02000000000000000000" pitchFamily="2" charset="0"/>
                <a:ea typeface="Roboto" panose="02000000000000000000" pitchFamily="2" charset="0"/>
                <a:cs typeface="Roboto" panose="02000000000000000000" pitchFamily="2" charset="0"/>
              </a:rPr>
              <a:t>eliability in Qualitative </a:t>
            </a:r>
            <a:r>
              <a:rPr lang="en-US" sz="1000" dirty="0">
                <a:latin typeface="Roboto" panose="02000000000000000000" pitchFamily="2" charset="0"/>
                <a:ea typeface="Roboto" panose="02000000000000000000" pitchFamily="2" charset="0"/>
                <a:cs typeface="Roboto" panose="02000000000000000000" pitchFamily="2" charset="0"/>
              </a:rPr>
              <a:t>R</a:t>
            </a:r>
            <a:r>
              <a:rPr lang="en-US" sz="1000" dirty="0">
                <a:effectLst/>
                <a:latin typeface="Roboto" panose="02000000000000000000" pitchFamily="2" charset="0"/>
                <a:ea typeface="Roboto" panose="02000000000000000000" pitchFamily="2" charset="0"/>
                <a:cs typeface="Roboto" panose="02000000000000000000" pitchFamily="2" charset="0"/>
              </a:rPr>
              <a:t>esearch:</a:t>
            </a:r>
            <a:r>
              <a:rPr lang="en-US" sz="1000" dirty="0">
                <a:latin typeface="Roboto" panose="02000000000000000000" pitchFamily="2" charset="0"/>
                <a:ea typeface="Roboto" panose="02000000000000000000" pitchFamily="2" charset="0"/>
                <a:cs typeface="Roboto" panose="02000000000000000000" pitchFamily="2" charset="0"/>
              </a:rPr>
              <a:t> </a:t>
            </a:r>
            <a:r>
              <a:rPr lang="en-US" sz="1000" dirty="0">
                <a:effectLst/>
                <a:latin typeface="Roboto" panose="02000000000000000000" pitchFamily="2" charset="0"/>
                <a:ea typeface="Roboto" panose="02000000000000000000" pitchFamily="2" charset="0"/>
                <a:cs typeface="Roboto" panose="02000000000000000000" pitchFamily="2" charset="0"/>
              </a:rPr>
              <a:t>Norms and Guidelines for CSCW and HCI </a:t>
            </a:r>
            <a:r>
              <a:rPr lang="en-US" sz="1000" dirty="0">
                <a:latin typeface="Roboto" panose="02000000000000000000" pitchFamily="2" charset="0"/>
                <a:ea typeface="Roboto" panose="02000000000000000000" pitchFamily="2" charset="0"/>
                <a:cs typeface="Roboto" panose="02000000000000000000" pitchFamily="2" charset="0"/>
              </a:rPr>
              <a:t>P</a:t>
            </a:r>
            <a:r>
              <a:rPr lang="en-US" sz="1000" dirty="0">
                <a:effectLst/>
                <a:latin typeface="Roboto" panose="02000000000000000000" pitchFamily="2" charset="0"/>
                <a:ea typeface="Roboto" panose="02000000000000000000" pitchFamily="2" charset="0"/>
                <a:cs typeface="Roboto" panose="02000000000000000000" pitchFamily="2" charset="0"/>
              </a:rPr>
              <a:t>ractice. Proceedings of the ACM on Human-Computer </a:t>
            </a:r>
            <a:r>
              <a:rPr lang="en-US" sz="1000" dirty="0">
                <a:latin typeface="Roboto" panose="02000000000000000000" pitchFamily="2" charset="0"/>
                <a:ea typeface="Roboto" panose="02000000000000000000" pitchFamily="2" charset="0"/>
                <a:cs typeface="Roboto" panose="02000000000000000000" pitchFamily="2" charset="0"/>
              </a:rPr>
              <a:t>I</a:t>
            </a:r>
            <a:r>
              <a:rPr lang="en-US" sz="1000" dirty="0">
                <a:effectLst/>
                <a:latin typeface="Roboto" panose="02000000000000000000" pitchFamily="2" charset="0"/>
                <a:ea typeface="Roboto" panose="02000000000000000000" pitchFamily="2" charset="0"/>
                <a:cs typeface="Roboto" panose="02000000000000000000" pitchFamily="2" charset="0"/>
              </a:rPr>
              <a:t>nteraction (CSCW), 2019.</a:t>
            </a:r>
          </a:p>
        </p:txBody>
      </p:sp>
      <p:sp>
        <p:nvSpPr>
          <p:cNvPr id="8" name="Slide Number Placeholder 7">
            <a:extLst>
              <a:ext uri="{FF2B5EF4-FFF2-40B4-BE49-F238E27FC236}">
                <a16:creationId xmlns:a16="http://schemas.microsoft.com/office/drawing/2014/main" id="{7A331D40-CADA-C0B9-C5DC-B5E67F8860C5}"/>
              </a:ext>
            </a:extLst>
          </p:cNvPr>
          <p:cNvSpPr>
            <a:spLocks noGrp="1"/>
          </p:cNvSpPr>
          <p:nvPr>
            <p:ph type="sldNum" sz="quarter" idx="12"/>
          </p:nvPr>
        </p:nvSpPr>
        <p:spPr/>
        <p:txBody>
          <a:bodyPr/>
          <a:lstStyle/>
          <a:p>
            <a:fld id="{835FE90F-C88A-C24D-9FD5-52F0990CFAC0}" type="slidenum">
              <a:rPr lang="en-US" smtClean="0"/>
              <a:t>27</a:t>
            </a:fld>
            <a:endParaRPr lang="en-US"/>
          </a:p>
        </p:txBody>
      </p:sp>
    </p:spTree>
    <p:extLst>
      <p:ext uri="{BB962C8B-B14F-4D97-AF65-F5344CB8AC3E}">
        <p14:creationId xmlns:p14="http://schemas.microsoft.com/office/powerpoint/2010/main" val="2246065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BA31-1813-5FA8-EA20-9D3F63612CB3}"/>
              </a:ext>
            </a:extLst>
          </p:cNvPr>
          <p:cNvSpPr>
            <a:spLocks noGrp="1"/>
          </p:cNvSpPr>
          <p:nvPr>
            <p:ph type="title"/>
          </p:nvPr>
        </p:nvSpPr>
        <p:spPr/>
        <p:txBody>
          <a:bodyPr/>
          <a:lstStyle/>
          <a:p>
            <a:r>
              <a:rPr lang="en-US" dirty="0">
                <a:solidFill>
                  <a:srgbClr val="9A0031"/>
                </a:solidFill>
                <a:latin typeface="Fjalla One" panose="02000506040000020004" pitchFamily="2" charset="0"/>
              </a:rPr>
              <a:t>Reporting Qualitative Results</a:t>
            </a:r>
          </a:p>
        </p:txBody>
      </p:sp>
      <p:sp>
        <p:nvSpPr>
          <p:cNvPr id="3" name="Content Placeholder 2">
            <a:extLst>
              <a:ext uri="{FF2B5EF4-FFF2-40B4-BE49-F238E27FC236}">
                <a16:creationId xmlns:a16="http://schemas.microsoft.com/office/drawing/2014/main" id="{837D08A8-9CB0-E018-C9E6-7B3FB40C08A6}"/>
              </a:ext>
            </a:extLst>
          </p:cNvPr>
          <p:cNvSpPr>
            <a:spLocks noGrp="1"/>
          </p:cNvSpPr>
          <p:nvPr>
            <p:ph idx="1"/>
          </p:nvPr>
        </p:nvSpPr>
        <p:spPr/>
        <p:txBody>
          <a:bodyPr>
            <a:noAutofit/>
          </a:bodyPr>
          <a:lstStyle/>
          <a:p>
            <a:r>
              <a:rPr lang="en-US" sz="2400" dirty="0">
                <a:latin typeface="Roboto" panose="02000000000000000000" pitchFamily="2" charset="0"/>
                <a:ea typeface="Roboto" panose="02000000000000000000" pitchFamily="2" charset="0"/>
                <a:cs typeface="Roboto" panose="02000000000000000000" pitchFamily="2" charset="0"/>
              </a:rPr>
              <a:t>Structured but narrative-driven</a:t>
            </a:r>
          </a:p>
          <a:p>
            <a:r>
              <a:rPr lang="en-US" sz="2400" dirty="0">
                <a:latin typeface="Roboto" panose="02000000000000000000" pitchFamily="2" charset="0"/>
                <a:ea typeface="Roboto" panose="02000000000000000000" pitchFamily="2" charset="0"/>
                <a:cs typeface="Roboto" panose="02000000000000000000" pitchFamily="2" charset="0"/>
              </a:rPr>
              <a:t>Using themes and patterns </a:t>
            </a:r>
          </a:p>
          <a:p>
            <a:pPr lvl="1"/>
            <a:r>
              <a:rPr lang="en-US" sz="2000" dirty="0">
                <a:latin typeface="Roboto" panose="02000000000000000000" pitchFamily="2" charset="0"/>
                <a:ea typeface="Roboto" panose="02000000000000000000" pitchFamily="2" charset="0"/>
                <a:cs typeface="Roboto" panose="02000000000000000000" pitchFamily="2" charset="0"/>
              </a:rPr>
              <a:t>E.g.: participant quotes, observations</a:t>
            </a:r>
          </a:p>
          <a:p>
            <a:r>
              <a:rPr lang="en-US" sz="2400" dirty="0">
                <a:latin typeface="Roboto" panose="02000000000000000000" pitchFamily="2" charset="0"/>
                <a:ea typeface="Roboto" panose="02000000000000000000" pitchFamily="2" charset="0"/>
                <a:cs typeface="Roboto" panose="02000000000000000000" pitchFamily="2" charset="0"/>
              </a:rPr>
              <a:t>Interpretation and connection to prior research [34]</a:t>
            </a:r>
          </a:p>
        </p:txBody>
      </p:sp>
      <p:pic>
        <p:nvPicPr>
          <p:cNvPr id="6" name="Picture 5" descr="A text on a page&#10;&#10;AI-generated content may be incorrect.">
            <a:extLst>
              <a:ext uri="{FF2B5EF4-FFF2-40B4-BE49-F238E27FC236}">
                <a16:creationId xmlns:a16="http://schemas.microsoft.com/office/drawing/2014/main" id="{D4D10EB1-A361-01D0-B804-A25D4FCE76DA}"/>
              </a:ext>
            </a:extLst>
          </p:cNvPr>
          <p:cNvPicPr>
            <a:picLocks noChangeAspect="1"/>
          </p:cNvPicPr>
          <p:nvPr/>
        </p:nvPicPr>
        <p:blipFill>
          <a:blip r:embed="rId3"/>
          <a:stretch>
            <a:fillRect/>
          </a:stretch>
        </p:blipFill>
        <p:spPr>
          <a:xfrm>
            <a:off x="4970593" y="3556649"/>
            <a:ext cx="6383207" cy="2620314"/>
          </a:xfrm>
          <a:prstGeom prst="rect">
            <a:avLst/>
          </a:prstGeom>
        </p:spPr>
      </p:pic>
      <p:sp>
        <p:nvSpPr>
          <p:cNvPr id="8" name="TextBox 7">
            <a:extLst>
              <a:ext uri="{FF2B5EF4-FFF2-40B4-BE49-F238E27FC236}">
                <a16:creationId xmlns:a16="http://schemas.microsoft.com/office/drawing/2014/main" id="{C81390DF-9F5B-4D75-2BB9-25E8A633D40D}"/>
              </a:ext>
            </a:extLst>
          </p:cNvPr>
          <p:cNvSpPr txBox="1"/>
          <p:nvPr/>
        </p:nvSpPr>
        <p:spPr>
          <a:xfrm>
            <a:off x="838200" y="6338857"/>
            <a:ext cx="10515599" cy="400110"/>
          </a:xfrm>
          <a:prstGeom prst="rect">
            <a:avLst/>
          </a:prstGeom>
          <a:noFill/>
        </p:spPr>
        <p:txBody>
          <a:bodyPr wrap="square" rtlCol="0">
            <a:spAutoFit/>
          </a:bodyPr>
          <a:lstStyle/>
          <a:p>
            <a:pPr algn="l"/>
            <a:r>
              <a:rPr lang="en-US" sz="1000" dirty="0">
                <a:effectLst/>
                <a:latin typeface="Roboto" panose="02000000000000000000" pitchFamily="2" charset="0"/>
                <a:ea typeface="Roboto" panose="02000000000000000000" pitchFamily="2" charset="0"/>
                <a:cs typeface="Roboto" panose="02000000000000000000" pitchFamily="2" charset="0"/>
              </a:rPr>
              <a:t>[34] </a:t>
            </a:r>
            <a:r>
              <a:rPr lang="en-US" sz="1000" i="0" strike="noStrike" dirty="0">
                <a:effectLst/>
                <a:latin typeface="Roboto" panose="02000000000000000000" pitchFamily="2" charset="0"/>
                <a:ea typeface="Roboto" panose="02000000000000000000" pitchFamily="2" charset="0"/>
                <a:cs typeface="Roboto" panose="02000000000000000000" pitchFamily="2" charset="0"/>
              </a:rPr>
              <a:t>Ananta Soneji</a:t>
            </a:r>
            <a:r>
              <a:rPr lang="en-US" sz="1000" i="0" dirty="0">
                <a:effectLst/>
                <a:latin typeface="Roboto" panose="02000000000000000000" pitchFamily="2" charset="0"/>
                <a:ea typeface="Roboto" panose="02000000000000000000" pitchFamily="2" charset="0"/>
                <a:cs typeface="Roboto" panose="02000000000000000000" pitchFamily="2" charset="0"/>
              </a:rPr>
              <a:t>, Vaughn Hamilton, </a:t>
            </a:r>
            <a:r>
              <a:rPr lang="en-US" sz="1000" i="0" strike="noStrike" dirty="0">
                <a:effectLst/>
                <a:latin typeface="Roboto" panose="02000000000000000000" pitchFamily="2" charset="0"/>
                <a:ea typeface="Roboto" panose="02000000000000000000" pitchFamily="2" charset="0"/>
                <a:cs typeface="Roboto" panose="02000000000000000000" pitchFamily="2" charset="0"/>
              </a:rPr>
              <a:t>Adam Doupé, Allison McDonald, Elissa Redmiles.</a:t>
            </a:r>
            <a:r>
              <a:rPr lang="en-US" sz="1000" i="0" dirty="0">
                <a:effectLst/>
                <a:latin typeface="Roboto" panose="02000000000000000000" pitchFamily="2" charset="0"/>
                <a:ea typeface="Roboto" panose="02000000000000000000" pitchFamily="2" charset="0"/>
                <a:cs typeface="Roboto" panose="02000000000000000000" pitchFamily="2" charset="0"/>
              </a:rPr>
              <a:t> </a:t>
            </a:r>
            <a:r>
              <a:rPr lang="en-US" sz="1000" b="0" i="0" dirty="0">
                <a:solidFill>
                  <a:srgbClr val="222222"/>
                </a:solidFill>
                <a:effectLst/>
                <a:latin typeface="Arial" panose="020B0604020202020204" pitchFamily="34" charset="0"/>
              </a:rPr>
              <a:t>" I feel physically safe but not politically safe": Understanding the Digital Threats and Safety Practices of OnlyFans Creators. </a:t>
            </a:r>
            <a:r>
              <a:rPr lang="en-US" sz="1000" i="0" dirty="0">
                <a:effectLst/>
                <a:latin typeface="Roboto" panose="02000000000000000000" pitchFamily="2" charset="0"/>
                <a:ea typeface="Roboto" panose="02000000000000000000" pitchFamily="2" charset="0"/>
                <a:cs typeface="Roboto" panose="02000000000000000000" pitchFamily="2" charset="0"/>
              </a:rPr>
              <a:t>In 33st USENIX Security Symposium, 2024</a:t>
            </a:r>
            <a:r>
              <a:rPr lang="en-US" sz="1000" dirty="0">
                <a:latin typeface="Roboto" panose="02000000000000000000" pitchFamily="2" charset="0"/>
                <a:ea typeface="Roboto" panose="02000000000000000000" pitchFamily="2" charset="0"/>
                <a:cs typeface="Roboto" panose="02000000000000000000" pitchFamily="2" charset="0"/>
              </a:rPr>
              <a:t>.</a:t>
            </a:r>
            <a:endParaRPr lang="en-US" sz="1000" i="0" dirty="0">
              <a:effectLst/>
              <a:latin typeface="Roboto" panose="02000000000000000000" pitchFamily="2" charset="0"/>
              <a:ea typeface="Roboto" panose="02000000000000000000" pitchFamily="2" charset="0"/>
              <a:cs typeface="Roboto" panose="02000000000000000000" pitchFamily="2" charset="0"/>
            </a:endParaRPr>
          </a:p>
        </p:txBody>
      </p:sp>
      <p:sp>
        <p:nvSpPr>
          <p:cNvPr id="11" name="Slide Number Placeholder 10">
            <a:extLst>
              <a:ext uri="{FF2B5EF4-FFF2-40B4-BE49-F238E27FC236}">
                <a16:creationId xmlns:a16="http://schemas.microsoft.com/office/drawing/2014/main" id="{52D5256B-2002-C72D-FA2A-CE53B1D379E5}"/>
              </a:ext>
            </a:extLst>
          </p:cNvPr>
          <p:cNvSpPr>
            <a:spLocks noGrp="1"/>
          </p:cNvSpPr>
          <p:nvPr>
            <p:ph type="sldNum" sz="quarter" idx="12"/>
          </p:nvPr>
        </p:nvSpPr>
        <p:spPr/>
        <p:txBody>
          <a:bodyPr/>
          <a:lstStyle/>
          <a:p>
            <a:fld id="{835FE90F-C88A-C24D-9FD5-52F0990CFAC0}" type="slidenum">
              <a:rPr lang="en-US" smtClean="0"/>
              <a:t>28</a:t>
            </a:fld>
            <a:endParaRPr lang="en-US" dirty="0"/>
          </a:p>
        </p:txBody>
      </p:sp>
    </p:spTree>
    <p:extLst>
      <p:ext uri="{BB962C8B-B14F-4D97-AF65-F5344CB8AC3E}">
        <p14:creationId xmlns:p14="http://schemas.microsoft.com/office/powerpoint/2010/main" val="538926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7F990-8176-BF15-565D-D3748E949D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DF7D2-8309-0789-3A26-31F33289ABA8}"/>
              </a:ext>
            </a:extLst>
          </p:cNvPr>
          <p:cNvSpPr>
            <a:spLocks noGrp="1"/>
          </p:cNvSpPr>
          <p:nvPr>
            <p:ph type="title"/>
          </p:nvPr>
        </p:nvSpPr>
        <p:spPr/>
        <p:txBody>
          <a:bodyPr/>
          <a:lstStyle/>
          <a:p>
            <a:r>
              <a:rPr lang="en-US" dirty="0">
                <a:solidFill>
                  <a:srgbClr val="9A0031"/>
                </a:solidFill>
                <a:latin typeface="Fjalla One" panose="02000506040000020004" pitchFamily="2" charset="0"/>
                <a:ea typeface="Roboto" panose="02000000000000000000" pitchFamily="2" charset="0"/>
                <a:cs typeface="Roboto" panose="02000000000000000000" pitchFamily="2" charset="0"/>
              </a:rPr>
              <a:t>Interpreting Qualitative Results</a:t>
            </a:r>
          </a:p>
        </p:txBody>
      </p:sp>
      <p:sp>
        <p:nvSpPr>
          <p:cNvPr id="3" name="Content Placeholder 2">
            <a:extLst>
              <a:ext uri="{FF2B5EF4-FFF2-40B4-BE49-F238E27FC236}">
                <a16:creationId xmlns:a16="http://schemas.microsoft.com/office/drawing/2014/main" id="{9054F3A5-52C0-89D2-AC90-1929A63891A5}"/>
              </a:ext>
            </a:extLst>
          </p:cNvPr>
          <p:cNvSpPr>
            <a:spLocks noGrp="1"/>
          </p:cNvSpPr>
          <p:nvPr>
            <p:ph idx="1"/>
          </p:nvPr>
        </p:nvSpPr>
        <p:spPr/>
        <p:txBody>
          <a:bodyPr>
            <a:noAutofit/>
          </a:bodyPr>
          <a:lstStyle/>
          <a:p>
            <a:r>
              <a:rPr lang="en-US" sz="2400" dirty="0">
                <a:latin typeface="Roboto" panose="02000000000000000000" pitchFamily="2" charset="0"/>
                <a:ea typeface="Roboto" panose="02000000000000000000" pitchFamily="2" charset="0"/>
                <a:cs typeface="Roboto" panose="02000000000000000000" pitchFamily="2" charset="0"/>
              </a:rPr>
              <a:t>Prevalence ≠ Quantification</a:t>
            </a:r>
          </a:p>
          <a:p>
            <a:r>
              <a:rPr lang="en-US" sz="2400" dirty="0">
                <a:latin typeface="Roboto" panose="02000000000000000000" pitchFamily="2" charset="0"/>
                <a:ea typeface="Roboto" panose="02000000000000000000" pitchFamily="2" charset="0"/>
                <a:cs typeface="Roboto" panose="02000000000000000000" pitchFamily="2" charset="0"/>
              </a:rPr>
              <a:t>Many readers expect findings to be broadly applicable</a:t>
            </a:r>
          </a:p>
          <a:p>
            <a:pPr lvl="1"/>
            <a:r>
              <a:rPr lang="en-US" sz="2000" dirty="0">
                <a:latin typeface="Roboto" panose="02000000000000000000" pitchFamily="2" charset="0"/>
                <a:ea typeface="Roboto" panose="02000000000000000000" pitchFamily="2" charset="0"/>
                <a:cs typeface="Roboto" panose="02000000000000000000" pitchFamily="2" charset="0"/>
              </a:rPr>
              <a:t>Qual studies are non-generalizable in a statistical sense</a:t>
            </a:r>
          </a:p>
          <a:p>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B4277366-5314-0D73-98CB-09806B336561}"/>
              </a:ext>
            </a:extLst>
          </p:cNvPr>
          <p:cNvGrpSpPr/>
          <p:nvPr/>
        </p:nvGrpSpPr>
        <p:grpSpPr>
          <a:xfrm>
            <a:off x="838200" y="2698722"/>
            <a:ext cx="10515600" cy="3658076"/>
            <a:chOff x="1667774" y="2833950"/>
            <a:chExt cx="8623300" cy="3658076"/>
          </a:xfrm>
        </p:grpSpPr>
        <p:sp>
          <p:nvSpPr>
            <p:cNvPr id="6" name="TextBox 5">
              <a:extLst>
                <a:ext uri="{FF2B5EF4-FFF2-40B4-BE49-F238E27FC236}">
                  <a16:creationId xmlns:a16="http://schemas.microsoft.com/office/drawing/2014/main" id="{9143FFF8-C47E-C4DE-9CA1-D101E3F9E309}"/>
                </a:ext>
              </a:extLst>
            </p:cNvPr>
            <p:cNvSpPr txBox="1"/>
            <p:nvPr/>
          </p:nvSpPr>
          <p:spPr>
            <a:xfrm>
              <a:off x="2180326" y="3291150"/>
              <a:ext cx="8110748" cy="3200876"/>
            </a:xfrm>
            <a:prstGeom prst="rect">
              <a:avLst/>
            </a:prstGeom>
            <a:noFill/>
          </p:spPr>
          <p:txBody>
            <a:bodyPr wrap="square" rtlCol="0">
              <a:spAutoFit/>
            </a:bodyPr>
            <a:lstStyle/>
            <a:p>
              <a:pPr algn="just"/>
              <a:r>
                <a:rPr lang="en-US" sz="2000" dirty="0">
                  <a:latin typeface="Roboto" panose="02000000000000000000" pitchFamily="2" charset="0"/>
                  <a:ea typeface="Roboto" panose="02000000000000000000" pitchFamily="2" charset="0"/>
                  <a:cs typeface="Roboto" panose="02000000000000000000" pitchFamily="2" charset="0"/>
                </a:rPr>
                <a:t>For each finding, we give the number of [participants] that </a:t>
              </a:r>
              <a:r>
                <a:rPr lang="en-US" sz="2000" dirty="0">
                  <a:solidFill>
                    <a:srgbClr val="9A0031"/>
                  </a:solidFill>
                  <a:latin typeface="Roboto" panose="02000000000000000000" pitchFamily="2" charset="0"/>
                  <a:ea typeface="Roboto" panose="02000000000000000000" pitchFamily="2" charset="0"/>
                  <a:cs typeface="Roboto" panose="02000000000000000000" pitchFamily="2" charset="0"/>
                </a:rPr>
                <a:t>expressed a concept, to indicate prevalence.</a:t>
              </a:r>
              <a:r>
                <a:rPr lang="en-US" sz="2000" dirty="0">
                  <a:latin typeface="Roboto" panose="02000000000000000000" pitchFamily="2" charset="0"/>
                  <a:ea typeface="Roboto" panose="02000000000000000000" pitchFamily="2" charset="0"/>
                  <a:cs typeface="Roboto" panose="02000000000000000000" pitchFamily="2" charset="0"/>
                </a:rPr>
                <a:t> However, if a participant did not mention a specific idea, that </a:t>
              </a:r>
              <a:r>
                <a:rPr lang="en-US" sz="2000" dirty="0">
                  <a:solidFill>
                    <a:srgbClr val="9A0031"/>
                  </a:solidFill>
                  <a:latin typeface="Roboto" panose="02000000000000000000" pitchFamily="2" charset="0"/>
                  <a:ea typeface="Roboto" panose="02000000000000000000" pitchFamily="2" charset="0"/>
                  <a:cs typeface="Roboto" panose="02000000000000000000" pitchFamily="2" charset="0"/>
                </a:rPr>
                <a:t>does not necessarily indicate disagreement</a:t>
              </a:r>
              <a:r>
                <a:rPr lang="en-US" sz="2000" dirty="0">
                  <a:latin typeface="Roboto" panose="02000000000000000000" pitchFamily="2" charset="0"/>
                  <a:ea typeface="Roboto" panose="02000000000000000000" pitchFamily="2" charset="0"/>
                  <a:cs typeface="Roboto" panose="02000000000000000000" pitchFamily="2" charset="0"/>
                </a:rPr>
                <a:t>; they may have simply failed to state it. For these reasons, we </a:t>
              </a:r>
              <a:r>
                <a:rPr lang="en-US" sz="2000" dirty="0">
                  <a:solidFill>
                    <a:srgbClr val="9A0031"/>
                  </a:solidFill>
                  <a:latin typeface="Roboto" panose="02000000000000000000" pitchFamily="2" charset="0"/>
                  <a:ea typeface="Roboto" panose="02000000000000000000" pitchFamily="2" charset="0"/>
                  <a:cs typeface="Roboto" panose="02000000000000000000" pitchFamily="2" charset="0"/>
                </a:rPr>
                <a:t>do not use statistical hypothesis tests</a:t>
              </a:r>
              <a:r>
                <a:rPr lang="en-US" sz="2000" dirty="0">
                  <a:latin typeface="Roboto" panose="02000000000000000000" pitchFamily="2" charset="0"/>
                  <a:ea typeface="Roboto" panose="02000000000000000000" pitchFamily="2" charset="0"/>
                  <a:cs typeface="Roboto" panose="02000000000000000000" pitchFamily="2" charset="0"/>
                </a:rPr>
                <a:t> for comparison among participants. Our </a:t>
              </a:r>
              <a:r>
                <a:rPr lang="en-US" sz="2000" dirty="0">
                  <a:solidFill>
                    <a:srgbClr val="9A0031"/>
                  </a:solidFill>
                  <a:latin typeface="Roboto" panose="02000000000000000000" pitchFamily="2" charset="0"/>
                  <a:ea typeface="Roboto" panose="02000000000000000000" pitchFamily="2" charset="0"/>
                  <a:cs typeface="Roboto" panose="02000000000000000000" pitchFamily="2" charset="0"/>
                </a:rPr>
                <a:t>results do not necessarily generalize beyond our sample</a:t>
              </a:r>
              <a:r>
                <a:rPr lang="en-US" sz="2000" dirty="0">
                  <a:latin typeface="Roboto" panose="02000000000000000000" pitchFamily="2" charset="0"/>
                  <a:ea typeface="Roboto" panose="02000000000000000000" pitchFamily="2" charset="0"/>
                  <a:cs typeface="Roboto" panose="02000000000000000000" pitchFamily="2" charset="0"/>
                </a:rPr>
                <a:t>; however, they suggest many </a:t>
              </a:r>
              <a:r>
                <a:rPr lang="en-US" sz="2000" dirty="0">
                  <a:solidFill>
                    <a:srgbClr val="9A0031"/>
                  </a:solidFill>
                  <a:latin typeface="Roboto" panose="02000000000000000000" pitchFamily="2" charset="0"/>
                  <a:ea typeface="Roboto" panose="02000000000000000000" pitchFamily="2" charset="0"/>
                  <a:cs typeface="Roboto" panose="02000000000000000000" pitchFamily="2" charset="0"/>
                </a:rPr>
                <a:t>directions for future work</a:t>
              </a:r>
              <a:r>
                <a:rPr lang="en-US" sz="2000" dirty="0">
                  <a:latin typeface="Roboto" panose="02000000000000000000" pitchFamily="2" charset="0"/>
                  <a:ea typeface="Roboto" panose="02000000000000000000" pitchFamily="2" charset="0"/>
                  <a:cs typeface="Roboto" panose="02000000000000000000" pitchFamily="2" charset="0"/>
                </a:rPr>
                <a:t> and provide novel insights into the human factors of software vulnerability discovery.”</a:t>
              </a:r>
            </a:p>
            <a:p>
              <a:pPr algn="just"/>
              <a:endParaRPr lang="en-US" sz="2000" dirty="0">
                <a:latin typeface="Roboto" panose="02000000000000000000" pitchFamily="2" charset="0"/>
                <a:ea typeface="Roboto" panose="02000000000000000000" pitchFamily="2" charset="0"/>
                <a:cs typeface="Roboto" panose="02000000000000000000" pitchFamily="2" charset="0"/>
              </a:endParaRPr>
            </a:p>
            <a:p>
              <a:pPr algn="r"/>
              <a:r>
                <a:rPr lang="en-US" sz="1100" i="1" dirty="0">
                  <a:effectLst/>
                  <a:latin typeface="Roboto" panose="02000000000000000000" pitchFamily="2" charset="0"/>
                  <a:ea typeface="Roboto" panose="02000000000000000000" pitchFamily="2" charset="0"/>
                  <a:cs typeface="Roboto" panose="02000000000000000000" pitchFamily="2" charset="0"/>
                </a:rPr>
                <a:t>- Daniel </a:t>
              </a:r>
              <a:r>
                <a:rPr lang="en-US" sz="1100" i="1" dirty="0" err="1">
                  <a:effectLst/>
                  <a:latin typeface="Roboto" panose="02000000000000000000" pitchFamily="2" charset="0"/>
                  <a:ea typeface="Roboto" panose="02000000000000000000" pitchFamily="2" charset="0"/>
                  <a:cs typeface="Roboto" panose="02000000000000000000" pitchFamily="2" charset="0"/>
                </a:rPr>
                <a:t>Votipka</a:t>
              </a:r>
              <a:r>
                <a:rPr lang="en-US" sz="1100" i="1" dirty="0">
                  <a:effectLst/>
                  <a:latin typeface="Roboto" panose="02000000000000000000" pitchFamily="2" charset="0"/>
                  <a:ea typeface="Roboto" panose="02000000000000000000" pitchFamily="2" charset="0"/>
                  <a:cs typeface="Roboto" panose="02000000000000000000" pitchFamily="2" charset="0"/>
                </a:rPr>
                <a:t>, Rock Stevens, Elissa Redmiles, Jeremy Hu, and Michelle Mazurek. Hackers vs. Testers: A Comparison</a:t>
              </a:r>
              <a:r>
                <a:rPr lang="en-US" sz="1100" dirty="0">
                  <a:latin typeface="Roboto" panose="02000000000000000000" pitchFamily="2" charset="0"/>
                  <a:ea typeface="Roboto" panose="02000000000000000000" pitchFamily="2" charset="0"/>
                  <a:cs typeface="Roboto" panose="02000000000000000000" pitchFamily="2" charset="0"/>
                </a:rPr>
                <a:t> </a:t>
              </a:r>
              <a:r>
                <a:rPr lang="en-US" sz="1100" i="1" dirty="0">
                  <a:effectLst/>
                  <a:latin typeface="Roboto" panose="02000000000000000000" pitchFamily="2" charset="0"/>
                  <a:ea typeface="Roboto" panose="02000000000000000000" pitchFamily="2" charset="0"/>
                  <a:cs typeface="Roboto" panose="02000000000000000000" pitchFamily="2" charset="0"/>
                </a:rPr>
                <a:t>of Software </a:t>
              </a:r>
              <a:r>
                <a:rPr lang="en-US" sz="1100" i="1" dirty="0">
                  <a:latin typeface="Roboto" panose="02000000000000000000" pitchFamily="2" charset="0"/>
                  <a:ea typeface="Roboto" panose="02000000000000000000" pitchFamily="2" charset="0"/>
                  <a:cs typeface="Roboto" panose="02000000000000000000" pitchFamily="2" charset="0"/>
                </a:rPr>
                <a:t>V</a:t>
              </a:r>
              <a:r>
                <a:rPr lang="en-US" sz="1100" i="1" dirty="0">
                  <a:effectLst/>
                  <a:latin typeface="Roboto" panose="02000000000000000000" pitchFamily="2" charset="0"/>
                  <a:ea typeface="Roboto" panose="02000000000000000000" pitchFamily="2" charset="0"/>
                  <a:cs typeface="Roboto" panose="02000000000000000000" pitchFamily="2" charset="0"/>
                </a:rPr>
                <a:t>ulnerability </a:t>
              </a:r>
              <a:r>
                <a:rPr lang="en-US" sz="1100" i="1" dirty="0">
                  <a:latin typeface="Roboto" panose="02000000000000000000" pitchFamily="2" charset="0"/>
                  <a:ea typeface="Roboto" panose="02000000000000000000" pitchFamily="2" charset="0"/>
                  <a:cs typeface="Roboto" panose="02000000000000000000" pitchFamily="2" charset="0"/>
                </a:rPr>
                <a:t>D</a:t>
              </a:r>
              <a:r>
                <a:rPr lang="en-US" sz="1100" i="1" dirty="0">
                  <a:effectLst/>
                  <a:latin typeface="Roboto" panose="02000000000000000000" pitchFamily="2" charset="0"/>
                  <a:ea typeface="Roboto" panose="02000000000000000000" pitchFamily="2" charset="0"/>
                  <a:cs typeface="Roboto" panose="02000000000000000000" pitchFamily="2" charset="0"/>
                </a:rPr>
                <a:t>iscovery </a:t>
              </a:r>
              <a:r>
                <a:rPr lang="en-US" sz="1100" i="1" dirty="0">
                  <a:latin typeface="Roboto" panose="02000000000000000000" pitchFamily="2" charset="0"/>
                  <a:ea typeface="Roboto" panose="02000000000000000000" pitchFamily="2" charset="0"/>
                  <a:cs typeface="Roboto" panose="02000000000000000000" pitchFamily="2" charset="0"/>
                </a:rPr>
                <a:t>P</a:t>
              </a:r>
              <a:r>
                <a:rPr lang="en-US" sz="1100" i="1" dirty="0">
                  <a:effectLst/>
                  <a:latin typeface="Roboto" panose="02000000000000000000" pitchFamily="2" charset="0"/>
                  <a:ea typeface="Roboto" panose="02000000000000000000" pitchFamily="2" charset="0"/>
                  <a:cs typeface="Roboto" panose="02000000000000000000" pitchFamily="2" charset="0"/>
                </a:rPr>
                <a:t>rocesses. In 2018 IEEE Symposium on Security and Privacy (SP).</a:t>
              </a:r>
              <a:endParaRPr lang="en-US" sz="1100" dirty="0">
                <a:effectLst/>
                <a:latin typeface="Roboto" panose="02000000000000000000" pitchFamily="2" charset="0"/>
                <a:ea typeface="Roboto" panose="02000000000000000000" pitchFamily="2" charset="0"/>
                <a:cs typeface="Roboto" panose="02000000000000000000" pitchFamily="2" charset="0"/>
              </a:endParaRPr>
            </a:p>
            <a:p>
              <a:pPr algn="just"/>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410E01EF-D392-942A-85E5-B2B8ED5C88EC}"/>
                </a:ext>
              </a:extLst>
            </p:cNvPr>
            <p:cNvSpPr txBox="1"/>
            <p:nvPr/>
          </p:nvSpPr>
          <p:spPr>
            <a:xfrm>
              <a:off x="1667774" y="2833950"/>
              <a:ext cx="694421" cy="1446550"/>
            </a:xfrm>
            <a:prstGeom prst="rect">
              <a:avLst/>
            </a:prstGeom>
            <a:noFill/>
          </p:spPr>
          <p:txBody>
            <a:bodyPr wrap="none" rtlCol="0">
              <a:spAutoFit/>
            </a:bodyPr>
            <a:lstStyle/>
            <a:p>
              <a:r>
                <a:rPr lang="en-US" sz="8800" dirty="0">
                  <a:solidFill>
                    <a:srgbClr val="FFC10E"/>
                  </a:solidFill>
                </a:rPr>
                <a:t>“</a:t>
              </a:r>
              <a:endParaRPr lang="en-US" dirty="0">
                <a:solidFill>
                  <a:srgbClr val="FFC10E"/>
                </a:solidFill>
              </a:endParaRPr>
            </a:p>
          </p:txBody>
        </p:sp>
      </p:grpSp>
      <p:sp>
        <p:nvSpPr>
          <p:cNvPr id="10" name="Slide Number Placeholder 9">
            <a:extLst>
              <a:ext uri="{FF2B5EF4-FFF2-40B4-BE49-F238E27FC236}">
                <a16:creationId xmlns:a16="http://schemas.microsoft.com/office/drawing/2014/main" id="{0E868E56-F365-168B-01E5-30FE43C8B757}"/>
              </a:ext>
            </a:extLst>
          </p:cNvPr>
          <p:cNvSpPr>
            <a:spLocks noGrp="1"/>
          </p:cNvSpPr>
          <p:nvPr>
            <p:ph type="sldNum" sz="quarter" idx="12"/>
          </p:nvPr>
        </p:nvSpPr>
        <p:spPr/>
        <p:txBody>
          <a:bodyPr/>
          <a:lstStyle/>
          <a:p>
            <a:fld id="{835FE90F-C88A-C24D-9FD5-52F0990CFAC0}" type="slidenum">
              <a:rPr lang="en-US" smtClean="0"/>
              <a:t>29</a:t>
            </a:fld>
            <a:endParaRPr lang="en-US"/>
          </a:p>
        </p:txBody>
      </p:sp>
    </p:spTree>
    <p:extLst>
      <p:ext uri="{BB962C8B-B14F-4D97-AF65-F5344CB8AC3E}">
        <p14:creationId xmlns:p14="http://schemas.microsoft.com/office/powerpoint/2010/main" val="343373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F07E2-1258-F943-D296-17315AA9C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D78C5D-BDA0-F9FC-7D44-66428D6AF2EB}"/>
              </a:ext>
            </a:extLst>
          </p:cNvPr>
          <p:cNvSpPr>
            <a:spLocks noGrp="1"/>
          </p:cNvSpPr>
          <p:nvPr>
            <p:ph type="title"/>
          </p:nvPr>
        </p:nvSpPr>
        <p:spPr/>
        <p:txBody>
          <a:bodyPr/>
          <a:lstStyle/>
          <a:p>
            <a:r>
              <a:rPr lang="en-US" dirty="0">
                <a:solidFill>
                  <a:srgbClr val="9A0031"/>
                </a:solidFill>
                <a:latin typeface="Fjalla One" panose="02000506040000020004" pitchFamily="2" charset="0"/>
              </a:rPr>
              <a:t>Ethical Considerations</a:t>
            </a:r>
          </a:p>
        </p:txBody>
      </p:sp>
      <p:sp>
        <p:nvSpPr>
          <p:cNvPr id="3" name="Content Placeholder 2">
            <a:extLst>
              <a:ext uri="{FF2B5EF4-FFF2-40B4-BE49-F238E27FC236}">
                <a16:creationId xmlns:a16="http://schemas.microsoft.com/office/drawing/2014/main" id="{C223B71B-5F94-0AFB-4F00-15E5DD1D4ECE}"/>
              </a:ext>
            </a:extLst>
          </p:cNvPr>
          <p:cNvSpPr>
            <a:spLocks noGrp="1"/>
          </p:cNvSpPr>
          <p:nvPr>
            <p:ph idx="1"/>
          </p:nvPr>
        </p:nvSpPr>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Crucial when conducting human-subject studies</a:t>
            </a:r>
          </a:p>
          <a:p>
            <a:r>
              <a:rPr lang="en-US" sz="2400" dirty="0">
                <a:latin typeface="Roboto" panose="02000000000000000000" pitchFamily="2" charset="0"/>
                <a:ea typeface="Roboto" panose="02000000000000000000" pitchFamily="2" charset="0"/>
                <a:cs typeface="Roboto" panose="02000000000000000000" pitchFamily="2" charset="0"/>
              </a:rPr>
              <a:t>Obtaining informed consent</a:t>
            </a:r>
          </a:p>
          <a:p>
            <a:r>
              <a:rPr lang="en-US" sz="2400" dirty="0">
                <a:latin typeface="Roboto" panose="02000000000000000000" pitchFamily="2" charset="0"/>
                <a:ea typeface="Roboto" panose="02000000000000000000" pitchFamily="2" charset="0"/>
                <a:cs typeface="Roboto" panose="02000000000000000000" pitchFamily="2" charset="0"/>
              </a:rPr>
              <a:t>Ensuring participant confidentiality</a:t>
            </a:r>
          </a:p>
          <a:p>
            <a:r>
              <a:rPr lang="en-US" sz="2400" dirty="0">
                <a:latin typeface="Roboto" panose="02000000000000000000" pitchFamily="2" charset="0"/>
                <a:ea typeface="Roboto" panose="02000000000000000000" pitchFamily="2" charset="0"/>
                <a:cs typeface="Roboto" panose="02000000000000000000" pitchFamily="2" charset="0"/>
              </a:rPr>
              <a:t>Transparency in data collection, analysis, and storage practices</a:t>
            </a:r>
          </a:p>
          <a:p>
            <a:r>
              <a:rPr lang="en-US" sz="2400" dirty="0">
                <a:latin typeface="Roboto" panose="02000000000000000000" pitchFamily="2" charset="0"/>
                <a:ea typeface="Roboto" panose="02000000000000000000" pitchFamily="2" charset="0"/>
                <a:cs typeface="Roboto" panose="02000000000000000000" pitchFamily="2" charset="0"/>
              </a:rPr>
              <a:t>Minimizing any potential risks including psychological</a:t>
            </a:r>
          </a:p>
          <a:p>
            <a:pPr lvl="1"/>
            <a:r>
              <a:rPr lang="en-US" sz="2000" dirty="0">
                <a:latin typeface="Roboto" panose="02000000000000000000" pitchFamily="2" charset="0"/>
                <a:ea typeface="Roboto" panose="02000000000000000000" pitchFamily="2" charset="0"/>
                <a:cs typeface="Roboto" panose="02000000000000000000" pitchFamily="2" charset="0"/>
              </a:rPr>
              <a:t>Avoiding questions that remind of any trauma or abuse</a:t>
            </a:r>
          </a:p>
          <a:p>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a:p>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7" name="Slide Number Placeholder 6">
            <a:extLst>
              <a:ext uri="{FF2B5EF4-FFF2-40B4-BE49-F238E27FC236}">
                <a16:creationId xmlns:a16="http://schemas.microsoft.com/office/drawing/2014/main" id="{B522A60D-6A25-C150-FBA0-4D9421A40F77}"/>
              </a:ext>
            </a:extLst>
          </p:cNvPr>
          <p:cNvSpPr>
            <a:spLocks noGrp="1"/>
          </p:cNvSpPr>
          <p:nvPr>
            <p:ph type="sldNum" sz="quarter" idx="12"/>
          </p:nvPr>
        </p:nvSpPr>
        <p:spPr/>
        <p:txBody>
          <a:bodyPr/>
          <a:lstStyle/>
          <a:p>
            <a:fld id="{835FE90F-C88A-C24D-9FD5-52F0990CFAC0}" type="slidenum">
              <a:rPr lang="en-US" smtClean="0"/>
              <a:t>30</a:t>
            </a:fld>
            <a:endParaRPr lang="en-US"/>
          </a:p>
        </p:txBody>
      </p:sp>
    </p:spTree>
    <p:extLst>
      <p:ext uri="{BB962C8B-B14F-4D97-AF65-F5344CB8AC3E}">
        <p14:creationId xmlns:p14="http://schemas.microsoft.com/office/powerpoint/2010/main" val="155447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FC3A4-D2C3-9B38-479C-BA478B683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7D19E-5CC9-5EB1-A1FB-83FD48E4214C}"/>
              </a:ext>
            </a:extLst>
          </p:cNvPr>
          <p:cNvSpPr>
            <a:spLocks noGrp="1"/>
          </p:cNvSpPr>
          <p:nvPr>
            <p:ph type="title"/>
          </p:nvPr>
        </p:nvSpPr>
        <p:spPr/>
        <p:txBody>
          <a:bodyPr/>
          <a:lstStyle/>
          <a:p>
            <a:r>
              <a:rPr lang="en-US" dirty="0">
                <a:solidFill>
                  <a:srgbClr val="9A0031"/>
                </a:solidFill>
                <a:latin typeface="Fjalla One" panose="02000506040000020004" pitchFamily="2" charset="0"/>
              </a:rPr>
              <a:t>Challenges: Qualitative Human Factors Studies</a:t>
            </a:r>
          </a:p>
        </p:txBody>
      </p:sp>
      <p:sp>
        <p:nvSpPr>
          <p:cNvPr id="3" name="Content Placeholder 2">
            <a:extLst>
              <a:ext uri="{FF2B5EF4-FFF2-40B4-BE49-F238E27FC236}">
                <a16:creationId xmlns:a16="http://schemas.microsoft.com/office/drawing/2014/main" id="{743CA85E-9B5E-09A7-0D7E-C34324A0D446}"/>
              </a:ext>
            </a:extLst>
          </p:cNvPr>
          <p:cNvSpPr>
            <a:spLocks noGrp="1"/>
          </p:cNvSpPr>
          <p:nvPr>
            <p:ph idx="1"/>
          </p:nvPr>
        </p:nvSpPr>
        <p:spPr>
          <a:xfrm>
            <a:off x="838200" y="2506606"/>
            <a:ext cx="10515600" cy="3957157"/>
          </a:xfrm>
        </p:spPr>
        <p:txBody>
          <a:bodyPr>
            <a:noAutofit/>
          </a:bodyPr>
          <a:lstStyle/>
          <a:p>
            <a:r>
              <a:rPr lang="en-US" sz="2400" dirty="0">
                <a:latin typeface="Roboto" panose="02000000000000000000" pitchFamily="2" charset="0"/>
                <a:ea typeface="Roboto" panose="02000000000000000000" pitchFamily="2" charset="0"/>
                <a:cs typeface="Roboto" panose="02000000000000000000" pitchFamily="2" charset="0"/>
              </a:rPr>
              <a:t>Generalizability</a:t>
            </a:r>
          </a:p>
          <a:p>
            <a:r>
              <a:rPr lang="en-US" sz="2400" dirty="0">
                <a:latin typeface="Roboto" panose="02000000000000000000" pitchFamily="2" charset="0"/>
                <a:ea typeface="Roboto" panose="02000000000000000000" pitchFamily="2" charset="0"/>
                <a:cs typeface="Roboto" panose="02000000000000000000" pitchFamily="2" charset="0"/>
              </a:rPr>
              <a:t>Sampling bias</a:t>
            </a:r>
          </a:p>
          <a:p>
            <a:r>
              <a:rPr lang="en-US" sz="2400" dirty="0">
                <a:latin typeface="Roboto" panose="02000000000000000000" pitchFamily="2" charset="0"/>
                <a:ea typeface="Roboto" panose="02000000000000000000" pitchFamily="2" charset="0"/>
                <a:cs typeface="Roboto" panose="02000000000000000000" pitchFamily="2" charset="0"/>
              </a:rPr>
              <a:t>Demographics-induced (age, gender, education, location) </a:t>
            </a:r>
          </a:p>
          <a:p>
            <a:r>
              <a:rPr lang="en-US" sz="2400" dirty="0">
                <a:latin typeface="Roboto" panose="02000000000000000000" pitchFamily="2" charset="0"/>
                <a:ea typeface="Roboto" panose="02000000000000000000" pitchFamily="2" charset="0"/>
                <a:cs typeface="Roboto" panose="02000000000000000000" pitchFamily="2" charset="0"/>
              </a:rPr>
              <a:t>Satisficing (providing sub-optimal/incomplete responses)</a:t>
            </a:r>
          </a:p>
          <a:p>
            <a:r>
              <a:rPr lang="en-US" sz="2400" dirty="0">
                <a:latin typeface="Roboto" panose="02000000000000000000" pitchFamily="2" charset="0"/>
                <a:ea typeface="Roboto" panose="02000000000000000000" pitchFamily="2" charset="0"/>
                <a:cs typeface="Roboto" panose="02000000000000000000" pitchFamily="2" charset="0"/>
              </a:rPr>
              <a:t>Fatigue</a:t>
            </a:r>
          </a:p>
          <a:p>
            <a:r>
              <a:rPr lang="en-US" sz="2400" dirty="0">
                <a:latin typeface="Roboto" panose="02000000000000000000" pitchFamily="2" charset="0"/>
                <a:ea typeface="Roboto" panose="02000000000000000000" pitchFamily="2" charset="0"/>
                <a:cs typeface="Roboto" panose="02000000000000000000" pitchFamily="2" charset="0"/>
              </a:rPr>
              <a:t>Social desirability</a:t>
            </a:r>
          </a:p>
          <a:p>
            <a:r>
              <a:rPr lang="en-US" sz="2400" dirty="0">
                <a:latin typeface="Roboto" panose="02000000000000000000" pitchFamily="2" charset="0"/>
                <a:ea typeface="Roboto" panose="02000000000000000000" pitchFamily="2" charset="0"/>
                <a:cs typeface="Roboto" panose="02000000000000000000" pitchFamily="2" charset="0"/>
              </a:rPr>
              <a:t>Topic sensitivity/privacy concerns</a:t>
            </a:r>
          </a:p>
          <a:p>
            <a:r>
              <a:rPr lang="en-US" sz="2400" dirty="0">
                <a:latin typeface="Roboto" panose="02000000000000000000" pitchFamily="2" charset="0"/>
                <a:ea typeface="Roboto" panose="02000000000000000000" pitchFamily="2" charset="0"/>
                <a:cs typeface="Roboto" panose="02000000000000000000" pitchFamily="2" charset="0"/>
              </a:rPr>
              <a:t>Difficulty recruiting participants (expertise, time, commitment, etc.)</a:t>
            </a:r>
          </a:p>
        </p:txBody>
      </p:sp>
      <p:sp>
        <p:nvSpPr>
          <p:cNvPr id="5" name="TextBox 4">
            <a:extLst>
              <a:ext uri="{FF2B5EF4-FFF2-40B4-BE49-F238E27FC236}">
                <a16:creationId xmlns:a16="http://schemas.microsoft.com/office/drawing/2014/main" id="{38B1D233-DA4E-99E6-7BD8-0BF35DECBFB5}"/>
              </a:ext>
            </a:extLst>
          </p:cNvPr>
          <p:cNvSpPr txBox="1"/>
          <p:nvPr/>
        </p:nvSpPr>
        <p:spPr>
          <a:xfrm>
            <a:off x="1964901" y="1690688"/>
            <a:ext cx="8262198" cy="923330"/>
          </a:xfrm>
          <a:prstGeom prst="rect">
            <a:avLst/>
          </a:prstGeom>
          <a:noFill/>
        </p:spPr>
        <p:txBody>
          <a:bodyPr wrap="none" rtlCol="0">
            <a:spAutoFit/>
          </a:bodyPr>
          <a:lstStyle/>
          <a:p>
            <a:pPr marL="0" indent="0" algn="ctr">
              <a:buNone/>
            </a:pPr>
            <a:r>
              <a:rPr lang="en-US" sz="1800" dirty="0">
                <a:solidFill>
                  <a:srgbClr val="9A0031"/>
                </a:solidFill>
                <a:latin typeface="Roboto" panose="02000000000000000000" pitchFamily="2" charset="0"/>
                <a:ea typeface="Roboto" panose="02000000000000000000" pitchFamily="2" charset="0"/>
                <a:cs typeface="Roboto" panose="02000000000000000000" pitchFamily="2" charset="0"/>
              </a:rPr>
              <a:t>“Our study has several limitations common to qualitative research.”</a:t>
            </a:r>
          </a:p>
          <a:p>
            <a:pPr marL="0" indent="0" algn="ctr">
              <a:buNone/>
            </a:pPr>
            <a:r>
              <a:rPr lang="en-US" sz="1800" dirty="0">
                <a:solidFill>
                  <a:srgbClr val="9A0031"/>
                </a:solidFill>
                <a:latin typeface="Roboto" panose="02000000000000000000" pitchFamily="2" charset="0"/>
                <a:ea typeface="Roboto" panose="02000000000000000000" pitchFamily="2" charset="0"/>
                <a:cs typeface="Roboto" panose="02000000000000000000" pitchFamily="2" charset="0"/>
              </a:rPr>
              <a:t>“Our study has several limitations common to exploratory qualitative research.”</a:t>
            </a:r>
          </a:p>
          <a:p>
            <a:endParaRPr lang="en-US" dirty="0"/>
          </a:p>
        </p:txBody>
      </p:sp>
      <p:sp>
        <p:nvSpPr>
          <p:cNvPr id="8" name="Slide Number Placeholder 7">
            <a:extLst>
              <a:ext uri="{FF2B5EF4-FFF2-40B4-BE49-F238E27FC236}">
                <a16:creationId xmlns:a16="http://schemas.microsoft.com/office/drawing/2014/main" id="{B10F1488-1347-6318-C919-874854D8A020}"/>
              </a:ext>
            </a:extLst>
          </p:cNvPr>
          <p:cNvSpPr>
            <a:spLocks noGrp="1"/>
          </p:cNvSpPr>
          <p:nvPr>
            <p:ph type="sldNum" sz="quarter" idx="12"/>
          </p:nvPr>
        </p:nvSpPr>
        <p:spPr/>
        <p:txBody>
          <a:bodyPr/>
          <a:lstStyle/>
          <a:p>
            <a:fld id="{835FE90F-C88A-C24D-9FD5-52F0990CFAC0}" type="slidenum">
              <a:rPr lang="en-US" smtClean="0"/>
              <a:t>31</a:t>
            </a:fld>
            <a:endParaRPr lang="en-US"/>
          </a:p>
        </p:txBody>
      </p:sp>
    </p:spTree>
    <p:extLst>
      <p:ext uri="{BB962C8B-B14F-4D97-AF65-F5344CB8AC3E}">
        <p14:creationId xmlns:p14="http://schemas.microsoft.com/office/powerpoint/2010/main" val="51228440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22E5B9B-560E-12AE-D942-71F03D06425E}"/>
              </a:ext>
            </a:extLst>
          </p:cNvPr>
          <p:cNvSpPr>
            <a:spLocks noGrp="1"/>
          </p:cNvSpPr>
          <p:nvPr>
            <p:ph idx="1"/>
          </p:nvPr>
        </p:nvSpPr>
        <p:spPr>
          <a:xfrm>
            <a:off x="838200" y="1690688"/>
            <a:ext cx="10515600" cy="4200446"/>
          </a:xfrm>
        </p:spPr>
        <p:txBody>
          <a:bodyPr>
            <a:noAutofit/>
          </a:bodyPr>
          <a:lstStyle/>
          <a:p>
            <a:r>
              <a:rPr lang="en-US" sz="2400" dirty="0">
                <a:latin typeface="Roboto" panose="02000000000000000000" pitchFamily="2" charset="0"/>
                <a:ea typeface="Roboto" panose="02000000000000000000" pitchFamily="2" charset="0"/>
                <a:cs typeface="Roboto" panose="02000000000000000000" pitchFamily="2" charset="0"/>
              </a:rPr>
              <a:t>Experts are busy professionals</a:t>
            </a:r>
          </a:p>
          <a:p>
            <a:pPr lvl="1"/>
            <a:r>
              <a:rPr lang="en-US" sz="2000" dirty="0">
                <a:latin typeface="Roboto" panose="02000000000000000000" pitchFamily="2" charset="0"/>
                <a:ea typeface="Roboto" panose="02000000000000000000" pitchFamily="2" charset="0"/>
                <a:cs typeface="Roboto" panose="02000000000000000000" pitchFamily="2" charset="0"/>
              </a:rPr>
              <a:t>Confidentiality or NDA concerns</a:t>
            </a:r>
          </a:p>
          <a:p>
            <a:pPr lvl="1"/>
            <a:r>
              <a:rPr lang="en-US" sz="2000" dirty="0">
                <a:latin typeface="Roboto" panose="02000000000000000000" pitchFamily="2" charset="0"/>
                <a:ea typeface="Roboto" panose="02000000000000000000" pitchFamily="2" charset="0"/>
                <a:cs typeface="Roboto" panose="02000000000000000000" pitchFamily="2" charset="0"/>
              </a:rPr>
              <a:t>Very selective</a:t>
            </a:r>
          </a:p>
          <a:p>
            <a:r>
              <a:rPr lang="en-US" sz="2400" dirty="0">
                <a:latin typeface="Roboto" panose="02000000000000000000" pitchFamily="2" charset="0"/>
                <a:ea typeface="Roboto" panose="02000000000000000000" pitchFamily="2" charset="0"/>
                <a:cs typeface="Roboto" panose="02000000000000000000" pitchFamily="2" charset="0"/>
              </a:rPr>
              <a:t>Opportunities and challenges of different platforms to recruit participants with software development experience for security studies [35]</a:t>
            </a:r>
          </a:p>
          <a:p>
            <a:pPr lvl="1"/>
            <a:r>
              <a:rPr lang="en-US" sz="2000" dirty="0">
                <a:latin typeface="Roboto" panose="02000000000000000000" pitchFamily="2" charset="0"/>
                <a:ea typeface="Roboto" panose="02000000000000000000" pitchFamily="2" charset="0"/>
                <a:cs typeface="Roboto" panose="02000000000000000000" pitchFamily="2" charset="0"/>
              </a:rPr>
              <a:t>Identifies popular recruitment platforms</a:t>
            </a:r>
          </a:p>
          <a:p>
            <a:pPr lvl="1"/>
            <a:r>
              <a:rPr lang="en-US" sz="2000" dirty="0">
                <a:latin typeface="Roboto" panose="02000000000000000000" pitchFamily="2" charset="0"/>
                <a:ea typeface="Roboto" panose="02000000000000000000" pitchFamily="2" charset="0"/>
                <a:cs typeface="Roboto" panose="02000000000000000000" pitchFamily="2" charset="0"/>
              </a:rPr>
              <a:t>Analyzes the characteristics of experts on these platforms</a:t>
            </a:r>
          </a:p>
          <a:p>
            <a:pPr lvl="1"/>
            <a:r>
              <a:rPr lang="en-US" sz="2000" dirty="0">
                <a:latin typeface="Roboto" panose="02000000000000000000" pitchFamily="2" charset="0"/>
                <a:ea typeface="Roboto" panose="02000000000000000000" pitchFamily="2" charset="0"/>
                <a:cs typeface="Roboto" panose="02000000000000000000" pitchFamily="2" charset="0"/>
              </a:rPr>
              <a:t>Provides recruitment advice for future work</a:t>
            </a:r>
          </a:p>
          <a:p>
            <a:pPr marL="0" indent="0">
              <a:buNone/>
            </a:pPr>
            <a:endParaRPr lang="en-US" sz="2400" dirty="0">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C00A52AE-D872-4CA2-D329-EC18CCE45D64}"/>
              </a:ext>
            </a:extLst>
          </p:cNvPr>
          <p:cNvGrpSpPr/>
          <p:nvPr/>
        </p:nvGrpSpPr>
        <p:grpSpPr>
          <a:xfrm>
            <a:off x="1665736" y="3358218"/>
            <a:ext cx="8860526" cy="2596247"/>
            <a:chOff x="1756674" y="4433004"/>
            <a:chExt cx="8860526" cy="2596247"/>
          </a:xfrm>
        </p:grpSpPr>
        <p:sp>
          <p:nvSpPr>
            <p:cNvPr id="6" name="TextBox 5">
              <a:extLst>
                <a:ext uri="{FF2B5EF4-FFF2-40B4-BE49-F238E27FC236}">
                  <a16:creationId xmlns:a16="http://schemas.microsoft.com/office/drawing/2014/main" id="{B6BDEB07-D198-630F-BC80-E4D74927AEFD}"/>
                </a:ext>
              </a:extLst>
            </p:cNvPr>
            <p:cNvSpPr txBox="1"/>
            <p:nvPr/>
          </p:nvSpPr>
          <p:spPr>
            <a:xfrm>
              <a:off x="2269226" y="4890204"/>
              <a:ext cx="8347974" cy="2139047"/>
            </a:xfrm>
            <a:prstGeom prst="rect">
              <a:avLst/>
            </a:prstGeom>
            <a:noFill/>
          </p:spPr>
          <p:txBody>
            <a:bodyPr wrap="square" rtlCol="0">
              <a:spAutoFit/>
            </a:bodyPr>
            <a:lstStyle/>
            <a:p>
              <a:pPr algn="just"/>
              <a:r>
                <a:rPr lang="en-US" sz="2000" dirty="0">
                  <a:effectLst/>
                  <a:latin typeface="Roboto" panose="02000000000000000000" pitchFamily="2" charset="0"/>
                  <a:ea typeface="Roboto" panose="02000000000000000000" pitchFamily="2" charset="0"/>
                  <a:cs typeface="Roboto" panose="02000000000000000000" pitchFamily="2" charset="0"/>
                </a:rPr>
                <a:t>Recruiting these </a:t>
              </a:r>
              <a:r>
                <a:rPr lang="en-US" sz="2000" dirty="0">
                  <a:solidFill>
                    <a:srgbClr val="9A0031"/>
                  </a:solidFill>
                  <a:effectLst/>
                  <a:latin typeface="Roboto" panose="02000000000000000000" pitchFamily="2" charset="0"/>
                  <a:ea typeface="Roboto" panose="02000000000000000000" pitchFamily="2" charset="0"/>
                  <a:cs typeface="Roboto" panose="02000000000000000000" pitchFamily="2" charset="0"/>
                </a:rPr>
                <a:t>[expert] professionals </a:t>
              </a:r>
              <a:r>
                <a:rPr lang="en-US" sz="2000" dirty="0">
                  <a:effectLst/>
                  <a:latin typeface="Roboto" panose="02000000000000000000" pitchFamily="2" charset="0"/>
                  <a:ea typeface="Roboto" panose="02000000000000000000" pitchFamily="2" charset="0"/>
                  <a:cs typeface="Roboto" panose="02000000000000000000" pitchFamily="2" charset="0"/>
                </a:rPr>
                <a:t>for user studies can prove challenging,</a:t>
              </a:r>
              <a:r>
                <a:rPr lang="en-US" sz="2000" dirty="0">
                  <a:latin typeface="Roboto" panose="02000000000000000000" pitchFamily="2" charset="0"/>
                  <a:ea typeface="Roboto" panose="02000000000000000000" pitchFamily="2" charset="0"/>
                  <a:cs typeface="Roboto" panose="02000000000000000000" pitchFamily="2" charset="0"/>
                </a:rPr>
                <a:t> </a:t>
              </a:r>
              <a:r>
                <a:rPr lang="en-US" sz="2000" dirty="0">
                  <a:effectLst/>
                  <a:latin typeface="Roboto" panose="02000000000000000000" pitchFamily="2" charset="0"/>
                  <a:ea typeface="Roboto" panose="02000000000000000000" pitchFamily="2" charset="0"/>
                  <a:cs typeface="Roboto" panose="02000000000000000000" pitchFamily="2" charset="0"/>
                </a:rPr>
                <a:t>as, relative to end users more generally,</a:t>
              </a:r>
              <a:r>
                <a:rPr lang="en-US" sz="2000" dirty="0">
                  <a:solidFill>
                    <a:srgbClr val="9A0031"/>
                  </a:solidFill>
                  <a:effectLst/>
                  <a:latin typeface="Roboto" panose="02000000000000000000" pitchFamily="2" charset="0"/>
                  <a:ea typeface="Roboto" panose="02000000000000000000" pitchFamily="2" charset="0"/>
                  <a:cs typeface="Roboto" panose="02000000000000000000" pitchFamily="2" charset="0"/>
                </a:rPr>
                <a:t> they are limited in numbers, geographically concentrated, and accustomed</a:t>
              </a:r>
              <a:r>
                <a:rPr lang="en-US" sz="2000" dirty="0">
                  <a:solidFill>
                    <a:srgbClr val="9A0031"/>
                  </a:solidFill>
                  <a:latin typeface="Roboto" panose="02000000000000000000" pitchFamily="2" charset="0"/>
                  <a:ea typeface="Roboto" panose="02000000000000000000" pitchFamily="2" charset="0"/>
                  <a:cs typeface="Roboto" panose="02000000000000000000" pitchFamily="2" charset="0"/>
                </a:rPr>
                <a:t> </a:t>
              </a:r>
              <a:r>
                <a:rPr lang="en-US" sz="2000" dirty="0">
                  <a:solidFill>
                    <a:srgbClr val="9A0031"/>
                  </a:solidFill>
                  <a:effectLst/>
                  <a:latin typeface="Roboto" panose="02000000000000000000" pitchFamily="2" charset="0"/>
                  <a:ea typeface="Roboto" panose="02000000000000000000" pitchFamily="2" charset="0"/>
                  <a:cs typeface="Roboto" panose="02000000000000000000" pitchFamily="2" charset="0"/>
                </a:rPr>
                <a:t>to higher compensation</a:t>
              </a:r>
              <a:r>
                <a:rPr lang="en-US" sz="2000" dirty="0">
                  <a:effectLst/>
                  <a:latin typeface="Roboto" panose="02000000000000000000" pitchFamily="2" charset="0"/>
                  <a:ea typeface="Roboto" panose="02000000000000000000" pitchFamily="2" charset="0"/>
                  <a:cs typeface="Roboto" panose="02000000000000000000" pitchFamily="2" charset="0"/>
                </a:rPr>
                <a:t>.”</a:t>
              </a:r>
            </a:p>
            <a:p>
              <a:pPr algn="just"/>
              <a:endParaRPr lang="en-US" sz="2000" dirty="0">
                <a:solidFill>
                  <a:srgbClr val="9A0031"/>
                </a:solidFill>
                <a:latin typeface="Roboto" panose="02000000000000000000" pitchFamily="2" charset="0"/>
                <a:ea typeface="Roboto" panose="02000000000000000000" pitchFamily="2" charset="0"/>
                <a:cs typeface="Roboto" panose="02000000000000000000" pitchFamily="2" charset="0"/>
              </a:endParaRPr>
            </a:p>
            <a:p>
              <a:pPr algn="r"/>
              <a:r>
                <a:rPr lang="en-US" sz="1100" i="1" dirty="0">
                  <a:effectLst/>
                  <a:latin typeface="Roboto" panose="02000000000000000000" pitchFamily="2" charset="0"/>
                  <a:ea typeface="Roboto" panose="02000000000000000000" pitchFamily="2" charset="0"/>
                  <a:cs typeface="Roboto" panose="02000000000000000000" pitchFamily="2" charset="0"/>
                </a:rPr>
                <a:t>- </a:t>
              </a:r>
              <a:r>
                <a:rPr lang="en-US" sz="1100" i="1" dirty="0">
                  <a:effectLst/>
                  <a:latin typeface="Helvetica" pitchFamily="2" charset="0"/>
                </a:rPr>
                <a:t>Yasemin </a:t>
              </a:r>
              <a:r>
                <a:rPr lang="en-US" sz="1100" i="1" dirty="0" err="1">
                  <a:effectLst/>
                  <a:latin typeface="Helvetica" pitchFamily="2" charset="0"/>
                </a:rPr>
                <a:t>Acar</a:t>
              </a:r>
              <a:r>
                <a:rPr lang="en-US" sz="1100" i="1" dirty="0">
                  <a:effectLst/>
                  <a:latin typeface="Helvetica" pitchFamily="2" charset="0"/>
                </a:rPr>
                <a:t>, Christian Stransky, Dominik </a:t>
              </a:r>
              <a:r>
                <a:rPr lang="en-US" sz="1100" i="1" dirty="0" err="1">
                  <a:effectLst/>
                  <a:latin typeface="Helvetica" pitchFamily="2" charset="0"/>
                </a:rPr>
                <a:t>Wermke</a:t>
              </a:r>
              <a:r>
                <a:rPr lang="en-US" sz="1100" i="1" dirty="0">
                  <a:effectLst/>
                  <a:latin typeface="Helvetica" pitchFamily="2" charset="0"/>
                </a:rPr>
                <a:t>, Michelle L Mazurek, and Sascha Fahl. Security Developer</a:t>
              </a:r>
              <a:r>
                <a:rPr lang="en-US" sz="1100" dirty="0">
                  <a:latin typeface="Helvetica" pitchFamily="2" charset="0"/>
                </a:rPr>
                <a:t> </a:t>
              </a:r>
              <a:r>
                <a:rPr lang="en-US" sz="1100" i="1" dirty="0">
                  <a:latin typeface="Helvetica" pitchFamily="2" charset="0"/>
                </a:rPr>
                <a:t>S</a:t>
              </a:r>
              <a:r>
                <a:rPr lang="en-US" sz="1100" i="1" dirty="0">
                  <a:effectLst/>
                  <a:latin typeface="Helvetica" pitchFamily="2" charset="0"/>
                </a:rPr>
                <a:t>tudies with GitHub </a:t>
              </a:r>
              <a:r>
                <a:rPr lang="en-US" sz="1100" i="1" dirty="0">
                  <a:latin typeface="Helvetica" pitchFamily="2" charset="0"/>
                </a:rPr>
                <a:t>U</a:t>
              </a:r>
              <a:r>
                <a:rPr lang="en-US" sz="1100" i="1" dirty="0">
                  <a:effectLst/>
                  <a:latin typeface="Helvetica" pitchFamily="2" charset="0"/>
                </a:rPr>
                <a:t>sers: Exploring a Convenience </a:t>
              </a:r>
              <a:r>
                <a:rPr lang="en-US" sz="1100" i="1" dirty="0">
                  <a:latin typeface="Helvetica" pitchFamily="2" charset="0"/>
                </a:rPr>
                <a:t>S</a:t>
              </a:r>
              <a:r>
                <a:rPr lang="en-US" sz="1100" i="1" dirty="0">
                  <a:effectLst/>
                  <a:latin typeface="Helvetica" pitchFamily="2" charset="0"/>
                </a:rPr>
                <a:t>ample. In Thirteenth Symposium on Usable Privacy and</a:t>
              </a:r>
              <a:r>
                <a:rPr lang="en-US" sz="1100" dirty="0">
                  <a:latin typeface="Helvetica" pitchFamily="2" charset="0"/>
                </a:rPr>
                <a:t> </a:t>
              </a:r>
              <a:r>
                <a:rPr lang="en-US" sz="1100" i="1" dirty="0">
                  <a:effectLst/>
                  <a:latin typeface="Helvetica" pitchFamily="2" charset="0"/>
                </a:rPr>
                <a:t>Security (SOUPS 2017).</a:t>
              </a:r>
              <a:endParaRPr lang="en-US" sz="1100" dirty="0">
                <a:effectLst/>
                <a:latin typeface="Helvetica" pitchFamily="2" charset="0"/>
              </a:endParaRPr>
            </a:p>
            <a:p>
              <a:pPr algn="r"/>
              <a:endParaRPr lang="en-US" sz="1100" dirty="0">
                <a:effectLst/>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6E069F1D-01B9-6D9D-7BFE-64C1E938D911}"/>
                </a:ext>
              </a:extLst>
            </p:cNvPr>
            <p:cNvSpPr txBox="1"/>
            <p:nvPr/>
          </p:nvSpPr>
          <p:spPr>
            <a:xfrm>
              <a:off x="1756674" y="4433004"/>
              <a:ext cx="694421" cy="1446550"/>
            </a:xfrm>
            <a:prstGeom prst="rect">
              <a:avLst/>
            </a:prstGeom>
            <a:noFill/>
          </p:spPr>
          <p:txBody>
            <a:bodyPr wrap="none" rtlCol="0">
              <a:spAutoFit/>
            </a:bodyPr>
            <a:lstStyle/>
            <a:p>
              <a:r>
                <a:rPr lang="en-US" sz="8800" dirty="0">
                  <a:solidFill>
                    <a:srgbClr val="FFC10E"/>
                  </a:solidFill>
                </a:rPr>
                <a:t>“</a:t>
              </a:r>
              <a:endParaRPr lang="en-US" dirty="0">
                <a:solidFill>
                  <a:srgbClr val="FFC10E"/>
                </a:solidFill>
              </a:endParaRPr>
            </a:p>
          </p:txBody>
        </p:sp>
      </p:grpSp>
      <p:sp>
        <p:nvSpPr>
          <p:cNvPr id="13" name="Title 1">
            <a:extLst>
              <a:ext uri="{FF2B5EF4-FFF2-40B4-BE49-F238E27FC236}">
                <a16:creationId xmlns:a16="http://schemas.microsoft.com/office/drawing/2014/main" id="{1C4F4E54-719B-51A6-6348-5499FD806872}"/>
              </a:ext>
            </a:extLst>
          </p:cNvPr>
          <p:cNvSpPr>
            <a:spLocks noGrp="1"/>
          </p:cNvSpPr>
          <p:nvPr>
            <p:ph type="title"/>
          </p:nvPr>
        </p:nvSpPr>
        <p:spPr>
          <a:xfrm>
            <a:off x="838200" y="365125"/>
            <a:ext cx="10515600" cy="1325563"/>
          </a:xfrm>
        </p:spPr>
        <p:txBody>
          <a:bodyPr/>
          <a:lstStyle/>
          <a:p>
            <a:r>
              <a:rPr lang="en-US" dirty="0">
                <a:solidFill>
                  <a:srgbClr val="9A0031"/>
                </a:solidFill>
                <a:latin typeface="Fjalla One" panose="02000506040000020004" pitchFamily="2" charset="0"/>
              </a:rPr>
              <a:t>Recruitment Challenges - Experts</a:t>
            </a:r>
          </a:p>
        </p:txBody>
      </p:sp>
      <p:sp>
        <p:nvSpPr>
          <p:cNvPr id="2" name="TextBox 1">
            <a:extLst>
              <a:ext uri="{FF2B5EF4-FFF2-40B4-BE49-F238E27FC236}">
                <a16:creationId xmlns:a16="http://schemas.microsoft.com/office/drawing/2014/main" id="{8213EEAC-419F-DA82-AE8F-1E73B29EDED5}"/>
              </a:ext>
            </a:extLst>
          </p:cNvPr>
          <p:cNvSpPr txBox="1"/>
          <p:nvPr/>
        </p:nvSpPr>
        <p:spPr>
          <a:xfrm>
            <a:off x="838200" y="6321365"/>
            <a:ext cx="10122725" cy="400110"/>
          </a:xfrm>
          <a:prstGeom prst="rect">
            <a:avLst/>
          </a:prstGeom>
          <a:noFill/>
        </p:spPr>
        <p:txBody>
          <a:bodyPr wrap="square" rtlCol="0">
            <a:spAutoFit/>
          </a:bodyPr>
          <a:lstStyle/>
          <a:p>
            <a:r>
              <a:rPr lang="en-US" sz="1000" dirty="0">
                <a:effectLst/>
                <a:latin typeface="Roboto" panose="02000000000000000000" pitchFamily="2" charset="0"/>
                <a:ea typeface="Roboto" panose="02000000000000000000" pitchFamily="2" charset="0"/>
                <a:cs typeface="Roboto" panose="02000000000000000000" pitchFamily="2" charset="0"/>
              </a:rPr>
              <a:t>[35] Harjot Kaur, Sabrina </a:t>
            </a:r>
            <a:r>
              <a:rPr lang="en-US" sz="1000" dirty="0" err="1">
                <a:effectLst/>
                <a:latin typeface="Roboto" panose="02000000000000000000" pitchFamily="2" charset="0"/>
                <a:ea typeface="Roboto" panose="02000000000000000000" pitchFamily="2" charset="0"/>
                <a:cs typeface="Roboto" panose="02000000000000000000" pitchFamily="2" charset="0"/>
              </a:rPr>
              <a:t>Amft</a:t>
            </a:r>
            <a:r>
              <a:rPr lang="en-US" sz="1000" dirty="0">
                <a:effectLst/>
                <a:latin typeface="Roboto" panose="02000000000000000000" pitchFamily="2" charset="0"/>
                <a:ea typeface="Roboto" panose="02000000000000000000" pitchFamily="2" charset="0"/>
                <a:cs typeface="Roboto" panose="02000000000000000000" pitchFamily="2" charset="0"/>
              </a:rPr>
              <a:t>, Daniel </a:t>
            </a:r>
            <a:r>
              <a:rPr lang="en-US" sz="1000" dirty="0" err="1">
                <a:effectLst/>
                <a:latin typeface="Roboto" panose="02000000000000000000" pitchFamily="2" charset="0"/>
                <a:ea typeface="Roboto" panose="02000000000000000000" pitchFamily="2" charset="0"/>
                <a:cs typeface="Roboto" panose="02000000000000000000" pitchFamily="2" charset="0"/>
              </a:rPr>
              <a:t>Votipka</a:t>
            </a:r>
            <a:r>
              <a:rPr lang="en-US" sz="1000" dirty="0">
                <a:effectLst/>
                <a:latin typeface="Roboto" panose="02000000000000000000" pitchFamily="2" charset="0"/>
                <a:ea typeface="Roboto" panose="02000000000000000000" pitchFamily="2" charset="0"/>
                <a:cs typeface="Roboto" panose="02000000000000000000" pitchFamily="2" charset="0"/>
              </a:rPr>
              <a:t>, Yasemin </a:t>
            </a:r>
            <a:r>
              <a:rPr lang="en-US" sz="1000" dirty="0" err="1">
                <a:effectLst/>
                <a:latin typeface="Roboto" panose="02000000000000000000" pitchFamily="2" charset="0"/>
                <a:ea typeface="Roboto" panose="02000000000000000000" pitchFamily="2" charset="0"/>
                <a:cs typeface="Roboto" panose="02000000000000000000" pitchFamily="2" charset="0"/>
              </a:rPr>
              <a:t>Acar</a:t>
            </a:r>
            <a:r>
              <a:rPr lang="en-US" sz="1000" dirty="0">
                <a:effectLst/>
                <a:latin typeface="Roboto" panose="02000000000000000000" pitchFamily="2" charset="0"/>
                <a:ea typeface="Roboto" panose="02000000000000000000" pitchFamily="2" charset="0"/>
                <a:cs typeface="Roboto" panose="02000000000000000000" pitchFamily="2" charset="0"/>
              </a:rPr>
              <a:t>, and Sascha Fahl. Where to Recruit for Security </a:t>
            </a:r>
            <a:r>
              <a:rPr lang="en-US" sz="1000" dirty="0">
                <a:latin typeface="Roboto" panose="02000000000000000000" pitchFamily="2" charset="0"/>
                <a:ea typeface="Roboto" panose="02000000000000000000" pitchFamily="2" charset="0"/>
                <a:cs typeface="Roboto" panose="02000000000000000000" pitchFamily="2" charset="0"/>
              </a:rPr>
              <a:t>D</a:t>
            </a:r>
            <a:r>
              <a:rPr lang="en-US" sz="1000" dirty="0">
                <a:effectLst/>
                <a:latin typeface="Roboto" panose="02000000000000000000" pitchFamily="2" charset="0"/>
                <a:ea typeface="Roboto" panose="02000000000000000000" pitchFamily="2" charset="0"/>
                <a:cs typeface="Roboto" panose="02000000000000000000" pitchFamily="2" charset="0"/>
              </a:rPr>
              <a:t>evelopment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tudies: Comparing Six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oftware </a:t>
            </a:r>
            <a:r>
              <a:rPr lang="en-US" sz="1000" dirty="0">
                <a:latin typeface="Roboto" panose="02000000000000000000" pitchFamily="2" charset="0"/>
                <a:ea typeface="Roboto" panose="02000000000000000000" pitchFamily="2" charset="0"/>
                <a:cs typeface="Roboto" panose="02000000000000000000" pitchFamily="2" charset="0"/>
              </a:rPr>
              <a:t>D</a:t>
            </a:r>
            <a:r>
              <a:rPr lang="en-US" sz="1000" dirty="0">
                <a:effectLst/>
                <a:latin typeface="Roboto" panose="02000000000000000000" pitchFamily="2" charset="0"/>
                <a:ea typeface="Roboto" panose="02000000000000000000" pitchFamily="2" charset="0"/>
                <a:cs typeface="Roboto" panose="02000000000000000000" pitchFamily="2" charset="0"/>
              </a:rPr>
              <a:t>eveloper </a:t>
            </a:r>
            <a:r>
              <a:rPr lang="en-US" sz="1000" dirty="0">
                <a:latin typeface="Roboto" panose="02000000000000000000" pitchFamily="2" charset="0"/>
                <a:ea typeface="Roboto" panose="02000000000000000000" pitchFamily="2" charset="0"/>
                <a:cs typeface="Roboto" panose="02000000000000000000" pitchFamily="2" charset="0"/>
              </a:rPr>
              <a:t>S</a:t>
            </a:r>
            <a:r>
              <a:rPr lang="en-US" sz="1000" dirty="0">
                <a:effectLst/>
                <a:latin typeface="Roboto" panose="02000000000000000000" pitchFamily="2" charset="0"/>
                <a:ea typeface="Roboto" panose="02000000000000000000" pitchFamily="2" charset="0"/>
                <a:cs typeface="Roboto" panose="02000000000000000000" pitchFamily="2" charset="0"/>
              </a:rPr>
              <a:t>amples. In 31st USENIX Security Symposium, 2022.</a:t>
            </a:r>
          </a:p>
        </p:txBody>
      </p:sp>
      <p:sp>
        <p:nvSpPr>
          <p:cNvPr id="11" name="Slide Number Placeholder 10">
            <a:extLst>
              <a:ext uri="{FF2B5EF4-FFF2-40B4-BE49-F238E27FC236}">
                <a16:creationId xmlns:a16="http://schemas.microsoft.com/office/drawing/2014/main" id="{4CED6113-20E3-3680-ED30-3AB70ED9578E}"/>
              </a:ext>
            </a:extLst>
          </p:cNvPr>
          <p:cNvSpPr>
            <a:spLocks noGrp="1"/>
          </p:cNvSpPr>
          <p:nvPr>
            <p:ph type="sldNum" sz="quarter" idx="12"/>
          </p:nvPr>
        </p:nvSpPr>
        <p:spPr/>
        <p:txBody>
          <a:bodyPr/>
          <a:lstStyle/>
          <a:p>
            <a:fld id="{835FE90F-C88A-C24D-9FD5-52F0990CFAC0}" type="slidenum">
              <a:rPr lang="en-US" smtClean="0"/>
              <a:t>32</a:t>
            </a:fld>
            <a:endParaRPr lang="en-US"/>
          </a:p>
        </p:txBody>
      </p:sp>
    </p:spTree>
    <p:extLst>
      <p:ext uri="{BB962C8B-B14F-4D97-AF65-F5344CB8AC3E}">
        <p14:creationId xmlns:p14="http://schemas.microsoft.com/office/powerpoint/2010/main" val="438509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A968A-9AFC-AD77-1D12-4A9980ABE4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88000E-9BAB-7D08-C5EB-D89668717D7F}"/>
              </a:ext>
            </a:extLst>
          </p:cNvPr>
          <p:cNvSpPr>
            <a:spLocks noGrp="1"/>
          </p:cNvSpPr>
          <p:nvPr>
            <p:ph idx="1"/>
          </p:nvPr>
        </p:nvSpPr>
        <p:spPr>
          <a:xfrm>
            <a:off x="838200" y="1825625"/>
            <a:ext cx="10515600" cy="3313045"/>
          </a:xfrm>
        </p:spPr>
        <p:txBody>
          <a:bodyPr>
            <a:normAutofit/>
          </a:bodyPr>
          <a:lstStyle/>
          <a:p>
            <a:r>
              <a:rPr lang="en-US" sz="2400" dirty="0">
                <a:latin typeface="Roboto" panose="02000000000000000000" pitchFamily="2" charset="0"/>
                <a:ea typeface="Roboto" panose="02000000000000000000" pitchFamily="2" charset="0"/>
                <a:cs typeface="Roboto" panose="02000000000000000000" pitchFamily="2" charset="0"/>
              </a:rPr>
              <a:t>Cybersecurity is not just about technology—it’s about people</a:t>
            </a:r>
          </a:p>
          <a:p>
            <a:pPr>
              <a:buFont typeface="Arial" panose="020B0604020202020204" pitchFamily="34" charset="0"/>
              <a:buChar char="•"/>
            </a:pPr>
            <a:r>
              <a:rPr lang="en-US" sz="2400" dirty="0">
                <a:latin typeface="Roboto" panose="02000000000000000000" pitchFamily="2" charset="0"/>
                <a:ea typeface="Roboto" panose="02000000000000000000" pitchFamily="2" charset="0"/>
                <a:cs typeface="Roboto" panose="02000000000000000000" pitchFamily="2" charset="0"/>
              </a:rPr>
              <a:t>We must continue to:</a:t>
            </a:r>
          </a:p>
          <a:p>
            <a:pPr lvl="1"/>
            <a:r>
              <a:rPr lang="en-US" sz="2000" dirty="0">
                <a:latin typeface="Roboto" panose="02000000000000000000" pitchFamily="2" charset="0"/>
                <a:ea typeface="Roboto" panose="02000000000000000000" pitchFamily="2" charset="0"/>
                <a:cs typeface="Roboto" panose="02000000000000000000" pitchFamily="2" charset="0"/>
              </a:rPr>
              <a:t>Design security that aligns with real-world user behavior</a:t>
            </a:r>
          </a:p>
          <a:p>
            <a:pPr lvl="1"/>
            <a:r>
              <a:rPr lang="en-US" sz="2000" dirty="0">
                <a:latin typeface="Roboto" panose="02000000000000000000" pitchFamily="2" charset="0"/>
                <a:ea typeface="Roboto" panose="02000000000000000000" pitchFamily="2" charset="0"/>
                <a:cs typeface="Roboto" panose="02000000000000000000" pitchFamily="2" charset="0"/>
              </a:rPr>
              <a:t>Improve methodological rigor in qualitative cybersecurity research</a:t>
            </a:r>
          </a:p>
          <a:p>
            <a:pPr lvl="2"/>
            <a:r>
              <a:rPr lang="en-US" sz="1600" dirty="0">
                <a:latin typeface="Roboto" panose="02000000000000000000" pitchFamily="2" charset="0"/>
                <a:ea typeface="Roboto" panose="02000000000000000000" pitchFamily="2" charset="0"/>
                <a:cs typeface="Roboto" panose="02000000000000000000" pitchFamily="2" charset="0"/>
              </a:rPr>
              <a:t>E.g., self-reporting biases [36], empirical methods [37], transparent reporting [38]</a:t>
            </a:r>
          </a:p>
          <a:p>
            <a:pPr lvl="1"/>
            <a:r>
              <a:rPr lang="en-US" sz="2000" dirty="0">
                <a:latin typeface="Roboto" panose="02000000000000000000" pitchFamily="2" charset="0"/>
                <a:ea typeface="Roboto" panose="02000000000000000000" pitchFamily="2" charset="0"/>
                <a:cs typeface="Roboto" panose="02000000000000000000" pitchFamily="2" charset="0"/>
              </a:rPr>
              <a:t>Understand how we evaluate security research itself</a:t>
            </a:r>
          </a:p>
          <a:p>
            <a:pPr lvl="2"/>
            <a:r>
              <a:rPr lang="en-US" sz="1600" dirty="0">
                <a:latin typeface="Roboto" panose="02000000000000000000" pitchFamily="2" charset="0"/>
                <a:ea typeface="Roboto" panose="02000000000000000000" pitchFamily="2" charset="0"/>
                <a:cs typeface="Roboto" panose="02000000000000000000" pitchFamily="2" charset="0"/>
              </a:rPr>
              <a:t>E.g., peer review process [39]</a:t>
            </a:r>
            <a:endParaRPr lang="en-US" sz="2000" dirty="0">
              <a:latin typeface="Roboto" panose="02000000000000000000" pitchFamily="2" charset="0"/>
              <a:ea typeface="Roboto" panose="02000000000000000000" pitchFamily="2" charset="0"/>
              <a:cs typeface="Roboto" panose="02000000000000000000" pitchFamily="2" charset="0"/>
            </a:endParaRPr>
          </a:p>
          <a:p>
            <a:r>
              <a:rPr lang="en-US" sz="2400" dirty="0">
                <a:latin typeface="Roboto" panose="02000000000000000000" pitchFamily="2" charset="0"/>
                <a:ea typeface="Roboto" panose="02000000000000000000" pitchFamily="2" charset="0"/>
                <a:cs typeface="Roboto" panose="02000000000000000000" pitchFamily="2" charset="0"/>
              </a:rPr>
              <a:t>A human-centered approach for stronger, more effective security practices</a:t>
            </a:r>
          </a:p>
        </p:txBody>
      </p:sp>
      <p:sp>
        <p:nvSpPr>
          <p:cNvPr id="5" name="Title 1">
            <a:extLst>
              <a:ext uri="{FF2B5EF4-FFF2-40B4-BE49-F238E27FC236}">
                <a16:creationId xmlns:a16="http://schemas.microsoft.com/office/drawing/2014/main" id="{1A516D06-53AE-FA48-7DBA-160C5EA28135}"/>
              </a:ext>
            </a:extLst>
          </p:cNvPr>
          <p:cNvSpPr>
            <a:spLocks noGrp="1"/>
          </p:cNvSpPr>
          <p:nvPr>
            <p:ph type="title"/>
          </p:nvPr>
        </p:nvSpPr>
        <p:spPr>
          <a:xfrm>
            <a:off x="838200" y="365125"/>
            <a:ext cx="10515600" cy="1325563"/>
          </a:xfrm>
        </p:spPr>
        <p:txBody>
          <a:bodyPr/>
          <a:lstStyle/>
          <a:p>
            <a:r>
              <a:rPr lang="en-US" dirty="0">
                <a:solidFill>
                  <a:srgbClr val="9A0031"/>
                </a:solidFill>
                <a:latin typeface="Fjalla One" panose="02000506040000020004" pitchFamily="2" charset="0"/>
              </a:rPr>
              <a:t>Moving Forward!</a:t>
            </a:r>
          </a:p>
        </p:txBody>
      </p:sp>
      <p:sp>
        <p:nvSpPr>
          <p:cNvPr id="2" name="TextBox 1">
            <a:extLst>
              <a:ext uri="{FF2B5EF4-FFF2-40B4-BE49-F238E27FC236}">
                <a16:creationId xmlns:a16="http://schemas.microsoft.com/office/drawing/2014/main" id="{C8D2F913-332F-E8D0-C29C-0B9C3222AE12}"/>
              </a:ext>
            </a:extLst>
          </p:cNvPr>
          <p:cNvSpPr txBox="1"/>
          <p:nvPr/>
        </p:nvSpPr>
        <p:spPr>
          <a:xfrm>
            <a:off x="838200" y="5396248"/>
            <a:ext cx="10515600" cy="1323439"/>
          </a:xfrm>
          <a:prstGeom prst="rect">
            <a:avLst/>
          </a:prstGeom>
          <a:noFill/>
        </p:spPr>
        <p:txBody>
          <a:bodyPr wrap="square" rtlCol="0">
            <a:spAutoFit/>
          </a:bodyPr>
          <a:lstStyle/>
          <a:p>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36</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Redmiles, Elissa M.,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Ziyun</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Zhu, Sean Kross, Dhruv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Kuchhal</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Tudor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Dumitras</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and Michelle L. Mazurek. Asking for a friend: Evaluating Response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B</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iases in Security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U</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ser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S</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tudies." In </a:t>
            </a:r>
            <a:r>
              <a:rPr lang="en-US" sz="1000" b="0" i="1" dirty="0">
                <a:solidFill>
                  <a:srgbClr val="222222"/>
                </a:solidFill>
                <a:effectLst/>
                <a:latin typeface="Roboto" panose="02000000000000000000" pitchFamily="2" charset="0"/>
                <a:ea typeface="Roboto" panose="02000000000000000000" pitchFamily="2" charset="0"/>
                <a:cs typeface="Roboto" panose="02000000000000000000" pitchFamily="2" charset="0"/>
              </a:rPr>
              <a:t>Proceedings of the 2018 ACM SIGSAC</a:t>
            </a:r>
            <a:r>
              <a:rPr lang="en-US" sz="1000" i="1" dirty="0">
                <a:solidFill>
                  <a:srgbClr val="222222"/>
                </a:solidFill>
                <a:latin typeface="Roboto" panose="02000000000000000000" pitchFamily="2" charset="0"/>
                <a:ea typeface="Roboto" panose="02000000000000000000" pitchFamily="2" charset="0"/>
                <a:cs typeface="Roboto" panose="02000000000000000000" pitchFamily="2" charset="0"/>
              </a:rPr>
              <a:t> C</a:t>
            </a:r>
            <a:r>
              <a:rPr lang="en-US" sz="1000" b="0" i="1" dirty="0">
                <a:solidFill>
                  <a:srgbClr val="222222"/>
                </a:solidFill>
                <a:effectLst/>
                <a:latin typeface="Roboto" panose="02000000000000000000" pitchFamily="2" charset="0"/>
                <a:ea typeface="Roboto" panose="02000000000000000000" pitchFamily="2" charset="0"/>
                <a:cs typeface="Roboto" panose="02000000000000000000" pitchFamily="2" charset="0"/>
              </a:rPr>
              <a:t>onference on Computer and Communications </a:t>
            </a:r>
            <a:r>
              <a:rPr lang="en-US" sz="1000" i="1" dirty="0">
                <a:solidFill>
                  <a:srgbClr val="222222"/>
                </a:solidFill>
                <a:latin typeface="Roboto" panose="02000000000000000000" pitchFamily="2" charset="0"/>
                <a:ea typeface="Roboto" panose="02000000000000000000" pitchFamily="2" charset="0"/>
                <a:cs typeface="Roboto" panose="02000000000000000000" pitchFamily="2" charset="0"/>
              </a:rPr>
              <a:t>S</a:t>
            </a:r>
            <a:r>
              <a:rPr lang="en-US" sz="1000" b="0" i="1" dirty="0">
                <a:solidFill>
                  <a:srgbClr val="222222"/>
                </a:solidFill>
                <a:effectLst/>
                <a:latin typeface="Roboto" panose="02000000000000000000" pitchFamily="2" charset="0"/>
                <a:ea typeface="Roboto" panose="02000000000000000000" pitchFamily="2" charset="0"/>
                <a:cs typeface="Roboto" panose="02000000000000000000" pitchFamily="2" charset="0"/>
              </a:rPr>
              <a:t>ecurity</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2018.</a:t>
            </a:r>
          </a:p>
          <a:p>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37</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Distler, Verena, Matthias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Fassl</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Hana Habib, Katharina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Krombholz</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Gabriele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Lenzini</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Carine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Lallemand</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Lorrie Faith Cranor, and Vincent Koenig.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A</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S</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ystematic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L</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iterature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R</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eview of Empirical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M</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ethods and Risk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R</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epresentation in Usable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P</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rivacy and Security </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R</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esearch. </a:t>
            </a:r>
            <a:r>
              <a:rPr lang="en-US" sz="1000" b="0" i="1" dirty="0">
                <a:solidFill>
                  <a:srgbClr val="222222"/>
                </a:solidFill>
                <a:effectLst/>
                <a:latin typeface="Roboto" panose="02000000000000000000" pitchFamily="2" charset="0"/>
                <a:ea typeface="Roboto" panose="02000000000000000000" pitchFamily="2" charset="0"/>
                <a:cs typeface="Roboto" panose="02000000000000000000" pitchFamily="2" charset="0"/>
              </a:rPr>
              <a:t>ACM Transactions on Computer-Human Interaction (TOCHI)</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 2021.</a:t>
            </a:r>
          </a:p>
          <a:p>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38</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Klemmer, Jan H., Juliane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Schmüser</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Byron M.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Lowens</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Fabian Fischer, Lea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Schmüser</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Florian Schaub, and Sascha Fahl. Transparency in Usable Privacy and Security Research: Scholars’ Perspectives, Practices, and Recommendations. In </a:t>
            </a:r>
            <a:r>
              <a:rPr lang="en-US" sz="1000" b="0" i="1" dirty="0">
                <a:solidFill>
                  <a:srgbClr val="222222"/>
                </a:solidFill>
                <a:effectLst/>
                <a:latin typeface="Roboto" panose="02000000000000000000" pitchFamily="2" charset="0"/>
                <a:ea typeface="Roboto" panose="02000000000000000000" pitchFamily="2" charset="0"/>
                <a:cs typeface="Roboto" panose="02000000000000000000" pitchFamily="2" charset="0"/>
              </a:rPr>
              <a:t>2025 IEEE Symposium on Security and Privacy (SP).</a:t>
            </a:r>
          </a:p>
          <a:p>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[39] Soneji, Ananta, Faris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Bugra</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Kokulu</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Carlos Rubio-Medrano, Tiffany Bao,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Ruoyu</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Wang, Yan </a:t>
            </a:r>
            <a:r>
              <a:rPr lang="en-US" sz="1000" b="0" i="0" dirty="0" err="1">
                <a:solidFill>
                  <a:srgbClr val="222222"/>
                </a:solidFill>
                <a:effectLst/>
                <a:latin typeface="Roboto" panose="02000000000000000000" pitchFamily="2" charset="0"/>
                <a:ea typeface="Roboto" panose="02000000000000000000" pitchFamily="2" charset="0"/>
                <a:cs typeface="Roboto" panose="02000000000000000000" pitchFamily="2" charset="0"/>
              </a:rPr>
              <a:t>Shoshitaishvili</a:t>
            </a:r>
            <a:r>
              <a:rPr lang="en-US" sz="1000" b="0" i="0" dirty="0">
                <a:solidFill>
                  <a:srgbClr val="222222"/>
                </a:solidFill>
                <a:effectLst/>
                <a:latin typeface="Roboto" panose="02000000000000000000" pitchFamily="2" charset="0"/>
                <a:ea typeface="Roboto" panose="02000000000000000000" pitchFamily="2" charset="0"/>
                <a:cs typeface="Roboto" panose="02000000000000000000" pitchFamily="2" charset="0"/>
              </a:rPr>
              <a:t>, and Adam Doupé. “Flawed, but like democracy we don’t have a better system”: The Experts’ Insights on the Peer Review Process of Evaluating Security Papers. In </a:t>
            </a:r>
            <a:r>
              <a:rPr lang="en-US" sz="1000" b="0" i="1" dirty="0">
                <a:solidFill>
                  <a:srgbClr val="222222"/>
                </a:solidFill>
                <a:effectLst/>
                <a:latin typeface="Roboto" panose="02000000000000000000" pitchFamily="2" charset="0"/>
                <a:ea typeface="Roboto" panose="02000000000000000000" pitchFamily="2" charset="0"/>
                <a:cs typeface="Roboto" panose="02000000000000000000" pitchFamily="2" charset="0"/>
              </a:rPr>
              <a:t>2022 IEEE Symposium on Security and Privacy (SP)</a:t>
            </a:r>
            <a:r>
              <a:rPr lang="en-US" sz="1000" dirty="0">
                <a:solidFill>
                  <a:srgbClr val="222222"/>
                </a:solidFill>
                <a:latin typeface="Roboto" panose="02000000000000000000" pitchFamily="2" charset="0"/>
                <a:ea typeface="Roboto" panose="02000000000000000000" pitchFamily="2" charset="0"/>
                <a:cs typeface="Roboto" panose="02000000000000000000" pitchFamily="2" charset="0"/>
              </a:rPr>
              <a:t>.</a:t>
            </a:r>
            <a:endParaRPr lang="en-US" sz="1000" dirty="0">
              <a:latin typeface="Roboto" panose="02000000000000000000" pitchFamily="2" charset="0"/>
              <a:ea typeface="Roboto" panose="02000000000000000000" pitchFamily="2" charset="0"/>
              <a:cs typeface="Roboto" panose="02000000000000000000" pitchFamily="2" charset="0"/>
            </a:endParaRPr>
          </a:p>
        </p:txBody>
      </p:sp>
      <p:sp>
        <p:nvSpPr>
          <p:cNvPr id="8" name="Slide Number Placeholder 7">
            <a:extLst>
              <a:ext uri="{FF2B5EF4-FFF2-40B4-BE49-F238E27FC236}">
                <a16:creationId xmlns:a16="http://schemas.microsoft.com/office/drawing/2014/main" id="{C5C78A1A-9E5C-CA64-9ED9-70AD921184BC}"/>
              </a:ext>
            </a:extLst>
          </p:cNvPr>
          <p:cNvSpPr>
            <a:spLocks noGrp="1"/>
          </p:cNvSpPr>
          <p:nvPr>
            <p:ph type="sldNum" sz="quarter" idx="12"/>
          </p:nvPr>
        </p:nvSpPr>
        <p:spPr/>
        <p:txBody>
          <a:bodyPr/>
          <a:lstStyle/>
          <a:p>
            <a:fld id="{835FE90F-C88A-C24D-9FD5-52F0990CFAC0}" type="slidenum">
              <a:rPr lang="en-US" smtClean="0"/>
              <a:t>33</a:t>
            </a:fld>
            <a:endParaRPr lang="en-US"/>
          </a:p>
        </p:txBody>
      </p:sp>
    </p:spTree>
    <p:extLst>
      <p:ext uri="{BB962C8B-B14F-4D97-AF65-F5344CB8AC3E}">
        <p14:creationId xmlns:p14="http://schemas.microsoft.com/office/powerpoint/2010/main" val="2680991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F407C-71C7-52FA-131F-FA013FC31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4CB63-1599-4D3E-F2E9-24D083E40295}"/>
              </a:ext>
            </a:extLst>
          </p:cNvPr>
          <p:cNvSpPr>
            <a:spLocks noGrp="1"/>
          </p:cNvSpPr>
          <p:nvPr>
            <p:ph type="title"/>
          </p:nvPr>
        </p:nvSpPr>
        <p:spPr>
          <a:xfrm>
            <a:off x="4782891" y="2240588"/>
            <a:ext cx="2626217" cy="1188412"/>
          </a:xfrm>
        </p:spPr>
        <p:txBody>
          <a:bodyPr>
            <a:normAutofit/>
          </a:bodyPr>
          <a:lstStyle/>
          <a:p>
            <a:r>
              <a:rPr lang="en-US" dirty="0">
                <a:solidFill>
                  <a:srgbClr val="9A0031"/>
                </a:solidFill>
                <a:latin typeface="Fjalla One" panose="02000506040000020004" pitchFamily="2" charset="0"/>
              </a:rPr>
              <a:t>Thank you!</a:t>
            </a:r>
          </a:p>
        </p:txBody>
      </p:sp>
      <p:sp>
        <p:nvSpPr>
          <p:cNvPr id="3" name="TextBox 2">
            <a:extLst>
              <a:ext uri="{FF2B5EF4-FFF2-40B4-BE49-F238E27FC236}">
                <a16:creationId xmlns:a16="http://schemas.microsoft.com/office/drawing/2014/main" id="{447392E3-9E84-F34B-E33A-97D7D7003AD8}"/>
              </a:ext>
            </a:extLst>
          </p:cNvPr>
          <p:cNvSpPr txBox="1"/>
          <p:nvPr/>
        </p:nvSpPr>
        <p:spPr>
          <a:xfrm>
            <a:off x="4880852" y="3429000"/>
            <a:ext cx="2528256" cy="830997"/>
          </a:xfrm>
          <a:prstGeom prst="rect">
            <a:avLst/>
          </a:prstGeom>
          <a:noFill/>
        </p:spPr>
        <p:txBody>
          <a:bodyPr wrap="none" rtlCol="0">
            <a:spAutoFit/>
          </a:bodyPr>
          <a:lstStyle/>
          <a:p>
            <a:pPr algn="ctr"/>
            <a:r>
              <a:rPr lang="en-US" sz="2400" dirty="0">
                <a:latin typeface="Roboto" panose="02000000000000000000" pitchFamily="2" charset="0"/>
                <a:ea typeface="Roboto" panose="02000000000000000000" pitchFamily="2" charset="0"/>
                <a:cs typeface="Roboto" panose="02000000000000000000" pitchFamily="2" charset="0"/>
              </a:rPr>
              <a:t>Ananta Soneji</a:t>
            </a:r>
          </a:p>
          <a:p>
            <a:pPr algn="ctr"/>
            <a:r>
              <a:rPr lang="en-US" sz="2400" dirty="0" err="1">
                <a:latin typeface="Roboto" panose="02000000000000000000" pitchFamily="2" charset="0"/>
                <a:ea typeface="Roboto" panose="02000000000000000000" pitchFamily="2" charset="0"/>
                <a:cs typeface="Roboto" panose="02000000000000000000" pitchFamily="2" charset="0"/>
              </a:rPr>
              <a:t>asoneji@asu.edu</a:t>
            </a:r>
            <a:endParaRPr lang="en-US" sz="2400" dirty="0">
              <a:latin typeface="Roboto" panose="02000000000000000000" pitchFamily="2" charset="0"/>
              <a:ea typeface="Roboto" panose="02000000000000000000" pitchFamily="2" charset="0"/>
              <a:cs typeface="Roboto" panose="02000000000000000000" pitchFamily="2" charset="0"/>
            </a:endParaRPr>
          </a:p>
        </p:txBody>
      </p:sp>
      <p:sp>
        <p:nvSpPr>
          <p:cNvPr id="7" name="Slide Number Placeholder 6">
            <a:extLst>
              <a:ext uri="{FF2B5EF4-FFF2-40B4-BE49-F238E27FC236}">
                <a16:creationId xmlns:a16="http://schemas.microsoft.com/office/drawing/2014/main" id="{DAA12C2E-F661-9A2F-310E-A0EA7A925A0D}"/>
              </a:ext>
            </a:extLst>
          </p:cNvPr>
          <p:cNvSpPr>
            <a:spLocks noGrp="1"/>
          </p:cNvSpPr>
          <p:nvPr>
            <p:ph type="sldNum" sz="quarter" idx="12"/>
          </p:nvPr>
        </p:nvSpPr>
        <p:spPr/>
        <p:txBody>
          <a:bodyPr/>
          <a:lstStyle/>
          <a:p>
            <a:fld id="{835FE90F-C88A-C24D-9FD5-52F0990CFAC0}" type="slidenum">
              <a:rPr lang="en-US" smtClean="0"/>
              <a:t>34</a:t>
            </a:fld>
            <a:endParaRPr lang="en-US"/>
          </a:p>
        </p:txBody>
      </p:sp>
    </p:spTree>
    <p:extLst>
      <p:ext uri="{BB962C8B-B14F-4D97-AF65-F5344CB8AC3E}">
        <p14:creationId xmlns:p14="http://schemas.microsoft.com/office/powerpoint/2010/main" val="7919633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93945</TotalTime>
  <Words>7695</Words>
  <Application>Microsoft Macintosh PowerPoint</Application>
  <PresentationFormat>Widescreen</PresentationFormat>
  <Paragraphs>635</Paragraphs>
  <Slides>34</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Aptos Display</vt:lpstr>
      <vt:lpstr>Arial</vt:lpstr>
      <vt:lpstr>Fjalla One</vt:lpstr>
      <vt:lpstr>Helvetica</vt:lpstr>
      <vt:lpstr>Roboto</vt:lpstr>
      <vt:lpstr>Office Theme</vt:lpstr>
      <vt:lpstr>Understanding Human Factors in Cybersecurity Research</vt:lpstr>
      <vt:lpstr>PowerPoint Presentation</vt:lpstr>
      <vt:lpstr>Humans: A Weak Link?</vt:lpstr>
      <vt:lpstr>Human Lapses in Cybersecurity</vt:lpstr>
      <vt:lpstr>What about Technical Solutions?</vt:lpstr>
      <vt:lpstr>Paradox: Advice vs Practice</vt:lpstr>
      <vt:lpstr>Example 1: Password Security Dilemma</vt:lpstr>
      <vt:lpstr>Security Decisions as a (Rational) Choice</vt:lpstr>
      <vt:lpstr>Security vs. Usability – A Longstanding Conflict</vt:lpstr>
      <vt:lpstr>PowerPoint Presentation</vt:lpstr>
      <vt:lpstr>User Mental Models </vt:lpstr>
      <vt:lpstr>Quick Recap</vt:lpstr>
      <vt:lpstr>PowerPoint Presentation</vt:lpstr>
      <vt:lpstr>Three Seminal Works</vt:lpstr>
      <vt:lpstr>Types</vt:lpstr>
      <vt:lpstr>Methods</vt:lpstr>
      <vt:lpstr>Target Population</vt:lpstr>
      <vt:lpstr>Research Methods</vt:lpstr>
      <vt:lpstr>PowerPoint Presentation</vt:lpstr>
      <vt:lpstr>Why Chose Qualitative Methods?</vt:lpstr>
      <vt:lpstr>Semi-structured Interviews</vt:lpstr>
      <vt:lpstr>Focus Groups</vt:lpstr>
      <vt:lpstr>Survey Methodology</vt:lpstr>
      <vt:lpstr>Best of both? Mixed-Methods Approach</vt:lpstr>
      <vt:lpstr>Recruitment Strategies</vt:lpstr>
      <vt:lpstr>Recruitment Strategies [contd.]</vt:lpstr>
      <vt:lpstr>Analysis Methods, Tools, and Reliability Metrics</vt:lpstr>
      <vt:lpstr>Reporting Qualitative Results</vt:lpstr>
      <vt:lpstr>Interpreting Qualitative Results</vt:lpstr>
      <vt:lpstr>Ethical Considerations</vt:lpstr>
      <vt:lpstr>Challenges: Qualitative Human Factors Studies</vt:lpstr>
      <vt:lpstr>Recruitment Challenges - Experts</vt:lpstr>
      <vt:lpstr>Moving Forward!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Ananta Soneji (Student)</dc:creator>
  <cp:lastModifiedBy>Ananta Soneji</cp:lastModifiedBy>
  <cp:revision>116</cp:revision>
  <dcterms:created xsi:type="dcterms:W3CDTF">2024-09-13T18:59:23Z</dcterms:created>
  <dcterms:modified xsi:type="dcterms:W3CDTF">2025-03-06T23:44:11Z</dcterms:modified>
</cp:coreProperties>
</file>