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27432000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63"/>
    <p:restoredTop sz="94658"/>
  </p:normalViewPr>
  <p:slideViewPr>
    <p:cSldViewPr snapToGrid="0">
      <p:cViewPr>
        <p:scale>
          <a:sx n="54" d="100"/>
          <a:sy n="54" d="100"/>
        </p:scale>
        <p:origin x="-8" y="-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8722C1-E8E6-9C45-A20F-99C5240F91BB}" type="datetimeFigureOut">
              <a:rPr lang="en-US" smtClean="0"/>
              <a:t>5/29/25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CFF1A5-1083-7C47-AA62-478920BA2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779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755648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1pPr>
    <a:lvl2pPr marL="877824" algn="l" defTabSz="1755648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2pPr>
    <a:lvl3pPr marL="1755648" algn="l" defTabSz="1755648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3pPr>
    <a:lvl4pPr marL="2633472" algn="l" defTabSz="1755648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4pPr>
    <a:lvl5pPr marL="3511296" algn="l" defTabSz="1755648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5pPr>
    <a:lvl6pPr marL="4389120" algn="l" defTabSz="1755648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6pPr>
    <a:lvl7pPr marL="5266944" algn="l" defTabSz="1755648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7pPr>
    <a:lvl8pPr marL="6144768" algn="l" defTabSz="1755648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8pPr>
    <a:lvl9pPr marL="7022592" algn="l" defTabSz="1755648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14425" y="1143000"/>
            <a:ext cx="4629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I am showing a single component for the function indexer and the analysis graph, even though they are implemented separately</a:t>
            </a:r>
          </a:p>
          <a:p>
            <a:endParaRPr lang="en-US" dirty="0"/>
          </a:p>
          <a:p>
            <a:r>
              <a:rPr lang="en-US" dirty="0"/>
              <a:t>Source Code by </a:t>
            </a:r>
            <a:r>
              <a:rPr lang="en-US" dirty="0" err="1"/>
              <a:t>Asep</a:t>
            </a:r>
            <a:r>
              <a:rPr lang="en-US" dirty="0"/>
              <a:t> </a:t>
            </a:r>
            <a:r>
              <a:rPr lang="en-US" dirty="0" err="1"/>
              <a:t>Jangkar</a:t>
            </a:r>
            <a:r>
              <a:rPr lang="en-US" dirty="0"/>
              <a:t> from &lt;a </a:t>
            </a:r>
            <a:r>
              <a:rPr lang="en-US" dirty="0" err="1"/>
              <a:t>href</a:t>
            </a:r>
            <a:r>
              <a:rPr lang="en-US" dirty="0"/>
              <a:t>="https://</a:t>
            </a:r>
            <a:r>
              <a:rPr lang="en-US" dirty="0" err="1"/>
              <a:t>thenounproject.com</a:t>
            </a:r>
            <a:r>
              <a:rPr lang="en-US" dirty="0"/>
              <a:t>/browse/icons/term/source-code/" target="_blank" title="Source Code Icons"&gt;Noun Project&lt;/a&gt; (CC BY 3.0)</a:t>
            </a:r>
          </a:p>
          <a:p>
            <a:r>
              <a:rPr lang="en-US" dirty="0"/>
              <a:t>aggregate compile by </a:t>
            </a:r>
            <a:r>
              <a:rPr lang="en-US" dirty="0" err="1"/>
              <a:t>Eucalyp</a:t>
            </a:r>
            <a:r>
              <a:rPr lang="en-US" dirty="0"/>
              <a:t> from &lt;a </a:t>
            </a:r>
            <a:r>
              <a:rPr lang="en-US" dirty="0" err="1"/>
              <a:t>href</a:t>
            </a:r>
            <a:r>
              <a:rPr lang="en-US" dirty="0"/>
              <a:t>="https://</a:t>
            </a:r>
            <a:r>
              <a:rPr lang="en-US" dirty="0" err="1"/>
              <a:t>thenounproject.com</a:t>
            </a:r>
            <a:r>
              <a:rPr lang="en-US" dirty="0"/>
              <a:t>/browse/icons/term/aggregate-compile/" target="_blank" title="aggregate compile Icons"&gt;Noun Project&lt;/a&gt; (CC BY 3.0)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proof by Hay Lo from &lt;a </a:t>
            </a:r>
            <a:r>
              <a:rPr lang="en-US" dirty="0" err="1"/>
              <a:t>href</a:t>
            </a:r>
            <a:r>
              <a:rPr lang="en-US" dirty="0"/>
              <a:t>="https://</a:t>
            </a:r>
            <a:r>
              <a:rPr lang="en-US" dirty="0" err="1"/>
              <a:t>thenounproject.com</a:t>
            </a:r>
            <a:r>
              <a:rPr lang="en-US" dirty="0"/>
              <a:t>/browse/icons/term/proof/" target="_blank" title="proof Icons"&gt;Noun Project&lt;/a&gt; (CC BY 3.0)</a:t>
            </a:r>
          </a:p>
          <a:p>
            <a:r>
              <a:rPr lang="en-US" dirty="0"/>
              <a:t>plaster by </a:t>
            </a:r>
            <a:r>
              <a:rPr lang="en-US" dirty="0" err="1"/>
              <a:t>sentya</a:t>
            </a:r>
            <a:r>
              <a:rPr lang="en-US" dirty="0"/>
              <a:t> </a:t>
            </a:r>
            <a:r>
              <a:rPr lang="en-US" dirty="0" err="1"/>
              <a:t>irma</a:t>
            </a:r>
            <a:r>
              <a:rPr lang="en-US" dirty="0"/>
              <a:t> from &lt;a </a:t>
            </a:r>
            <a:r>
              <a:rPr lang="en-US" dirty="0" err="1"/>
              <a:t>href</a:t>
            </a:r>
            <a:r>
              <a:rPr lang="en-US" dirty="0"/>
              <a:t>="https://</a:t>
            </a:r>
            <a:r>
              <a:rPr lang="en-US" dirty="0" err="1"/>
              <a:t>thenounproject.com</a:t>
            </a:r>
            <a:r>
              <a:rPr lang="en-US" dirty="0"/>
              <a:t>/browse/icons/term/plaster/" target="_blank" title="plaster Icons"&gt;Noun Project&lt;/a&gt; (CC BY 3.0) </a:t>
            </a:r>
          </a:p>
          <a:p>
            <a:r>
              <a:rPr lang="en-US" dirty="0"/>
              <a:t>Point of Interest by Template from &lt;a </a:t>
            </a:r>
            <a:r>
              <a:rPr lang="en-US" dirty="0" err="1"/>
              <a:t>href</a:t>
            </a:r>
            <a:r>
              <a:rPr lang="en-US" dirty="0"/>
              <a:t>="https://</a:t>
            </a:r>
            <a:r>
              <a:rPr lang="en-US" dirty="0" err="1"/>
              <a:t>thenounproject.com</a:t>
            </a:r>
            <a:r>
              <a:rPr lang="en-US" dirty="0"/>
              <a:t>/browse/icons/term/point-of-interest/" target="_blank" title="Point of Interest Icons"&gt;Noun Project&lt;/a&gt; (CC BY 3.0)</a:t>
            </a:r>
          </a:p>
          <a:p>
            <a:endParaRPr lang="en-US" dirty="0"/>
          </a:p>
          <a:p>
            <a:r>
              <a:rPr lang="en-US" dirty="0"/>
              <a:t>plaster by </a:t>
            </a:r>
            <a:r>
              <a:rPr lang="en-US" dirty="0" err="1"/>
              <a:t>sentya</a:t>
            </a:r>
            <a:r>
              <a:rPr lang="en-US" dirty="0"/>
              <a:t> </a:t>
            </a:r>
            <a:r>
              <a:rPr lang="en-US" dirty="0" err="1"/>
              <a:t>irma</a:t>
            </a:r>
            <a:r>
              <a:rPr lang="en-US" dirty="0"/>
              <a:t> from &lt;a </a:t>
            </a:r>
            <a:r>
              <a:rPr lang="en-US" dirty="0" err="1"/>
              <a:t>href</a:t>
            </a:r>
            <a:r>
              <a:rPr lang="en-US" dirty="0"/>
              <a:t>="https://</a:t>
            </a:r>
            <a:r>
              <a:rPr lang="en-US" dirty="0" err="1"/>
              <a:t>thenounproject.com</a:t>
            </a:r>
            <a:r>
              <a:rPr lang="en-US" dirty="0"/>
              <a:t>/browse/icons/term/plaster/" target="_blank" title="plaster Icons"&gt;Noun Project&lt;/a&gt; (CC BY 3.0)</a:t>
            </a:r>
          </a:p>
          <a:p>
            <a:r>
              <a:rPr lang="en-US" dirty="0"/>
              <a:t>exe by </a:t>
            </a:r>
            <a:r>
              <a:rPr lang="en-US" dirty="0" err="1"/>
              <a:t>iconade</a:t>
            </a:r>
            <a:r>
              <a:rPr lang="en-US" dirty="0"/>
              <a:t> from &lt;a </a:t>
            </a:r>
            <a:r>
              <a:rPr lang="en-US" dirty="0" err="1"/>
              <a:t>href</a:t>
            </a:r>
            <a:r>
              <a:rPr lang="en-US" dirty="0"/>
              <a:t>="https://</a:t>
            </a:r>
            <a:r>
              <a:rPr lang="en-US" dirty="0" err="1"/>
              <a:t>thenounproject.com</a:t>
            </a:r>
            <a:r>
              <a:rPr lang="en-US" dirty="0"/>
              <a:t>/browse/icons/term/exe/" target="_blank" title="exe Icons"&gt;Noun Project&lt;/a&gt; (CC BY 3.0)</a:t>
            </a:r>
          </a:p>
          <a:p>
            <a:r>
              <a:rPr lang="en-US" dirty="0"/>
              <a:t>index by </a:t>
            </a:r>
            <a:r>
              <a:rPr lang="en-US" dirty="0" err="1"/>
              <a:t>pexel</a:t>
            </a:r>
            <a:r>
              <a:rPr lang="en-US" dirty="0"/>
              <a:t> verse from &lt;a </a:t>
            </a:r>
            <a:r>
              <a:rPr lang="en-US" dirty="0" err="1"/>
              <a:t>href</a:t>
            </a:r>
            <a:r>
              <a:rPr lang="en-US" dirty="0"/>
              <a:t>="https://</a:t>
            </a:r>
            <a:r>
              <a:rPr lang="en-US" dirty="0" err="1"/>
              <a:t>thenounproject.com</a:t>
            </a:r>
            <a:r>
              <a:rPr lang="en-US" dirty="0"/>
              <a:t>/browse/icons/term/index/" target="_blank" title="index Icons"&gt;Noun Project&lt;/a&gt; (CC BY 3.0)</a:t>
            </a:r>
          </a:p>
          <a:p>
            <a:r>
              <a:rPr lang="en-US" dirty="0"/>
              <a:t>ai grammar checker by </a:t>
            </a:r>
            <a:r>
              <a:rPr lang="en-US" dirty="0" err="1"/>
              <a:t>WiStudio</a:t>
            </a:r>
            <a:r>
              <a:rPr lang="en-US" dirty="0"/>
              <a:t> from &lt;a </a:t>
            </a:r>
            <a:r>
              <a:rPr lang="en-US" dirty="0" err="1"/>
              <a:t>href</a:t>
            </a:r>
            <a:r>
              <a:rPr lang="en-US" dirty="0"/>
              <a:t>="https://</a:t>
            </a:r>
            <a:r>
              <a:rPr lang="en-US" dirty="0" err="1"/>
              <a:t>thenounproject.com</a:t>
            </a:r>
            <a:r>
              <a:rPr lang="en-US" dirty="0"/>
              <a:t>/browse/icons/term/ai-grammar-checker/" target="_blank" title="ai grammar checker Icons"&gt;Noun Project&lt;/a&gt; (CC BY 3.0)</a:t>
            </a:r>
          </a:p>
          <a:p>
            <a:endParaRPr lang="en-US" dirty="0"/>
          </a:p>
          <a:p>
            <a:r>
              <a:rPr lang="en-US" dirty="0"/>
              <a:t>Puzzle by </a:t>
            </a:r>
            <a:r>
              <a:rPr lang="en-US" dirty="0" err="1"/>
              <a:t>Alzam</a:t>
            </a:r>
            <a:r>
              <a:rPr lang="en-US" dirty="0"/>
              <a:t> from &lt;a </a:t>
            </a:r>
            <a:r>
              <a:rPr lang="en-US" dirty="0" err="1"/>
              <a:t>href</a:t>
            </a:r>
            <a:r>
              <a:rPr lang="en-US" dirty="0"/>
              <a:t>="https://</a:t>
            </a:r>
            <a:r>
              <a:rPr lang="en-US" dirty="0" err="1"/>
              <a:t>thenounproject.com</a:t>
            </a:r>
            <a:r>
              <a:rPr lang="en-US" dirty="0"/>
              <a:t>/browse/icons/term/puzzle/" target="_blank" title="Puzzle Icons"&gt;Noun Project&lt;/a&gt; (CC BY 3.0)</a:t>
            </a:r>
          </a:p>
          <a:p>
            <a:r>
              <a:rPr lang="en-US" dirty="0"/>
              <a:t>database by </a:t>
            </a:r>
            <a:r>
              <a:rPr lang="en-US" dirty="0" err="1"/>
              <a:t>kayaheart</a:t>
            </a:r>
            <a:r>
              <a:rPr lang="en-US" dirty="0"/>
              <a:t> from &lt;a </a:t>
            </a:r>
            <a:r>
              <a:rPr lang="en-US" dirty="0" err="1"/>
              <a:t>href</a:t>
            </a:r>
            <a:r>
              <a:rPr lang="en-US" dirty="0"/>
              <a:t>="https://</a:t>
            </a:r>
            <a:r>
              <a:rPr lang="en-US" dirty="0" err="1"/>
              <a:t>thenounproject.com</a:t>
            </a:r>
            <a:r>
              <a:rPr lang="en-US" dirty="0"/>
              <a:t>/browse/icons/term/database/" target="_blank" title="database Icons"&gt;Noun Project&lt;/a&gt; (CC BY 3.0)</a:t>
            </a:r>
          </a:p>
          <a:p>
            <a:r>
              <a:rPr lang="en-US" dirty="0"/>
              <a:t>cluster by Jaya from &lt;a </a:t>
            </a:r>
            <a:r>
              <a:rPr lang="en-US" dirty="0" err="1"/>
              <a:t>href</a:t>
            </a:r>
            <a:r>
              <a:rPr lang="en-US" dirty="0"/>
              <a:t>="https://</a:t>
            </a:r>
            <a:r>
              <a:rPr lang="en-US" dirty="0" err="1"/>
              <a:t>thenounproject.com</a:t>
            </a:r>
            <a:r>
              <a:rPr lang="en-US" dirty="0"/>
              <a:t>/browse/icons/term/cluster/" target="_blank" title="cluster Icons"&gt;Noun Project&lt;/a&gt; (CC BY 3.0)</a:t>
            </a:r>
          </a:p>
          <a:p>
            <a:r>
              <a:rPr lang="en-US" dirty="0"/>
              <a:t>seed by Lars </a:t>
            </a:r>
            <a:r>
              <a:rPr lang="en-US" dirty="0" err="1"/>
              <a:t>Meiertoberens</a:t>
            </a:r>
            <a:r>
              <a:rPr lang="en-US" dirty="0"/>
              <a:t> from &lt;a </a:t>
            </a:r>
            <a:r>
              <a:rPr lang="en-US" dirty="0" err="1"/>
              <a:t>href</a:t>
            </a:r>
            <a:r>
              <a:rPr lang="en-US" dirty="0"/>
              <a:t>="https://</a:t>
            </a:r>
            <a:r>
              <a:rPr lang="en-US" dirty="0" err="1"/>
              <a:t>thenounproject.com</a:t>
            </a:r>
            <a:r>
              <a:rPr lang="en-US" dirty="0"/>
              <a:t>/browse/icons/term/seed/" target="_blank" title="seed Icons"&gt;Noun Project&lt;/a&gt; (CC BY 3.0) explosion by </a:t>
            </a:r>
            <a:r>
              <a:rPr lang="en-US" dirty="0" err="1"/>
              <a:t>Musmellow</a:t>
            </a:r>
            <a:r>
              <a:rPr lang="en-US" dirty="0"/>
              <a:t> from &lt;a </a:t>
            </a:r>
            <a:r>
              <a:rPr lang="en-US" dirty="0" err="1"/>
              <a:t>href</a:t>
            </a:r>
            <a:r>
              <a:rPr lang="en-US" dirty="0"/>
              <a:t>="https://</a:t>
            </a:r>
            <a:r>
              <a:rPr lang="en-US" dirty="0" err="1"/>
              <a:t>thenounproject.com</a:t>
            </a:r>
            <a:r>
              <a:rPr lang="en-US" dirty="0"/>
              <a:t>/browse/icons/term/explosion/" target="_blank" title="explosion Icons"&gt;Noun Project&lt;/a&gt; (CC BY 3.0)</a:t>
            </a:r>
          </a:p>
          <a:p>
            <a:endParaRPr lang="en-US" dirty="0"/>
          </a:p>
          <a:p>
            <a:r>
              <a:rPr lang="en-US" dirty="0"/>
              <a:t>Heatmap by </a:t>
            </a:r>
            <a:r>
              <a:rPr lang="en-US" dirty="0" err="1"/>
              <a:t>SeeMoo</a:t>
            </a:r>
            <a:r>
              <a:rPr lang="en-US" dirty="0"/>
              <a:t> from &lt;a </a:t>
            </a:r>
            <a:r>
              <a:rPr lang="en-US" dirty="0" err="1"/>
              <a:t>href</a:t>
            </a:r>
            <a:r>
              <a:rPr lang="en-US" dirty="0"/>
              <a:t>="https://</a:t>
            </a:r>
            <a:r>
              <a:rPr lang="en-US" dirty="0" err="1"/>
              <a:t>thenounproject.com</a:t>
            </a:r>
            <a:r>
              <a:rPr lang="en-US" dirty="0"/>
              <a:t>/browse/icons/term/heatmap/" target="_blank" title="Heatmap Icons"&gt;Noun Project&lt;/a&gt; (CC BY 3.0)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CFF1A5-1083-7C47-AA62-478920BA2E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417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2992968"/>
            <a:ext cx="23317200" cy="6366933"/>
          </a:xfrm>
        </p:spPr>
        <p:txBody>
          <a:bodyPr anchor="b"/>
          <a:lstStyle>
            <a:lvl1pPr algn="ctr">
              <a:defRPr sz="1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0" y="9605435"/>
            <a:ext cx="20574000" cy="4415365"/>
          </a:xfrm>
        </p:spPr>
        <p:txBody>
          <a:bodyPr/>
          <a:lstStyle>
            <a:lvl1pPr marL="0" indent="0" algn="ctr">
              <a:buNone/>
              <a:defRPr sz="6400"/>
            </a:lvl1pPr>
            <a:lvl2pPr marL="1219215" indent="0" algn="ctr">
              <a:buNone/>
              <a:defRPr sz="5333"/>
            </a:lvl2pPr>
            <a:lvl3pPr marL="2438430" indent="0" algn="ctr">
              <a:buNone/>
              <a:defRPr sz="4800"/>
            </a:lvl3pPr>
            <a:lvl4pPr marL="3657646" indent="0" algn="ctr">
              <a:buNone/>
              <a:defRPr sz="4267"/>
            </a:lvl4pPr>
            <a:lvl5pPr marL="4876861" indent="0" algn="ctr">
              <a:buNone/>
              <a:defRPr sz="4267"/>
            </a:lvl5pPr>
            <a:lvl6pPr marL="6096076" indent="0" algn="ctr">
              <a:buNone/>
              <a:defRPr sz="4267"/>
            </a:lvl6pPr>
            <a:lvl7pPr marL="7315291" indent="0" algn="ctr">
              <a:buNone/>
              <a:defRPr sz="4267"/>
            </a:lvl7pPr>
            <a:lvl8pPr marL="8534507" indent="0" algn="ctr">
              <a:buNone/>
              <a:defRPr sz="4267"/>
            </a:lvl8pPr>
            <a:lvl9pPr marL="9753722" indent="0" algn="ctr">
              <a:buNone/>
              <a:defRPr sz="42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A3AEE-78CC-4048-8850-44FF094E1236}" type="datetimeFigureOut">
              <a:rPr lang="en-US" smtClean="0"/>
              <a:t>5/29/25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36098-E35F-CA49-A740-669B200BC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495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A3AEE-78CC-4048-8850-44FF094E1236}" type="datetimeFigureOut">
              <a:rPr lang="en-US" smtClean="0"/>
              <a:t>5/29/25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36098-E35F-CA49-A740-669B200BC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839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664" y="4559305"/>
            <a:ext cx="23660100" cy="7607299"/>
          </a:xfrm>
        </p:spPr>
        <p:txBody>
          <a:bodyPr anchor="b"/>
          <a:lstStyle>
            <a:lvl1pPr>
              <a:defRPr sz="1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1664" y="12238572"/>
            <a:ext cx="23660100" cy="4000499"/>
          </a:xfrm>
        </p:spPr>
        <p:txBody>
          <a:bodyPr/>
          <a:lstStyle>
            <a:lvl1pPr marL="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1pPr>
            <a:lvl2pPr marL="1219215" indent="0">
              <a:buNone/>
              <a:defRPr sz="5333">
                <a:solidFill>
                  <a:schemeClr val="tx1">
                    <a:tint val="82000"/>
                  </a:schemeClr>
                </a:solidFill>
              </a:defRPr>
            </a:lvl2pPr>
            <a:lvl3pPr marL="243843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3pPr>
            <a:lvl4pPr marL="3657646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4pPr>
            <a:lvl5pPr marL="4876861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5pPr>
            <a:lvl6pPr marL="6096076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6pPr>
            <a:lvl7pPr marL="7315291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7pPr>
            <a:lvl8pPr marL="8534507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8pPr>
            <a:lvl9pPr marL="9753722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A3AEE-78CC-4048-8850-44FF094E1236}" type="datetimeFigureOut">
              <a:rPr lang="en-US" smtClean="0"/>
              <a:t>5/29/25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36098-E35F-CA49-A740-669B200BC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895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5950" y="4868333"/>
            <a:ext cx="116586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7450" y="4868333"/>
            <a:ext cx="116586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A3AEE-78CC-4048-8850-44FF094E1236}" type="datetimeFigureOut">
              <a:rPr lang="en-US" smtClean="0"/>
              <a:t>5/29/25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36098-E35F-CA49-A740-669B200BC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766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973670"/>
            <a:ext cx="23660100" cy="35348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9526" y="4483101"/>
            <a:ext cx="11605020" cy="2197099"/>
          </a:xfrm>
        </p:spPr>
        <p:txBody>
          <a:bodyPr anchor="b"/>
          <a:lstStyle>
            <a:lvl1pPr marL="0" indent="0">
              <a:buNone/>
              <a:defRPr sz="6400" b="1"/>
            </a:lvl1pPr>
            <a:lvl2pPr marL="1219215" indent="0">
              <a:buNone/>
              <a:defRPr sz="5333" b="1"/>
            </a:lvl2pPr>
            <a:lvl3pPr marL="2438430" indent="0">
              <a:buNone/>
              <a:defRPr sz="4800" b="1"/>
            </a:lvl3pPr>
            <a:lvl4pPr marL="3657646" indent="0">
              <a:buNone/>
              <a:defRPr sz="4267" b="1"/>
            </a:lvl4pPr>
            <a:lvl5pPr marL="4876861" indent="0">
              <a:buNone/>
              <a:defRPr sz="4267" b="1"/>
            </a:lvl5pPr>
            <a:lvl6pPr marL="6096076" indent="0">
              <a:buNone/>
              <a:defRPr sz="4267" b="1"/>
            </a:lvl6pPr>
            <a:lvl7pPr marL="7315291" indent="0">
              <a:buNone/>
              <a:defRPr sz="4267" b="1"/>
            </a:lvl7pPr>
            <a:lvl8pPr marL="8534507" indent="0">
              <a:buNone/>
              <a:defRPr sz="4267" b="1"/>
            </a:lvl8pPr>
            <a:lvl9pPr marL="9753722" indent="0">
              <a:buNone/>
              <a:defRPr sz="42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9526" y="6680200"/>
            <a:ext cx="11605020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87451" y="4483101"/>
            <a:ext cx="11662173" cy="2197099"/>
          </a:xfrm>
        </p:spPr>
        <p:txBody>
          <a:bodyPr anchor="b"/>
          <a:lstStyle>
            <a:lvl1pPr marL="0" indent="0">
              <a:buNone/>
              <a:defRPr sz="6400" b="1"/>
            </a:lvl1pPr>
            <a:lvl2pPr marL="1219215" indent="0">
              <a:buNone/>
              <a:defRPr sz="5333" b="1"/>
            </a:lvl2pPr>
            <a:lvl3pPr marL="2438430" indent="0">
              <a:buNone/>
              <a:defRPr sz="4800" b="1"/>
            </a:lvl3pPr>
            <a:lvl4pPr marL="3657646" indent="0">
              <a:buNone/>
              <a:defRPr sz="4267" b="1"/>
            </a:lvl4pPr>
            <a:lvl5pPr marL="4876861" indent="0">
              <a:buNone/>
              <a:defRPr sz="4267" b="1"/>
            </a:lvl5pPr>
            <a:lvl6pPr marL="6096076" indent="0">
              <a:buNone/>
              <a:defRPr sz="4267" b="1"/>
            </a:lvl6pPr>
            <a:lvl7pPr marL="7315291" indent="0">
              <a:buNone/>
              <a:defRPr sz="4267" b="1"/>
            </a:lvl7pPr>
            <a:lvl8pPr marL="8534507" indent="0">
              <a:buNone/>
              <a:defRPr sz="4267" b="1"/>
            </a:lvl8pPr>
            <a:lvl9pPr marL="9753722" indent="0">
              <a:buNone/>
              <a:defRPr sz="42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87451" y="6680200"/>
            <a:ext cx="11662173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A3AEE-78CC-4048-8850-44FF094E1236}" type="datetimeFigureOut">
              <a:rPr lang="en-US" smtClean="0"/>
              <a:t>5/29/25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36098-E35F-CA49-A740-669B200BC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591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A3AEE-78CC-4048-8850-44FF094E1236}" type="datetimeFigureOut">
              <a:rPr lang="en-US" smtClean="0"/>
              <a:t>5/29/25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36098-E35F-CA49-A740-669B200BC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567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A3AEE-78CC-4048-8850-44FF094E1236}" type="datetimeFigureOut">
              <a:rPr lang="en-US" smtClean="0"/>
              <a:t>5/29/25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36098-E35F-CA49-A740-669B200BC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881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1219200"/>
            <a:ext cx="8847534" cy="4267200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2173" y="2633137"/>
            <a:ext cx="13887450" cy="12996333"/>
          </a:xfrm>
        </p:spPr>
        <p:txBody>
          <a:bodyPr/>
          <a:lstStyle>
            <a:lvl1pPr>
              <a:defRPr sz="8533"/>
            </a:lvl1pPr>
            <a:lvl2pPr>
              <a:defRPr sz="7467"/>
            </a:lvl2pPr>
            <a:lvl3pPr>
              <a:defRPr sz="6400"/>
            </a:lvl3pPr>
            <a:lvl4pPr>
              <a:defRPr sz="5333"/>
            </a:lvl4pPr>
            <a:lvl5pPr>
              <a:defRPr sz="5333"/>
            </a:lvl5pPr>
            <a:lvl6pPr>
              <a:defRPr sz="5333"/>
            </a:lvl6pPr>
            <a:lvl7pPr>
              <a:defRPr sz="5333"/>
            </a:lvl7pPr>
            <a:lvl8pPr>
              <a:defRPr sz="5333"/>
            </a:lvl8pPr>
            <a:lvl9pPr>
              <a:defRPr sz="5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23" y="5486400"/>
            <a:ext cx="8847534" cy="10164235"/>
          </a:xfrm>
        </p:spPr>
        <p:txBody>
          <a:bodyPr/>
          <a:lstStyle>
            <a:lvl1pPr marL="0" indent="0">
              <a:buNone/>
              <a:defRPr sz="4267"/>
            </a:lvl1pPr>
            <a:lvl2pPr marL="1219215" indent="0">
              <a:buNone/>
              <a:defRPr sz="3733"/>
            </a:lvl2pPr>
            <a:lvl3pPr marL="2438430" indent="0">
              <a:buNone/>
              <a:defRPr sz="3200"/>
            </a:lvl3pPr>
            <a:lvl4pPr marL="3657646" indent="0">
              <a:buNone/>
              <a:defRPr sz="2667"/>
            </a:lvl4pPr>
            <a:lvl5pPr marL="4876861" indent="0">
              <a:buNone/>
              <a:defRPr sz="2667"/>
            </a:lvl5pPr>
            <a:lvl6pPr marL="6096076" indent="0">
              <a:buNone/>
              <a:defRPr sz="2667"/>
            </a:lvl6pPr>
            <a:lvl7pPr marL="7315291" indent="0">
              <a:buNone/>
              <a:defRPr sz="2667"/>
            </a:lvl7pPr>
            <a:lvl8pPr marL="8534507" indent="0">
              <a:buNone/>
              <a:defRPr sz="2667"/>
            </a:lvl8pPr>
            <a:lvl9pPr marL="9753722" indent="0">
              <a:buNone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A3AEE-78CC-4048-8850-44FF094E1236}" type="datetimeFigureOut">
              <a:rPr lang="en-US" smtClean="0"/>
              <a:t>5/29/25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36098-E35F-CA49-A740-669B200BC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270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1219200"/>
            <a:ext cx="8847534" cy="4267200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62173" y="2633137"/>
            <a:ext cx="13887450" cy="12996333"/>
          </a:xfrm>
        </p:spPr>
        <p:txBody>
          <a:bodyPr anchor="t"/>
          <a:lstStyle>
            <a:lvl1pPr marL="0" indent="0">
              <a:buNone/>
              <a:defRPr sz="8533"/>
            </a:lvl1pPr>
            <a:lvl2pPr marL="1219215" indent="0">
              <a:buNone/>
              <a:defRPr sz="7467"/>
            </a:lvl2pPr>
            <a:lvl3pPr marL="2438430" indent="0">
              <a:buNone/>
              <a:defRPr sz="6400"/>
            </a:lvl3pPr>
            <a:lvl4pPr marL="3657646" indent="0">
              <a:buNone/>
              <a:defRPr sz="5333"/>
            </a:lvl4pPr>
            <a:lvl5pPr marL="4876861" indent="0">
              <a:buNone/>
              <a:defRPr sz="5333"/>
            </a:lvl5pPr>
            <a:lvl6pPr marL="6096076" indent="0">
              <a:buNone/>
              <a:defRPr sz="5333"/>
            </a:lvl6pPr>
            <a:lvl7pPr marL="7315291" indent="0">
              <a:buNone/>
              <a:defRPr sz="5333"/>
            </a:lvl7pPr>
            <a:lvl8pPr marL="8534507" indent="0">
              <a:buNone/>
              <a:defRPr sz="5333"/>
            </a:lvl8pPr>
            <a:lvl9pPr marL="9753722" indent="0">
              <a:buNone/>
              <a:defRPr sz="5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23" y="5486400"/>
            <a:ext cx="8847534" cy="10164235"/>
          </a:xfrm>
        </p:spPr>
        <p:txBody>
          <a:bodyPr/>
          <a:lstStyle>
            <a:lvl1pPr marL="0" indent="0">
              <a:buNone/>
              <a:defRPr sz="4267"/>
            </a:lvl1pPr>
            <a:lvl2pPr marL="1219215" indent="0">
              <a:buNone/>
              <a:defRPr sz="3733"/>
            </a:lvl2pPr>
            <a:lvl3pPr marL="2438430" indent="0">
              <a:buNone/>
              <a:defRPr sz="3200"/>
            </a:lvl3pPr>
            <a:lvl4pPr marL="3657646" indent="0">
              <a:buNone/>
              <a:defRPr sz="2667"/>
            </a:lvl4pPr>
            <a:lvl5pPr marL="4876861" indent="0">
              <a:buNone/>
              <a:defRPr sz="2667"/>
            </a:lvl5pPr>
            <a:lvl6pPr marL="6096076" indent="0">
              <a:buNone/>
              <a:defRPr sz="2667"/>
            </a:lvl6pPr>
            <a:lvl7pPr marL="7315291" indent="0">
              <a:buNone/>
              <a:defRPr sz="2667"/>
            </a:lvl7pPr>
            <a:lvl8pPr marL="8534507" indent="0">
              <a:buNone/>
              <a:defRPr sz="2667"/>
            </a:lvl8pPr>
            <a:lvl9pPr marL="9753722" indent="0">
              <a:buNone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A3AEE-78CC-4048-8850-44FF094E1236}" type="datetimeFigureOut">
              <a:rPr lang="en-US" smtClean="0"/>
              <a:t>5/29/25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36098-E35F-CA49-A740-669B200BC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54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A3AEE-78CC-4048-8850-44FF094E1236}" type="datetimeFigureOut">
              <a:rPr lang="en-US" smtClean="0"/>
              <a:t>5/29/25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36098-E35F-CA49-A740-669B200BC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377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631027" y="973666"/>
            <a:ext cx="5915025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5952" y="973666"/>
            <a:ext cx="17402175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A3AEE-78CC-4048-8850-44FF094E1236}" type="datetimeFigureOut">
              <a:rPr lang="en-US" smtClean="0"/>
              <a:t>5/29/25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36098-E35F-CA49-A740-669B200BC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287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5950" y="973670"/>
            <a:ext cx="23660100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50" y="4868333"/>
            <a:ext cx="23660100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5950" y="16950271"/>
            <a:ext cx="61722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1A3AEE-78CC-4048-8850-44FF094E1236}" type="datetimeFigureOut">
              <a:rPr lang="en-US" smtClean="0"/>
              <a:t>5/29/25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86850" y="16950271"/>
            <a:ext cx="92583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73850" y="16950271"/>
            <a:ext cx="61722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F36098-E35F-CA49-A740-669B200BC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425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438430" rtl="0" eaLnBrk="1" latinLnBrk="0" hangingPunct="1">
        <a:lnSpc>
          <a:spcPct val="90000"/>
        </a:lnSpc>
        <a:spcBef>
          <a:spcPct val="0"/>
        </a:spcBef>
        <a:buNone/>
        <a:defRPr sz="1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9608" indent="-609608" algn="l" defTabSz="2438430" rtl="0" eaLnBrk="1" latinLnBrk="0" hangingPunct="1">
        <a:lnSpc>
          <a:spcPct val="90000"/>
        </a:lnSpc>
        <a:spcBef>
          <a:spcPts val="2667"/>
        </a:spcBef>
        <a:buFont typeface="Arial" panose="020B0604020202020204" pitchFamily="34" charset="0"/>
        <a:buChar char="•"/>
        <a:defRPr sz="7467" kern="1200">
          <a:solidFill>
            <a:schemeClr val="tx1"/>
          </a:solidFill>
          <a:latin typeface="+mn-lt"/>
          <a:ea typeface="+mn-ea"/>
          <a:cs typeface="+mn-cs"/>
        </a:defRPr>
      </a:lvl1pPr>
      <a:lvl2pPr marL="1828823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2pPr>
      <a:lvl3pPr marL="3048038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3pPr>
      <a:lvl4pPr marL="4267253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69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705684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924899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9144114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10363330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9215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38430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57646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76861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96076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315291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534507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753722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svg"/><Relationship Id="rId42" Type="http://schemas.openxmlformats.org/officeDocument/2006/relationships/image" Target="../media/image40.svg"/><Relationship Id="rId47" Type="http://schemas.openxmlformats.org/officeDocument/2006/relationships/image" Target="../media/image45.png"/><Relationship Id="rId50" Type="http://schemas.openxmlformats.org/officeDocument/2006/relationships/image" Target="../media/image48.svg"/><Relationship Id="rId55" Type="http://schemas.openxmlformats.org/officeDocument/2006/relationships/image" Target="../media/image5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37" Type="http://schemas.openxmlformats.org/officeDocument/2006/relationships/image" Target="../media/image35.png"/><Relationship Id="rId40" Type="http://schemas.openxmlformats.org/officeDocument/2006/relationships/image" Target="../media/image38.sv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svg"/><Relationship Id="rId52" Type="http://schemas.openxmlformats.org/officeDocument/2006/relationships/image" Target="../media/image50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svg"/><Relationship Id="rId8" Type="http://schemas.openxmlformats.org/officeDocument/2006/relationships/image" Target="../media/image6.svg"/><Relationship Id="rId51" Type="http://schemas.openxmlformats.org/officeDocument/2006/relationships/image" Target="../media/image49.png"/><Relationship Id="rId3" Type="http://schemas.openxmlformats.org/officeDocument/2006/relationships/image" Target="../media/image1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svg"/><Relationship Id="rId46" Type="http://schemas.openxmlformats.org/officeDocument/2006/relationships/image" Target="../media/image44.svg"/><Relationship Id="rId20" Type="http://schemas.openxmlformats.org/officeDocument/2006/relationships/image" Target="../media/image18.svg"/><Relationship Id="rId41" Type="http://schemas.openxmlformats.org/officeDocument/2006/relationships/image" Target="../media/image39.png"/><Relationship Id="rId54" Type="http://schemas.openxmlformats.org/officeDocument/2006/relationships/image" Target="../media/image5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36" Type="http://schemas.openxmlformats.org/officeDocument/2006/relationships/image" Target="../media/image34.svg"/><Relationship Id="rId49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C48A39DC-9F8D-BD32-73DD-36E6DF85CA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7740"/>
          <a:stretch/>
        </p:blipFill>
        <p:spPr>
          <a:xfrm>
            <a:off x="1776639" y="4421662"/>
            <a:ext cx="1041400" cy="10551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8F33E5-B4ED-838F-9807-17561529188B}"/>
              </a:ext>
            </a:extLst>
          </p:cNvPr>
          <p:cNvSpPr txBox="1"/>
          <p:nvPr/>
        </p:nvSpPr>
        <p:spPr>
          <a:xfrm>
            <a:off x="1204814" y="3928095"/>
            <a:ext cx="2036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Hack" panose="020B0609030202020204" pitchFamily="49" charset="0"/>
              </a:rPr>
              <a:t>TOAST/OSS-Fuzz </a:t>
            </a:r>
            <a:b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Hack" panose="020B0609030202020204" pitchFamily="49" charset="0"/>
              </a:rPr>
            </a:b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Hack" panose="020B0609030202020204" pitchFamily="49" charset="0"/>
              </a:rPr>
              <a:t>Project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1CCC687-8FC8-CEEC-5054-A5BD8DF5CE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12405"/>
          <a:stretch/>
        </p:blipFill>
        <p:spPr>
          <a:xfrm>
            <a:off x="3724396" y="5969399"/>
            <a:ext cx="834247" cy="91344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EA3B34F-E78E-9A73-CA45-9A7D937CBEB6}"/>
              </a:ext>
            </a:extLst>
          </p:cNvPr>
          <p:cNvSpPr txBox="1"/>
          <p:nvPr/>
        </p:nvSpPr>
        <p:spPr>
          <a:xfrm>
            <a:off x="3692516" y="5600066"/>
            <a:ext cx="8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Hack" panose="020B0609030202020204" pitchFamily="49" charset="0"/>
              </a:rPr>
              <a:t>Builder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9B85BA4-1725-F620-4899-F9775140254D}"/>
              </a:ext>
            </a:extLst>
          </p:cNvPr>
          <p:cNvGrpSpPr/>
          <p:nvPr/>
        </p:nvGrpSpPr>
        <p:grpSpPr>
          <a:xfrm>
            <a:off x="5048470" y="5580773"/>
            <a:ext cx="742511" cy="925022"/>
            <a:chOff x="3884955" y="1042675"/>
            <a:chExt cx="742511" cy="925022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E5CB007-A909-3F5B-080D-912D9E62ED46}"/>
                </a:ext>
              </a:extLst>
            </p:cNvPr>
            <p:cNvSpPr/>
            <p:nvPr/>
          </p:nvSpPr>
          <p:spPr>
            <a:xfrm>
              <a:off x="3923820" y="1054250"/>
              <a:ext cx="636607" cy="91344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9F23022-61EE-08A7-725A-EFCBEC93C95B}"/>
                </a:ext>
              </a:extLst>
            </p:cNvPr>
            <p:cNvSpPr txBox="1"/>
            <p:nvPr/>
          </p:nvSpPr>
          <p:spPr>
            <a:xfrm>
              <a:off x="3884955" y="1042675"/>
              <a:ext cx="74251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Roboto" panose="02000000000000000000" pitchFamily="2" charset="0"/>
                  <a:ea typeface="Roboto" panose="02000000000000000000" pitchFamily="2" charset="0"/>
                </a:rPr>
                <a:t>binary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28E2EB3-FEBD-4E17-D505-74E52FB574F9}"/>
                </a:ext>
              </a:extLst>
            </p:cNvPr>
            <p:cNvCxnSpPr>
              <a:cxnSpLocks/>
            </p:cNvCxnSpPr>
            <p:nvPr/>
          </p:nvCxnSpPr>
          <p:spPr>
            <a:xfrm>
              <a:off x="4027990" y="1381229"/>
              <a:ext cx="393539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567C269-B132-9D3E-A767-6E415D8D59CE}"/>
                </a:ext>
              </a:extLst>
            </p:cNvPr>
            <p:cNvCxnSpPr>
              <a:cxnSpLocks/>
            </p:cNvCxnSpPr>
            <p:nvPr/>
          </p:nvCxnSpPr>
          <p:spPr>
            <a:xfrm>
              <a:off x="4027990" y="1498905"/>
              <a:ext cx="393539" cy="0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58769F0-976C-A9D6-CD5D-D57BBC9B4D2D}"/>
                </a:ext>
              </a:extLst>
            </p:cNvPr>
            <p:cNvCxnSpPr>
              <a:cxnSpLocks/>
            </p:cNvCxnSpPr>
            <p:nvPr/>
          </p:nvCxnSpPr>
          <p:spPr>
            <a:xfrm>
              <a:off x="4027990" y="1616581"/>
              <a:ext cx="393539" cy="0"/>
            </a:xfrm>
            <a:prstGeom prst="line">
              <a:avLst/>
            </a:prstGeom>
            <a:ln>
              <a:prstDash val="lg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34EA5C0-64BF-313F-3206-F248C521133E}"/>
                </a:ext>
              </a:extLst>
            </p:cNvPr>
            <p:cNvCxnSpPr>
              <a:cxnSpLocks/>
            </p:cNvCxnSpPr>
            <p:nvPr/>
          </p:nvCxnSpPr>
          <p:spPr>
            <a:xfrm>
              <a:off x="4027990" y="1734257"/>
              <a:ext cx="393539" cy="0"/>
            </a:xfrm>
            <a:prstGeom prst="line">
              <a:avLst/>
            </a:prstGeom>
            <a:ln>
              <a:prstDash val="lgDashDot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E2FC075-0605-4A67-73E7-82F8CB194B79}"/>
                </a:ext>
              </a:extLst>
            </p:cNvPr>
            <p:cNvCxnSpPr>
              <a:cxnSpLocks/>
            </p:cNvCxnSpPr>
            <p:nvPr/>
          </p:nvCxnSpPr>
          <p:spPr>
            <a:xfrm>
              <a:off x="4027990" y="1851934"/>
              <a:ext cx="393539" cy="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763B636-608D-2796-AB22-41710EE6A31D}"/>
              </a:ext>
            </a:extLst>
          </p:cNvPr>
          <p:cNvGrpSpPr/>
          <p:nvPr/>
        </p:nvGrpSpPr>
        <p:grpSpPr>
          <a:xfrm>
            <a:off x="5200870" y="5733173"/>
            <a:ext cx="742511" cy="925022"/>
            <a:chOff x="3884955" y="1042675"/>
            <a:chExt cx="742511" cy="925022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754BDC4-F74F-4502-6F79-8F631B7EB93F}"/>
                </a:ext>
              </a:extLst>
            </p:cNvPr>
            <p:cNvSpPr/>
            <p:nvPr/>
          </p:nvSpPr>
          <p:spPr>
            <a:xfrm>
              <a:off x="3923820" y="1054250"/>
              <a:ext cx="636607" cy="91344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9560E88-146C-ADDC-808E-043B26857615}"/>
                </a:ext>
              </a:extLst>
            </p:cNvPr>
            <p:cNvSpPr txBox="1"/>
            <p:nvPr/>
          </p:nvSpPr>
          <p:spPr>
            <a:xfrm>
              <a:off x="3884955" y="1042675"/>
              <a:ext cx="74251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Roboto" panose="02000000000000000000" pitchFamily="2" charset="0"/>
                  <a:ea typeface="Roboto" panose="02000000000000000000" pitchFamily="2" charset="0"/>
                </a:rPr>
                <a:t>binary</a:t>
              </a: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6D18D17-75D2-E9E7-301B-38455DA2ECE6}"/>
                </a:ext>
              </a:extLst>
            </p:cNvPr>
            <p:cNvCxnSpPr>
              <a:cxnSpLocks/>
            </p:cNvCxnSpPr>
            <p:nvPr/>
          </p:nvCxnSpPr>
          <p:spPr>
            <a:xfrm>
              <a:off x="4027990" y="1381229"/>
              <a:ext cx="393539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C59A88B1-6437-F5B6-1D40-2211576AE983}"/>
                </a:ext>
              </a:extLst>
            </p:cNvPr>
            <p:cNvCxnSpPr>
              <a:cxnSpLocks/>
            </p:cNvCxnSpPr>
            <p:nvPr/>
          </p:nvCxnSpPr>
          <p:spPr>
            <a:xfrm>
              <a:off x="4027990" y="1498905"/>
              <a:ext cx="393539" cy="0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3235621-F997-A73B-9227-AA609DF47041}"/>
                </a:ext>
              </a:extLst>
            </p:cNvPr>
            <p:cNvCxnSpPr>
              <a:cxnSpLocks/>
            </p:cNvCxnSpPr>
            <p:nvPr/>
          </p:nvCxnSpPr>
          <p:spPr>
            <a:xfrm>
              <a:off x="4027990" y="1616581"/>
              <a:ext cx="393539" cy="0"/>
            </a:xfrm>
            <a:prstGeom prst="line">
              <a:avLst/>
            </a:prstGeom>
            <a:ln>
              <a:prstDash val="lg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6A4B237-F121-8CD5-C145-EECCB1AFC043}"/>
                </a:ext>
              </a:extLst>
            </p:cNvPr>
            <p:cNvCxnSpPr>
              <a:cxnSpLocks/>
            </p:cNvCxnSpPr>
            <p:nvPr/>
          </p:nvCxnSpPr>
          <p:spPr>
            <a:xfrm>
              <a:off x="4027990" y="1734257"/>
              <a:ext cx="393539" cy="0"/>
            </a:xfrm>
            <a:prstGeom prst="line">
              <a:avLst/>
            </a:prstGeom>
            <a:ln>
              <a:prstDash val="lgDashDot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4B82015A-5CAE-57B9-B326-68BEC20FB36C}"/>
                </a:ext>
              </a:extLst>
            </p:cNvPr>
            <p:cNvCxnSpPr>
              <a:cxnSpLocks/>
            </p:cNvCxnSpPr>
            <p:nvPr/>
          </p:nvCxnSpPr>
          <p:spPr>
            <a:xfrm>
              <a:off x="4027990" y="1851934"/>
              <a:ext cx="393539" cy="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0F9B64D-7030-2439-E27C-B5AEEFFC04FE}"/>
              </a:ext>
            </a:extLst>
          </p:cNvPr>
          <p:cNvGrpSpPr/>
          <p:nvPr/>
        </p:nvGrpSpPr>
        <p:grpSpPr>
          <a:xfrm>
            <a:off x="5353270" y="5885573"/>
            <a:ext cx="742511" cy="925022"/>
            <a:chOff x="3884955" y="1042675"/>
            <a:chExt cx="742511" cy="925022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F6C04DF-48A1-70D3-45D5-63DB25775DA5}"/>
                </a:ext>
              </a:extLst>
            </p:cNvPr>
            <p:cNvSpPr/>
            <p:nvPr/>
          </p:nvSpPr>
          <p:spPr>
            <a:xfrm>
              <a:off x="3923820" y="1054250"/>
              <a:ext cx="636607" cy="91344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5891913-7A58-6484-50CC-2B97586B8D33}"/>
                </a:ext>
              </a:extLst>
            </p:cNvPr>
            <p:cNvSpPr txBox="1"/>
            <p:nvPr/>
          </p:nvSpPr>
          <p:spPr>
            <a:xfrm>
              <a:off x="3884955" y="1042675"/>
              <a:ext cx="74251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Roboto" panose="02000000000000000000" pitchFamily="2" charset="0"/>
                  <a:ea typeface="Roboto" panose="02000000000000000000" pitchFamily="2" charset="0"/>
                </a:rPr>
                <a:t>binary</a:t>
              </a: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157B38C3-37A0-A577-8475-C0AED3A55C37}"/>
                </a:ext>
              </a:extLst>
            </p:cNvPr>
            <p:cNvCxnSpPr>
              <a:cxnSpLocks/>
            </p:cNvCxnSpPr>
            <p:nvPr/>
          </p:nvCxnSpPr>
          <p:spPr>
            <a:xfrm>
              <a:off x="4027990" y="1381229"/>
              <a:ext cx="393539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4870BA0-C59E-BF99-0641-CF10C22D51C5}"/>
                </a:ext>
              </a:extLst>
            </p:cNvPr>
            <p:cNvCxnSpPr>
              <a:cxnSpLocks/>
            </p:cNvCxnSpPr>
            <p:nvPr/>
          </p:nvCxnSpPr>
          <p:spPr>
            <a:xfrm>
              <a:off x="4027990" y="1498905"/>
              <a:ext cx="393539" cy="0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09E5704-2087-3B8C-FE20-924361D3522B}"/>
                </a:ext>
              </a:extLst>
            </p:cNvPr>
            <p:cNvCxnSpPr>
              <a:cxnSpLocks/>
            </p:cNvCxnSpPr>
            <p:nvPr/>
          </p:nvCxnSpPr>
          <p:spPr>
            <a:xfrm>
              <a:off x="4027990" y="1616581"/>
              <a:ext cx="393539" cy="0"/>
            </a:xfrm>
            <a:prstGeom prst="line">
              <a:avLst/>
            </a:prstGeom>
            <a:ln>
              <a:prstDash val="lg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E1ADFCB-E561-71CE-6ECB-3418883089EE}"/>
                </a:ext>
              </a:extLst>
            </p:cNvPr>
            <p:cNvCxnSpPr>
              <a:cxnSpLocks/>
            </p:cNvCxnSpPr>
            <p:nvPr/>
          </p:nvCxnSpPr>
          <p:spPr>
            <a:xfrm>
              <a:off x="4027990" y="1734257"/>
              <a:ext cx="393539" cy="0"/>
            </a:xfrm>
            <a:prstGeom prst="line">
              <a:avLst/>
            </a:prstGeom>
            <a:ln>
              <a:prstDash val="lgDashDot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CD12D4D2-1BD5-8C19-A5BD-2BC9A6915B4B}"/>
                </a:ext>
              </a:extLst>
            </p:cNvPr>
            <p:cNvCxnSpPr>
              <a:cxnSpLocks/>
            </p:cNvCxnSpPr>
            <p:nvPr/>
          </p:nvCxnSpPr>
          <p:spPr>
            <a:xfrm>
              <a:off x="4027990" y="1851934"/>
              <a:ext cx="393539" cy="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FA9FDB1-D9D3-41B5-353A-EDAD7CB7A36F}"/>
              </a:ext>
            </a:extLst>
          </p:cNvPr>
          <p:cNvGrpSpPr/>
          <p:nvPr/>
        </p:nvGrpSpPr>
        <p:grpSpPr>
          <a:xfrm>
            <a:off x="5505670" y="6037973"/>
            <a:ext cx="742511" cy="925022"/>
            <a:chOff x="3884955" y="1042675"/>
            <a:chExt cx="742511" cy="925022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7AF1B04-39A4-2C3D-44F5-5912AFA056E2}"/>
                </a:ext>
              </a:extLst>
            </p:cNvPr>
            <p:cNvSpPr/>
            <p:nvPr/>
          </p:nvSpPr>
          <p:spPr>
            <a:xfrm>
              <a:off x="3923820" y="1054250"/>
              <a:ext cx="636607" cy="91344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EAD3E42-9A1A-B570-01B3-2BEEECD8EF27}"/>
                </a:ext>
              </a:extLst>
            </p:cNvPr>
            <p:cNvSpPr txBox="1"/>
            <p:nvPr/>
          </p:nvSpPr>
          <p:spPr>
            <a:xfrm>
              <a:off x="3884955" y="1042675"/>
              <a:ext cx="74251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Roboto" panose="02000000000000000000" pitchFamily="2" charset="0"/>
                  <a:ea typeface="Roboto" panose="02000000000000000000" pitchFamily="2" charset="0"/>
                </a:rPr>
                <a:t>binary</a:t>
              </a: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B5AC29E8-ED02-9C9B-F8CB-5E381105BC72}"/>
                </a:ext>
              </a:extLst>
            </p:cNvPr>
            <p:cNvCxnSpPr>
              <a:cxnSpLocks/>
            </p:cNvCxnSpPr>
            <p:nvPr/>
          </p:nvCxnSpPr>
          <p:spPr>
            <a:xfrm>
              <a:off x="4027990" y="1381229"/>
              <a:ext cx="393539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15885E35-0772-2154-D5D0-68802B7C30FA}"/>
                </a:ext>
              </a:extLst>
            </p:cNvPr>
            <p:cNvCxnSpPr>
              <a:cxnSpLocks/>
            </p:cNvCxnSpPr>
            <p:nvPr/>
          </p:nvCxnSpPr>
          <p:spPr>
            <a:xfrm>
              <a:off x="4027990" y="1498905"/>
              <a:ext cx="393539" cy="0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6D34A72A-F35C-7272-7F7E-5D537ECD2754}"/>
                </a:ext>
              </a:extLst>
            </p:cNvPr>
            <p:cNvCxnSpPr>
              <a:cxnSpLocks/>
            </p:cNvCxnSpPr>
            <p:nvPr/>
          </p:nvCxnSpPr>
          <p:spPr>
            <a:xfrm>
              <a:off x="4027990" y="1616581"/>
              <a:ext cx="393539" cy="0"/>
            </a:xfrm>
            <a:prstGeom prst="line">
              <a:avLst/>
            </a:prstGeom>
            <a:ln>
              <a:prstDash val="lg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AFF7DEDC-D3BF-64B7-48F6-0E1C742A6D60}"/>
                </a:ext>
              </a:extLst>
            </p:cNvPr>
            <p:cNvCxnSpPr>
              <a:cxnSpLocks/>
            </p:cNvCxnSpPr>
            <p:nvPr/>
          </p:nvCxnSpPr>
          <p:spPr>
            <a:xfrm>
              <a:off x="4027990" y="1734257"/>
              <a:ext cx="393539" cy="0"/>
            </a:xfrm>
            <a:prstGeom prst="line">
              <a:avLst/>
            </a:prstGeom>
            <a:ln>
              <a:prstDash val="lgDashDot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72539B6-E355-A576-731E-129BFDC00BA5}"/>
                </a:ext>
              </a:extLst>
            </p:cNvPr>
            <p:cNvCxnSpPr>
              <a:cxnSpLocks/>
            </p:cNvCxnSpPr>
            <p:nvPr/>
          </p:nvCxnSpPr>
          <p:spPr>
            <a:xfrm>
              <a:off x="4027990" y="1851934"/>
              <a:ext cx="393539" cy="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Can 85">
            <a:extLst>
              <a:ext uri="{FF2B5EF4-FFF2-40B4-BE49-F238E27FC236}">
                <a16:creationId xmlns:a16="http://schemas.microsoft.com/office/drawing/2014/main" id="{95291019-CD26-732D-FD79-0EB317A0CF60}"/>
              </a:ext>
            </a:extLst>
          </p:cNvPr>
          <p:cNvSpPr/>
          <p:nvPr/>
        </p:nvSpPr>
        <p:spPr>
          <a:xfrm>
            <a:off x="5853758" y="3291135"/>
            <a:ext cx="1998972" cy="184801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E9D0B74-5EDE-5EC9-E4A8-B06A80D73B83}"/>
              </a:ext>
            </a:extLst>
          </p:cNvPr>
          <p:cNvSpPr txBox="1"/>
          <p:nvPr/>
        </p:nvSpPr>
        <p:spPr>
          <a:xfrm>
            <a:off x="5911524" y="2817053"/>
            <a:ext cx="1720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Analysis Graph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82B099B8-5B2D-3EDF-B43A-CD507FE3794E}"/>
              </a:ext>
            </a:extLst>
          </p:cNvPr>
          <p:cNvGrpSpPr/>
          <p:nvPr/>
        </p:nvGrpSpPr>
        <p:grpSpPr>
          <a:xfrm>
            <a:off x="6009928" y="4486869"/>
            <a:ext cx="593515" cy="511651"/>
            <a:chOff x="5239046" y="3102015"/>
            <a:chExt cx="593515" cy="511651"/>
          </a:xfrm>
        </p:grpSpPr>
        <p:sp>
          <p:nvSpPr>
            <p:cNvPr id="90" name="Hexagon 89">
              <a:extLst>
                <a:ext uri="{FF2B5EF4-FFF2-40B4-BE49-F238E27FC236}">
                  <a16:creationId xmlns:a16="http://schemas.microsoft.com/office/drawing/2014/main" id="{8A370032-FB1C-F474-0032-3D6A3E9F6CD6}"/>
                </a:ext>
              </a:extLst>
            </p:cNvPr>
            <p:cNvSpPr/>
            <p:nvPr/>
          </p:nvSpPr>
          <p:spPr>
            <a:xfrm>
              <a:off x="5239046" y="3102015"/>
              <a:ext cx="593515" cy="511651"/>
            </a:xfrm>
            <a:prstGeom prst="hexag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0F27282D-0399-0DB9-FC49-2175249AF743}"/>
                </a:ext>
              </a:extLst>
            </p:cNvPr>
            <p:cNvSpPr txBox="1"/>
            <p:nvPr/>
          </p:nvSpPr>
          <p:spPr>
            <a:xfrm>
              <a:off x="5250308" y="3188563"/>
              <a:ext cx="57099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600" dirty="0">
                  <a:latin typeface="Roboto" panose="02000000000000000000" pitchFamily="2" charset="0"/>
                  <a:ea typeface="Roboto" panose="02000000000000000000" pitchFamily="2" charset="0"/>
                </a:rPr>
                <a:t>CFG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8B420B10-78FB-16FF-C884-775B5ABDCE69}"/>
              </a:ext>
            </a:extLst>
          </p:cNvPr>
          <p:cNvGrpSpPr/>
          <p:nvPr/>
        </p:nvGrpSpPr>
        <p:grpSpPr>
          <a:xfrm>
            <a:off x="6536896" y="4090413"/>
            <a:ext cx="593515" cy="511651"/>
            <a:chOff x="6359441" y="3527117"/>
            <a:chExt cx="593515" cy="511651"/>
          </a:xfrm>
        </p:grpSpPr>
        <p:sp>
          <p:nvSpPr>
            <p:cNvPr id="92" name="Hexagon 91">
              <a:extLst>
                <a:ext uri="{FF2B5EF4-FFF2-40B4-BE49-F238E27FC236}">
                  <a16:creationId xmlns:a16="http://schemas.microsoft.com/office/drawing/2014/main" id="{90343EFD-48E8-0B9F-2183-4FE6BD504D92}"/>
                </a:ext>
              </a:extLst>
            </p:cNvPr>
            <p:cNvSpPr/>
            <p:nvPr/>
          </p:nvSpPr>
          <p:spPr>
            <a:xfrm>
              <a:off x="6359441" y="3527117"/>
              <a:ext cx="593515" cy="511651"/>
            </a:xfrm>
            <a:prstGeom prst="hexag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27980D0A-E366-3600-FF48-2B938340ABEA}"/>
                </a:ext>
              </a:extLst>
            </p:cNvPr>
            <p:cNvSpPr txBox="1"/>
            <p:nvPr/>
          </p:nvSpPr>
          <p:spPr>
            <a:xfrm>
              <a:off x="6369902" y="3613665"/>
              <a:ext cx="5725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Roboto" panose="02000000000000000000" pitchFamily="2" charset="0"/>
                  <a:ea typeface="Roboto" panose="02000000000000000000" pitchFamily="2" charset="0"/>
                </a:rPr>
                <a:t>DFG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9FC2B8ED-36BB-0051-D6F9-53BB3EA78306}"/>
              </a:ext>
            </a:extLst>
          </p:cNvPr>
          <p:cNvGrpSpPr/>
          <p:nvPr/>
        </p:nvGrpSpPr>
        <p:grpSpPr>
          <a:xfrm>
            <a:off x="7103603" y="4414948"/>
            <a:ext cx="593515" cy="511651"/>
            <a:chOff x="4656651" y="4481332"/>
            <a:chExt cx="593515" cy="511651"/>
          </a:xfrm>
        </p:grpSpPr>
        <p:sp>
          <p:nvSpPr>
            <p:cNvPr id="94" name="Hexagon 93">
              <a:extLst>
                <a:ext uri="{FF2B5EF4-FFF2-40B4-BE49-F238E27FC236}">
                  <a16:creationId xmlns:a16="http://schemas.microsoft.com/office/drawing/2014/main" id="{C2F69E7F-99D1-8F12-38FA-CBAA07CA7AEE}"/>
                </a:ext>
              </a:extLst>
            </p:cNvPr>
            <p:cNvSpPr/>
            <p:nvPr/>
          </p:nvSpPr>
          <p:spPr>
            <a:xfrm>
              <a:off x="4656651" y="4481332"/>
              <a:ext cx="593515" cy="511651"/>
            </a:xfrm>
            <a:prstGeom prst="hexag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C05D2CE8-D0AE-947E-50FB-DE7C3922E1B6}"/>
                </a:ext>
              </a:extLst>
            </p:cNvPr>
            <p:cNvSpPr txBox="1"/>
            <p:nvPr/>
          </p:nvSpPr>
          <p:spPr>
            <a:xfrm>
              <a:off x="4656651" y="4567880"/>
              <a:ext cx="58702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600" dirty="0">
                  <a:latin typeface="Roboto" panose="02000000000000000000" pitchFamily="2" charset="0"/>
                  <a:ea typeface="Roboto" panose="02000000000000000000" pitchFamily="2" charset="0"/>
                </a:rPr>
                <a:t>CPG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8F941E1-2EDB-BA1E-8E53-D6038EC4FA79}"/>
              </a:ext>
            </a:extLst>
          </p:cNvPr>
          <p:cNvGrpSpPr/>
          <p:nvPr/>
        </p:nvGrpSpPr>
        <p:grpSpPr>
          <a:xfrm>
            <a:off x="5943381" y="3880888"/>
            <a:ext cx="593515" cy="511651"/>
            <a:chOff x="6062683" y="4312054"/>
            <a:chExt cx="593515" cy="511651"/>
          </a:xfrm>
        </p:grpSpPr>
        <p:sp>
          <p:nvSpPr>
            <p:cNvPr id="96" name="Hexagon 95">
              <a:extLst>
                <a:ext uri="{FF2B5EF4-FFF2-40B4-BE49-F238E27FC236}">
                  <a16:creationId xmlns:a16="http://schemas.microsoft.com/office/drawing/2014/main" id="{AB34C593-682F-07A7-FDC9-0830A5E2D877}"/>
                </a:ext>
              </a:extLst>
            </p:cNvPr>
            <p:cNvSpPr/>
            <p:nvPr/>
          </p:nvSpPr>
          <p:spPr>
            <a:xfrm>
              <a:off x="6062683" y="4312054"/>
              <a:ext cx="593515" cy="511651"/>
            </a:xfrm>
            <a:prstGeom prst="hexag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33BC8EDB-B13C-30A8-8285-40E035030814}"/>
                </a:ext>
              </a:extLst>
            </p:cNvPr>
            <p:cNvSpPr txBox="1"/>
            <p:nvPr/>
          </p:nvSpPr>
          <p:spPr>
            <a:xfrm>
              <a:off x="6098792" y="4398602"/>
              <a:ext cx="5212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Roboto" panose="02000000000000000000" pitchFamily="2" charset="0"/>
                  <a:ea typeface="Roboto" panose="02000000000000000000" pitchFamily="2" charset="0"/>
                </a:rPr>
                <a:t>IND</a:t>
              </a:r>
            </a:p>
          </p:txBody>
        </p:sp>
      </p:grpSp>
      <p:pic>
        <p:nvPicPr>
          <p:cNvPr id="103" name="Graphic 102">
            <a:extLst>
              <a:ext uri="{FF2B5EF4-FFF2-40B4-BE49-F238E27FC236}">
                <a16:creationId xmlns:a16="http://schemas.microsoft.com/office/drawing/2014/main" id="{D1EFD154-132E-F4E4-3AF4-ED3C5F7BB06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21206"/>
          <a:stretch/>
        </p:blipFill>
        <p:spPr>
          <a:xfrm>
            <a:off x="3599299" y="4394922"/>
            <a:ext cx="1041400" cy="1010682"/>
          </a:xfrm>
          <a:prstGeom prst="rect">
            <a:avLst/>
          </a:prstGeom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489AA559-90B1-6107-6440-5ED06D4ABC47}"/>
              </a:ext>
            </a:extLst>
          </p:cNvPr>
          <p:cNvSpPr txBox="1"/>
          <p:nvPr/>
        </p:nvSpPr>
        <p:spPr>
          <a:xfrm>
            <a:off x="3654783" y="4178002"/>
            <a:ext cx="8579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Indexer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47C5B1AA-2F86-3C45-09AF-A3CA2B8BBD94}"/>
              </a:ext>
            </a:extLst>
          </p:cNvPr>
          <p:cNvCxnSpPr>
            <a:cxnSpLocks/>
          </p:cNvCxnSpPr>
          <p:nvPr/>
        </p:nvCxnSpPr>
        <p:spPr>
          <a:xfrm flipV="1">
            <a:off x="2849498" y="3661261"/>
            <a:ext cx="726554" cy="94902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BB26A617-2486-E62B-7D06-D1A14AF3430B}"/>
              </a:ext>
            </a:extLst>
          </p:cNvPr>
          <p:cNvCxnSpPr>
            <a:cxnSpLocks/>
          </p:cNvCxnSpPr>
          <p:nvPr/>
        </p:nvCxnSpPr>
        <p:spPr>
          <a:xfrm>
            <a:off x="4590518" y="6341803"/>
            <a:ext cx="410718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GitHub - CodeIntelligenceTesting/jazzer: Coverage-guided, in-process fuzzing  for the JVM">
            <a:extLst>
              <a:ext uri="{FF2B5EF4-FFF2-40B4-BE49-F238E27FC236}">
                <a16:creationId xmlns:a16="http://schemas.microsoft.com/office/drawing/2014/main" id="{7455F9D3-FB15-256C-CE6B-382969C3C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40749" y="5074549"/>
            <a:ext cx="619427" cy="565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4" name="TextBox 123">
            <a:extLst>
              <a:ext uri="{FF2B5EF4-FFF2-40B4-BE49-F238E27FC236}">
                <a16:creationId xmlns:a16="http://schemas.microsoft.com/office/drawing/2014/main" id="{AB6A3F41-57AD-21BA-5F3B-B52F54E7E23A}"/>
              </a:ext>
            </a:extLst>
          </p:cNvPr>
          <p:cNvSpPr txBox="1"/>
          <p:nvPr/>
        </p:nvSpPr>
        <p:spPr>
          <a:xfrm>
            <a:off x="14552674" y="4621088"/>
            <a:ext cx="10647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Jazzmine</a:t>
            </a:r>
          </a:p>
          <a:p>
            <a:pPr algn="ctr"/>
            <a:endParaRPr lang="en-US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028" name="Picture 4" descr="GitHub - AFLplusplus/AFLplusplus: The fuzzer afl++ is afl with community  patches, qemu 5.1 upgrade, collision-free coverage, enhanced laf-intel &amp;  redqueen, AFLfast++ power schedules, MOpt mutators, unicorn_mode, and a lot  more!">
            <a:extLst>
              <a:ext uri="{FF2B5EF4-FFF2-40B4-BE49-F238E27FC236}">
                <a16:creationId xmlns:a16="http://schemas.microsoft.com/office/drawing/2014/main" id="{29AD2531-0A1B-3BCC-0B78-7E8ED6EC8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80856" y="5022333"/>
            <a:ext cx="619427" cy="619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726FE21C-41F2-066B-5C73-65861AECED8F}"/>
              </a:ext>
            </a:extLst>
          </p:cNvPr>
          <p:cNvSpPr txBox="1"/>
          <p:nvPr/>
        </p:nvSpPr>
        <p:spPr>
          <a:xfrm>
            <a:off x="13570421" y="4621087"/>
            <a:ext cx="8402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</a:rPr>
              <a:t>AFLoat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27" name="Graphic 126">
            <a:extLst>
              <a:ext uri="{FF2B5EF4-FFF2-40B4-BE49-F238E27FC236}">
                <a16:creationId xmlns:a16="http://schemas.microsoft.com/office/drawing/2014/main" id="{CAB819AD-E873-E1E1-85DE-7E30CA12105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b="21731"/>
          <a:stretch/>
        </p:blipFill>
        <p:spPr>
          <a:xfrm>
            <a:off x="10863494" y="5141266"/>
            <a:ext cx="633116" cy="619415"/>
          </a:xfrm>
          <a:prstGeom prst="rect">
            <a:avLst/>
          </a:prstGeom>
        </p:spPr>
      </p:pic>
      <p:sp>
        <p:nvSpPr>
          <p:cNvPr id="1032" name="TextBox 1031">
            <a:extLst>
              <a:ext uri="{FF2B5EF4-FFF2-40B4-BE49-F238E27FC236}">
                <a16:creationId xmlns:a16="http://schemas.microsoft.com/office/drawing/2014/main" id="{721CC3E9-ED71-0B31-8B0A-E995BC33D496}"/>
              </a:ext>
            </a:extLst>
          </p:cNvPr>
          <p:cNvSpPr txBox="1"/>
          <p:nvPr/>
        </p:nvSpPr>
        <p:spPr>
          <a:xfrm>
            <a:off x="10446847" y="4624753"/>
            <a:ext cx="1447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Grammar </a:t>
            </a:r>
            <a:b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Agent</a:t>
            </a:r>
          </a:p>
        </p:txBody>
      </p:sp>
      <p:pic>
        <p:nvPicPr>
          <p:cNvPr id="1036" name="Graphic 1035">
            <a:extLst>
              <a:ext uri="{FF2B5EF4-FFF2-40B4-BE49-F238E27FC236}">
                <a16:creationId xmlns:a16="http://schemas.microsoft.com/office/drawing/2014/main" id="{CD3C235E-FE42-421F-B33F-6589FF4E94D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b="17721"/>
          <a:stretch/>
        </p:blipFill>
        <p:spPr>
          <a:xfrm>
            <a:off x="11405292" y="6562268"/>
            <a:ext cx="685495" cy="705018"/>
          </a:xfrm>
          <a:prstGeom prst="rect">
            <a:avLst/>
          </a:prstGeom>
        </p:spPr>
      </p:pic>
      <p:pic>
        <p:nvPicPr>
          <p:cNvPr id="1038" name="Graphic 1037">
            <a:extLst>
              <a:ext uri="{FF2B5EF4-FFF2-40B4-BE49-F238E27FC236}">
                <a16:creationId xmlns:a16="http://schemas.microsoft.com/office/drawing/2014/main" id="{33C99A38-0D3A-214A-8245-F4B1FA03F61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b="17878"/>
          <a:stretch/>
        </p:blipFill>
        <p:spPr>
          <a:xfrm>
            <a:off x="9979294" y="6223704"/>
            <a:ext cx="903052" cy="913444"/>
          </a:xfrm>
          <a:prstGeom prst="rect">
            <a:avLst/>
          </a:prstGeom>
        </p:spPr>
      </p:pic>
      <p:sp>
        <p:nvSpPr>
          <p:cNvPr id="1039" name="TextBox 1038">
            <a:extLst>
              <a:ext uri="{FF2B5EF4-FFF2-40B4-BE49-F238E27FC236}">
                <a16:creationId xmlns:a16="http://schemas.microsoft.com/office/drawing/2014/main" id="{ABF4E856-E942-DA5A-7B4B-99458BA179AA}"/>
              </a:ext>
            </a:extLst>
          </p:cNvPr>
          <p:cNvSpPr txBox="1"/>
          <p:nvPr/>
        </p:nvSpPr>
        <p:spPr>
          <a:xfrm>
            <a:off x="9776113" y="6057051"/>
            <a:ext cx="13596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Grammar DB</a:t>
            </a: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AE26A00D-DF8A-9576-52DC-F74902A75A23}"/>
              </a:ext>
            </a:extLst>
          </p:cNvPr>
          <p:cNvSpPr txBox="1"/>
          <p:nvPr/>
        </p:nvSpPr>
        <p:spPr>
          <a:xfrm>
            <a:off x="11182819" y="6016648"/>
            <a:ext cx="11304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Grammar </a:t>
            </a:r>
            <a:b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Composer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270EF1F-4922-A92B-4B32-8F6987E4B9FB}"/>
              </a:ext>
            </a:extLst>
          </p:cNvPr>
          <p:cNvGrpSpPr/>
          <p:nvPr/>
        </p:nvGrpSpPr>
        <p:grpSpPr>
          <a:xfrm>
            <a:off x="9737618" y="7355903"/>
            <a:ext cx="2672459" cy="1546254"/>
            <a:chOff x="24298659" y="5017360"/>
            <a:chExt cx="2672459" cy="1546254"/>
          </a:xfrm>
        </p:grpSpPr>
        <p:sp>
          <p:nvSpPr>
            <p:cNvPr id="1044" name="Rounded Rectangle 1043">
              <a:extLst>
                <a:ext uri="{FF2B5EF4-FFF2-40B4-BE49-F238E27FC236}">
                  <a16:creationId xmlns:a16="http://schemas.microsoft.com/office/drawing/2014/main" id="{D0288703-E4B1-96EF-73BE-D1AD8549358A}"/>
                </a:ext>
              </a:extLst>
            </p:cNvPr>
            <p:cNvSpPr/>
            <p:nvPr/>
          </p:nvSpPr>
          <p:spPr>
            <a:xfrm>
              <a:off x="24298659" y="5063699"/>
              <a:ext cx="2672459" cy="1151358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42" name="Graphic 1041">
              <a:extLst>
                <a:ext uri="{FF2B5EF4-FFF2-40B4-BE49-F238E27FC236}">
                  <a16:creationId xmlns:a16="http://schemas.microsoft.com/office/drawing/2014/main" id="{BCF56DEA-606D-3637-2CEB-0CEBDE73A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 b="16057"/>
            <a:stretch/>
          </p:blipFill>
          <p:spPr>
            <a:xfrm rot="7181469">
              <a:off x="25534604" y="5130932"/>
              <a:ext cx="1041400" cy="1076738"/>
            </a:xfrm>
            <a:prstGeom prst="rect">
              <a:avLst/>
            </a:prstGeom>
          </p:spPr>
        </p:pic>
        <p:pic>
          <p:nvPicPr>
            <p:cNvPr id="1043" name="Graphic 1042">
              <a:extLst>
                <a:ext uri="{FF2B5EF4-FFF2-40B4-BE49-F238E27FC236}">
                  <a16:creationId xmlns:a16="http://schemas.microsoft.com/office/drawing/2014/main" id="{2C5A6C08-1B14-44DF-4FA5-C4EEEE5C6A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 b="16057"/>
            <a:stretch/>
          </p:blipFill>
          <p:spPr>
            <a:xfrm rot="512265">
              <a:off x="24662322" y="5017360"/>
              <a:ext cx="1041400" cy="1076738"/>
            </a:xfrm>
            <a:prstGeom prst="rect">
              <a:avLst/>
            </a:prstGeom>
          </p:spPr>
        </p:pic>
        <p:sp>
          <p:nvSpPr>
            <p:cNvPr id="1045" name="TextBox 1044">
              <a:extLst>
                <a:ext uri="{FF2B5EF4-FFF2-40B4-BE49-F238E27FC236}">
                  <a16:creationId xmlns:a16="http://schemas.microsoft.com/office/drawing/2014/main" id="{5BCBAE05-0C48-A573-CB0E-B75746B3D357}"/>
                </a:ext>
              </a:extLst>
            </p:cNvPr>
            <p:cNvSpPr txBox="1"/>
            <p:nvPr/>
          </p:nvSpPr>
          <p:spPr>
            <a:xfrm>
              <a:off x="24843540" y="6225060"/>
              <a:ext cx="147829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Roboto" panose="02000000000000000000" pitchFamily="2" charset="0"/>
                  <a:ea typeface="Roboto" panose="02000000000000000000" pitchFamily="2" charset="0"/>
                </a:rPr>
                <a:t>Corpus Tracer</a:t>
              </a:r>
            </a:p>
          </p:txBody>
        </p:sp>
      </p:grpSp>
      <p:pic>
        <p:nvPicPr>
          <p:cNvPr id="1047" name="Graphic 1046">
            <a:extLst>
              <a:ext uri="{FF2B5EF4-FFF2-40B4-BE49-F238E27FC236}">
                <a16:creationId xmlns:a16="http://schemas.microsoft.com/office/drawing/2014/main" id="{57D11F28-1B32-D0D8-4095-E2384237991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b="17641"/>
          <a:stretch/>
        </p:blipFill>
        <p:spPr>
          <a:xfrm>
            <a:off x="12451307" y="4906679"/>
            <a:ext cx="751687" cy="762526"/>
          </a:xfrm>
          <a:prstGeom prst="rect">
            <a:avLst/>
          </a:prstGeom>
        </p:spPr>
      </p:pic>
      <p:sp>
        <p:nvSpPr>
          <p:cNvPr id="1048" name="TextBox 1047">
            <a:extLst>
              <a:ext uri="{FF2B5EF4-FFF2-40B4-BE49-F238E27FC236}">
                <a16:creationId xmlns:a16="http://schemas.microsoft.com/office/drawing/2014/main" id="{6735BF4D-CF44-B99F-0DB0-70D5E5BD4FBB}"/>
              </a:ext>
            </a:extLst>
          </p:cNvPr>
          <p:cNvSpPr txBox="1"/>
          <p:nvPr/>
        </p:nvSpPr>
        <p:spPr>
          <a:xfrm>
            <a:off x="12340873" y="4625385"/>
            <a:ext cx="1156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</a:rPr>
              <a:t>QuickSeed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1082" name="Group 1081">
            <a:extLst>
              <a:ext uri="{FF2B5EF4-FFF2-40B4-BE49-F238E27FC236}">
                <a16:creationId xmlns:a16="http://schemas.microsoft.com/office/drawing/2014/main" id="{BA6B2FED-3CAA-B1BA-524A-6F51B0DC4F9E}"/>
              </a:ext>
            </a:extLst>
          </p:cNvPr>
          <p:cNvGrpSpPr/>
          <p:nvPr/>
        </p:nvGrpSpPr>
        <p:grpSpPr>
          <a:xfrm>
            <a:off x="16408656" y="4700102"/>
            <a:ext cx="1116826" cy="1171546"/>
            <a:chOff x="16499967" y="1951617"/>
            <a:chExt cx="1116826" cy="1171546"/>
          </a:xfrm>
        </p:grpSpPr>
        <p:pic>
          <p:nvPicPr>
            <p:cNvPr id="1050" name="Graphic 1049">
              <a:extLst>
                <a:ext uri="{FF2B5EF4-FFF2-40B4-BE49-F238E27FC236}">
                  <a16:creationId xmlns:a16="http://schemas.microsoft.com/office/drawing/2014/main" id="{BBE4E5BF-7659-53CB-F30D-4F99A3968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 b="24755"/>
            <a:stretch/>
          </p:blipFill>
          <p:spPr>
            <a:xfrm>
              <a:off x="16499967" y="1951617"/>
              <a:ext cx="952500" cy="888712"/>
            </a:xfrm>
            <a:prstGeom prst="rect">
              <a:avLst/>
            </a:prstGeom>
          </p:spPr>
        </p:pic>
        <p:sp>
          <p:nvSpPr>
            <p:cNvPr id="1051" name="TextBox 1050">
              <a:extLst>
                <a:ext uri="{FF2B5EF4-FFF2-40B4-BE49-F238E27FC236}">
                  <a16:creationId xmlns:a16="http://schemas.microsoft.com/office/drawing/2014/main" id="{C9B4518A-F282-F144-4338-983EFADAD73E}"/>
                </a:ext>
              </a:extLst>
            </p:cNvPr>
            <p:cNvSpPr txBox="1"/>
            <p:nvPr/>
          </p:nvSpPr>
          <p:spPr>
            <a:xfrm>
              <a:off x="16525887" y="2784609"/>
              <a:ext cx="93326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Roboto" panose="02000000000000000000" pitchFamily="2" charset="0"/>
                  <a:ea typeface="Roboto" panose="02000000000000000000" pitchFamily="2" charset="0"/>
                </a:rPr>
                <a:t>Crashes</a:t>
              </a:r>
            </a:p>
          </p:txBody>
        </p:sp>
        <p:pic>
          <p:nvPicPr>
            <p:cNvPr id="1052" name="Graphic 1051">
              <a:extLst>
                <a:ext uri="{FF2B5EF4-FFF2-40B4-BE49-F238E27FC236}">
                  <a16:creationId xmlns:a16="http://schemas.microsoft.com/office/drawing/2014/main" id="{68932C18-2473-9E7F-AFA9-E432E7A2D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 b="24755"/>
            <a:stretch/>
          </p:blipFill>
          <p:spPr>
            <a:xfrm>
              <a:off x="17169285" y="1982161"/>
              <a:ext cx="447508" cy="417539"/>
            </a:xfrm>
            <a:prstGeom prst="rect">
              <a:avLst/>
            </a:prstGeom>
          </p:spPr>
        </p:pic>
      </p:grpSp>
      <p:pic>
        <p:nvPicPr>
          <p:cNvPr id="1054" name="Graphic 1053">
            <a:extLst>
              <a:ext uri="{FF2B5EF4-FFF2-40B4-BE49-F238E27FC236}">
                <a16:creationId xmlns:a16="http://schemas.microsoft.com/office/drawing/2014/main" id="{6630C809-4D0E-64A7-49BE-302154E2787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 b="25214"/>
          <a:stretch/>
        </p:blipFill>
        <p:spPr>
          <a:xfrm>
            <a:off x="7236255" y="5914728"/>
            <a:ext cx="977126" cy="913444"/>
          </a:xfrm>
          <a:prstGeom prst="rect">
            <a:avLst/>
          </a:prstGeom>
        </p:spPr>
      </p:pic>
      <p:sp>
        <p:nvSpPr>
          <p:cNvPr id="1055" name="TextBox 1054">
            <a:extLst>
              <a:ext uri="{FF2B5EF4-FFF2-40B4-BE49-F238E27FC236}">
                <a16:creationId xmlns:a16="http://schemas.microsoft.com/office/drawing/2014/main" id="{7B7B4401-E4AD-F259-491D-0E3308D87D1D}"/>
              </a:ext>
            </a:extLst>
          </p:cNvPr>
          <p:cNvSpPr txBox="1"/>
          <p:nvPr/>
        </p:nvSpPr>
        <p:spPr>
          <a:xfrm>
            <a:off x="7143937" y="6731925"/>
            <a:ext cx="10743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Discovery</a:t>
            </a:r>
            <a:b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Guy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3C5621B-D9D2-0559-C2ED-A9EDD507C31F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b="17641"/>
          <a:stretch/>
        </p:blipFill>
        <p:spPr>
          <a:xfrm>
            <a:off x="16399267" y="6798993"/>
            <a:ext cx="1041400" cy="10564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837C77-76B0-4147-A6FA-B52EEA2EF61F}"/>
              </a:ext>
            </a:extLst>
          </p:cNvPr>
          <p:cNvSpPr txBox="1"/>
          <p:nvPr/>
        </p:nvSpPr>
        <p:spPr>
          <a:xfrm>
            <a:off x="16399267" y="7789742"/>
            <a:ext cx="1060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POV Guy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BB8F9C3-24A1-502D-64F5-E4D43E2BBA34}"/>
              </a:ext>
            </a:extLst>
          </p:cNvPr>
          <p:cNvGrpSpPr/>
          <p:nvPr/>
        </p:nvGrpSpPr>
        <p:grpSpPr>
          <a:xfrm>
            <a:off x="12457934" y="9340459"/>
            <a:ext cx="1167564" cy="1409689"/>
            <a:chOff x="12723604" y="9189456"/>
            <a:chExt cx="1167564" cy="1409689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CAEE7596-0A0E-5BDE-2153-625145B33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rcRect b="13774"/>
            <a:stretch/>
          </p:blipFill>
          <p:spPr>
            <a:xfrm>
              <a:off x="12849768" y="9189456"/>
              <a:ext cx="1041400" cy="1106024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83299FA-B03A-5601-C20F-3D325BF655F6}"/>
                </a:ext>
              </a:extLst>
            </p:cNvPr>
            <p:cNvSpPr txBox="1"/>
            <p:nvPr/>
          </p:nvSpPr>
          <p:spPr>
            <a:xfrm>
              <a:off x="12723604" y="10229813"/>
              <a:ext cx="11675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Patcher Q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C2BC31A6-B8A1-9CAB-CF44-6D28501C4602}"/>
              </a:ext>
            </a:extLst>
          </p:cNvPr>
          <p:cNvGrpSpPr/>
          <p:nvPr/>
        </p:nvGrpSpPr>
        <p:grpSpPr>
          <a:xfrm>
            <a:off x="13926180" y="8662638"/>
            <a:ext cx="1124282" cy="1361235"/>
            <a:chOff x="14445602" y="9237910"/>
            <a:chExt cx="1124282" cy="1361235"/>
          </a:xfrm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F86A4216-9681-DB0A-329E-122EC1EF20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rcRect b="13774"/>
            <a:stretch/>
          </p:blipFill>
          <p:spPr>
            <a:xfrm>
              <a:off x="14445602" y="9237910"/>
              <a:ext cx="1041400" cy="1106024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CA2265C-2334-3FC0-A034-DD18AEA431CF}"/>
                </a:ext>
              </a:extLst>
            </p:cNvPr>
            <p:cNvSpPr txBox="1"/>
            <p:nvPr/>
          </p:nvSpPr>
          <p:spPr>
            <a:xfrm>
              <a:off x="14445602" y="10229813"/>
              <a:ext cx="11242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Patcher Y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B9ED87A-4D82-9716-1A72-6E5DDCABC347}"/>
              </a:ext>
            </a:extLst>
          </p:cNvPr>
          <p:cNvGrpSpPr/>
          <p:nvPr/>
        </p:nvGrpSpPr>
        <p:grpSpPr>
          <a:xfrm>
            <a:off x="16399268" y="9291145"/>
            <a:ext cx="987771" cy="1231504"/>
            <a:chOff x="24202842" y="615330"/>
            <a:chExt cx="987771" cy="1231504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5D969FE5-FFA8-9689-0BB8-DFF989A97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rcRect b="13735"/>
            <a:stretch/>
          </p:blipFill>
          <p:spPr>
            <a:xfrm>
              <a:off x="24359557" y="615330"/>
              <a:ext cx="790713" cy="852638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BE61537-4E43-3D19-7780-FA4C8F702F65}"/>
                </a:ext>
              </a:extLst>
            </p:cNvPr>
            <p:cNvSpPr txBox="1"/>
            <p:nvPr/>
          </p:nvSpPr>
          <p:spPr>
            <a:xfrm>
              <a:off x="24202842" y="1477502"/>
              <a:ext cx="9877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POI Guy</a:t>
              </a:r>
            </a:p>
          </p:txBody>
        </p:sp>
      </p:grpSp>
      <p:pic>
        <p:nvPicPr>
          <p:cNvPr id="19" name="Graphic 18">
            <a:extLst>
              <a:ext uri="{FF2B5EF4-FFF2-40B4-BE49-F238E27FC236}">
                <a16:creationId xmlns:a16="http://schemas.microsoft.com/office/drawing/2014/main" id="{F4920A01-CBA4-AA17-441C-471D8CE8F203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b="13774"/>
          <a:stretch/>
        </p:blipFill>
        <p:spPr>
          <a:xfrm>
            <a:off x="7882390" y="3756911"/>
            <a:ext cx="1041400" cy="110602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9C612C9-0FDD-A755-5EA0-C991B30262FE}"/>
              </a:ext>
            </a:extLst>
          </p:cNvPr>
          <p:cNvSpPr txBox="1"/>
          <p:nvPr/>
        </p:nvSpPr>
        <p:spPr>
          <a:xfrm>
            <a:off x="7875731" y="3138936"/>
            <a:ext cx="10585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Analysis </a:t>
            </a:r>
            <a:br>
              <a:rPr lang="en-US" dirty="0"/>
            </a:br>
            <a:r>
              <a:rPr lang="en-US" dirty="0"/>
              <a:t>Service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FDAEC1B-3188-DA7A-AFA7-C42DCABB069A}"/>
              </a:ext>
            </a:extLst>
          </p:cNvPr>
          <p:cNvGrpSpPr/>
          <p:nvPr/>
        </p:nvGrpSpPr>
        <p:grpSpPr>
          <a:xfrm>
            <a:off x="3438496" y="6920359"/>
            <a:ext cx="1406043" cy="1584381"/>
            <a:chOff x="16947958" y="496225"/>
            <a:chExt cx="1406043" cy="1584381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713E9005-484F-2924-8796-E2DCA1C69C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rcRect b="21656"/>
            <a:stretch/>
          </p:blipFill>
          <p:spPr>
            <a:xfrm>
              <a:off x="16947958" y="496225"/>
              <a:ext cx="1406043" cy="136593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7995E83-1076-4FDC-54EE-B68199A24E04}"/>
                </a:ext>
              </a:extLst>
            </p:cNvPr>
            <p:cNvSpPr txBox="1"/>
            <p:nvPr/>
          </p:nvSpPr>
          <p:spPr>
            <a:xfrm>
              <a:off x="17041854" y="1711274"/>
              <a:ext cx="9781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Diff Guy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42B93F3-B1BD-2F91-A08A-8AD14C79DC18}"/>
              </a:ext>
            </a:extLst>
          </p:cNvPr>
          <p:cNvGrpSpPr/>
          <p:nvPr/>
        </p:nvGrpSpPr>
        <p:grpSpPr>
          <a:xfrm>
            <a:off x="13870337" y="10344547"/>
            <a:ext cx="952500" cy="1243955"/>
            <a:chOff x="13424894" y="1092272"/>
            <a:chExt cx="952500" cy="1243955"/>
          </a:xfrm>
        </p:grpSpPr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CB8B8CDD-6125-62DD-465D-9BB5EA94A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rcRect b="15339"/>
            <a:stretch/>
          </p:blipFill>
          <p:spPr>
            <a:xfrm>
              <a:off x="13424894" y="1092272"/>
              <a:ext cx="952500" cy="1010682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8C4759F-5506-3BEE-E946-E78DF04E65F2}"/>
                </a:ext>
              </a:extLst>
            </p:cNvPr>
            <p:cNvSpPr txBox="1"/>
            <p:nvPr/>
          </p:nvSpPr>
          <p:spPr>
            <a:xfrm>
              <a:off x="13588782" y="1966895"/>
              <a:ext cx="6247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Diva</a:t>
              </a:r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28DDE84-BC5C-C90C-1F13-46391C82EC90}"/>
              </a:ext>
            </a:extLst>
          </p:cNvPr>
          <p:cNvCxnSpPr>
            <a:cxnSpLocks/>
          </p:cNvCxnSpPr>
          <p:nvPr/>
        </p:nvCxnSpPr>
        <p:spPr>
          <a:xfrm>
            <a:off x="2843301" y="5377338"/>
            <a:ext cx="738949" cy="48142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3271449-67CA-F01D-450B-50EC807399E9}"/>
              </a:ext>
            </a:extLst>
          </p:cNvPr>
          <p:cNvCxnSpPr>
            <a:cxnSpLocks/>
          </p:cNvCxnSpPr>
          <p:nvPr/>
        </p:nvCxnSpPr>
        <p:spPr>
          <a:xfrm>
            <a:off x="4703583" y="3617799"/>
            <a:ext cx="802156" cy="44767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45E92BF-4D30-BEEC-E8BF-C3AECDCCCFB2}"/>
              </a:ext>
            </a:extLst>
          </p:cNvPr>
          <p:cNvCxnSpPr>
            <a:cxnSpLocks/>
          </p:cNvCxnSpPr>
          <p:nvPr/>
        </p:nvCxnSpPr>
        <p:spPr>
          <a:xfrm flipV="1">
            <a:off x="2843301" y="4900264"/>
            <a:ext cx="546565" cy="9354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Graphic 30">
            <a:extLst>
              <a:ext uri="{FF2B5EF4-FFF2-40B4-BE49-F238E27FC236}">
                <a16:creationId xmlns:a16="http://schemas.microsoft.com/office/drawing/2014/main" id="{898FEBE2-B14D-D9D6-FBE1-351AC02C1053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 b="14988"/>
          <a:stretch>
            <a:fillRect/>
          </a:stretch>
        </p:blipFill>
        <p:spPr>
          <a:xfrm>
            <a:off x="3690204" y="3169661"/>
            <a:ext cx="859590" cy="913447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FE91CFF-96BD-342D-59EC-769C30D7DF9E}"/>
              </a:ext>
            </a:extLst>
          </p:cNvPr>
          <p:cNvSpPr txBox="1"/>
          <p:nvPr/>
        </p:nvSpPr>
        <p:spPr>
          <a:xfrm>
            <a:off x="3565305" y="2747780"/>
            <a:ext cx="9717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Analyzer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82BAC70-319F-62D9-424B-17F4E01DFA54}"/>
              </a:ext>
            </a:extLst>
          </p:cNvPr>
          <p:cNvCxnSpPr>
            <a:cxnSpLocks/>
          </p:cNvCxnSpPr>
          <p:nvPr/>
        </p:nvCxnSpPr>
        <p:spPr>
          <a:xfrm flipV="1">
            <a:off x="4647358" y="4619419"/>
            <a:ext cx="871296" cy="25481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CC75D34E-0E12-935D-9AD2-2054DED663C0}"/>
              </a:ext>
            </a:extLst>
          </p:cNvPr>
          <p:cNvGrpSpPr/>
          <p:nvPr/>
        </p:nvGrpSpPr>
        <p:grpSpPr>
          <a:xfrm>
            <a:off x="12623518" y="2519561"/>
            <a:ext cx="1656891" cy="1313134"/>
            <a:chOff x="13201118" y="1589288"/>
            <a:chExt cx="1656891" cy="1313134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829B6789-7BC5-E022-D5D0-690EC7D9E84B}"/>
                </a:ext>
              </a:extLst>
            </p:cNvPr>
            <p:cNvSpPr/>
            <p:nvPr/>
          </p:nvSpPr>
          <p:spPr>
            <a:xfrm>
              <a:off x="14134485" y="1975708"/>
              <a:ext cx="703646" cy="91344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ACBC9D54-C308-C0A8-EF5C-9DEE156D1DED}"/>
                </a:ext>
              </a:extLst>
            </p:cNvPr>
            <p:cNvSpPr txBox="1"/>
            <p:nvPr/>
          </p:nvSpPr>
          <p:spPr>
            <a:xfrm>
              <a:off x="14115498" y="1964133"/>
              <a:ext cx="74251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Roboto" panose="02000000000000000000" pitchFamily="2" charset="0"/>
                  <a:ea typeface="Roboto" panose="02000000000000000000" pitchFamily="2" charset="0"/>
                </a:rPr>
                <a:t>binary</a:t>
              </a:r>
            </a:p>
          </p:txBody>
        </p: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C3219C6F-AF47-08F9-D5DA-55A23456A51E}"/>
                </a:ext>
              </a:extLst>
            </p:cNvPr>
            <p:cNvCxnSpPr>
              <a:cxnSpLocks/>
            </p:cNvCxnSpPr>
            <p:nvPr/>
          </p:nvCxnSpPr>
          <p:spPr>
            <a:xfrm>
              <a:off x="14278411" y="2302687"/>
              <a:ext cx="393539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B5EC9768-EAD1-78AB-48BB-B9016B842AF9}"/>
                </a:ext>
              </a:extLst>
            </p:cNvPr>
            <p:cNvCxnSpPr>
              <a:cxnSpLocks/>
            </p:cNvCxnSpPr>
            <p:nvPr/>
          </p:nvCxnSpPr>
          <p:spPr>
            <a:xfrm>
              <a:off x="14278411" y="2420363"/>
              <a:ext cx="393539" cy="0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3BDC0291-6944-7483-35EB-B93A786842D0}"/>
                </a:ext>
              </a:extLst>
            </p:cNvPr>
            <p:cNvCxnSpPr>
              <a:cxnSpLocks/>
            </p:cNvCxnSpPr>
            <p:nvPr/>
          </p:nvCxnSpPr>
          <p:spPr>
            <a:xfrm>
              <a:off x="14278411" y="2538039"/>
              <a:ext cx="393539" cy="0"/>
            </a:xfrm>
            <a:prstGeom prst="line">
              <a:avLst/>
            </a:prstGeom>
            <a:ln>
              <a:prstDash val="lg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E24FAAD9-93AB-2D5C-30D6-FD8296683217}"/>
                </a:ext>
              </a:extLst>
            </p:cNvPr>
            <p:cNvCxnSpPr>
              <a:cxnSpLocks/>
            </p:cNvCxnSpPr>
            <p:nvPr/>
          </p:nvCxnSpPr>
          <p:spPr>
            <a:xfrm>
              <a:off x="14278411" y="2655715"/>
              <a:ext cx="393539" cy="0"/>
            </a:xfrm>
            <a:prstGeom prst="line">
              <a:avLst/>
            </a:prstGeom>
            <a:ln>
              <a:prstDash val="lgDashDot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FBBFA2-590B-2E68-0B00-BE0182E18BE6}"/>
                </a:ext>
              </a:extLst>
            </p:cNvPr>
            <p:cNvCxnSpPr>
              <a:cxnSpLocks/>
            </p:cNvCxnSpPr>
            <p:nvPr/>
          </p:nvCxnSpPr>
          <p:spPr>
            <a:xfrm>
              <a:off x="14278411" y="2773392"/>
              <a:ext cx="393539" cy="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111F7A5C-260E-D1CA-3C37-412E95B930A6}"/>
                </a:ext>
              </a:extLst>
            </p:cNvPr>
            <p:cNvSpPr txBox="1"/>
            <p:nvPr/>
          </p:nvSpPr>
          <p:spPr>
            <a:xfrm>
              <a:off x="13424063" y="1589288"/>
              <a:ext cx="12602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Roboto" panose="02000000000000000000" pitchFamily="2" charset="0"/>
                  <a:ea typeface="Roboto" panose="02000000000000000000" pitchFamily="2" charset="0"/>
                </a:rPr>
                <a:t>Fuzz Target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E6E33EE3-EAB6-653C-BAD4-4BD8C0ACDE65}"/>
                </a:ext>
              </a:extLst>
            </p:cNvPr>
            <p:cNvSpPr/>
            <p:nvPr/>
          </p:nvSpPr>
          <p:spPr>
            <a:xfrm>
              <a:off x="13257361" y="1988975"/>
              <a:ext cx="710922" cy="91344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94327246-A65C-93C8-D812-4A95CBF48C2E}"/>
                </a:ext>
              </a:extLst>
            </p:cNvPr>
            <p:cNvSpPr txBox="1"/>
            <p:nvPr/>
          </p:nvSpPr>
          <p:spPr>
            <a:xfrm>
              <a:off x="13201118" y="1977400"/>
              <a:ext cx="8066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Roboto" panose="02000000000000000000" pitchFamily="2" charset="0"/>
                  <a:ea typeface="Roboto" panose="02000000000000000000" pitchFamily="2" charset="0"/>
                </a:rPr>
                <a:t>source</a:t>
              </a:r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7110B159-F5A1-B1A4-34EB-93A33E32A91C}"/>
                </a:ext>
              </a:extLst>
            </p:cNvPr>
            <p:cNvCxnSpPr>
              <a:cxnSpLocks/>
            </p:cNvCxnSpPr>
            <p:nvPr/>
          </p:nvCxnSpPr>
          <p:spPr>
            <a:xfrm>
              <a:off x="13396090" y="2315954"/>
              <a:ext cx="393539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C49EA43E-BFF4-01F9-0D55-3082F2E1CCD2}"/>
                </a:ext>
              </a:extLst>
            </p:cNvPr>
            <p:cNvCxnSpPr>
              <a:cxnSpLocks/>
            </p:cNvCxnSpPr>
            <p:nvPr/>
          </p:nvCxnSpPr>
          <p:spPr>
            <a:xfrm>
              <a:off x="13396090" y="2433630"/>
              <a:ext cx="393539" cy="0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F3175CB-E11E-1931-1411-F226D81A40A5}"/>
                </a:ext>
              </a:extLst>
            </p:cNvPr>
            <p:cNvCxnSpPr>
              <a:cxnSpLocks/>
            </p:cNvCxnSpPr>
            <p:nvPr/>
          </p:nvCxnSpPr>
          <p:spPr>
            <a:xfrm>
              <a:off x="13396090" y="2551306"/>
              <a:ext cx="393539" cy="0"/>
            </a:xfrm>
            <a:prstGeom prst="line">
              <a:avLst/>
            </a:prstGeom>
            <a:ln>
              <a:prstDash val="lg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F5DAAF7-78FB-BF21-3284-75E4A6844A29}"/>
                </a:ext>
              </a:extLst>
            </p:cNvPr>
            <p:cNvCxnSpPr>
              <a:cxnSpLocks/>
            </p:cNvCxnSpPr>
            <p:nvPr/>
          </p:nvCxnSpPr>
          <p:spPr>
            <a:xfrm>
              <a:off x="13396090" y="2668982"/>
              <a:ext cx="393539" cy="0"/>
            </a:xfrm>
            <a:prstGeom prst="line">
              <a:avLst/>
            </a:prstGeom>
            <a:ln>
              <a:prstDash val="lgDashDot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4828807D-8A0C-E8E9-DEB4-D246EF167CE1}"/>
                </a:ext>
              </a:extLst>
            </p:cNvPr>
            <p:cNvCxnSpPr>
              <a:cxnSpLocks/>
            </p:cNvCxnSpPr>
            <p:nvPr/>
          </p:nvCxnSpPr>
          <p:spPr>
            <a:xfrm>
              <a:off x="13396090" y="2786659"/>
              <a:ext cx="393539" cy="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6" name="Graphic 105">
            <a:extLst>
              <a:ext uri="{FF2B5EF4-FFF2-40B4-BE49-F238E27FC236}">
                <a16:creationId xmlns:a16="http://schemas.microsoft.com/office/drawing/2014/main" id="{9C6ED95C-66F9-4D73-4F43-3DF978357015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 b="17736"/>
          <a:stretch>
            <a:fillRect/>
          </a:stretch>
        </p:blipFill>
        <p:spPr>
          <a:xfrm>
            <a:off x="8631460" y="6012734"/>
            <a:ext cx="830667" cy="854172"/>
          </a:xfrm>
          <a:prstGeom prst="rect">
            <a:avLst/>
          </a:prstGeom>
        </p:spPr>
      </p:pic>
      <p:sp>
        <p:nvSpPr>
          <p:cNvPr id="107" name="TextBox 106">
            <a:extLst>
              <a:ext uri="{FF2B5EF4-FFF2-40B4-BE49-F238E27FC236}">
                <a16:creationId xmlns:a16="http://schemas.microsoft.com/office/drawing/2014/main" id="{76281A5E-B44B-22EB-5820-39987D019B02}"/>
              </a:ext>
            </a:extLst>
          </p:cNvPr>
          <p:cNvSpPr txBox="1"/>
          <p:nvPr/>
        </p:nvSpPr>
        <p:spPr>
          <a:xfrm>
            <a:off x="8533673" y="6882846"/>
            <a:ext cx="10262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Function</a:t>
            </a:r>
            <a:b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Heatmap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D5736A2D-37FB-5322-E20E-BB8151B0FA6F}"/>
              </a:ext>
            </a:extLst>
          </p:cNvPr>
          <p:cNvCxnSpPr>
            <a:cxnSpLocks/>
          </p:cNvCxnSpPr>
          <p:nvPr/>
        </p:nvCxnSpPr>
        <p:spPr>
          <a:xfrm>
            <a:off x="6520733" y="5377339"/>
            <a:ext cx="623204" cy="964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7C40AE99-B439-745C-80AF-EC9D56F9E1E2}"/>
              </a:ext>
            </a:extLst>
          </p:cNvPr>
          <p:cNvGrpSpPr/>
          <p:nvPr/>
        </p:nvGrpSpPr>
        <p:grpSpPr>
          <a:xfrm>
            <a:off x="13401443" y="6324201"/>
            <a:ext cx="761247" cy="762527"/>
            <a:chOff x="12954753" y="4510485"/>
            <a:chExt cx="761247" cy="762527"/>
          </a:xfrm>
        </p:grpSpPr>
        <p:pic>
          <p:nvPicPr>
            <p:cNvPr id="1029" name="Graphic 1028">
              <a:extLst>
                <a:ext uri="{FF2B5EF4-FFF2-40B4-BE49-F238E27FC236}">
                  <a16:creationId xmlns:a16="http://schemas.microsoft.com/office/drawing/2014/main" id="{FF0BFCA6-EC94-AE3E-B0E0-1438A46D4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rcRect b="18675"/>
            <a:stretch>
              <a:fillRect/>
            </a:stretch>
          </p:blipFill>
          <p:spPr>
            <a:xfrm>
              <a:off x="12954753" y="4510485"/>
              <a:ext cx="761247" cy="762527"/>
            </a:xfrm>
            <a:prstGeom prst="rect">
              <a:avLst/>
            </a:prstGeom>
          </p:spPr>
        </p:pic>
        <p:pic>
          <p:nvPicPr>
            <p:cNvPr id="1031" name="Graphic 1030">
              <a:extLst>
                <a:ext uri="{FF2B5EF4-FFF2-40B4-BE49-F238E27FC236}">
                  <a16:creationId xmlns:a16="http://schemas.microsoft.com/office/drawing/2014/main" id="{51AAB919-877F-BCAE-049E-04525FC81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rcRect b="19421"/>
            <a:stretch>
              <a:fillRect/>
            </a:stretch>
          </p:blipFill>
          <p:spPr>
            <a:xfrm>
              <a:off x="13166572" y="4764050"/>
              <a:ext cx="330387" cy="274611"/>
            </a:xfrm>
            <a:prstGeom prst="rect">
              <a:avLst/>
            </a:prstGeom>
          </p:spPr>
        </p:pic>
      </p:grpSp>
      <p:sp>
        <p:nvSpPr>
          <p:cNvPr id="1035" name="TextBox 1034">
            <a:extLst>
              <a:ext uri="{FF2B5EF4-FFF2-40B4-BE49-F238E27FC236}">
                <a16:creationId xmlns:a16="http://schemas.microsoft.com/office/drawing/2014/main" id="{E2106C94-6357-32CB-925C-BB62DFAECA18}"/>
              </a:ext>
            </a:extLst>
          </p:cNvPr>
          <p:cNvSpPr txBox="1"/>
          <p:nvPr/>
        </p:nvSpPr>
        <p:spPr>
          <a:xfrm>
            <a:off x="13283762" y="6982922"/>
            <a:ext cx="10807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</a:rPr>
              <a:t>SeedSync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037" name="Straight Arrow Connector 1036">
            <a:extLst>
              <a:ext uri="{FF2B5EF4-FFF2-40B4-BE49-F238E27FC236}">
                <a16:creationId xmlns:a16="http://schemas.microsoft.com/office/drawing/2014/main" id="{E7CF8BA1-12D6-D9B2-980A-2C9D330B0437}"/>
              </a:ext>
            </a:extLst>
          </p:cNvPr>
          <p:cNvCxnSpPr>
            <a:cxnSpLocks/>
          </p:cNvCxnSpPr>
          <p:nvPr/>
        </p:nvCxnSpPr>
        <p:spPr>
          <a:xfrm>
            <a:off x="11684685" y="5787404"/>
            <a:ext cx="1706383" cy="7748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9" name="Straight Arrow Connector 1048">
            <a:extLst>
              <a:ext uri="{FF2B5EF4-FFF2-40B4-BE49-F238E27FC236}">
                <a16:creationId xmlns:a16="http://schemas.microsoft.com/office/drawing/2014/main" id="{5C674C19-F3F5-B509-86C6-860B0D759AE6}"/>
              </a:ext>
            </a:extLst>
          </p:cNvPr>
          <p:cNvCxnSpPr>
            <a:cxnSpLocks/>
          </p:cNvCxnSpPr>
          <p:nvPr/>
        </p:nvCxnSpPr>
        <p:spPr>
          <a:xfrm>
            <a:off x="12815123" y="5755149"/>
            <a:ext cx="681837" cy="70949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7" name="Straight Arrow Connector 1056">
            <a:extLst>
              <a:ext uri="{FF2B5EF4-FFF2-40B4-BE49-F238E27FC236}">
                <a16:creationId xmlns:a16="http://schemas.microsoft.com/office/drawing/2014/main" id="{4487A445-9EF4-A86C-FF1D-DED26D3406FD}"/>
              </a:ext>
            </a:extLst>
          </p:cNvPr>
          <p:cNvCxnSpPr>
            <a:cxnSpLocks/>
          </p:cNvCxnSpPr>
          <p:nvPr/>
        </p:nvCxnSpPr>
        <p:spPr>
          <a:xfrm flipH="1">
            <a:off x="13786466" y="5755148"/>
            <a:ext cx="106467" cy="56803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1" name="Straight Arrow Connector 1060">
            <a:extLst>
              <a:ext uri="{FF2B5EF4-FFF2-40B4-BE49-F238E27FC236}">
                <a16:creationId xmlns:a16="http://schemas.microsoft.com/office/drawing/2014/main" id="{3B32B2D9-78ED-DEF1-0BD0-3A043D88033F}"/>
              </a:ext>
            </a:extLst>
          </p:cNvPr>
          <p:cNvCxnSpPr>
            <a:cxnSpLocks/>
          </p:cNvCxnSpPr>
          <p:nvPr/>
        </p:nvCxnSpPr>
        <p:spPr>
          <a:xfrm flipH="1">
            <a:off x="14100331" y="5741005"/>
            <a:ext cx="722506" cy="65460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3" name="Straight Arrow Connector 1062">
            <a:extLst>
              <a:ext uri="{FF2B5EF4-FFF2-40B4-BE49-F238E27FC236}">
                <a16:creationId xmlns:a16="http://schemas.microsoft.com/office/drawing/2014/main" id="{18B99AC0-B0D5-B9BE-BD6C-8BFEEE378969}"/>
              </a:ext>
            </a:extLst>
          </p:cNvPr>
          <p:cNvCxnSpPr>
            <a:cxnSpLocks/>
          </p:cNvCxnSpPr>
          <p:nvPr/>
        </p:nvCxnSpPr>
        <p:spPr>
          <a:xfrm flipH="1">
            <a:off x="11415175" y="3958888"/>
            <a:ext cx="1122701" cy="52320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7" name="Straight Arrow Connector 1066">
            <a:extLst>
              <a:ext uri="{FF2B5EF4-FFF2-40B4-BE49-F238E27FC236}">
                <a16:creationId xmlns:a16="http://schemas.microsoft.com/office/drawing/2014/main" id="{D77F197E-6EFD-0D36-53D2-CF58261CBD97}"/>
              </a:ext>
            </a:extLst>
          </p:cNvPr>
          <p:cNvCxnSpPr>
            <a:cxnSpLocks/>
          </p:cNvCxnSpPr>
          <p:nvPr/>
        </p:nvCxnSpPr>
        <p:spPr>
          <a:xfrm>
            <a:off x="14364507" y="3958889"/>
            <a:ext cx="664753" cy="57262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0" name="Straight Arrow Connector 1069">
            <a:extLst>
              <a:ext uri="{FF2B5EF4-FFF2-40B4-BE49-F238E27FC236}">
                <a16:creationId xmlns:a16="http://schemas.microsoft.com/office/drawing/2014/main" id="{FED4CBAA-CB20-FDC9-D0CA-5C33D3C480CB}"/>
              </a:ext>
            </a:extLst>
          </p:cNvPr>
          <p:cNvCxnSpPr>
            <a:cxnSpLocks/>
          </p:cNvCxnSpPr>
          <p:nvPr/>
        </p:nvCxnSpPr>
        <p:spPr>
          <a:xfrm flipH="1">
            <a:off x="13918413" y="4009347"/>
            <a:ext cx="203" cy="57219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1" name="Straight Arrow Connector 1070">
            <a:extLst>
              <a:ext uri="{FF2B5EF4-FFF2-40B4-BE49-F238E27FC236}">
                <a16:creationId xmlns:a16="http://schemas.microsoft.com/office/drawing/2014/main" id="{DD514A27-5E1D-C20B-BC84-EE8C37A35AC0}"/>
              </a:ext>
            </a:extLst>
          </p:cNvPr>
          <p:cNvCxnSpPr>
            <a:cxnSpLocks/>
          </p:cNvCxnSpPr>
          <p:nvPr/>
        </p:nvCxnSpPr>
        <p:spPr>
          <a:xfrm flipH="1">
            <a:off x="12814920" y="3959317"/>
            <a:ext cx="203" cy="57219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4" name="Straight Arrow Connector 1073">
            <a:extLst>
              <a:ext uri="{FF2B5EF4-FFF2-40B4-BE49-F238E27FC236}">
                <a16:creationId xmlns:a16="http://schemas.microsoft.com/office/drawing/2014/main" id="{702826DF-73ED-61C2-BD75-29665FEAA6CA}"/>
              </a:ext>
            </a:extLst>
          </p:cNvPr>
          <p:cNvCxnSpPr>
            <a:cxnSpLocks/>
          </p:cNvCxnSpPr>
          <p:nvPr/>
        </p:nvCxnSpPr>
        <p:spPr>
          <a:xfrm flipH="1">
            <a:off x="10300426" y="5505898"/>
            <a:ext cx="394835" cy="47022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6" name="Straight Arrow Connector 1075">
            <a:extLst>
              <a:ext uri="{FF2B5EF4-FFF2-40B4-BE49-F238E27FC236}">
                <a16:creationId xmlns:a16="http://schemas.microsoft.com/office/drawing/2014/main" id="{182092D4-FC06-8875-0C7C-89A0248522BA}"/>
              </a:ext>
            </a:extLst>
          </p:cNvPr>
          <p:cNvCxnSpPr>
            <a:cxnSpLocks/>
          </p:cNvCxnSpPr>
          <p:nvPr/>
        </p:nvCxnSpPr>
        <p:spPr>
          <a:xfrm flipH="1">
            <a:off x="10863494" y="6625027"/>
            <a:ext cx="420706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9" name="Straight Arrow Connector 1078">
            <a:extLst>
              <a:ext uri="{FF2B5EF4-FFF2-40B4-BE49-F238E27FC236}">
                <a16:creationId xmlns:a16="http://schemas.microsoft.com/office/drawing/2014/main" id="{176A4A49-BF23-85BA-E745-CDB06D39AFCB}"/>
              </a:ext>
            </a:extLst>
          </p:cNvPr>
          <p:cNvCxnSpPr>
            <a:cxnSpLocks/>
          </p:cNvCxnSpPr>
          <p:nvPr/>
        </p:nvCxnSpPr>
        <p:spPr>
          <a:xfrm>
            <a:off x="8213382" y="6439821"/>
            <a:ext cx="320291" cy="1025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3" name="Straight Arrow Connector 1082">
            <a:extLst>
              <a:ext uri="{FF2B5EF4-FFF2-40B4-BE49-F238E27FC236}">
                <a16:creationId xmlns:a16="http://schemas.microsoft.com/office/drawing/2014/main" id="{D515973B-09D2-498B-B176-548DDBF5891A}"/>
              </a:ext>
            </a:extLst>
          </p:cNvPr>
          <p:cNvCxnSpPr>
            <a:cxnSpLocks/>
          </p:cNvCxnSpPr>
          <p:nvPr/>
        </p:nvCxnSpPr>
        <p:spPr>
          <a:xfrm>
            <a:off x="15617389" y="5060084"/>
            <a:ext cx="572683" cy="512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6" name="Straight Arrow Connector 1085">
            <a:extLst>
              <a:ext uri="{FF2B5EF4-FFF2-40B4-BE49-F238E27FC236}">
                <a16:creationId xmlns:a16="http://schemas.microsoft.com/office/drawing/2014/main" id="{1B7C6114-6A7E-AE5D-5F7B-7E7133767FE8}"/>
              </a:ext>
            </a:extLst>
          </p:cNvPr>
          <p:cNvCxnSpPr>
            <a:cxnSpLocks/>
          </p:cNvCxnSpPr>
          <p:nvPr/>
        </p:nvCxnSpPr>
        <p:spPr>
          <a:xfrm>
            <a:off x="15617389" y="5347714"/>
            <a:ext cx="572683" cy="512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7" name="Straight Arrow Connector 1086">
            <a:extLst>
              <a:ext uri="{FF2B5EF4-FFF2-40B4-BE49-F238E27FC236}">
                <a16:creationId xmlns:a16="http://schemas.microsoft.com/office/drawing/2014/main" id="{0D5D4F9D-AB1B-F83A-5171-AEF05DC043A4}"/>
              </a:ext>
            </a:extLst>
          </p:cNvPr>
          <p:cNvCxnSpPr>
            <a:cxnSpLocks/>
          </p:cNvCxnSpPr>
          <p:nvPr/>
        </p:nvCxnSpPr>
        <p:spPr>
          <a:xfrm>
            <a:off x="15617389" y="5635155"/>
            <a:ext cx="572683" cy="512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8" name="Straight Arrow Connector 1087">
            <a:extLst>
              <a:ext uri="{FF2B5EF4-FFF2-40B4-BE49-F238E27FC236}">
                <a16:creationId xmlns:a16="http://schemas.microsoft.com/office/drawing/2014/main" id="{003A27CC-0B27-52FE-BAE6-579811AFF260}"/>
              </a:ext>
            </a:extLst>
          </p:cNvPr>
          <p:cNvCxnSpPr>
            <a:cxnSpLocks/>
          </p:cNvCxnSpPr>
          <p:nvPr/>
        </p:nvCxnSpPr>
        <p:spPr>
          <a:xfrm>
            <a:off x="16784979" y="6104769"/>
            <a:ext cx="0" cy="69422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C753071-667A-566E-2ACC-7F1FADBA0380}"/>
              </a:ext>
            </a:extLst>
          </p:cNvPr>
          <p:cNvCxnSpPr>
            <a:cxnSpLocks/>
          </p:cNvCxnSpPr>
          <p:nvPr/>
        </p:nvCxnSpPr>
        <p:spPr>
          <a:xfrm>
            <a:off x="16784979" y="8314568"/>
            <a:ext cx="0" cy="66317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EBBEA7BF-EB84-55FA-CB6B-1E73DC5782D4}"/>
              </a:ext>
            </a:extLst>
          </p:cNvPr>
          <p:cNvCxnSpPr>
            <a:cxnSpLocks/>
          </p:cNvCxnSpPr>
          <p:nvPr/>
        </p:nvCxnSpPr>
        <p:spPr>
          <a:xfrm flipH="1">
            <a:off x="15360176" y="9954491"/>
            <a:ext cx="829896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45EABC3D-0155-B5DE-C083-750F78B78688}"/>
              </a:ext>
            </a:extLst>
          </p:cNvPr>
          <p:cNvCxnSpPr>
            <a:cxnSpLocks/>
          </p:cNvCxnSpPr>
          <p:nvPr/>
        </p:nvCxnSpPr>
        <p:spPr>
          <a:xfrm flipH="1">
            <a:off x="11405292" y="9954491"/>
            <a:ext cx="829896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D54552DF-D668-9BBC-4F11-6BABF3C1D788}"/>
              </a:ext>
            </a:extLst>
          </p:cNvPr>
          <p:cNvCxnSpPr>
            <a:cxnSpLocks/>
          </p:cNvCxnSpPr>
          <p:nvPr/>
        </p:nvCxnSpPr>
        <p:spPr>
          <a:xfrm>
            <a:off x="2457887" y="5600066"/>
            <a:ext cx="867202" cy="168474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7" name="Graphic 1026">
            <a:extLst>
              <a:ext uri="{FF2B5EF4-FFF2-40B4-BE49-F238E27FC236}">
                <a16:creationId xmlns:a16="http://schemas.microsoft.com/office/drawing/2014/main" id="{1C5389B9-C250-E505-4085-9B6CD03268A6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 b="13774"/>
          <a:stretch>
            <a:fillRect/>
          </a:stretch>
        </p:blipFill>
        <p:spPr>
          <a:xfrm>
            <a:off x="10242004" y="9401479"/>
            <a:ext cx="1041400" cy="1106024"/>
          </a:xfrm>
          <a:prstGeom prst="rect">
            <a:avLst/>
          </a:prstGeom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3B488238-5EA6-0EEB-5939-49A47B9C9BA1}"/>
              </a:ext>
            </a:extLst>
          </p:cNvPr>
          <p:cNvSpPr txBox="1"/>
          <p:nvPr/>
        </p:nvSpPr>
        <p:spPr>
          <a:xfrm>
            <a:off x="10396974" y="10507503"/>
            <a:ext cx="753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Patch</a:t>
            </a:r>
          </a:p>
        </p:txBody>
      </p:sp>
      <p:cxnSp>
        <p:nvCxnSpPr>
          <p:cNvPr id="1034" name="Straight Arrow Connector 1033">
            <a:extLst>
              <a:ext uri="{FF2B5EF4-FFF2-40B4-BE49-F238E27FC236}">
                <a16:creationId xmlns:a16="http://schemas.microsoft.com/office/drawing/2014/main" id="{3291A29D-2E28-FE2A-1E22-6181804890B9}"/>
              </a:ext>
            </a:extLst>
          </p:cNvPr>
          <p:cNvCxnSpPr>
            <a:cxnSpLocks/>
          </p:cNvCxnSpPr>
          <p:nvPr/>
        </p:nvCxnSpPr>
        <p:spPr>
          <a:xfrm flipH="1">
            <a:off x="9776113" y="9954491"/>
            <a:ext cx="37377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56" name="Graphic 1055">
            <a:extLst>
              <a:ext uri="{FF2B5EF4-FFF2-40B4-BE49-F238E27FC236}">
                <a16:creationId xmlns:a16="http://schemas.microsoft.com/office/drawing/2014/main" id="{405FBE42-0158-F6E2-2F52-E987E8DDEC28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 b="16504"/>
          <a:stretch>
            <a:fillRect/>
          </a:stretch>
        </p:blipFill>
        <p:spPr>
          <a:xfrm>
            <a:off x="8731501" y="9521330"/>
            <a:ext cx="952500" cy="986173"/>
          </a:xfrm>
          <a:prstGeom prst="rect">
            <a:avLst/>
          </a:prstGeom>
        </p:spPr>
      </p:pic>
      <p:sp>
        <p:nvSpPr>
          <p:cNvPr id="1059" name="TextBox 1058">
            <a:extLst>
              <a:ext uri="{FF2B5EF4-FFF2-40B4-BE49-F238E27FC236}">
                <a16:creationId xmlns:a16="http://schemas.microsoft.com/office/drawing/2014/main" id="{1475BE27-7F3A-2BD5-068C-F055DC51E6D1}"/>
              </a:ext>
            </a:extLst>
          </p:cNvPr>
          <p:cNvSpPr txBox="1"/>
          <p:nvPr/>
        </p:nvSpPr>
        <p:spPr>
          <a:xfrm>
            <a:off x="8590524" y="10507503"/>
            <a:ext cx="1162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Patcher G</a:t>
            </a:r>
          </a:p>
        </p:txBody>
      </p:sp>
      <p:pic>
        <p:nvPicPr>
          <p:cNvPr id="1062" name="Graphic 1061">
            <a:extLst>
              <a:ext uri="{FF2B5EF4-FFF2-40B4-BE49-F238E27FC236}">
                <a16:creationId xmlns:a16="http://schemas.microsoft.com/office/drawing/2014/main" id="{72CABFE3-CA3E-9AEE-96B0-E5C14F21FC47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 b="13774"/>
          <a:stretch>
            <a:fillRect/>
          </a:stretch>
        </p:blipFill>
        <p:spPr>
          <a:xfrm>
            <a:off x="6890400" y="9313141"/>
            <a:ext cx="1041400" cy="1106024"/>
          </a:xfrm>
          <a:prstGeom prst="rect">
            <a:avLst/>
          </a:prstGeom>
        </p:spPr>
      </p:pic>
      <p:cxnSp>
        <p:nvCxnSpPr>
          <p:cNvPr id="1064" name="Straight Arrow Connector 1063">
            <a:extLst>
              <a:ext uri="{FF2B5EF4-FFF2-40B4-BE49-F238E27FC236}">
                <a16:creationId xmlns:a16="http://schemas.microsoft.com/office/drawing/2014/main" id="{C32646A4-4558-76E1-8B03-BE3B4242E6B5}"/>
              </a:ext>
            </a:extLst>
          </p:cNvPr>
          <p:cNvCxnSpPr>
            <a:cxnSpLocks/>
          </p:cNvCxnSpPr>
          <p:nvPr/>
        </p:nvCxnSpPr>
        <p:spPr>
          <a:xfrm flipH="1">
            <a:off x="8041291" y="9954491"/>
            <a:ext cx="37377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5" name="TextBox 1064">
            <a:extLst>
              <a:ext uri="{FF2B5EF4-FFF2-40B4-BE49-F238E27FC236}">
                <a16:creationId xmlns:a16="http://schemas.microsoft.com/office/drawing/2014/main" id="{4A5E43F3-51C6-2BED-7B5D-BD626EF395C3}"/>
              </a:ext>
            </a:extLst>
          </p:cNvPr>
          <p:cNvSpPr txBox="1"/>
          <p:nvPr/>
        </p:nvSpPr>
        <p:spPr>
          <a:xfrm>
            <a:off x="6861849" y="10369003"/>
            <a:ext cx="9378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Verified</a:t>
            </a:r>
            <a:br>
              <a:rPr lang="en-US" dirty="0"/>
            </a:br>
            <a:r>
              <a:rPr lang="en-US" dirty="0"/>
              <a:t>Patch</a:t>
            </a:r>
          </a:p>
        </p:txBody>
      </p:sp>
      <p:pic>
        <p:nvPicPr>
          <p:cNvPr id="1068" name="Graphic 1067">
            <a:extLst>
              <a:ext uri="{FF2B5EF4-FFF2-40B4-BE49-F238E27FC236}">
                <a16:creationId xmlns:a16="http://schemas.microsoft.com/office/drawing/2014/main" id="{0FD88D95-AA1D-CD50-D892-58F1E0BA3208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 b="8764"/>
          <a:stretch>
            <a:fillRect/>
          </a:stretch>
        </p:blipFill>
        <p:spPr>
          <a:xfrm>
            <a:off x="6811330" y="11037996"/>
            <a:ext cx="1041400" cy="1170287"/>
          </a:xfrm>
          <a:prstGeom prst="rect">
            <a:avLst/>
          </a:prstGeom>
        </p:spPr>
      </p:pic>
      <p:sp>
        <p:nvSpPr>
          <p:cNvPr id="1069" name="TextBox 1068">
            <a:extLst>
              <a:ext uri="{FF2B5EF4-FFF2-40B4-BE49-F238E27FC236}">
                <a16:creationId xmlns:a16="http://schemas.microsoft.com/office/drawing/2014/main" id="{11CD5E2C-5BCF-55EA-0382-B0FA95412F95}"/>
              </a:ext>
            </a:extLst>
          </p:cNvPr>
          <p:cNvSpPr txBox="1"/>
          <p:nvPr/>
        </p:nvSpPr>
        <p:spPr>
          <a:xfrm>
            <a:off x="6863087" y="12094901"/>
            <a:ext cx="9378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Verified</a:t>
            </a:r>
            <a:br>
              <a:rPr lang="en-US" dirty="0"/>
            </a:br>
            <a:r>
              <a:rPr lang="en-US" dirty="0"/>
              <a:t>Bug</a:t>
            </a:r>
          </a:p>
        </p:txBody>
      </p:sp>
      <p:sp>
        <p:nvSpPr>
          <p:cNvPr id="1072" name="Freeform 1071">
            <a:extLst>
              <a:ext uri="{FF2B5EF4-FFF2-40B4-BE49-F238E27FC236}">
                <a16:creationId xmlns:a16="http://schemas.microsoft.com/office/drawing/2014/main" id="{985DAEA8-ED5C-776F-EE95-CE194A4B4ED5}"/>
              </a:ext>
            </a:extLst>
          </p:cNvPr>
          <p:cNvSpPr/>
          <p:nvPr/>
        </p:nvSpPr>
        <p:spPr>
          <a:xfrm>
            <a:off x="8041291" y="7554352"/>
            <a:ext cx="10443657" cy="4252791"/>
          </a:xfrm>
          <a:custGeom>
            <a:avLst/>
            <a:gdLst>
              <a:gd name="connsiteX0" fmla="*/ 9256542 w 10185010"/>
              <a:gd name="connsiteY0" fmla="*/ 0 h 4346917"/>
              <a:gd name="connsiteX1" fmla="*/ 10170942 w 10185010"/>
              <a:gd name="connsiteY1" fmla="*/ 0 h 4346917"/>
              <a:gd name="connsiteX2" fmla="*/ 10185010 w 10185010"/>
              <a:gd name="connsiteY2" fmla="*/ 4318781 h 4346917"/>
              <a:gd name="connsiteX3" fmla="*/ 0 w 10185010"/>
              <a:gd name="connsiteY3" fmla="*/ 4346917 h 43469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85010" h="4346917">
                <a:moveTo>
                  <a:pt x="9256542" y="0"/>
                </a:moveTo>
                <a:lnTo>
                  <a:pt x="10170942" y="0"/>
                </a:lnTo>
                <a:cubicBezTo>
                  <a:pt x="10175631" y="1439594"/>
                  <a:pt x="10180321" y="2879187"/>
                  <a:pt x="10185010" y="4318781"/>
                </a:cubicBezTo>
                <a:lnTo>
                  <a:pt x="0" y="4346917"/>
                </a:lnTo>
              </a:path>
            </a:pathLst>
          </a:custGeom>
          <a:noFill/>
          <a:ln w="28575"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75" name="Picture 4" descr="aicyberchallenge.com">
            <a:extLst>
              <a:ext uri="{FF2B5EF4-FFF2-40B4-BE49-F238E27FC236}">
                <a16:creationId xmlns:a16="http://schemas.microsoft.com/office/drawing/2014/main" id="{527FC2D1-B440-F434-D3BF-63F762A97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640" y="9318703"/>
            <a:ext cx="2479237" cy="3116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77" name="Straight Arrow Connector 1076">
            <a:extLst>
              <a:ext uri="{FF2B5EF4-FFF2-40B4-BE49-F238E27FC236}">
                <a16:creationId xmlns:a16="http://schemas.microsoft.com/office/drawing/2014/main" id="{5E2011DB-E98B-9DDD-8CB2-C32C77837E05}"/>
              </a:ext>
            </a:extLst>
          </p:cNvPr>
          <p:cNvCxnSpPr>
            <a:cxnSpLocks/>
          </p:cNvCxnSpPr>
          <p:nvPr/>
        </p:nvCxnSpPr>
        <p:spPr>
          <a:xfrm flipH="1">
            <a:off x="4962877" y="10209664"/>
            <a:ext cx="1557856" cy="32778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1" name="Straight Arrow Connector 1080">
            <a:extLst>
              <a:ext uri="{FF2B5EF4-FFF2-40B4-BE49-F238E27FC236}">
                <a16:creationId xmlns:a16="http://schemas.microsoft.com/office/drawing/2014/main" id="{C8E375CB-2380-47D0-1FB1-4CC6BE880A0D}"/>
              </a:ext>
            </a:extLst>
          </p:cNvPr>
          <p:cNvCxnSpPr>
            <a:cxnSpLocks/>
          </p:cNvCxnSpPr>
          <p:nvPr/>
        </p:nvCxnSpPr>
        <p:spPr>
          <a:xfrm flipH="1" flipV="1">
            <a:off x="4944228" y="11019885"/>
            <a:ext cx="1557856" cy="32778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3311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1076</TotalTime>
  <Words>723</Words>
  <Application>Microsoft Macintosh PowerPoint</Application>
  <PresentationFormat>Custom</PresentationFormat>
  <Paragraphs>65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Roboto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Giovanni Vigna</dc:creator>
  <cp:lastModifiedBy>Giovanni Vigna</cp:lastModifiedBy>
  <cp:revision>11</cp:revision>
  <cp:lastPrinted>2025-05-29T17:21:22Z</cp:lastPrinted>
  <dcterms:created xsi:type="dcterms:W3CDTF">2025-05-08T04:07:41Z</dcterms:created>
  <dcterms:modified xsi:type="dcterms:W3CDTF">2025-05-29T17:45:21Z</dcterms:modified>
</cp:coreProperties>
</file>